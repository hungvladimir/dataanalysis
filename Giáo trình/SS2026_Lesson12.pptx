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7" roundtripDataSignature="AMtx7miofMa9RDnEO4Yl3pI4nxH/ltOR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customschemas.google.com/relationships/presentationmetadata" Target="metadata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8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7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320040" y="-137160"/>
            <a:ext cx="3886200" cy="1024128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8247888" y="5989320"/>
            <a:ext cx="4160520" cy="1024128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985e423d-ca97-4670-a2c8-fc9a156df9ee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02509" y="54864"/>
            <a:ext cx="1670033" cy="84124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38912" y="1572768"/>
            <a:ext cx="1129284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Trực quan hóa dữ liệu và</a:t>
            </a:r>
            <a:br>
              <a:rPr b="1" i="0" lang="en-US" sz="3900" u="none" cap="none" strike="noStrike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900" u="none" cap="none" strike="noStrike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xây dựng Dashboard phân tích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2920" y="3145536"/>
            <a:ext cx="11155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12.1 Vai trò  •  12.2 Câu hỏi phân tích  •  12.3 Nguyên tắc thiết kế  •  12.4 Lỗi trực quan hóa</a:t>
            </a:r>
            <a:b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12.5 Loại biểu đồ  •  12.6 Chọn biểu đồ  •  12.7 Python  •  12.8 Matplotlib  •  12.9 Seaborn</a:t>
            </a:r>
            <a:b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12.10 Open-source  •  12.11 BI Tools  •  12.12 Python vs BI  •  12.13–12.15 Dashboard  •  12.16 Storytelling</a:t>
            </a:r>
            <a:b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8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Bổ sung theo đề cương LAB: 5–7 câu hỏi phân tích, ≥5 visualization Python, KPI/Measures, slicers, bố cục và 3–5 insight.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13232" y="62179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Bài 12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Chương trình buổi học (4 giờ)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descr="body-2.png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Mục tiêu học tập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body-3.png"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Lộ trình khóa học Big Data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descr="body-4.png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12.1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Vai trò của trực quan hóa dữ liệu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Từ dữ liệu thô đến Insight và Decision — không chỉ là “vẽ đẹp”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Từ dữ liệu thô đến quyết định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pic>
        <p:nvPicPr>
          <p:cNvPr descr="body-6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Các vai trò chính của trực quan hóa dữ liệu</a:t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pic>
        <p:nvPicPr>
          <p:cNvPr descr="body-7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Visualization phục vụ ba tầng công việc</a:t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Một visualization tốt phải phục vụ mục tiêu cụ thể: khám phá, giải thích hoặc giám sát.</a:t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502920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Khám phá pattern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Tìm outlier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Kiểm tra distribution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041648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Trình bày insight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So sánh nhóm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Làm rõ xu hướng</a:t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580375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Theo dõi KPI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Dashboard định kỳ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Phát hiện thay đổi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12.2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Từ dữ liệu đến câu hỏi phân tích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Trước khi chọn chart, xác định người xem cần hiểu điều gì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Các dạng câu hỏi phân tích</a:t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pic>
        <p:nvPicPr>
          <p:cNvPr descr="body-9.png"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Từ 5–7 câu hỏi phân tích đến cấu trúc Dashboard</a:t>
            </a: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685800" y="969264"/>
            <a:ext cx="10698480" cy="530352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Đề cương LAB yêu cầu dashboard phải trả lời 5–7 câu hỏi phân tích rõ ràng.</a:t>
            </a:r>
            <a:endParaRPr/>
          </a:p>
        </p:txBody>
      </p:sp>
      <p:sp>
        <p:nvSpPr>
          <p:cNvPr id="216" name="Google Shape;216;p11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Bước 1 — Viết câu hỏi: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Ví dụ: doanh thu đang tăng hay giảm? Khu vực nào đóng góp nhiều nhất? Phân phối đơn hàng ra sao?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Bước 2 — Phân loại câu hỏi: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Trend, Comparison, Distribution, Relationship, Composition hoặc Geographic.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Bước 3 — Xác định metric/dimension: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Revenue, Profit, Orders; theo Time, Region, Product, Customer.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Bước 4 — Chọn chart: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Chỉ sau khi ba bước trên rõ ràng mới quyết định Line, Bar, Histogram, Scatter...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12.3</a:t>
            </a:r>
            <a:endParaRPr/>
          </a:p>
        </p:txBody>
      </p:sp>
      <p:sp>
        <p:nvSpPr>
          <p:cNvPr id="226" name="Google Shape;226;p12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Nguyên tắc thiết kế trực quan hóa</a:t>
            </a:r>
            <a:endParaRPr/>
          </a:p>
        </p:txBody>
      </p:sp>
      <p:sp>
        <p:nvSpPr>
          <p:cNvPr id="227" name="Google Shape;227;p12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Đơn giản, chính xác, dễ đọc, nhất quán và nhấn mạnh đúng thông tin</a:t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Năm nguyên tắc thiết kế trực quan hóa</a:t>
            </a:r>
            <a:endParaRPr/>
          </a:p>
        </p:txBody>
      </p:sp>
      <p:sp>
        <p:nvSpPr>
          <p:cNvPr id="240" name="Google Shape;240;p1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pic>
        <p:nvPicPr>
          <p:cNvPr descr="body-11.png" id="241" name="Google Shape;24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Visual Hierarchy — dẫn mắt người xem</a:t>
            </a:r>
            <a:endParaRPr/>
          </a:p>
        </p:txBody>
      </p:sp>
      <p:sp>
        <p:nvSpPr>
          <p:cNvPr id="251" name="Google Shape;251;p1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252" name="Google Shape;252;p14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Nguyên tắc “nhấn mạnh đúng thông tin” trong slide gốc được triển khai thành hierarchy cụ thể.</a:t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502920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Ưu tiên</a:t>
            </a:r>
            <a:endParaRPr/>
          </a:p>
        </p:txBody>
      </p:sp>
      <p:sp>
        <p:nvSpPr>
          <p:cNvPr id="255" name="Google Shape;255;p14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KPI quan trọng đặt nổi bật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Insight chính ở vùng đọc đầu tiên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Không cho mọi thứ cùng trọng số</a:t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4041648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Nhóm</a:t>
            </a:r>
            <a:endParaRPr/>
          </a:p>
        </p:txBody>
      </p:sp>
      <p:sp>
        <p:nvSpPr>
          <p:cNvPr id="258" name="Google Shape;258;p14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Các chart cùng chủ đề đặt gần nhau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Khoảng trắng giúp tách khối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Bố cục theo logic</a:t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7580375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Nhấn mạnh</a:t>
            </a:r>
            <a:endParaRPr/>
          </a:p>
        </p:txBody>
      </p:sp>
      <p:sp>
        <p:nvSpPr>
          <p:cNvPr id="261" name="Google Shape;261;p14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Dùng highlight có mục đích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Text/annotation cho điểm quan trọng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Không tô màu mọi thứ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Màu sắc và khả năng đọc</a:t>
            </a:r>
            <a:endParaRPr/>
          </a:p>
        </p:txBody>
      </p:sp>
      <p:sp>
        <p:nvSpPr>
          <p:cNvPr id="271" name="Google Shape;271;p1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640080" y="1188720"/>
            <a:ext cx="5029200" cy="45720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841247" y="138988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Nên làm</a:t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Dùng palette hạn chế và nhất quán.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Dùng màu nổi chỉ cho điểm cần chú ý.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Giữ tương phản đủ mạnh giữa text và background.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Kèm nhãn/giá trị khi màu một mình chưa đủ.</a:t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6126480" y="1188720"/>
            <a:ext cx="5029200" cy="45720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6327648" y="138988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Tránh</a:t>
            </a:r>
            <a:endParaRPr/>
          </a:p>
        </p:txBody>
      </p:sp>
      <p:sp>
        <p:nvSpPr>
          <p:cNvPr id="277" name="Google Shape;277;p15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Mỗi category một màu không có ý nghĩa.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Đỏ/xanh dùng như lựa chọn duy nhất để phân biệt.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Text quá nhỏ hoặc nhãn xoay khó đọc.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Màu nền mạnh cạnh tranh với dữ liệu.</a:t>
            </a: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Mục tiêu là truyền thông tin rõ ràng trên màn hình trình chiếu và dashboard, không phải trang trí.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12.4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Những lỗi trực quan hóa thường gặp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Một chart sai có thể truyền tải thông điệp sai dù dữ liệu hoàn toàn đúng</a:t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Ba lỗi thường gặp (1/2)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pic>
        <p:nvPicPr>
          <p:cNvPr descr="body-13.png" id="303" name="Google Shape;3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Trục Y gây hiểu nhầm (2/2)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pic>
        <p:nvPicPr>
          <p:cNvPr descr="body-14.png" id="314" name="Google Shape;3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Checklist phát hiện chart gây hiểu nhầm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685800" y="969264"/>
            <a:ext cx="10698480" cy="530352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Bám trực tiếp các lỗi trong slide gốc: màu, pie/3D, trục Y và dashboard quá tải.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Scale: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Trục có bị cắt hoặc dùng scale khác thường mà không giải thích không?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Encoding: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Diện tích, góc 3D hoặc kích thước bubble có làm khó so sánh không?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Category: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Có quá nhiều nhóm khiến nhãn, màu hoặc pie slice không đọc được không?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Context: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Có thiếu đơn vị, thời gian, benchmark hoặc baseline cần thiết không?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Message: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Tiêu đề có nói đúng điều biểu đồ thực sự thể hiện không?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12.5</a:t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Các loại biểu đồ cơ bản</a:t>
            </a:r>
            <a:endParaRPr/>
          </a:p>
        </p:txBody>
      </p:sp>
      <p:sp>
        <p:nvSpPr>
          <p:cNvPr id="337" name="Google Shape;337;p20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Mỗi chart phù hợp với một dạng câu hỏi phân tích khác nhau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Bốn loại biểu đồ cơ bản (1/2)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pic>
        <p:nvPicPr>
          <p:cNvPr descr="body-16.png" id="351" name="Google Shape;3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Bốn loại biểu đồ cơ bản (2/2)</a:t>
            </a:r>
            <a:endParaRPr/>
          </a:p>
        </p:txBody>
      </p:sp>
      <p:sp>
        <p:nvSpPr>
          <p:cNvPr id="361" name="Google Shape;361;p2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pic>
        <p:nvPicPr>
          <p:cNvPr descr="body-17.png" id="362" name="Google Shape;3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Chart selection matrix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Ma trận này mở rộng trực tiếp các chart đã có ở mục 12.5–12.6.</a:t>
            </a:r>
            <a:endParaRPr/>
          </a:p>
        </p:txBody>
      </p:sp>
      <p:sp>
        <p:nvSpPr>
          <p:cNvPr id="374" name="Google Shape;374;p23"/>
          <p:cNvSpPr/>
          <p:nvPr/>
        </p:nvSpPr>
        <p:spPr>
          <a:xfrm>
            <a:off x="566928" y="1536192"/>
            <a:ext cx="2926080" cy="658368"/>
          </a:xfrm>
          <a:prstGeom prst="rect">
            <a:avLst/>
          </a:prstGeom>
          <a:solidFill>
            <a:srgbClr val="0F3F6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Câu hỏi / Nhu cầu</a:t>
            </a:r>
            <a:endParaRPr/>
          </a:p>
        </p:txBody>
      </p:sp>
      <p:sp>
        <p:nvSpPr>
          <p:cNvPr id="375" name="Google Shape;375;p23"/>
          <p:cNvSpPr/>
          <p:nvPr/>
        </p:nvSpPr>
        <p:spPr>
          <a:xfrm>
            <a:off x="3657600" y="1536192"/>
            <a:ext cx="3474720" cy="658368"/>
          </a:xfrm>
          <a:prstGeom prst="rect">
            <a:avLst/>
          </a:prstGeom>
          <a:solidFill>
            <a:srgbClr val="0F3F6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Biểu đồ / Công cụ</a:t>
            </a:r>
            <a:endParaRPr/>
          </a:p>
        </p:txBody>
      </p:sp>
      <p:sp>
        <p:nvSpPr>
          <p:cNvPr id="376" name="Google Shape;376;p23"/>
          <p:cNvSpPr/>
          <p:nvPr/>
        </p:nvSpPr>
        <p:spPr>
          <a:xfrm>
            <a:off x="7315200" y="1536192"/>
            <a:ext cx="4297680" cy="658368"/>
          </a:xfrm>
          <a:prstGeom prst="rect">
            <a:avLst/>
          </a:prstGeom>
          <a:solidFill>
            <a:srgbClr val="0F3F6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Điểm cần nhớ</a:t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566928" y="2194560"/>
            <a:ext cx="2926080" cy="65836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Trend theo thời gian</a:t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3657600" y="2194560"/>
            <a:ext cx="3474720" cy="65836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Line Chart</a:t>
            </a:r>
            <a:endParaRPr/>
          </a:p>
        </p:txBody>
      </p:sp>
      <p:sp>
        <p:nvSpPr>
          <p:cNvPr id="379" name="Google Shape;379;p23"/>
          <p:cNvSpPr/>
          <p:nvPr/>
        </p:nvSpPr>
        <p:spPr>
          <a:xfrm>
            <a:off x="7315200" y="2194560"/>
            <a:ext cx="4297680" cy="65836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Giữ trục thời gian liên tục, hạn chế quá nhiều series</a:t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566928" y="2852928"/>
            <a:ext cx="2926080" cy="65836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So sánh nhóm</a:t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3657600" y="2852928"/>
            <a:ext cx="3474720" cy="65836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Bar Chart</a:t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7315200" y="2852928"/>
            <a:ext cx="4297680" cy="65836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Sắp xếp nếu cần, dùng baseline rõ ràng</a:t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566928" y="3511296"/>
            <a:ext cx="2926080" cy="65836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/>
          </a:p>
        </p:txBody>
      </p:sp>
      <p:sp>
        <p:nvSpPr>
          <p:cNvPr id="384" name="Google Shape;384;p23"/>
          <p:cNvSpPr/>
          <p:nvPr/>
        </p:nvSpPr>
        <p:spPr>
          <a:xfrm>
            <a:off x="3657600" y="3511296"/>
            <a:ext cx="3474720" cy="65836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Histogram / Boxplot</a:t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7315200" y="3511296"/>
            <a:ext cx="4297680" cy="65836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Histogram cho shape; Boxplot cho median, IQR, outlier</a:t>
            </a:r>
            <a:endParaRPr/>
          </a:p>
        </p:txBody>
      </p:sp>
      <p:sp>
        <p:nvSpPr>
          <p:cNvPr id="386" name="Google Shape;386;p23"/>
          <p:cNvSpPr/>
          <p:nvPr/>
        </p:nvSpPr>
        <p:spPr>
          <a:xfrm>
            <a:off x="566928" y="4169663"/>
            <a:ext cx="2926080" cy="65836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endParaRPr/>
          </a:p>
        </p:txBody>
      </p:sp>
      <p:sp>
        <p:nvSpPr>
          <p:cNvPr id="387" name="Google Shape;387;p23"/>
          <p:cNvSpPr/>
          <p:nvPr/>
        </p:nvSpPr>
        <p:spPr>
          <a:xfrm>
            <a:off x="3657600" y="4169663"/>
            <a:ext cx="3474720" cy="65836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Scatter Plot</a:t>
            </a:r>
            <a:endParaRPr/>
          </a:p>
        </p:txBody>
      </p:sp>
      <p:sp>
        <p:nvSpPr>
          <p:cNvPr id="388" name="Google Shape;388;p23"/>
          <p:cNvSpPr/>
          <p:nvPr/>
        </p:nvSpPr>
        <p:spPr>
          <a:xfrm>
            <a:off x="7315200" y="4169663"/>
            <a:ext cx="4297680" cy="65836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Thêm màu/kích thước chỉ khi có ý nghĩa</a:t>
            </a:r>
            <a:endParaRPr/>
          </a:p>
        </p:txBody>
      </p:sp>
      <p:sp>
        <p:nvSpPr>
          <p:cNvPr id="389" name="Google Shape;389;p23"/>
          <p:cNvSpPr/>
          <p:nvPr/>
        </p:nvSpPr>
        <p:spPr>
          <a:xfrm>
            <a:off x="566928" y="4828031"/>
            <a:ext cx="2926080" cy="65836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Composition</a:t>
            </a:r>
            <a:endParaRPr/>
          </a:p>
        </p:txBody>
      </p:sp>
      <p:sp>
        <p:nvSpPr>
          <p:cNvPr id="390" name="Google Shape;390;p23"/>
          <p:cNvSpPr/>
          <p:nvPr/>
        </p:nvSpPr>
        <p:spPr>
          <a:xfrm>
            <a:off x="3657600" y="4828031"/>
            <a:ext cx="3474720" cy="65836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Pie/Donut hoặc Bar</a:t>
            </a:r>
            <a:endParaRPr/>
          </a:p>
        </p:txBody>
      </p:sp>
      <p:sp>
        <p:nvSpPr>
          <p:cNvPr id="391" name="Google Shape;391;p23"/>
          <p:cNvSpPr/>
          <p:nvPr/>
        </p:nvSpPr>
        <p:spPr>
          <a:xfrm>
            <a:off x="7315200" y="4828031"/>
            <a:ext cx="4297680" cy="658368"/>
          </a:xfrm>
          <a:prstGeom prst="rect">
            <a:avLst/>
          </a:prstGeom>
          <a:solidFill>
            <a:srgbClr val="E7EEF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Pie chỉ khi ít nhóm; nhiều nhóm ưu tiên Bar</a:t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>
            <a:off x="566928" y="5486400"/>
            <a:ext cx="2926080" cy="65836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Geographic</a:t>
            </a:r>
            <a:endParaRPr/>
          </a:p>
        </p:txBody>
      </p:sp>
      <p:sp>
        <p:nvSpPr>
          <p:cNvPr id="393" name="Google Shape;393;p23"/>
          <p:cNvSpPr/>
          <p:nvPr/>
        </p:nvSpPr>
        <p:spPr>
          <a:xfrm>
            <a:off x="3657600" y="5486400"/>
            <a:ext cx="3474720" cy="65836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/>
          </a:p>
        </p:txBody>
      </p:sp>
      <p:sp>
        <p:nvSpPr>
          <p:cNvPr id="394" name="Google Shape;394;p23"/>
          <p:cNvSpPr/>
          <p:nvPr/>
        </p:nvSpPr>
        <p:spPr>
          <a:xfrm>
            <a:off x="7315200" y="5486400"/>
            <a:ext cx="4297680" cy="658368"/>
          </a:xfrm>
          <a:prstGeom prst="rect">
            <a:avLst/>
          </a:prstGeom>
          <a:solidFill>
            <a:srgbClr val="F0F4F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Chỉ dùng map khi vị trí địa lý thực sự quan trọng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12.6</a:t>
            </a:r>
            <a:endParaRPr/>
          </a:p>
        </p:txBody>
      </p:sp>
      <p:sp>
        <p:nvSpPr>
          <p:cNvPr id="404" name="Google Shape;404;p24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Cách chọn biểu đồ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Bắt đầu từ câu hỏi phân tích — không bắt đầu từ chart yêu thích</a:t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5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Cây quyết định: Bạn muốn thể hiện gì?</a:t>
            </a:r>
            <a:endParaRPr/>
          </a:p>
        </p:txBody>
      </p:sp>
      <p:sp>
        <p:nvSpPr>
          <p:cNvPr id="418" name="Google Shape;418;p2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  <p:pic>
        <p:nvPicPr>
          <p:cNvPr descr="body-19.png" id="419" name="Google Shape;4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6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Quy trình chọn Chart trong 4 bước</a:t>
            </a:r>
            <a:endParaRPr/>
          </a:p>
        </p:txBody>
      </p:sp>
      <p:sp>
        <p:nvSpPr>
          <p:cNvPr id="429" name="Google Shape;429;p2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  <p:sp>
        <p:nvSpPr>
          <p:cNvPr id="430" name="Google Shape;430;p26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Nếu hai chart đều dùng được, ưu tiên chart đơn giản và dễ đọc hơn.</a:t>
            </a:r>
            <a:endParaRPr/>
          </a:p>
        </p:txBody>
      </p:sp>
      <p:sp>
        <p:nvSpPr>
          <p:cNvPr id="431" name="Google Shape;431;p26"/>
          <p:cNvSpPr/>
          <p:nvPr/>
        </p:nvSpPr>
        <p:spPr>
          <a:xfrm>
            <a:off x="502920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1. Question</a:t>
            </a:r>
            <a:endParaRPr/>
          </a:p>
        </p:txBody>
      </p:sp>
      <p:sp>
        <p:nvSpPr>
          <p:cNvPr id="433" name="Google Shape;433;p26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Trend? Compare? Distribution?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Relationship? Composition?</a:t>
            </a:r>
            <a:endParaRPr/>
          </a:p>
        </p:txBody>
      </p:sp>
      <p:cxnSp>
        <p:nvCxnSpPr>
          <p:cNvPr id="434" name="Google Shape;434;p26"/>
          <p:cNvCxnSpPr/>
          <p:nvPr/>
        </p:nvCxnSpPr>
        <p:spPr>
          <a:xfrm>
            <a:off x="2743200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5" name="Google Shape;435;p26"/>
          <p:cNvSpPr/>
          <p:nvPr/>
        </p:nvSpPr>
        <p:spPr>
          <a:xfrm>
            <a:off x="3310128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6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2. Data Type</a:t>
            </a:r>
            <a:endParaRPr/>
          </a:p>
        </p:txBody>
      </p:sp>
      <p:sp>
        <p:nvSpPr>
          <p:cNvPr id="437" name="Google Shape;437;p26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Time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Category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Numeric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Geo</a:t>
            </a:r>
            <a:endParaRPr/>
          </a:p>
        </p:txBody>
      </p:sp>
      <p:cxnSp>
        <p:nvCxnSpPr>
          <p:cNvPr id="438" name="Google Shape;438;p26"/>
          <p:cNvCxnSpPr/>
          <p:nvPr/>
        </p:nvCxnSpPr>
        <p:spPr>
          <a:xfrm>
            <a:off x="5550408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9" name="Google Shape;439;p26"/>
          <p:cNvSpPr/>
          <p:nvPr/>
        </p:nvSpPr>
        <p:spPr>
          <a:xfrm>
            <a:off x="6117336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6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3. Audience</a:t>
            </a:r>
            <a:endParaRPr/>
          </a:p>
        </p:txBody>
      </p:sp>
      <p:sp>
        <p:nvSpPr>
          <p:cNvPr id="441" name="Google Shape;441;p26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Analyst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Manager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Operational user</a:t>
            </a:r>
            <a:endParaRPr/>
          </a:p>
        </p:txBody>
      </p:sp>
      <p:cxnSp>
        <p:nvCxnSpPr>
          <p:cNvPr id="442" name="Google Shape;442;p26"/>
          <p:cNvCxnSpPr/>
          <p:nvPr/>
        </p:nvCxnSpPr>
        <p:spPr>
          <a:xfrm>
            <a:off x="8357616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43" name="Google Shape;443;p26"/>
          <p:cNvSpPr/>
          <p:nvPr/>
        </p:nvSpPr>
        <p:spPr>
          <a:xfrm>
            <a:off x="8924544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6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4. Validate</a:t>
            </a:r>
            <a:endParaRPr/>
          </a:p>
        </p:txBody>
      </p:sp>
      <p:sp>
        <p:nvSpPr>
          <p:cNvPr id="445" name="Google Shape;445;p26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Đọc nhanh được không?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gây hiểu nhầm không?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chart đơn giản hơn không?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7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12.7</a:t>
            </a:r>
            <a:endParaRPr/>
          </a:p>
        </p:txBody>
      </p:sp>
      <p:sp>
        <p:nvSpPr>
          <p:cNvPr id="455" name="Google Shape;455;p27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Trực quan hóa dữ liệu với Python</a:t>
            </a:r>
            <a:endParaRPr/>
          </a:p>
        </p:txBody>
      </p:sp>
      <p:sp>
        <p:nvSpPr>
          <p:cNvPr id="456" name="Google Shape;456;p2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Pandas chuẩn bị dữ liệu; Matplotlib và Seaborn tạo biểu đồ</a:t>
            </a:r>
            <a:endParaRPr/>
          </a:p>
        </p:txBody>
      </p:sp>
      <p:sp>
        <p:nvSpPr>
          <p:cNvPr id="457" name="Google Shape;457;p27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7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8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Hệ sinh thái trực quan hóa Python</a:t>
            </a:r>
            <a:endParaRPr/>
          </a:p>
        </p:txBody>
      </p:sp>
      <p:sp>
        <p:nvSpPr>
          <p:cNvPr id="469" name="Google Shape;469;p2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  <p:pic>
        <p:nvPicPr>
          <p:cNvPr descr="body-21.png" id="470" name="Google Shape;47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9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Pipeline Visualization bằng Python</a:t>
            </a:r>
            <a:endParaRPr/>
          </a:p>
        </p:txBody>
      </p:sp>
      <p:sp>
        <p:nvSpPr>
          <p:cNvPr id="480" name="Google Shape;480;p2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  <p:sp>
        <p:nvSpPr>
          <p:cNvPr id="481" name="Google Shape;481;p29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Đề cương LAB yêu cầu tạo ít nhất 5 visualization bằng Python, nên workflow phải lặp lại được.</a:t>
            </a:r>
            <a:endParaRPr/>
          </a:p>
        </p:txBody>
      </p:sp>
      <p:sp>
        <p:nvSpPr>
          <p:cNvPr id="482" name="Google Shape;482;p29"/>
          <p:cNvSpPr/>
          <p:nvPr/>
        </p:nvSpPr>
        <p:spPr>
          <a:xfrm>
            <a:off x="502920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Prepare</a:t>
            </a:r>
            <a:endParaRPr/>
          </a:p>
        </p:txBody>
      </p:sp>
      <p:sp>
        <p:nvSpPr>
          <p:cNvPr id="484" name="Google Shape;484;p29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Pandas DataFrame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Filter / GroupBy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Xử lý missing</a:t>
            </a:r>
            <a:endParaRPr/>
          </a:p>
        </p:txBody>
      </p:sp>
      <p:cxnSp>
        <p:nvCxnSpPr>
          <p:cNvPr id="485" name="Google Shape;485;p29"/>
          <p:cNvCxnSpPr/>
          <p:nvPr/>
        </p:nvCxnSpPr>
        <p:spPr>
          <a:xfrm>
            <a:off x="2743200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6" name="Google Shape;486;p29"/>
          <p:cNvSpPr/>
          <p:nvPr/>
        </p:nvSpPr>
        <p:spPr>
          <a:xfrm>
            <a:off x="3310128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9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Choose</a:t>
            </a:r>
            <a:endParaRPr/>
          </a:p>
        </p:txBody>
      </p:sp>
      <p:sp>
        <p:nvSpPr>
          <p:cNvPr id="488" name="Google Shape;488;p29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Câu hỏi phân tích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Chọn chart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Chọn metric</a:t>
            </a:r>
            <a:endParaRPr/>
          </a:p>
        </p:txBody>
      </p:sp>
      <p:cxnSp>
        <p:nvCxnSpPr>
          <p:cNvPr id="489" name="Google Shape;489;p29"/>
          <p:cNvCxnSpPr/>
          <p:nvPr/>
        </p:nvCxnSpPr>
        <p:spPr>
          <a:xfrm>
            <a:off x="5550408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0" name="Google Shape;490;p29"/>
          <p:cNvSpPr/>
          <p:nvPr/>
        </p:nvSpPr>
        <p:spPr>
          <a:xfrm>
            <a:off x="6117336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9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Plot</a:t>
            </a:r>
            <a:endParaRPr/>
          </a:p>
        </p:txBody>
      </p:sp>
      <p:sp>
        <p:nvSpPr>
          <p:cNvPr id="492" name="Google Shape;492;p29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Matplotlib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Seaborn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Label / title</a:t>
            </a:r>
            <a:endParaRPr/>
          </a:p>
        </p:txBody>
      </p:sp>
      <p:cxnSp>
        <p:nvCxnSpPr>
          <p:cNvPr id="493" name="Google Shape;493;p29"/>
          <p:cNvCxnSpPr/>
          <p:nvPr/>
        </p:nvCxnSpPr>
        <p:spPr>
          <a:xfrm>
            <a:off x="8357616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4" name="Google Shape;494;p29"/>
          <p:cNvSpPr/>
          <p:nvPr/>
        </p:nvSpPr>
        <p:spPr>
          <a:xfrm>
            <a:off x="8924544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9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Refine</a:t>
            </a:r>
            <a:endParaRPr/>
          </a:p>
        </p:txBody>
      </p:sp>
      <p:sp>
        <p:nvSpPr>
          <p:cNvPr id="496" name="Google Shape;496;p29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Kiểm tra scale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Annotation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Export / report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0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12.8</a:t>
            </a:r>
            <a:endParaRPr/>
          </a:p>
        </p:txBody>
      </p:sp>
      <p:sp>
        <p:nvSpPr>
          <p:cNvPr id="506" name="Google Shape;506;p30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Matplotlib</a:t>
            </a:r>
            <a:endParaRPr/>
          </a:p>
        </p:txBody>
      </p:sp>
      <p:sp>
        <p:nvSpPr>
          <p:cNvPr id="507" name="Google Shape;507;p30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Nền tảng trực quan hóa cơ bản và khả năng tùy biến cao</a:t>
            </a:r>
            <a:endParaRPr/>
          </a:p>
        </p:txBody>
      </p:sp>
      <p:sp>
        <p:nvSpPr>
          <p:cNvPr id="508" name="Google Shape;508;p30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1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Matplotlib — các hàm cơ bản</a:t>
            </a:r>
            <a:endParaRPr/>
          </a:p>
        </p:txBody>
      </p:sp>
      <p:sp>
        <p:nvSpPr>
          <p:cNvPr id="520" name="Google Shape;520;p3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  <p:pic>
        <p:nvPicPr>
          <p:cNvPr descr="body-23.png" id="521" name="Google Shape;5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2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Anatomy của một Matplotlib Chart</a:t>
            </a:r>
            <a:endParaRPr/>
          </a:p>
        </p:txBody>
      </p:sp>
      <p:sp>
        <p:nvSpPr>
          <p:cNvPr id="531" name="Google Shape;531;p3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  <p:sp>
        <p:nvSpPr>
          <p:cNvPr id="532" name="Google Shape;532;p32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12 không cần đi sâu API, nhưng học viên cần hiểu chart gồm dữ liệu + context.</a:t>
            </a:r>
            <a:endParaRPr/>
          </a:p>
        </p:txBody>
      </p:sp>
      <p:sp>
        <p:nvSpPr>
          <p:cNvPr id="533" name="Google Shape;533;p32"/>
          <p:cNvSpPr/>
          <p:nvPr/>
        </p:nvSpPr>
        <p:spPr>
          <a:xfrm>
            <a:off x="502920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2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Figure / Axes</a:t>
            </a:r>
            <a:endParaRPr/>
          </a:p>
        </p:txBody>
      </p:sp>
      <p:sp>
        <p:nvSpPr>
          <p:cNvPr id="535" name="Google Shape;535;p32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Figure là canvas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Axes là vùng biểu đồ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thể có nhiều Axes</a:t>
            </a:r>
            <a:endParaRPr/>
          </a:p>
        </p:txBody>
      </p:sp>
      <p:sp>
        <p:nvSpPr>
          <p:cNvPr id="536" name="Google Shape;536;p32"/>
          <p:cNvSpPr/>
          <p:nvPr/>
        </p:nvSpPr>
        <p:spPr>
          <a:xfrm>
            <a:off x="4041648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Data Marks</a:t>
            </a:r>
            <a:endParaRPr/>
          </a:p>
        </p:txBody>
      </p:sp>
      <p:sp>
        <p:nvSpPr>
          <p:cNvPr id="538" name="Google Shape;538;p32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Line / Bar / Point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Encoding dữ liệu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Không thêm decoration thừa</a:t>
            </a:r>
            <a:endParaRPr/>
          </a:p>
        </p:txBody>
      </p:sp>
      <p:sp>
        <p:nvSpPr>
          <p:cNvPr id="539" name="Google Shape;539;p32"/>
          <p:cNvSpPr/>
          <p:nvPr/>
        </p:nvSpPr>
        <p:spPr>
          <a:xfrm>
            <a:off x="7580375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2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/>
          </a:p>
        </p:txBody>
      </p:sp>
      <p:sp>
        <p:nvSpPr>
          <p:cNvPr id="541" name="Google Shape;541;p32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Title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Axis label / unit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Legend / annotation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Một biểu đồ Python tối thiểu nên có</a:t>
            </a:r>
            <a:endParaRPr/>
          </a:p>
        </p:txBody>
      </p:sp>
      <p:sp>
        <p:nvSpPr>
          <p:cNvPr id="551" name="Google Shape;551;p3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  <p:sp>
        <p:nvSpPr>
          <p:cNvPr id="552" name="Google Shape;552;p33"/>
          <p:cNvSpPr/>
          <p:nvPr/>
        </p:nvSpPr>
        <p:spPr>
          <a:xfrm>
            <a:off x="685800" y="969264"/>
            <a:ext cx="10698480" cy="530352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Mục tiêu là chart rõ ràng, không biến buổi học thành khóa Matplotlib chuyên sâu.</a:t>
            </a:r>
            <a:endParaRPr/>
          </a:p>
        </p:txBody>
      </p:sp>
      <p:sp>
        <p:nvSpPr>
          <p:cNvPr id="553" name="Google Shape;553;p33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Tiêu đề: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Nói được chart đang trả lời câu hỏi gì.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Nhãn trục và đơn vị: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Revenue (VND), Orders (count), Time (month)...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Scale hợp lý: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Không tạo chênh lệch giả hoặc che mất pattern.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Legend khi cần: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Chỉ thêm khi có nhiều series/category cần giải thích.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Figure size: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Đủ lớn để nhìn rõ khi trình chiếu hoặc đưa vào báo cáo.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4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12.9</a:t>
            </a:r>
            <a:endParaRPr/>
          </a:p>
        </p:txBody>
      </p:sp>
      <p:sp>
        <p:nvSpPr>
          <p:cNvPr id="563" name="Google Shape;563;p34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Seaborn</a:t>
            </a:r>
            <a:endParaRPr/>
          </a:p>
        </p:txBody>
      </p:sp>
      <p:sp>
        <p:nvSpPr>
          <p:cNvPr id="564" name="Google Shape;564;p34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Trực quan hóa thống kê thuận tiện hơn trên nền Matplotlib</a:t>
            </a:r>
            <a:endParaRPr/>
          </a:p>
        </p:txBody>
      </p:sp>
      <p:sp>
        <p:nvSpPr>
          <p:cNvPr id="565" name="Google Shape;565;p34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5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Seaborn — xây dựng trên nền Matplotlib</a:t>
            </a:r>
            <a:endParaRPr/>
          </a:p>
        </p:txBody>
      </p:sp>
      <p:sp>
        <p:nvSpPr>
          <p:cNvPr id="577" name="Google Shape;577;p3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  <p:pic>
        <p:nvPicPr>
          <p:cNvPr descr="body-25.png" id="578" name="Google Shape;5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6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Khi nào Seaborn đặc biệt hữu ích?</a:t>
            </a:r>
            <a:endParaRPr/>
          </a:p>
        </p:txBody>
      </p:sp>
      <p:sp>
        <p:nvSpPr>
          <p:cNvPr id="588" name="Google Shape;588;p3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  <p:sp>
        <p:nvSpPr>
          <p:cNvPr id="589" name="Google Shape;589;p36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Seaborn nên được dùng khi câu hỏi mang tính thống kê; không cần thay thế Matplotlib cho mọi biểu đồ.</a:t>
            </a:r>
            <a:endParaRPr/>
          </a:p>
        </p:txBody>
      </p:sp>
      <p:sp>
        <p:nvSpPr>
          <p:cNvPr id="590" name="Google Shape;590;p36"/>
          <p:cNvSpPr/>
          <p:nvPr/>
        </p:nvSpPr>
        <p:spPr>
          <a:xfrm>
            <a:off x="502920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6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endParaRPr/>
          </a:p>
        </p:txBody>
      </p:sp>
      <p:sp>
        <p:nvSpPr>
          <p:cNvPr id="592" name="Google Shape;592;p36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histplot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boxplot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violin/ECDF ở mức mở rộng</a:t>
            </a:r>
            <a:endParaRPr/>
          </a:p>
        </p:txBody>
      </p:sp>
      <p:sp>
        <p:nvSpPr>
          <p:cNvPr id="593" name="Google Shape;593;p36"/>
          <p:cNvSpPr/>
          <p:nvPr/>
        </p:nvSpPr>
        <p:spPr>
          <a:xfrm>
            <a:off x="4041648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6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endParaRPr/>
          </a:p>
        </p:txBody>
      </p:sp>
      <p:sp>
        <p:nvSpPr>
          <p:cNvPr id="595" name="Google Shape;595;p36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scatterplot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regplot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hue theo nhóm</a:t>
            </a:r>
            <a:endParaRPr/>
          </a:p>
        </p:txBody>
      </p:sp>
      <p:sp>
        <p:nvSpPr>
          <p:cNvPr id="596" name="Google Shape;596;p36"/>
          <p:cNvSpPr/>
          <p:nvPr/>
        </p:nvSpPr>
        <p:spPr>
          <a:xfrm>
            <a:off x="7580375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6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/>
          </a:p>
        </p:txBody>
      </p:sp>
      <p:sp>
        <p:nvSpPr>
          <p:cNvPr id="598" name="Google Shape;598;p36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heatmap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correlation matrix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pattern giữa dimension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7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12.10</a:t>
            </a:r>
            <a:endParaRPr/>
          </a:p>
        </p:txBody>
      </p:sp>
      <p:sp>
        <p:nvSpPr>
          <p:cNvPr id="608" name="Google Shape;608;p37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Công cụ trực quan hóa mã nguồn mở</a:t>
            </a:r>
            <a:endParaRPr/>
          </a:p>
        </p:txBody>
      </p:sp>
      <p:sp>
        <p:nvSpPr>
          <p:cNvPr id="609" name="Google Shape;609;p37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Từ static chart đến interactive dashboard</a:t>
            </a:r>
            <a:endParaRPr/>
          </a:p>
        </p:txBody>
      </p:sp>
      <p:sp>
        <p:nvSpPr>
          <p:cNvPr id="610" name="Google Shape;610;p37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7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8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Các công cụ trực quan hóa mã nguồn mở</a:t>
            </a:r>
            <a:endParaRPr/>
          </a:p>
        </p:txBody>
      </p:sp>
      <p:sp>
        <p:nvSpPr>
          <p:cNvPr id="622" name="Google Shape;622;p3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/>
          </a:p>
        </p:txBody>
      </p:sp>
      <p:pic>
        <p:nvPicPr>
          <p:cNvPr descr="body-27.png" id="623" name="Google Shape;62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9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Static và Interactive Visualization</a:t>
            </a:r>
            <a:endParaRPr/>
          </a:p>
        </p:txBody>
      </p:sp>
      <p:sp>
        <p:nvSpPr>
          <p:cNvPr id="633" name="Google Shape;633;p3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</p:txBody>
      </p:sp>
      <p:sp>
        <p:nvSpPr>
          <p:cNvPr id="634" name="Google Shape;634;p39"/>
          <p:cNvSpPr/>
          <p:nvPr/>
        </p:nvSpPr>
        <p:spPr>
          <a:xfrm>
            <a:off x="640080" y="1188720"/>
            <a:ext cx="5029200" cy="45720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9"/>
          <p:cNvSpPr txBox="1"/>
          <p:nvPr/>
        </p:nvSpPr>
        <p:spPr>
          <a:xfrm>
            <a:off x="841247" y="138988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endParaRPr/>
          </a:p>
        </p:txBody>
      </p:sp>
      <p:sp>
        <p:nvSpPr>
          <p:cNvPr id="636" name="Google Shape;636;p3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Matplotlib / Seaborn.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Phù hợp notebook, báo cáo, bài báo.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Người xem nhận một góc nhìn đã được tác giả chọn.</a:t>
            </a:r>
            <a:endParaRPr/>
          </a:p>
        </p:txBody>
      </p:sp>
      <p:sp>
        <p:nvSpPr>
          <p:cNvPr id="637" name="Google Shape;637;p39"/>
          <p:cNvSpPr/>
          <p:nvPr/>
        </p:nvSpPr>
        <p:spPr>
          <a:xfrm>
            <a:off x="6126480" y="1188720"/>
            <a:ext cx="5029200" cy="45720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9"/>
          <p:cNvSpPr txBox="1"/>
          <p:nvPr/>
        </p:nvSpPr>
        <p:spPr>
          <a:xfrm>
            <a:off x="6327648" y="138988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Interactive</a:t>
            </a:r>
            <a:endParaRPr/>
          </a:p>
        </p:txBody>
      </p:sp>
      <p:sp>
        <p:nvSpPr>
          <p:cNvPr id="639" name="Google Shape;639;p39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Plotly / Apache Superset và các công cụ tương tác.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hover, filter, zoom hoặc drill-down.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Phù hợp khám phá và dashboard.</a:t>
            </a:r>
            <a:endParaRPr/>
          </a:p>
        </p:txBody>
      </p:sp>
      <p:sp>
        <p:nvSpPr>
          <p:cNvPr id="640" name="Google Shape;640;p39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Đề cương cho phép giới thiệu Plotly/Tableau/Superset; trọng tâm thực hành vẫn là Python + Power BI.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0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12.11</a:t>
            </a:r>
            <a:endParaRPr/>
          </a:p>
        </p:txBody>
      </p:sp>
      <p:sp>
        <p:nvSpPr>
          <p:cNvPr id="650" name="Google Shape;650;p40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Công cụ trực quan hóa thương mại phổ biến</a:t>
            </a:r>
            <a:endParaRPr/>
          </a:p>
        </p:txBody>
      </p:sp>
      <p:sp>
        <p:nvSpPr>
          <p:cNvPr id="651" name="Google Shape;651;p40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Power BI, Tableau và Qlik Sense — trọng tâm thực hành Power BI</a:t>
            </a:r>
            <a:endParaRPr/>
          </a:p>
        </p:txBody>
      </p:sp>
      <p:sp>
        <p:nvSpPr>
          <p:cNvPr id="652" name="Google Shape;652;p40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0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1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Power BI và Tableau</a:t>
            </a:r>
            <a:endParaRPr/>
          </a:p>
        </p:txBody>
      </p:sp>
      <p:sp>
        <p:nvSpPr>
          <p:cNvPr id="664" name="Google Shape;664;p4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/>
          </a:p>
        </p:txBody>
      </p:sp>
      <p:pic>
        <p:nvPicPr>
          <p:cNvPr descr="body-29.png" id="665" name="Google Shape;66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2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Power BI — ba lớp cần hiểu ở mức nhập môn</a:t>
            </a:r>
            <a:endParaRPr/>
          </a:p>
        </p:txBody>
      </p:sp>
      <p:sp>
        <p:nvSpPr>
          <p:cNvPr id="675" name="Google Shape;675;p4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676" name="Google Shape;676;p42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Đề cương LAB yêu cầu kiểm tra data types/model, tạo measures/KPI và xây chart + slicer.</a:t>
            </a:r>
            <a:endParaRPr/>
          </a:p>
        </p:txBody>
      </p:sp>
      <p:sp>
        <p:nvSpPr>
          <p:cNvPr id="677" name="Google Shape;677;p42"/>
          <p:cNvSpPr/>
          <p:nvPr/>
        </p:nvSpPr>
        <p:spPr>
          <a:xfrm>
            <a:off x="502920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2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679" name="Google Shape;679;p42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Import dataset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Kiểm tra data types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Quan hệ bảng nếu có</a:t>
            </a:r>
            <a:endParaRPr/>
          </a:p>
        </p:txBody>
      </p:sp>
      <p:sp>
        <p:nvSpPr>
          <p:cNvPr id="680" name="Google Shape;680;p42"/>
          <p:cNvSpPr/>
          <p:nvPr/>
        </p:nvSpPr>
        <p:spPr>
          <a:xfrm>
            <a:off x="4041648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2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Model / KPI</a:t>
            </a:r>
            <a:endParaRPr/>
          </a:p>
        </p:txBody>
      </p:sp>
      <p:sp>
        <p:nvSpPr>
          <p:cNvPr id="682" name="Google Shape;682;p42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Measures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KPI chính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Logic tính nhất quán</a:t>
            </a:r>
            <a:endParaRPr/>
          </a:p>
        </p:txBody>
      </p:sp>
      <p:sp>
        <p:nvSpPr>
          <p:cNvPr id="683" name="Google Shape;683;p42"/>
          <p:cNvSpPr/>
          <p:nvPr/>
        </p:nvSpPr>
        <p:spPr>
          <a:xfrm>
            <a:off x="7580375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2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Report</a:t>
            </a:r>
            <a:endParaRPr/>
          </a:p>
        </p:txBody>
      </p:sp>
      <p:sp>
        <p:nvSpPr>
          <p:cNvPr id="685" name="Google Shape;685;p42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KPI Cards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Line / Bar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Slicers / Filters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3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12.12</a:t>
            </a:r>
            <a:endParaRPr/>
          </a:p>
        </p:txBody>
      </p:sp>
      <p:sp>
        <p:nvSpPr>
          <p:cNvPr id="695" name="Google Shape;695;p43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Python Visualization và BI Tools khác nhau thế nào?</a:t>
            </a:r>
            <a:endParaRPr/>
          </a:p>
        </p:txBody>
      </p:sp>
      <p:sp>
        <p:nvSpPr>
          <p:cNvPr id="696" name="Google Shape;696;p43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Hai hướng bổ sung nhau trong một workflow phân tích</a:t>
            </a:r>
            <a:endParaRPr/>
          </a:p>
        </p:txBody>
      </p:sp>
      <p:sp>
        <p:nvSpPr>
          <p:cNvPr id="697" name="Google Shape;697;p43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3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4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So sánh Python và BI Tools</a:t>
            </a:r>
            <a:endParaRPr/>
          </a:p>
        </p:txBody>
      </p:sp>
      <p:sp>
        <p:nvSpPr>
          <p:cNvPr id="709" name="Google Shape;709;p4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/>
          </a:p>
        </p:txBody>
      </p:sp>
      <p:pic>
        <p:nvPicPr>
          <p:cNvPr descr="body-31.png" id="710" name="Google Shape;7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5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Python và BI có thể kết hợp trong cùng pipeline</a:t>
            </a:r>
            <a:endParaRPr/>
          </a:p>
        </p:txBody>
      </p:sp>
      <p:sp>
        <p:nvSpPr>
          <p:cNvPr id="720" name="Google Shape;720;p4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/>
          </a:p>
        </p:txBody>
      </p:sp>
      <p:sp>
        <p:nvSpPr>
          <p:cNvPr id="721" name="Google Shape;721;p45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Không cần chọn một công cụ duy nhất; Python mạnh ở xử lý/phân tích, BI mạnh ở phân phối dashboard tương tác.</a:t>
            </a:r>
            <a:endParaRPr/>
          </a:p>
        </p:txBody>
      </p:sp>
      <p:sp>
        <p:nvSpPr>
          <p:cNvPr id="722" name="Google Shape;722;p45"/>
          <p:cNvSpPr/>
          <p:nvPr/>
        </p:nvSpPr>
        <p:spPr>
          <a:xfrm>
            <a:off x="502920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5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Prepare</a:t>
            </a:r>
            <a:endParaRPr/>
          </a:p>
        </p:txBody>
      </p:sp>
      <p:sp>
        <p:nvSpPr>
          <p:cNvPr id="724" name="Google Shape;724;p45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Python/Pandas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Cleaning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Feature/KPI table</a:t>
            </a:r>
            <a:endParaRPr/>
          </a:p>
        </p:txBody>
      </p:sp>
      <p:cxnSp>
        <p:nvCxnSpPr>
          <p:cNvPr id="725" name="Google Shape;725;p45"/>
          <p:cNvCxnSpPr/>
          <p:nvPr/>
        </p:nvCxnSpPr>
        <p:spPr>
          <a:xfrm>
            <a:off x="2743200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26" name="Google Shape;726;p45"/>
          <p:cNvSpPr/>
          <p:nvPr/>
        </p:nvSpPr>
        <p:spPr>
          <a:xfrm>
            <a:off x="3310128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5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endParaRPr/>
          </a:p>
        </p:txBody>
      </p:sp>
      <p:sp>
        <p:nvSpPr>
          <p:cNvPr id="728" name="Google Shape;728;p45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Matplotlib/Seaborn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EDA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Kiểm tra insight</a:t>
            </a:r>
            <a:endParaRPr/>
          </a:p>
        </p:txBody>
      </p:sp>
      <p:cxnSp>
        <p:nvCxnSpPr>
          <p:cNvPr id="729" name="Google Shape;729;p45"/>
          <p:cNvCxnSpPr/>
          <p:nvPr/>
        </p:nvCxnSpPr>
        <p:spPr>
          <a:xfrm>
            <a:off x="5550408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30" name="Google Shape;730;p45"/>
          <p:cNvSpPr/>
          <p:nvPr/>
        </p:nvSpPr>
        <p:spPr>
          <a:xfrm>
            <a:off x="6117336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5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Publish</a:t>
            </a:r>
            <a:endParaRPr/>
          </a:p>
        </p:txBody>
      </p:sp>
      <p:sp>
        <p:nvSpPr>
          <p:cNvPr id="732" name="Google Shape;732;p45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Power BI/Tableau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Interactive dashboard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Self-service</a:t>
            </a:r>
            <a:endParaRPr/>
          </a:p>
        </p:txBody>
      </p:sp>
      <p:cxnSp>
        <p:nvCxnSpPr>
          <p:cNvPr id="733" name="Google Shape;733;p45"/>
          <p:cNvCxnSpPr/>
          <p:nvPr/>
        </p:nvCxnSpPr>
        <p:spPr>
          <a:xfrm>
            <a:off x="8357616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34" name="Google Shape;734;p45"/>
          <p:cNvSpPr/>
          <p:nvPr/>
        </p:nvSpPr>
        <p:spPr>
          <a:xfrm>
            <a:off x="8924544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5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/>
          </a:p>
        </p:txBody>
      </p:sp>
      <p:sp>
        <p:nvSpPr>
          <p:cNvPr id="736" name="Google Shape;736;p45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Refresh dữ liệu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Filter/drill-down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Theo dõi KPI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6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12.13</a:t>
            </a:r>
            <a:endParaRPr/>
          </a:p>
        </p:txBody>
      </p:sp>
      <p:sp>
        <p:nvSpPr>
          <p:cNvPr id="746" name="Google Shape;746;p4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Dashboard là gì?</a:t>
            </a:r>
            <a:endParaRPr/>
          </a:p>
        </p:txBody>
      </p:sp>
      <p:sp>
        <p:nvSpPr>
          <p:cNvPr id="747" name="Google Shape;747;p46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Một màn hình trả lời một tập câu hỏi nghiệp vụ cụ thể</a:t>
            </a:r>
            <a:endParaRPr/>
          </a:p>
        </p:txBody>
      </p:sp>
      <p:sp>
        <p:nvSpPr>
          <p:cNvPr id="748" name="Google Shape;748;p46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6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7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Ví dụ: Sales Dashboard</a:t>
            </a:r>
            <a:endParaRPr/>
          </a:p>
        </p:txBody>
      </p:sp>
      <p:sp>
        <p:nvSpPr>
          <p:cNvPr id="760" name="Google Shape;760;p4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</p:txBody>
      </p:sp>
      <p:pic>
        <p:nvPicPr>
          <p:cNvPr descr="body-33.png" id="761" name="Google Shape;76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8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Dashboard tốt bắt đầu từ Audience và Decision</a:t>
            </a:r>
            <a:endParaRPr/>
          </a:p>
        </p:txBody>
      </p:sp>
      <p:sp>
        <p:nvSpPr>
          <p:cNvPr id="771" name="Google Shape;771;p4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</p:txBody>
      </p:sp>
      <p:sp>
        <p:nvSpPr>
          <p:cNvPr id="772" name="Google Shape;772;p48"/>
          <p:cNvSpPr/>
          <p:nvPr/>
        </p:nvSpPr>
        <p:spPr>
          <a:xfrm>
            <a:off x="685800" y="969264"/>
            <a:ext cx="10698480" cy="530352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Dashboard không phải tập hợp tất cả chart có thể tạo; nó phải phục vụ một nhóm quyết định cụ thể.</a:t>
            </a:r>
            <a:endParaRPr/>
          </a:p>
        </p:txBody>
      </p:sp>
      <p:sp>
        <p:nvSpPr>
          <p:cNvPr id="773" name="Google Shape;773;p48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Audience: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Ai sẽ dùng dashboard — quản lý, analyst hay vận hành?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Decision: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Người xem cần ra quyết định gì sau khi xem?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Frequency: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Xem hàng ngày, hàng tuần hay hàng tháng?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Scope: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Dashboard tổng quan hay dashboard phân tích một vấn đề?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Action: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Khi KPI xấu, người dùng có thể drill-down để tìm nơi cần xử lý không?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9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12.14</a:t>
            </a:r>
            <a:endParaRPr/>
          </a:p>
        </p:txBody>
      </p:sp>
      <p:sp>
        <p:nvSpPr>
          <p:cNvPr id="783" name="Google Shape;783;p49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Thành phần của một Dashboard</a:t>
            </a:r>
            <a:endParaRPr/>
          </a:p>
        </p:txBody>
      </p:sp>
      <p:sp>
        <p:nvSpPr>
          <p:cNvPr id="784" name="Google Shape;784;p49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KPI Cards, Trend, Comparison và Filters/Slicers</a:t>
            </a:r>
            <a:endParaRPr/>
          </a:p>
        </p:txBody>
      </p:sp>
      <p:sp>
        <p:nvSpPr>
          <p:cNvPr id="785" name="Google Shape;785;p49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9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5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5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0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Bốn thành phần cốt lõi của Dashboard</a:t>
            </a:r>
            <a:endParaRPr/>
          </a:p>
        </p:txBody>
      </p:sp>
      <p:sp>
        <p:nvSpPr>
          <p:cNvPr id="797" name="Google Shape;797;p5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pic>
        <p:nvPicPr>
          <p:cNvPr descr="body-35.png" id="798" name="Google Shape;79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5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5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5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1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KPI Cards — ít nhưng phải có ngữ cảnh</a:t>
            </a:r>
            <a:endParaRPr/>
          </a:p>
        </p:txBody>
      </p:sp>
      <p:sp>
        <p:nvSpPr>
          <p:cNvPr id="808" name="Google Shape;808;p5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/>
          </a:p>
        </p:txBody>
      </p:sp>
      <p:sp>
        <p:nvSpPr>
          <p:cNvPr id="809" name="Google Shape;809;p51"/>
          <p:cNvSpPr txBox="1"/>
          <p:nvPr/>
        </p:nvSpPr>
        <p:spPr>
          <a:xfrm>
            <a:off x="731520" y="969264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Một KPI Card chỉ có số tuyệt đối thường chưa đủ; cần context để người xem hiểu nhanh.</a:t>
            </a:r>
            <a:endParaRPr/>
          </a:p>
        </p:txBody>
      </p:sp>
      <p:sp>
        <p:nvSpPr>
          <p:cNvPr id="810" name="Google Shape;810;p51"/>
          <p:cNvSpPr/>
          <p:nvPr/>
        </p:nvSpPr>
        <p:spPr>
          <a:xfrm>
            <a:off x="502920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51"/>
          <p:cNvSpPr txBox="1"/>
          <p:nvPr/>
        </p:nvSpPr>
        <p:spPr>
          <a:xfrm>
            <a:off x="649224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/>
          </a:p>
        </p:txBody>
      </p:sp>
      <p:sp>
        <p:nvSpPr>
          <p:cNvPr id="812" name="Google Shape;812;p51"/>
          <p:cNvSpPr txBox="1"/>
          <p:nvPr/>
        </p:nvSpPr>
        <p:spPr>
          <a:xfrm>
            <a:off x="667512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Revenue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Profit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Orders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Con số chính</a:t>
            </a:r>
            <a:endParaRPr/>
          </a:p>
        </p:txBody>
      </p:sp>
      <p:sp>
        <p:nvSpPr>
          <p:cNvPr id="813" name="Google Shape;813;p51"/>
          <p:cNvSpPr/>
          <p:nvPr/>
        </p:nvSpPr>
        <p:spPr>
          <a:xfrm>
            <a:off x="4041648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1"/>
          <p:cNvSpPr txBox="1"/>
          <p:nvPr/>
        </p:nvSpPr>
        <p:spPr>
          <a:xfrm>
            <a:off x="4187952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Change</a:t>
            </a:r>
            <a:endParaRPr/>
          </a:p>
        </p:txBody>
      </p:sp>
      <p:sp>
        <p:nvSpPr>
          <p:cNvPr id="815" name="Google Shape;815;p51"/>
          <p:cNvSpPr txBox="1"/>
          <p:nvPr/>
        </p:nvSpPr>
        <p:spPr>
          <a:xfrm>
            <a:off x="4206240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MoM / YoY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So với target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Tốt/xấu so với baseline</a:t>
            </a:r>
            <a:endParaRPr/>
          </a:p>
        </p:txBody>
      </p:sp>
      <p:sp>
        <p:nvSpPr>
          <p:cNvPr id="816" name="Google Shape;816;p51"/>
          <p:cNvSpPr/>
          <p:nvPr/>
        </p:nvSpPr>
        <p:spPr>
          <a:xfrm>
            <a:off x="7580375" y="1481328"/>
            <a:ext cx="3246120" cy="4407408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7DD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1"/>
          <p:cNvSpPr txBox="1"/>
          <p:nvPr/>
        </p:nvSpPr>
        <p:spPr>
          <a:xfrm>
            <a:off x="7726679" y="1682496"/>
            <a:ext cx="29260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/>
          </a:p>
        </p:txBody>
      </p:sp>
      <p:sp>
        <p:nvSpPr>
          <p:cNvPr id="818" name="Google Shape;818;p51"/>
          <p:cNvSpPr txBox="1"/>
          <p:nvPr/>
        </p:nvSpPr>
        <p:spPr>
          <a:xfrm>
            <a:off x="7744967" y="2194560"/>
            <a:ext cx="2880360" cy="3456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Đơn vị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Khoảng thời gian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Filter đang áp dụng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5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2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12.15</a:t>
            </a:r>
            <a:endParaRPr/>
          </a:p>
        </p:txBody>
      </p:sp>
      <p:sp>
        <p:nvSpPr>
          <p:cNvPr id="828" name="Google Shape;828;p52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Nguyên tắc bố cục Dashboard</a:t>
            </a:r>
            <a:endParaRPr/>
          </a:p>
        </p:txBody>
      </p:sp>
      <p:sp>
        <p:nvSpPr>
          <p:cNvPr id="829" name="Google Shape;829;p52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Tổng quan → Xu hướng → Breakdown → Chi tiết</a:t>
            </a:r>
            <a:endParaRPr/>
          </a:p>
        </p:txBody>
      </p:sp>
      <p:sp>
        <p:nvSpPr>
          <p:cNvPr id="830" name="Google Shape;830;p52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2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5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5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5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5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3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Bố cục Dashboard theo thứ tự đọc</a:t>
            </a:r>
            <a:endParaRPr/>
          </a:p>
        </p:txBody>
      </p:sp>
      <p:sp>
        <p:nvSpPr>
          <p:cNvPr id="842" name="Google Shape;842;p5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endParaRPr/>
          </a:p>
        </p:txBody>
      </p:sp>
      <p:pic>
        <p:nvPicPr>
          <p:cNvPr descr="body-37.png" id="843" name="Google Shape;84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5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5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4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Bố cục Dashboard theo thứ tự đọc</a:t>
            </a:r>
            <a:endParaRPr/>
          </a:p>
        </p:txBody>
      </p:sp>
      <p:sp>
        <p:nvSpPr>
          <p:cNvPr id="853" name="Google Shape;853;p5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/>
          </a:p>
        </p:txBody>
      </p:sp>
      <p:sp>
        <p:nvSpPr>
          <p:cNvPr id="854" name="Google Shape;854;p54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Bám trực tiếp yêu cầu đề cương: sắp xếp dashboard theo logic tổng quan → xu hướng → chi tiết.</a:t>
            </a:r>
            <a:endParaRPr/>
          </a:p>
        </p:txBody>
      </p:sp>
      <p:sp>
        <p:nvSpPr>
          <p:cNvPr id="855" name="Google Shape;855;p54"/>
          <p:cNvSpPr/>
          <p:nvPr/>
        </p:nvSpPr>
        <p:spPr>
          <a:xfrm>
            <a:off x="502920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54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Top</a:t>
            </a:r>
            <a:endParaRPr/>
          </a:p>
        </p:txBody>
      </p:sp>
      <p:sp>
        <p:nvSpPr>
          <p:cNvPr id="857" name="Google Shape;857;p54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KPI cards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Filters chính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Trạng thái tổng thể</a:t>
            </a:r>
            <a:endParaRPr/>
          </a:p>
        </p:txBody>
      </p:sp>
      <p:cxnSp>
        <p:nvCxnSpPr>
          <p:cNvPr id="858" name="Google Shape;858;p54"/>
          <p:cNvCxnSpPr/>
          <p:nvPr/>
        </p:nvCxnSpPr>
        <p:spPr>
          <a:xfrm>
            <a:off x="2743200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59" name="Google Shape;859;p54"/>
          <p:cNvSpPr/>
          <p:nvPr/>
        </p:nvSpPr>
        <p:spPr>
          <a:xfrm>
            <a:off x="3310128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4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Middle 1</a:t>
            </a:r>
            <a:endParaRPr/>
          </a:p>
        </p:txBody>
      </p:sp>
      <p:sp>
        <p:nvSpPr>
          <p:cNvPr id="861" name="Google Shape;861;p54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Trend chart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Biến động theo thời gian</a:t>
            </a:r>
            <a:endParaRPr/>
          </a:p>
        </p:txBody>
      </p:sp>
      <p:cxnSp>
        <p:nvCxnSpPr>
          <p:cNvPr id="862" name="Google Shape;862;p54"/>
          <p:cNvCxnSpPr/>
          <p:nvPr/>
        </p:nvCxnSpPr>
        <p:spPr>
          <a:xfrm>
            <a:off x="5550408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63" name="Google Shape;863;p54"/>
          <p:cNvSpPr/>
          <p:nvPr/>
        </p:nvSpPr>
        <p:spPr>
          <a:xfrm>
            <a:off x="6117336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4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Middle 2</a:t>
            </a:r>
            <a:endParaRPr/>
          </a:p>
        </p:txBody>
      </p:sp>
      <p:sp>
        <p:nvSpPr>
          <p:cNvPr id="865" name="Google Shape;865;p54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Bar / composition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Breakdown theo nhóm</a:t>
            </a:r>
            <a:endParaRPr/>
          </a:p>
        </p:txBody>
      </p:sp>
      <p:cxnSp>
        <p:nvCxnSpPr>
          <p:cNvPr id="866" name="Google Shape;866;p54"/>
          <p:cNvCxnSpPr/>
          <p:nvPr/>
        </p:nvCxnSpPr>
        <p:spPr>
          <a:xfrm>
            <a:off x="8357616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67" name="Google Shape;867;p54"/>
          <p:cNvSpPr/>
          <p:nvPr/>
        </p:nvSpPr>
        <p:spPr>
          <a:xfrm>
            <a:off x="8924544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4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Bottom</a:t>
            </a:r>
            <a:endParaRPr/>
          </a:p>
        </p:txBody>
      </p:sp>
      <p:sp>
        <p:nvSpPr>
          <p:cNvPr id="869" name="Google Shape;869;p54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Bảng chi tiết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Drill-through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Danh sách cần hành động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5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5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55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Dashboard Screen Test — nhìn 5 giây có hiểu không?</a:t>
            </a:r>
            <a:endParaRPr/>
          </a:p>
        </p:txBody>
      </p:sp>
      <p:sp>
        <p:nvSpPr>
          <p:cNvPr id="879" name="Google Shape;879;p5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/>
          </a:p>
        </p:txBody>
      </p:sp>
      <p:sp>
        <p:nvSpPr>
          <p:cNvPr id="880" name="Google Shape;880;p55"/>
          <p:cNvSpPr/>
          <p:nvPr/>
        </p:nvSpPr>
        <p:spPr>
          <a:xfrm>
            <a:off x="685800" y="969264"/>
            <a:ext cx="10698480" cy="530352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Một dashboard tốt phải có hierarchy rõ ràng trước khi thêm tương tác nâng cao.</a:t>
            </a:r>
            <a:endParaRPr/>
          </a:p>
        </p:txBody>
      </p:sp>
      <p:sp>
        <p:nvSpPr>
          <p:cNvPr id="881" name="Google Shape;881;p55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KPI chính có nổi bật không?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Có biết ngay xu hướng đang tăng hay giảm không?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Có thấy nhóm nào đóng góp lớn nhất không?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Filter/slicer có dễ nhận biết và không chiếm quá nhiều không gian không?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Có quá nhiều chart khiến người xem không biết bắt đầu từ đâu không?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5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5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6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12.16</a:t>
            </a:r>
            <a:endParaRPr/>
          </a:p>
        </p:txBody>
      </p:sp>
      <p:sp>
        <p:nvSpPr>
          <p:cNvPr id="891" name="Google Shape;891;p56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Data Storytelling</a:t>
            </a:r>
            <a:endParaRPr/>
          </a:p>
        </p:txBody>
      </p:sp>
      <p:sp>
        <p:nvSpPr>
          <p:cNvPr id="892" name="Google Shape;892;p56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Biến chart và dashboard thành một câu chuyện dẫn tới hành động</a:t>
            </a:r>
            <a:endParaRPr/>
          </a:p>
        </p:txBody>
      </p:sp>
      <p:sp>
        <p:nvSpPr>
          <p:cNvPr id="893" name="Google Shape;893;p56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56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5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5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5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5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57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Data Storytelling — kể chuyện bằng dữ liệu</a:t>
            </a:r>
            <a:endParaRPr/>
          </a:p>
        </p:txBody>
      </p:sp>
      <p:sp>
        <p:nvSpPr>
          <p:cNvPr id="905" name="Google Shape;905;p5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/>
          </a:p>
        </p:txBody>
      </p:sp>
      <p:pic>
        <p:nvPicPr>
          <p:cNvPr descr="body-39.png" id="906" name="Google Shape;90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5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5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5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58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Storytelling: What → Where → Why → What next</a:t>
            </a:r>
            <a:endParaRPr/>
          </a:p>
        </p:txBody>
      </p:sp>
      <p:sp>
        <p:nvSpPr>
          <p:cNvPr id="916" name="Google Shape;916;p5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58</a:t>
            </a:r>
            <a:endParaRPr/>
          </a:p>
        </p:txBody>
      </p:sp>
      <p:sp>
        <p:nvSpPr>
          <p:cNvPr id="917" name="Google Shape;917;p58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Slide tổng kết gốc của Bài 12 cũng nhấn mạnh logic Storytelling theo chuỗi What → Where → Why → What next.</a:t>
            </a:r>
            <a:endParaRPr/>
          </a:p>
        </p:txBody>
      </p:sp>
      <p:sp>
        <p:nvSpPr>
          <p:cNvPr id="918" name="Google Shape;918;p58"/>
          <p:cNvSpPr/>
          <p:nvPr/>
        </p:nvSpPr>
        <p:spPr>
          <a:xfrm>
            <a:off x="502920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8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/>
          </a:p>
        </p:txBody>
      </p:sp>
      <p:sp>
        <p:nvSpPr>
          <p:cNvPr id="920" name="Google Shape;920;p58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KPI nào thay đổi?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Mức thay đổi bao nhiêu?</a:t>
            </a:r>
            <a:endParaRPr/>
          </a:p>
        </p:txBody>
      </p:sp>
      <p:cxnSp>
        <p:nvCxnSpPr>
          <p:cNvPr id="921" name="Google Shape;921;p58"/>
          <p:cNvCxnSpPr/>
          <p:nvPr/>
        </p:nvCxnSpPr>
        <p:spPr>
          <a:xfrm>
            <a:off x="2743200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22" name="Google Shape;922;p58"/>
          <p:cNvSpPr/>
          <p:nvPr/>
        </p:nvSpPr>
        <p:spPr>
          <a:xfrm>
            <a:off x="3310128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58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/>
          </a:p>
        </p:txBody>
      </p:sp>
      <p:sp>
        <p:nvSpPr>
          <p:cNvPr id="924" name="Google Shape;924;p58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Khu vực / sản phẩm nào?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Segment nào đóng góp?</a:t>
            </a:r>
            <a:endParaRPr/>
          </a:p>
        </p:txBody>
      </p:sp>
      <p:cxnSp>
        <p:nvCxnSpPr>
          <p:cNvPr id="925" name="Google Shape;925;p58"/>
          <p:cNvCxnSpPr/>
          <p:nvPr/>
        </p:nvCxnSpPr>
        <p:spPr>
          <a:xfrm>
            <a:off x="5550408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26" name="Google Shape;926;p58"/>
          <p:cNvSpPr/>
          <p:nvPr/>
        </p:nvSpPr>
        <p:spPr>
          <a:xfrm>
            <a:off x="6117336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58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/>
          </a:p>
        </p:txBody>
      </p:sp>
      <p:sp>
        <p:nvSpPr>
          <p:cNvPr id="928" name="Google Shape;928;p5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Pattern liên quan gì?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Diagnostic evidence</a:t>
            </a:r>
            <a:endParaRPr/>
          </a:p>
        </p:txBody>
      </p:sp>
      <p:cxnSp>
        <p:nvCxnSpPr>
          <p:cNvPr id="929" name="Google Shape;929;p58"/>
          <p:cNvCxnSpPr/>
          <p:nvPr/>
        </p:nvCxnSpPr>
        <p:spPr>
          <a:xfrm>
            <a:off x="8357616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30" name="Google Shape;930;p58"/>
          <p:cNvSpPr/>
          <p:nvPr/>
        </p:nvSpPr>
        <p:spPr>
          <a:xfrm>
            <a:off x="8924544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58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What next</a:t>
            </a:r>
            <a:endParaRPr/>
          </a:p>
        </p:txBody>
      </p:sp>
      <p:sp>
        <p:nvSpPr>
          <p:cNvPr id="932" name="Google Shape;932;p58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Cần điều tra gì?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Quyết định / hành động nào?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5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5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5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59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Annotation và Insight — chart tự nó chưa phải câu chuyện</a:t>
            </a:r>
            <a:endParaRPr/>
          </a:p>
        </p:txBody>
      </p:sp>
      <p:sp>
        <p:nvSpPr>
          <p:cNvPr id="942" name="Google Shape;942;p5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/>
          </a:p>
        </p:txBody>
      </p:sp>
      <p:sp>
        <p:nvSpPr>
          <p:cNvPr id="943" name="Google Shape;943;p59"/>
          <p:cNvSpPr/>
          <p:nvPr/>
        </p:nvSpPr>
        <p:spPr>
          <a:xfrm>
            <a:off x="640080" y="1188720"/>
            <a:ext cx="5029200" cy="45720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59"/>
          <p:cNvSpPr txBox="1"/>
          <p:nvPr/>
        </p:nvSpPr>
        <p:spPr>
          <a:xfrm>
            <a:off x="841247" y="138988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Annotation</a:t>
            </a:r>
            <a:endParaRPr/>
          </a:p>
        </p:txBody>
      </p:sp>
      <p:sp>
        <p:nvSpPr>
          <p:cNvPr id="945" name="Google Shape;945;p59"/>
          <p:cNvSpPr txBox="1"/>
          <p:nvPr/>
        </p:nvSpPr>
        <p:spPr>
          <a:xfrm>
            <a:off x="841247" y="1856231"/>
            <a:ext cx="4617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Đánh dấu peak, drop hoặc sự kiện quan trọng.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Thêm benchmark/target khi cần.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Dùng tiêu đề mang thông điệp thay vì tên biến chung chung.</a:t>
            </a:r>
            <a:endParaRPr/>
          </a:p>
        </p:txBody>
      </p:sp>
      <p:sp>
        <p:nvSpPr>
          <p:cNvPr id="946" name="Google Shape;946;p59"/>
          <p:cNvSpPr/>
          <p:nvPr/>
        </p:nvSpPr>
        <p:spPr>
          <a:xfrm>
            <a:off x="6126480" y="1188720"/>
            <a:ext cx="5029200" cy="45720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59"/>
          <p:cNvSpPr txBox="1"/>
          <p:nvPr/>
        </p:nvSpPr>
        <p:spPr>
          <a:xfrm>
            <a:off x="6327648" y="138988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Insight</a:t>
            </a:r>
            <a:endParaRPr/>
          </a:p>
        </p:txBody>
      </p:sp>
      <p:sp>
        <p:nvSpPr>
          <p:cNvPr id="948" name="Google Shape;948;p59"/>
          <p:cNvSpPr txBox="1"/>
          <p:nvPr/>
        </p:nvSpPr>
        <p:spPr>
          <a:xfrm>
            <a:off x="6327648" y="1856231"/>
            <a:ext cx="46177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Nêu phát hiện có bằng chứng từ chart.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số liệu / phạm vi / thời gian cụ thể.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Phân biệt quan sát với nguyên nhân chưa được xác nhận.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Kết nối với hành động hoặc câu hỏi tiếp theo.</a:t>
            </a:r>
            <a:endParaRPr/>
          </a:p>
        </p:txBody>
      </p:sp>
      <p:sp>
        <p:nvSpPr>
          <p:cNvPr id="949" name="Google Shape;949;p59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Đề cương LAB yêu cầu viết 3–5 insight dựa trên dashboard, không chỉ chụp ảnh dashboard.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6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6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0"/>
          <p:cNvSpPr txBox="1"/>
          <p:nvPr/>
        </p:nvSpPr>
        <p:spPr>
          <a:xfrm>
            <a:off x="658368" y="12984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TH</a:t>
            </a:r>
            <a:endParaRPr/>
          </a:p>
        </p:txBody>
      </p:sp>
      <p:sp>
        <p:nvSpPr>
          <p:cNvPr id="959" name="Google Shape;959;p60"/>
          <p:cNvSpPr txBox="1"/>
          <p:nvPr/>
        </p:nvSpPr>
        <p:spPr>
          <a:xfrm>
            <a:off x="658368" y="192024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Thực hành Bài 12</a:t>
            </a:r>
            <a:endParaRPr/>
          </a:p>
        </p:txBody>
      </p:sp>
      <p:sp>
        <p:nvSpPr>
          <p:cNvPr id="960" name="Google Shape;960;p60"/>
          <p:cNvSpPr txBox="1"/>
          <p:nvPr/>
        </p:nvSpPr>
        <p:spPr>
          <a:xfrm>
            <a:off x="685800" y="33375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Một dataset — Python Visualization + Power BI Dashboard</a:t>
            </a:r>
            <a:endParaRPr/>
          </a:p>
        </p:txBody>
      </p:sp>
      <p:sp>
        <p:nvSpPr>
          <p:cNvPr id="961" name="Google Shape;961;p60"/>
          <p:cNvSpPr/>
          <p:nvPr/>
        </p:nvSpPr>
        <p:spPr>
          <a:xfrm>
            <a:off x="685800" y="4983480"/>
            <a:ext cx="5212080" cy="54864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60"/>
          <p:cNvSpPr/>
          <p:nvPr/>
        </p:nvSpPr>
        <p:spPr>
          <a:xfrm>
            <a:off x="6016752" y="4983480"/>
            <a:ext cx="1143000" cy="54864"/>
          </a:xfrm>
          <a:prstGeom prst="rect">
            <a:avLst/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6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6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6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6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61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Phần 1 — Chuẩn bị dữ liệu</a:t>
            </a:r>
            <a:endParaRPr/>
          </a:p>
        </p:txBody>
      </p:sp>
      <p:sp>
        <p:nvSpPr>
          <p:cNvPr id="973" name="Google Shape;973;p6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61</a:t>
            </a:r>
            <a:endParaRPr/>
          </a:p>
        </p:txBody>
      </p:sp>
      <p:pic>
        <p:nvPicPr>
          <p:cNvPr descr="body-41.png" id="974" name="Google Shape;97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2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62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62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62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62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Phần 2 — Trực quan hóa bằng Python</a:t>
            </a:r>
            <a:endParaRPr/>
          </a:p>
        </p:txBody>
      </p:sp>
      <p:sp>
        <p:nvSpPr>
          <p:cNvPr id="984" name="Google Shape;984;p62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  <a:endParaRPr/>
          </a:p>
        </p:txBody>
      </p:sp>
      <p:pic>
        <p:nvPicPr>
          <p:cNvPr descr="body-42.png" id="985" name="Google Shape;98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3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63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63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63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63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Yêu cầu Phần Python theo đề cương LAB</a:t>
            </a:r>
            <a:endParaRPr/>
          </a:p>
        </p:txBody>
      </p:sp>
      <p:sp>
        <p:nvSpPr>
          <p:cNvPr id="995" name="Google Shape;995;p63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endParaRPr/>
          </a:p>
        </p:txBody>
      </p:sp>
      <p:sp>
        <p:nvSpPr>
          <p:cNvPr id="996" name="Google Shape;996;p63"/>
          <p:cNvSpPr/>
          <p:nvPr/>
        </p:nvSpPr>
        <p:spPr>
          <a:xfrm>
            <a:off x="685800" y="969264"/>
            <a:ext cx="10698480" cy="530352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Bám trực tiếp các đầu việc 90–93 trong kế hoạch LAB Bài 12.</a:t>
            </a:r>
            <a:endParaRPr/>
          </a:p>
        </p:txBody>
      </p:sp>
      <p:sp>
        <p:nvSpPr>
          <p:cNvPr id="997" name="Google Shape;997;p63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1. Xác định 5–7 câu hỏi phân tích: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Bao phủ comparison, trend, distribution, relationship và composition.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2. Tạo ít nhất 5 visualization: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Ưu tiên mỗi chart trả lời một câu hỏi rõ ràng.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3. Kiểm tra lỗi thiết kế: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Màu, trục, loại chart, nhãn và khả năng đọc.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4. Viết nhận xét: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Mỗi chart nên có 1–2 câu insight thay vì chỉ hiển thị hình.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4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64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64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64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64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Phần 3 — Xây dựng Dashboard bằng Power BI (1/2)</a:t>
            </a:r>
            <a:endParaRPr/>
          </a:p>
        </p:txBody>
      </p:sp>
      <p:sp>
        <p:nvSpPr>
          <p:cNvPr id="1007" name="Google Shape;1007;p64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/>
          </a:p>
        </p:txBody>
      </p:sp>
      <p:pic>
        <p:nvPicPr>
          <p:cNvPr descr="body-43.png" id="1008" name="Google Shape;100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65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65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65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65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65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Phần 3 — Xây dựng Dashboard bằng Power BI (2/2)</a:t>
            </a:r>
            <a:endParaRPr/>
          </a:p>
        </p:txBody>
      </p:sp>
      <p:sp>
        <p:nvSpPr>
          <p:cNvPr id="1018" name="Google Shape;1018;p65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/>
          </a:p>
        </p:txBody>
      </p:sp>
      <p:pic>
        <p:nvPicPr>
          <p:cNvPr descr="body-44.png" id="1019" name="Google Shape;101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66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66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66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66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66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Yêu cầu Power BI theo đề cương LAB</a:t>
            </a:r>
            <a:endParaRPr/>
          </a:p>
        </p:txBody>
      </p:sp>
      <p:sp>
        <p:nvSpPr>
          <p:cNvPr id="1029" name="Google Shape;1029;p66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66</a:t>
            </a:r>
            <a:endParaRPr/>
          </a:p>
        </p:txBody>
      </p:sp>
      <p:sp>
        <p:nvSpPr>
          <p:cNvPr id="1030" name="Google Shape;1030;p66"/>
          <p:cNvSpPr/>
          <p:nvPr/>
        </p:nvSpPr>
        <p:spPr>
          <a:xfrm>
            <a:off x="685800" y="969264"/>
            <a:ext cx="10698480" cy="530352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2DC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Bám trực tiếp các đầu việc 94–98 của kế hoạch LAB.</a:t>
            </a:r>
            <a:endParaRPr/>
          </a:p>
        </p:txBody>
      </p:sp>
      <p:sp>
        <p:nvSpPr>
          <p:cNvPr id="1031" name="Google Shape;1031;p66"/>
          <p:cNvSpPr txBox="1"/>
          <p:nvPr/>
        </p:nvSpPr>
        <p:spPr>
          <a:xfrm>
            <a:off x="822960" y="1664208"/>
            <a:ext cx="103327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Data: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Import dataset, kiểm tra data type và data model.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Measures/KPI: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Tạo các chỉ số chính nhất quán với notebook.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Visuals: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KPI Cards, Line Chart, Bar Chart và Slicers/Filters.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Layout: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Tổng quan → xu hướng → breakdown/chi tiết.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File .pbix hoặc ảnh dashboard nếu môi trường không hỗ trợ nộp .pbix.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67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67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67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67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67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Phần 4 — Phân tích Dashboard</a:t>
            </a:r>
            <a:endParaRPr/>
          </a:p>
        </p:txBody>
      </p:sp>
      <p:sp>
        <p:nvSpPr>
          <p:cNvPr id="1041" name="Google Shape;1041;p67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/>
          </a:p>
        </p:txBody>
      </p:sp>
      <p:pic>
        <p:nvPicPr>
          <p:cNvPr descr="body-45.png" id="1042" name="Google Shape;104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8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68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68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68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68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Checklist trước khi nộp Dashboard</a:t>
            </a:r>
            <a:endParaRPr/>
          </a:p>
        </p:txBody>
      </p:sp>
      <p:sp>
        <p:nvSpPr>
          <p:cNvPr id="1052" name="Google Shape;1052;p68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68</a:t>
            </a:r>
            <a:endParaRPr/>
          </a:p>
        </p:txBody>
      </p:sp>
      <p:sp>
        <p:nvSpPr>
          <p:cNvPr id="1053" name="Google Shape;1053;p68"/>
          <p:cNvSpPr txBox="1"/>
          <p:nvPr/>
        </p:nvSpPr>
        <p:spPr>
          <a:xfrm>
            <a:off x="749808" y="960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Sản phẩm cuối gồm Notebook Visualization, Dashboard Power BI và bản tóm tắt insight.</a:t>
            </a:r>
            <a:endParaRPr/>
          </a:p>
        </p:txBody>
      </p:sp>
      <p:sp>
        <p:nvSpPr>
          <p:cNvPr id="1054" name="Google Shape;1054;p68"/>
          <p:cNvSpPr/>
          <p:nvPr/>
        </p:nvSpPr>
        <p:spPr>
          <a:xfrm>
            <a:off x="502920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68"/>
          <p:cNvSpPr txBox="1"/>
          <p:nvPr/>
        </p:nvSpPr>
        <p:spPr>
          <a:xfrm>
            <a:off x="612648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Questions</a:t>
            </a:r>
            <a:endParaRPr/>
          </a:p>
        </p:txBody>
      </p:sp>
      <p:sp>
        <p:nvSpPr>
          <p:cNvPr id="1056" name="Google Shape;1056;p68"/>
          <p:cNvSpPr txBox="1"/>
          <p:nvPr/>
        </p:nvSpPr>
        <p:spPr>
          <a:xfrm>
            <a:off x="612648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Trả lời đủ 5–7 câu hỏi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Không có chart thừa</a:t>
            </a:r>
            <a:endParaRPr/>
          </a:p>
        </p:txBody>
      </p:sp>
      <p:cxnSp>
        <p:nvCxnSpPr>
          <p:cNvPr id="1057" name="Google Shape;1057;p68"/>
          <p:cNvCxnSpPr/>
          <p:nvPr/>
        </p:nvCxnSpPr>
        <p:spPr>
          <a:xfrm>
            <a:off x="2743200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58" name="Google Shape;1058;p68"/>
          <p:cNvSpPr/>
          <p:nvPr/>
        </p:nvSpPr>
        <p:spPr>
          <a:xfrm>
            <a:off x="3310128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9F3D6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68"/>
          <p:cNvSpPr txBox="1"/>
          <p:nvPr/>
        </p:nvSpPr>
        <p:spPr>
          <a:xfrm>
            <a:off x="3419856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/>
          </a:p>
        </p:txBody>
      </p:sp>
      <p:sp>
        <p:nvSpPr>
          <p:cNvPr id="1060" name="Google Shape;1060;p68"/>
          <p:cNvSpPr txBox="1"/>
          <p:nvPr/>
        </p:nvSpPr>
        <p:spPr>
          <a:xfrm>
            <a:off x="3419856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Font đọc được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Màu nhất quán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Không 3D / scale sai</a:t>
            </a:r>
            <a:endParaRPr/>
          </a:p>
        </p:txBody>
      </p:sp>
      <p:cxnSp>
        <p:nvCxnSpPr>
          <p:cNvPr id="1061" name="Google Shape;1061;p68"/>
          <p:cNvCxnSpPr/>
          <p:nvPr/>
        </p:nvCxnSpPr>
        <p:spPr>
          <a:xfrm>
            <a:off x="5550408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62" name="Google Shape;1062;p68"/>
          <p:cNvSpPr/>
          <p:nvPr/>
        </p:nvSpPr>
        <p:spPr>
          <a:xfrm>
            <a:off x="6117336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F0F4F7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68"/>
          <p:cNvSpPr txBox="1"/>
          <p:nvPr/>
        </p:nvSpPr>
        <p:spPr>
          <a:xfrm>
            <a:off x="6227064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Interaction</a:t>
            </a:r>
            <a:endParaRPr/>
          </a:p>
        </p:txBody>
      </p:sp>
      <p:sp>
        <p:nvSpPr>
          <p:cNvPr id="1064" name="Google Shape;1064;p68"/>
          <p:cNvSpPr txBox="1"/>
          <p:nvPr/>
        </p:nvSpPr>
        <p:spPr>
          <a:xfrm>
            <a:off x="6227064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Slicer hoạt động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KPI cập nhật theo filter</a:t>
            </a:r>
            <a:endParaRPr/>
          </a:p>
        </p:txBody>
      </p:sp>
      <p:cxnSp>
        <p:nvCxnSpPr>
          <p:cNvPr id="1065" name="Google Shape;1065;p68"/>
          <p:cNvCxnSpPr/>
          <p:nvPr/>
        </p:nvCxnSpPr>
        <p:spPr>
          <a:xfrm>
            <a:off x="8357616" y="3200400"/>
            <a:ext cx="493776" cy="0"/>
          </a:xfrm>
          <a:prstGeom prst="straightConnector1">
            <a:avLst/>
          </a:prstGeom>
          <a:noFill/>
          <a:ln cap="flat" cmpd="sng" w="254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66" name="Google Shape;1066;p68"/>
          <p:cNvSpPr/>
          <p:nvPr/>
        </p:nvSpPr>
        <p:spPr>
          <a:xfrm>
            <a:off x="8924544" y="1828800"/>
            <a:ext cx="2240280" cy="2743200"/>
          </a:xfrm>
          <a:prstGeom prst="roundRect">
            <a:avLst>
              <a:gd fmla="val 16667" name="adj"/>
            </a:avLst>
          </a:prstGeom>
          <a:solidFill>
            <a:srgbClr val="E7EEF5"/>
          </a:solidFill>
          <a:ln cap="flat" cmpd="sng" w="9525">
            <a:solidFill>
              <a:srgbClr val="D6DC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68"/>
          <p:cNvSpPr txBox="1"/>
          <p:nvPr/>
        </p:nvSpPr>
        <p:spPr>
          <a:xfrm>
            <a:off x="9034272" y="1993392"/>
            <a:ext cx="2020824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endParaRPr/>
          </a:p>
        </p:txBody>
      </p:sp>
      <p:sp>
        <p:nvSpPr>
          <p:cNvPr id="1068" name="Google Shape;1068;p68"/>
          <p:cNvSpPr txBox="1"/>
          <p:nvPr/>
        </p:nvSpPr>
        <p:spPr>
          <a:xfrm>
            <a:off x="9034272" y="2468880"/>
            <a:ext cx="2020824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3–5 insight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số liệu cụ thể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• Có ý nghĩa nghiệp vụ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9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69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69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69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9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Tóm tắt bài học</a:t>
            </a:r>
            <a:endParaRPr/>
          </a:p>
        </p:txBody>
      </p:sp>
      <p:sp>
        <p:nvSpPr>
          <p:cNvPr id="1078" name="Google Shape;1078;p69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69</a:t>
            </a:r>
            <a:endParaRPr/>
          </a:p>
        </p:txBody>
      </p:sp>
      <p:pic>
        <p:nvPicPr>
          <p:cNvPr descr="body-46.png" id="1079" name="Google Shape;1079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70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70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70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70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70"/>
          <p:cNvSpPr txBox="1"/>
          <p:nvPr/>
        </p:nvSpPr>
        <p:spPr>
          <a:xfrm>
            <a:off x="502920" y="310896"/>
            <a:ext cx="833932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Câu hỏi kiểm tra nhanh</a:t>
            </a:r>
            <a:endParaRPr/>
          </a:p>
        </p:txBody>
      </p:sp>
      <p:sp>
        <p:nvSpPr>
          <p:cNvPr id="1089" name="Google Shape;1089;p70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/>
          </a:p>
        </p:txBody>
      </p:sp>
      <p:pic>
        <p:nvPicPr>
          <p:cNvPr descr="body-47.png" id="1090" name="Google Shape;109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330" y="914400"/>
            <a:ext cx="9070562" cy="568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1"/>
          <p:cNvSpPr/>
          <p:nvPr/>
        </p:nvSpPr>
        <p:spPr>
          <a:xfrm>
            <a:off x="0" y="0"/>
            <a:ext cx="12191999" cy="210312"/>
          </a:xfrm>
          <a:prstGeom prst="rect">
            <a:avLst/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71"/>
          <p:cNvSpPr/>
          <p:nvPr/>
        </p:nvSpPr>
        <p:spPr>
          <a:xfrm>
            <a:off x="8339327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71"/>
          <p:cNvSpPr/>
          <p:nvPr/>
        </p:nvSpPr>
        <p:spPr>
          <a:xfrm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71"/>
          <p:cNvSpPr/>
          <p:nvPr/>
        </p:nvSpPr>
        <p:spPr>
          <a:xfrm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71"/>
          <p:cNvSpPr txBox="1"/>
          <p:nvPr/>
        </p:nvSpPr>
        <p:spPr>
          <a:xfrm>
            <a:off x="914400" y="1508760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Cảm ơn đã theo dõi</a:t>
            </a:r>
            <a:endParaRPr/>
          </a:p>
        </p:txBody>
      </p:sp>
      <p:sp>
        <p:nvSpPr>
          <p:cNvPr id="1100" name="Google Shape;1100;p71"/>
          <p:cNvSpPr txBox="1"/>
          <p:nvPr/>
        </p:nvSpPr>
        <p:spPr>
          <a:xfrm>
            <a:off x="777240" y="2697480"/>
            <a:ext cx="10652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tiếp theo:</a:t>
            </a:r>
            <a:br>
              <a:rPr b="1" lang="en-US" sz="23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3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Machine Learning cơ bản — Regression và Classification</a:t>
            </a:r>
            <a:endParaRPr/>
          </a:p>
        </p:txBody>
      </p:sp>
      <p:sp>
        <p:nvSpPr>
          <p:cNvPr id="1101" name="Google Shape;1101;p71"/>
          <p:cNvSpPr txBox="1"/>
          <p:nvPr/>
        </p:nvSpPr>
        <p:spPr>
          <a:xfrm>
            <a:off x="777240" y="3977639"/>
            <a:ext cx="106527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Hoàn thiện Notebook Visualization và Dashboard Power BI</a:t>
            </a:r>
            <a:b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Đảm bảo dashboard trả lời 5–7 câu hỏi phân tích và có 3–5 insight rõ ràng</a:t>
            </a:r>
            <a:b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7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Bài 13 sẽ chuyển sang supervised learning: Regression và Classification.</a:t>
            </a:r>
            <a:endParaRPr/>
          </a:p>
        </p:txBody>
      </p:sp>
      <p:sp>
        <p:nvSpPr>
          <p:cNvPr id="1102" name="Google Shape;1102;p71"/>
          <p:cNvSpPr txBox="1"/>
          <p:nvPr/>
        </p:nvSpPr>
        <p:spPr>
          <a:xfrm>
            <a:off x="11430000" y="647395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71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
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6858000" cx="12191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1" roundtripDataSignature="AMtx7mhU4KS3wu61K9nTYHkn8YGG29Rs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320040" y="-137160"/>
            <a:ext cx="3886200" cy="1024128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8247888" y="5989320"/>
            <a:ext cx="4160520" cy="1024128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985e423d-ca97-4670-a2c8-fc9a156df9ee.png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02509" y="54864"/>
            <a:ext cx="1670033" cy="84124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457200" y="1691640"/>
            <a:ext cx="11247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Phân tích chẩn đoán</a:t>
            </a:r>
            <a:br>
              <a:rPr b="1" i="0" lang="en-US" sz="4000" u="none" cap="none" strike="noStrike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 cap="none" strike="noStrike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và dự báo dữ liệu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02920" y="3182112"/>
            <a:ext cx="1115568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11.1 Descriptive → Diagnostic → Predictive  •  11.2 Diagnostic  •  11.3 Drill-down  •  11.4 Contribution</a:t>
            </a:r>
            <a:br>
              <a:rPr b="0" i="0" lang="en-US" sz="148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8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11.5 Correlation  •  11.6 Predictive  •  11.7 Forecasting vs Prediction  •  11.8 Xây bài toán</a:t>
            </a:r>
            <a:br>
              <a:rPr b="0" i="0" lang="en-US" sz="148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8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11.9 Baseline  •  11.10 Lag/Rolling Features  •  11.11 Mô hình đơn giản  •  11.12 Đánh giá  •  11.13 Ứng dụng</a:t>
            </a:r>
            <a:br>
              <a:rPr b="0" i="0" lang="en-US" sz="148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8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Bổ sung theo đề cương: root-cause workflow, contribution bridge, time-aware features, leakage, baseline comparison và business interpretation.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13232" y="62179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Bài 11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Bài 11 tiến thêm hai bước so với Bài 10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pic>
        <p:nvPicPr>
          <p:cNvPr descr="body-2.png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Chương trình buổi học (4 giờ)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pic>
        <p:nvPicPr>
          <p:cNvPr descr="body-3.png" id="112" name="Google Shape;1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Mục tiêu học tập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pic>
        <p:nvPicPr>
          <p:cNvPr descr="body-4.png"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Lộ trình khóa học Big Data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pic>
        <p:nvPicPr>
          <p:cNvPr descr="body-5.png"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11.1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Từ Descriptive đến Diagnostic và Predictive Analytics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Bài 11 trả lời hai câu hỏi tiếp theo: “Tại sao?” và “Điều gì có thể xảy ra?”</a:t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Bốn cấp độ phân tích dữ liệu</a:t>
            </a:r>
            <a:endParaRPr/>
          </a:p>
        </p:txBody>
      </p:sp>
      <p:sp>
        <p:nvSpPr>
          <p:cNvPr id="158" name="Google Shape;158;p7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pic>
        <p:nvPicPr>
          <p:cNvPr descr="body-7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Từ insight mô tả đến quyết định</a:t>
            </a: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Bài 11 nối trực tiếp Bài 9 và Bài 10, không mở rộng sang Prescriptive Analytics.</a:t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502920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Descriptive</a:t>
            </a:r>
            <a:endParaRPr/>
          </a:p>
        </p:txBody>
      </p:sp>
      <p:sp>
        <p:nvSpPr>
          <p:cNvPr id="173" name="Google Shape;173;p8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KPI giảm 15%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Biết điều gì đã xảy ra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Điểm bắt đầu</a:t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4041648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Diagnostic</a:t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Drill-down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Contribution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Tìm nguyên nhân khả dĩ</a:t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7580375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Predictive</a:t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Dự báo tương lai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So với baseline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Hỗ trợ kế hoạch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11.2</a:t>
            </a: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Diagnostic Analytics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Không dừng ở KPI tổng — cần đặt giả thuyết và kiểm tra theo nhiều chiều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Diagnostic Analytics là gì?</a:t>
            </a:r>
            <a:endParaRPr/>
          </a:p>
        </p:txBody>
      </p:sp>
      <p:sp>
        <p:nvSpPr>
          <p:cNvPr id="203" name="Google Shape;203;p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pic>
        <p:nvPicPr>
          <p:cNvPr descr="body-9.png" id="204" name="Google Shape;2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Workflow Diagnostic Analytics cơ bản</a:t>
            </a:r>
            <a:endParaRPr/>
          </a:p>
        </p:txBody>
      </p:sp>
      <p:sp>
        <p:nvSpPr>
          <p:cNvPr id="214" name="Google Shape;214;p11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15" name="Google Shape;215;p11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Diagnostic Analytics tốt là quy trình kiểm tra giả thuyết, không phải tìm một con số rồi gọi đó là nguyên nhân.</a:t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502920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1. Detect</a:t>
            </a:r>
            <a:endParaRPr/>
          </a:p>
        </p:txBody>
      </p:sp>
      <p:sp>
        <p:nvSpPr>
          <p:cNvPr id="218" name="Google Shape;218;p11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Xác định KPI biến động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Chọn period so sánh</a:t>
            </a:r>
            <a:endParaRPr/>
          </a:p>
        </p:txBody>
      </p:sp>
      <p:cxnSp>
        <p:nvCxnSpPr>
          <p:cNvPr id="219" name="Google Shape;219;p11"/>
          <p:cNvCxnSpPr/>
          <p:nvPr/>
        </p:nvCxnSpPr>
        <p:spPr>
          <a:xfrm>
            <a:off x="2743200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0" name="Google Shape;220;p11"/>
          <p:cNvSpPr/>
          <p:nvPr/>
        </p:nvSpPr>
        <p:spPr>
          <a:xfrm>
            <a:off x="3310128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3419850" y="1993400"/>
            <a:ext cx="2130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2. Hypothesize</a:t>
            </a:r>
            <a:endParaRPr/>
          </a:p>
        </p:txBody>
      </p:sp>
      <p:sp>
        <p:nvSpPr>
          <p:cNvPr id="222" name="Google Shape;222;p11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Liệt kê nguyên nhân khả dĩ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Region / Product / Price / Promo</a:t>
            </a:r>
            <a:endParaRPr/>
          </a:p>
        </p:txBody>
      </p:sp>
      <p:cxnSp>
        <p:nvCxnSpPr>
          <p:cNvPr id="223" name="Google Shape;223;p11"/>
          <p:cNvCxnSpPr/>
          <p:nvPr/>
        </p:nvCxnSpPr>
        <p:spPr>
          <a:xfrm>
            <a:off x="5550408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4" name="Google Shape;224;p11"/>
          <p:cNvSpPr/>
          <p:nvPr/>
        </p:nvSpPr>
        <p:spPr>
          <a:xfrm>
            <a:off x="6117336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3. Drill-down</a:t>
            </a:r>
            <a:endParaRPr/>
          </a:p>
        </p:txBody>
      </p:sp>
      <p:sp>
        <p:nvSpPr>
          <p:cNvPr id="226" name="Google Shape;226;p11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Phân rã dữ liệu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So sánh nhóm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Định lượng contribution</a:t>
            </a:r>
            <a:endParaRPr/>
          </a:p>
        </p:txBody>
      </p:sp>
      <p:cxnSp>
        <p:nvCxnSpPr>
          <p:cNvPr id="227" name="Google Shape;227;p11"/>
          <p:cNvCxnSpPr/>
          <p:nvPr/>
        </p:nvCxnSpPr>
        <p:spPr>
          <a:xfrm>
            <a:off x="8357616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8" name="Google Shape;228;p11"/>
          <p:cNvSpPr/>
          <p:nvPr/>
        </p:nvSpPr>
        <p:spPr>
          <a:xfrm>
            <a:off x="8924544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4. Validate</a:t>
            </a:r>
            <a:endParaRPr/>
          </a:p>
        </p:txBody>
      </p:sp>
      <p:sp>
        <p:nvSpPr>
          <p:cNvPr id="230" name="Google Shape;230;p11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Kiểm tra correlation/context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Kết luận ở mức bằng chứng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11.3</a:t>
            </a:r>
            <a:endParaRPr/>
          </a:p>
        </p:txBody>
      </p:sp>
      <p:sp>
        <p:nvSpPr>
          <p:cNvPr id="240" name="Google Shape;240;p12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Drill-down Analysis</a:t>
            </a:r>
            <a:endParaRPr/>
          </a:p>
        </p:txBody>
      </p:sp>
      <p:sp>
        <p:nvSpPr>
          <p:cNvPr id="241" name="Google Shape;241;p12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Thu hẹp phạm vi từng bước để tìm nơi phát sinh biến động</a:t>
            </a: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Drill-down Analysis — ví dụ minh họa</a:t>
            </a:r>
            <a:endParaRPr/>
          </a:p>
        </p:txBody>
      </p:sp>
      <p:sp>
        <p:nvSpPr>
          <p:cNvPr id="254" name="Google Shape;254;p13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pic>
        <p:nvPicPr>
          <p:cNvPr descr="body-11.png" id="255" name="Google Shape;2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Ba nguyên tắc khi Drill-down</a:t>
            </a:r>
            <a:endParaRPr/>
          </a:p>
        </p:txBody>
      </p:sp>
      <p:sp>
        <p:nvSpPr>
          <p:cNvPr id="265" name="Google Shape;265;p14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266" name="Google Shape;266;p14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Slide gốc đã có ví dụ Revenue → Region → Category → Product; phần này bổ sung cách sử dụng đúng.</a:t>
            </a:r>
            <a:endParaRPr/>
          </a:p>
        </p:txBody>
      </p:sp>
      <p:sp>
        <p:nvSpPr>
          <p:cNvPr id="267" name="Google Shape;267;p14"/>
          <p:cNvSpPr/>
          <p:nvPr/>
        </p:nvSpPr>
        <p:spPr>
          <a:xfrm>
            <a:off x="502920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Giữ cùng KPI</a:t>
            </a:r>
            <a:endParaRPr/>
          </a:p>
        </p:txBody>
      </p:sp>
      <p:sp>
        <p:nvSpPr>
          <p:cNvPr id="269" name="Google Shape;269;p14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Cùng công thức revenue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Không đổi metric giữa các tầng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So sánh nhất quán</a:t>
            </a:r>
            <a:endParaRPr/>
          </a:p>
        </p:txBody>
      </p:sp>
      <p:sp>
        <p:nvSpPr>
          <p:cNvPr id="270" name="Google Shape;270;p14"/>
          <p:cNvSpPr/>
          <p:nvPr/>
        </p:nvSpPr>
        <p:spPr>
          <a:xfrm>
            <a:off x="4041648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Đi từ lớn đến nhỏ</a:t>
            </a:r>
            <a:endParaRPr/>
          </a:p>
        </p:txBody>
      </p:sp>
      <p:sp>
        <p:nvSpPr>
          <p:cNvPr id="272" name="Google Shape;272;p14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Total → Region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Region → Category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Category → Product</a:t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7580375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Dừng đúng lúc</a:t>
            </a:r>
            <a:endParaRPr/>
          </a:p>
        </p:txBody>
      </p:sp>
      <p:sp>
        <p:nvSpPr>
          <p:cNvPr id="275" name="Google Shape;275;p14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Khi nhóm giải thích phần lớn biến động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Không drill-down vô hạn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Ưu tiên khả năng hành động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11.4</a:t>
            </a:r>
            <a:endParaRPr/>
          </a:p>
        </p:txBody>
      </p:sp>
      <p:sp>
        <p:nvSpPr>
          <p:cNvPr id="285" name="Google Shape;285;p15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So sánh và phân tích đóng góp</a:t>
            </a:r>
            <a:endParaRPr/>
          </a:p>
        </p:txBody>
      </p:sp>
      <p:sp>
        <p:nvSpPr>
          <p:cNvPr id="286" name="Google Shape;286;p15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Biến động tổng thể đến từ nhóm nào — và đóng góp bao nhiêu phần trăm?</a:t>
            </a:r>
            <a:endParaRPr/>
          </a:p>
        </p:txBody>
      </p:sp>
      <p:sp>
        <p:nvSpPr>
          <p:cNvPr id="287" name="Google Shape;287;p15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Phân tích đóng góp vào biến động doanh thu</a:t>
            </a:r>
            <a:endParaRPr/>
          </a:p>
        </p:txBody>
      </p:sp>
      <p:sp>
        <p:nvSpPr>
          <p:cNvPr id="299" name="Google Shape;299;p1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pic>
        <p:nvPicPr>
          <p:cNvPr descr="body-13.png" id="300" name="Google Shape;3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Contribution Analysis — tính đúng trước khi diễn giải</a:t>
            </a:r>
            <a:endParaRPr/>
          </a:p>
        </p:txBody>
      </p:sp>
      <p:sp>
        <p:nvSpPr>
          <p:cNvPr id="310" name="Google Shape;310;p17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311" name="Google Shape;311;p17"/>
          <p:cNvSpPr/>
          <p:nvPr/>
        </p:nvSpPr>
        <p:spPr>
          <a:xfrm>
            <a:off x="640013" y="1280639"/>
            <a:ext cx="10698600" cy="5304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Bổ sung trực tiếp cho ví dụ Product A/B/C trong slide gốc.</a:t>
            </a:r>
            <a:endParaRPr/>
          </a:p>
        </p:txBody>
      </p:sp>
      <p:sp>
        <p:nvSpPr>
          <p:cNvPr id="312" name="Google Shape;312;p17"/>
          <p:cNvSpPr txBox="1"/>
          <p:nvPr/>
        </p:nvSpPr>
        <p:spPr>
          <a:xfrm>
            <a:off x="822950" y="2085799"/>
            <a:ext cx="103326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Absolute contribution: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Mức thay đổi của từng nhóm, ví dụ Product A giảm 70 triệu.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Relative contribution: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Tỷ trọng đóng góp của nhóm vào tổng mức biến động.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Positive và negative contribution: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Một số nhóm có thể tăng và bù một phần cho nhóm giảm.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Kiểm tra tổng: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Tổng contribution theo nhóm phải khớp với biến động KPI tổng thể nếu decomposition đầy đủ.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11.5</a:t>
            </a:r>
            <a:endParaRPr/>
          </a:p>
        </p:txBody>
      </p:sp>
      <p:sp>
        <p:nvSpPr>
          <p:cNvPr id="322" name="Google Shape;322;p18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Correlation trong Diagnostic Analytics</a:t>
            </a:r>
            <a:endParaRPr/>
          </a:p>
        </p:txBody>
      </p:sp>
      <p:sp>
        <p:nvSpPr>
          <p:cNvPr id="323" name="Google Shape;323;p18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Tương quan là manh mối để điều tra — không phải bằng chứng nhân quả</a:t>
            </a:r>
            <a:endParaRPr/>
          </a:p>
        </p:txBody>
      </p:sp>
      <p:sp>
        <p:nvSpPr>
          <p:cNvPr id="324" name="Google Shape;324;p1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Nối lại Correlation từ Bài 8</a:t>
            </a:r>
            <a:endParaRPr/>
          </a:p>
        </p:txBody>
      </p:sp>
      <p:sp>
        <p:nvSpPr>
          <p:cNvPr id="336" name="Google Shape;336;p19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pic>
        <p:nvPicPr>
          <p:cNvPr descr="body-15.png" id="337" name="Google Shape;3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0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Correlation mạnh nhưng vẫn có thể kết luận sai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348" name="Google Shape;348;p20"/>
          <p:cNvSpPr/>
          <p:nvPr/>
        </p:nvSpPr>
        <p:spPr>
          <a:xfrm>
            <a:off x="640080" y="1188720"/>
            <a:ext cx="5029200" cy="45720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 txBox="1"/>
          <p:nvPr/>
        </p:nvSpPr>
        <p:spPr>
          <a:xfrm>
            <a:off x="841247" y="1389888"/>
            <a:ext cx="4617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Điều Correlation cho biết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841247" y="1856231"/>
            <a:ext cx="4617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Hai biến cùng thay đổi có hệ thống.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Có thể dùng để ưu tiên biến cần điều tra.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Hữu ích khi screening nhiều feature.</a:t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6137400" y="1210561"/>
            <a:ext cx="5029200" cy="4572000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 txBox="1"/>
          <p:nvPr/>
        </p:nvSpPr>
        <p:spPr>
          <a:xfrm>
            <a:off x="6327648" y="1389888"/>
            <a:ext cx="4617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Điều Correlation không cho biết</a:t>
            </a:r>
            <a:endParaRPr/>
          </a:p>
        </p:txBody>
      </p:sp>
      <p:sp>
        <p:nvSpPr>
          <p:cNvPr id="353" name="Google Shape;353;p20"/>
          <p:cNvSpPr txBox="1"/>
          <p:nvPr/>
        </p:nvSpPr>
        <p:spPr>
          <a:xfrm>
            <a:off x="6327650" y="2322601"/>
            <a:ext cx="46176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Không chứng minh biến X gây ra Y.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Có thể do biến thứ ba hoặc trend chung.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Không đảm bảo quan hệ ổn định theo thời gian.</a:t>
            </a:r>
            <a:endParaRPr/>
          </a:p>
        </p:txBody>
      </p:sp>
      <p:sp>
        <p:nvSpPr>
          <p:cNvPr id="354" name="Google Shape;354;p20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Kết luận Diagnostic nên kết hợp correlation, drill-down, before/after và hiểu biết nghiệp vụ.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11.6</a:t>
            </a:r>
            <a:endParaRPr/>
          </a:p>
        </p:txBody>
      </p:sp>
      <p:sp>
        <p:nvSpPr>
          <p:cNvPr id="364" name="Google Shape;364;p21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Predictive Analytics</a:t>
            </a:r>
            <a:endParaRPr/>
          </a:p>
        </p:txBody>
      </p:sp>
      <p:sp>
        <p:nvSpPr>
          <p:cNvPr id="365" name="Google Shape;365;p21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Sử dụng dữ liệu lịch sử để ước lượng giá trị hoặc sự kiện trong tương lai</a:t>
            </a:r>
            <a:endParaRPr/>
          </a:p>
        </p:txBody>
      </p:sp>
      <p:sp>
        <p:nvSpPr>
          <p:cNvPr id="366" name="Google Shape;366;p21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2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Predictive Analytics là gì?</a:t>
            </a:r>
            <a:endParaRPr/>
          </a:p>
        </p:txBody>
      </p:sp>
      <p:sp>
        <p:nvSpPr>
          <p:cNvPr id="378" name="Google Shape;378;p22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  <p:pic>
        <p:nvPicPr>
          <p:cNvPr descr="body-17.png" id="379" name="Google Shape;3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3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3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3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Predictive Analytics trong phạm vi Bài 11</a:t>
            </a:r>
            <a:endParaRPr/>
          </a:p>
        </p:txBody>
      </p:sp>
      <p:sp>
        <p:nvSpPr>
          <p:cNvPr id="389" name="Google Shape;389;p23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sp>
        <p:nvSpPr>
          <p:cNvPr id="390" name="Google Shape;390;p23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File gốc xác định rõ Bài 11 tập trung forecasting/regression đơn giản, không mở rộng classification.</a:t>
            </a:r>
            <a:endParaRPr/>
          </a:p>
        </p:txBody>
      </p:sp>
      <p:sp>
        <p:nvSpPr>
          <p:cNvPr id="391" name="Google Shape;391;p23"/>
          <p:cNvSpPr/>
          <p:nvPr/>
        </p:nvSpPr>
        <p:spPr>
          <a:xfrm>
            <a:off x="502920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3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Forecasting</a:t>
            </a:r>
            <a:endParaRPr/>
          </a:p>
        </p:txBody>
      </p:sp>
      <p:sp>
        <p:nvSpPr>
          <p:cNvPr id="393" name="Google Shape;393;p23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Revenue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Demand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Production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Có trục thời gian</a:t>
            </a:r>
            <a:endParaRPr/>
          </a:p>
        </p:txBody>
      </p:sp>
      <p:sp>
        <p:nvSpPr>
          <p:cNvPr id="394" name="Google Shape;394;p23"/>
          <p:cNvSpPr/>
          <p:nvPr/>
        </p:nvSpPr>
        <p:spPr>
          <a:xfrm>
            <a:off x="4041648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endParaRPr/>
          </a:p>
        </p:txBody>
      </p:sp>
      <p:sp>
        <p:nvSpPr>
          <p:cNvPr id="396" name="Google Shape;396;p23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Target số liên tục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Dùng lag + business features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Nối sang ML</a:t>
            </a:r>
            <a:endParaRPr/>
          </a:p>
        </p:txBody>
      </p:sp>
      <p:sp>
        <p:nvSpPr>
          <p:cNvPr id="397" name="Google Shape;397;p23"/>
          <p:cNvSpPr/>
          <p:nvPr/>
        </p:nvSpPr>
        <p:spPr>
          <a:xfrm>
            <a:off x="7580375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Không đi sâu</a:t>
            </a:r>
            <a:endParaRPr/>
          </a:p>
        </p:txBody>
      </p:sp>
      <p:sp>
        <p:nvSpPr>
          <p:cNvPr id="399" name="Google Shape;399;p23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Classification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Clustering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Graph ML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Để Bài 13–15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4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4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4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4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11.7</a:t>
            </a:r>
            <a:endParaRPr/>
          </a:p>
        </p:txBody>
      </p:sp>
      <p:sp>
        <p:nvSpPr>
          <p:cNvPr id="409" name="Google Shape;409;p24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Forecasting khác Prediction như thế nào?</a:t>
            </a:r>
            <a:endParaRPr/>
          </a:p>
        </p:txBody>
      </p:sp>
      <p:sp>
        <p:nvSpPr>
          <p:cNvPr id="410" name="Google Shape;410;p24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Forecasting luôn gắn thời gian; Prediction rộng hơn</a:t>
            </a:r>
            <a:endParaRPr/>
          </a:p>
        </p:txBody>
      </p:sp>
      <p:sp>
        <p:nvSpPr>
          <p:cNvPr id="411" name="Google Shape;411;p24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4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4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5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5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5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Phân biệt Forecasting và Prediction</a:t>
            </a:r>
            <a:endParaRPr/>
          </a:p>
        </p:txBody>
      </p:sp>
      <p:sp>
        <p:nvSpPr>
          <p:cNvPr id="423" name="Google Shape;423;p25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  <p:pic>
        <p:nvPicPr>
          <p:cNvPr descr="body-19.png" id="424" name="Google Shape;42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6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6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6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Ví dụ để phân biệt Forecasting và Prediction</a:t>
            </a:r>
            <a:endParaRPr/>
          </a:p>
        </p:txBody>
      </p:sp>
      <p:sp>
        <p:nvSpPr>
          <p:cNvPr id="434" name="Google Shape;434;p2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/>
          </a:p>
        </p:txBody>
      </p:sp>
      <p:sp>
        <p:nvSpPr>
          <p:cNvPr id="435" name="Google Shape;435;p26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Bài 11 chỉ dùng ví dụ prediction để phân biệt khái niệm, không dạy classification.</a:t>
            </a:r>
            <a:endParaRPr/>
          </a:p>
        </p:txBody>
      </p:sp>
      <p:sp>
        <p:nvSpPr>
          <p:cNvPr id="436" name="Google Shape;436;p26"/>
          <p:cNvSpPr/>
          <p:nvPr/>
        </p:nvSpPr>
        <p:spPr>
          <a:xfrm>
            <a:off x="566928" y="1536192"/>
            <a:ext cx="2926080" cy="749808"/>
          </a:xfrm>
          <a:prstGeom prst="rect">
            <a:avLst/>
          </a:prstGeom>
          <a:solidFill>
            <a:srgbClr val="0F3F6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Phương án</a:t>
            </a:r>
            <a:endParaRPr/>
          </a:p>
        </p:txBody>
      </p:sp>
      <p:sp>
        <p:nvSpPr>
          <p:cNvPr id="437" name="Google Shape;437;p26"/>
          <p:cNvSpPr/>
          <p:nvPr/>
        </p:nvSpPr>
        <p:spPr>
          <a:xfrm>
            <a:off x="3657600" y="1536192"/>
            <a:ext cx="3474720" cy="749808"/>
          </a:xfrm>
          <a:prstGeom prst="rect">
            <a:avLst/>
          </a:prstGeom>
          <a:solidFill>
            <a:srgbClr val="0F3F6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Phù hợp khi</a:t>
            </a:r>
            <a:endParaRPr/>
          </a:p>
        </p:txBody>
      </p:sp>
      <p:sp>
        <p:nvSpPr>
          <p:cNvPr id="438" name="Google Shape;438;p26"/>
          <p:cNvSpPr/>
          <p:nvPr/>
        </p:nvSpPr>
        <p:spPr>
          <a:xfrm>
            <a:off x="7315200" y="1536192"/>
            <a:ext cx="4297680" cy="749808"/>
          </a:xfrm>
          <a:prstGeom prst="rect">
            <a:avLst/>
          </a:prstGeom>
          <a:solidFill>
            <a:srgbClr val="0F3F6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Điểm cần nhớ</a:t>
            </a:r>
            <a:endParaRPr/>
          </a:p>
        </p:txBody>
      </p:sp>
      <p:sp>
        <p:nvSpPr>
          <p:cNvPr id="439" name="Google Shape;439;p26"/>
          <p:cNvSpPr/>
          <p:nvPr/>
        </p:nvSpPr>
        <p:spPr>
          <a:xfrm>
            <a:off x="566928" y="2286000"/>
            <a:ext cx="2926080" cy="74980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Revenue tháng sau</a:t>
            </a:r>
            <a:endParaRPr/>
          </a:p>
        </p:txBody>
      </p:sp>
      <p:sp>
        <p:nvSpPr>
          <p:cNvPr id="440" name="Google Shape;440;p26"/>
          <p:cNvSpPr/>
          <p:nvPr/>
        </p:nvSpPr>
        <p:spPr>
          <a:xfrm>
            <a:off x="3657600" y="2286000"/>
            <a:ext cx="3474720" cy="74980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Forecasting</a:t>
            </a:r>
            <a:endParaRPr/>
          </a:p>
        </p:txBody>
      </p:sp>
      <p:sp>
        <p:nvSpPr>
          <p:cNvPr id="441" name="Google Shape;441;p26"/>
          <p:cNvSpPr/>
          <p:nvPr/>
        </p:nvSpPr>
        <p:spPr>
          <a:xfrm>
            <a:off x="7315200" y="2286000"/>
            <a:ext cx="4297680" cy="74980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Target số + mốc thời gian tương lai</a:t>
            </a:r>
            <a:endParaRPr/>
          </a:p>
        </p:txBody>
      </p:sp>
      <p:sp>
        <p:nvSpPr>
          <p:cNvPr id="442" name="Google Shape;442;p26"/>
          <p:cNvSpPr/>
          <p:nvPr/>
        </p:nvSpPr>
        <p:spPr>
          <a:xfrm>
            <a:off x="566928" y="3035808"/>
            <a:ext cx="2926080" cy="74980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Nhu cầu tuần tới</a:t>
            </a:r>
            <a:endParaRPr/>
          </a:p>
        </p:txBody>
      </p:sp>
      <p:sp>
        <p:nvSpPr>
          <p:cNvPr id="443" name="Google Shape;443;p26"/>
          <p:cNvSpPr/>
          <p:nvPr/>
        </p:nvSpPr>
        <p:spPr>
          <a:xfrm>
            <a:off x="3657600" y="3035808"/>
            <a:ext cx="3474720" cy="74980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Forecasting</a:t>
            </a:r>
            <a:endParaRPr/>
          </a:p>
        </p:txBody>
      </p:sp>
      <p:sp>
        <p:nvSpPr>
          <p:cNvPr id="444" name="Google Shape;444;p26"/>
          <p:cNvSpPr/>
          <p:nvPr/>
        </p:nvSpPr>
        <p:spPr>
          <a:xfrm>
            <a:off x="7315200" y="3035808"/>
            <a:ext cx="4297680" cy="74980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Phụ thuộc thứ tự thời gian</a:t>
            </a:r>
            <a:endParaRPr/>
          </a:p>
        </p:txBody>
      </p:sp>
      <p:sp>
        <p:nvSpPr>
          <p:cNvPr id="445" name="Google Shape;445;p26"/>
          <p:cNvSpPr/>
          <p:nvPr/>
        </p:nvSpPr>
        <p:spPr>
          <a:xfrm>
            <a:off x="566928" y="3785615"/>
            <a:ext cx="2926080" cy="74980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Khách hàng có churn?</a:t>
            </a:r>
            <a:endParaRPr/>
          </a:p>
        </p:txBody>
      </p:sp>
      <p:sp>
        <p:nvSpPr>
          <p:cNvPr id="446" name="Google Shape;446;p26"/>
          <p:cNvSpPr/>
          <p:nvPr/>
        </p:nvSpPr>
        <p:spPr>
          <a:xfrm>
            <a:off x="3657600" y="3785615"/>
            <a:ext cx="3474720" cy="74980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/>
          </a:p>
        </p:txBody>
      </p:sp>
      <p:sp>
        <p:nvSpPr>
          <p:cNvPr id="447" name="Google Shape;447;p26"/>
          <p:cNvSpPr/>
          <p:nvPr/>
        </p:nvSpPr>
        <p:spPr>
          <a:xfrm>
            <a:off x="7315200" y="3785615"/>
            <a:ext cx="4297680" cy="74980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Classification, không nhất thiết time series</a:t>
            </a:r>
            <a:endParaRPr/>
          </a:p>
        </p:txBody>
      </p:sp>
      <p:sp>
        <p:nvSpPr>
          <p:cNvPr id="448" name="Google Shape;448;p26"/>
          <p:cNvSpPr/>
          <p:nvPr/>
        </p:nvSpPr>
        <p:spPr>
          <a:xfrm>
            <a:off x="566928" y="4535424"/>
            <a:ext cx="2926080" cy="74980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Giá nhà của căn A</a:t>
            </a:r>
            <a:endParaRPr/>
          </a:p>
        </p:txBody>
      </p:sp>
      <p:sp>
        <p:nvSpPr>
          <p:cNvPr id="449" name="Google Shape;449;p26"/>
          <p:cNvSpPr/>
          <p:nvPr/>
        </p:nvSpPr>
        <p:spPr>
          <a:xfrm>
            <a:off x="3657600" y="4535424"/>
            <a:ext cx="3474720" cy="74980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/>
          </a:p>
        </p:txBody>
      </p:sp>
      <p:sp>
        <p:nvSpPr>
          <p:cNvPr id="450" name="Google Shape;450;p26"/>
          <p:cNvSpPr/>
          <p:nvPr/>
        </p:nvSpPr>
        <p:spPr>
          <a:xfrm>
            <a:off x="7315200" y="4535424"/>
            <a:ext cx="4297680" cy="74980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Regression tại một quan sát, không cần trục thời gian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7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7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7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7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7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11.8</a:t>
            </a:r>
            <a:endParaRPr/>
          </a:p>
        </p:txBody>
      </p:sp>
      <p:sp>
        <p:nvSpPr>
          <p:cNvPr id="460" name="Google Shape;460;p27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Xây dựng bài toán dự báo</a:t>
            </a:r>
            <a:endParaRPr/>
          </a:p>
        </p:txBody>
      </p:sp>
      <p:sp>
        <p:nvSpPr>
          <p:cNvPr id="461" name="Google Shape;461;p2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Từ câu hỏi kinh doanh đến mô hình và diễn giải kết quả</a:t>
            </a:r>
            <a:endParaRPr/>
          </a:p>
        </p:txBody>
      </p:sp>
      <p:sp>
        <p:nvSpPr>
          <p:cNvPr id="462" name="Google Shape;462;p27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7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7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8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8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8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8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Quy trình xây dựng một bài toán dự báo</a:t>
            </a:r>
            <a:endParaRPr/>
          </a:p>
        </p:txBody>
      </p:sp>
      <p:sp>
        <p:nvSpPr>
          <p:cNvPr id="474" name="Google Shape;474;p28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  <p:pic>
        <p:nvPicPr>
          <p:cNvPr descr="body-21.png" id="475" name="Google Shape;47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9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9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9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9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Bốn quyết định trước khi chọn model</a:t>
            </a:r>
            <a:endParaRPr/>
          </a:p>
        </p:txBody>
      </p:sp>
      <p:sp>
        <p:nvSpPr>
          <p:cNvPr id="485" name="Google Shape;485;p29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  <p:sp>
        <p:nvSpPr>
          <p:cNvPr id="486" name="Google Shape;486;p29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Mô hình chỉ là một bước trong pipeline; target, horizon và cách đánh giá phải được xác định trước.</a:t>
            </a:r>
            <a:endParaRPr/>
          </a:p>
        </p:txBody>
      </p:sp>
      <p:sp>
        <p:nvSpPr>
          <p:cNvPr id="487" name="Google Shape;487;p29"/>
          <p:cNvSpPr/>
          <p:nvPr/>
        </p:nvSpPr>
        <p:spPr>
          <a:xfrm>
            <a:off x="502920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9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/>
          </a:p>
        </p:txBody>
      </p:sp>
      <p:sp>
        <p:nvSpPr>
          <p:cNvPr id="489" name="Google Shape;489;p29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Dự báo cái gì?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Đơn vị đo?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Horizon?</a:t>
            </a:r>
            <a:endParaRPr/>
          </a:p>
        </p:txBody>
      </p:sp>
      <p:cxnSp>
        <p:nvCxnSpPr>
          <p:cNvPr id="490" name="Google Shape;490;p29"/>
          <p:cNvCxnSpPr/>
          <p:nvPr/>
        </p:nvCxnSpPr>
        <p:spPr>
          <a:xfrm>
            <a:off x="2743200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1" name="Google Shape;491;p29"/>
          <p:cNvSpPr/>
          <p:nvPr/>
        </p:nvSpPr>
        <p:spPr>
          <a:xfrm>
            <a:off x="3310128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9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Granularity</a:t>
            </a:r>
            <a:endParaRPr/>
          </a:p>
        </p:txBody>
      </p:sp>
      <p:sp>
        <p:nvSpPr>
          <p:cNvPr id="493" name="Google Shape;493;p29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Ngày / tuần / tháng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Theo tổng hay từng nhóm</a:t>
            </a:r>
            <a:endParaRPr/>
          </a:p>
        </p:txBody>
      </p:sp>
      <p:cxnSp>
        <p:nvCxnSpPr>
          <p:cNvPr id="494" name="Google Shape;494;p29"/>
          <p:cNvCxnSpPr/>
          <p:nvPr/>
        </p:nvCxnSpPr>
        <p:spPr>
          <a:xfrm>
            <a:off x="5550408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5" name="Google Shape;495;p29"/>
          <p:cNvSpPr/>
          <p:nvPr/>
        </p:nvSpPr>
        <p:spPr>
          <a:xfrm>
            <a:off x="6117336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9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/>
          </a:p>
        </p:txBody>
      </p:sp>
      <p:sp>
        <p:nvSpPr>
          <p:cNvPr id="497" name="Google Shape;497;p29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Lag / rolling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Calendar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Business drivers</a:t>
            </a:r>
            <a:endParaRPr/>
          </a:p>
        </p:txBody>
      </p:sp>
      <p:cxnSp>
        <p:nvCxnSpPr>
          <p:cNvPr id="498" name="Google Shape;498;p29"/>
          <p:cNvCxnSpPr/>
          <p:nvPr/>
        </p:nvCxnSpPr>
        <p:spPr>
          <a:xfrm>
            <a:off x="8357616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9" name="Google Shape;499;p29"/>
          <p:cNvSpPr/>
          <p:nvPr/>
        </p:nvSpPr>
        <p:spPr>
          <a:xfrm>
            <a:off x="8924544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9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/>
          </a:p>
        </p:txBody>
      </p:sp>
      <p:sp>
        <p:nvSpPr>
          <p:cNvPr id="501" name="Google Shape;501;p29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Train trước, test sau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Baseline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Metric phù hợp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0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0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0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0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Forecast Horizon — dự báo xa bao nhiêu?</a:t>
            </a:r>
            <a:endParaRPr/>
          </a:p>
        </p:txBody>
      </p:sp>
      <p:sp>
        <p:nvSpPr>
          <p:cNvPr id="511" name="Google Shape;511;p3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512" name="Google Shape;512;p30"/>
          <p:cNvSpPr/>
          <p:nvPr/>
        </p:nvSpPr>
        <p:spPr>
          <a:xfrm>
            <a:off x="685800" y="969264"/>
            <a:ext cx="10698480" cy="530352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Bổ sung để phần “Business Question → Target → Features” trong slide gốc rõ ràng hơn.</a:t>
            </a:r>
            <a:endParaRPr/>
          </a:p>
        </p:txBody>
      </p:sp>
      <p:sp>
        <p:nvSpPr>
          <p:cNvPr id="513" name="Google Shape;513;p30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1-step ahead: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Dự báo kỳ kế tiếp; thường dễ và ít bất định hơn.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Multi-step: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Dự báo nhiều kỳ; sai số có thể tích lũy.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Horizon phải gắn nghiệp vụ: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Kế hoạch tồn kho 1 tuần khác kế hoạch sản xuất 3 tháng.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Feature availability: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Chỉ dùng feature mà tại thời điểm dự báo thực tế có thể biết được.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1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1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1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1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11.9</a:t>
            </a:r>
            <a:endParaRPr/>
          </a:p>
        </p:txBody>
      </p:sp>
      <p:sp>
        <p:nvSpPr>
          <p:cNvPr id="523" name="Google Shape;523;p31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Baseline Model</a:t>
            </a:r>
            <a:endParaRPr/>
          </a:p>
        </p:txBody>
      </p:sp>
      <p:sp>
        <p:nvSpPr>
          <p:cNvPr id="524" name="Google Shape;524;p31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Mô hình mới chỉ đáng dùng khi tốt hơn một baseline hợp lý</a:t>
            </a:r>
            <a:endParaRPr/>
          </a:p>
        </p:txBody>
      </p:sp>
      <p:sp>
        <p:nvSpPr>
          <p:cNvPr id="525" name="Google Shape;525;p31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1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1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2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2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2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2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2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Vì sao cần Baseline Model?</a:t>
            </a:r>
            <a:endParaRPr/>
          </a:p>
        </p:txBody>
      </p:sp>
      <p:sp>
        <p:nvSpPr>
          <p:cNvPr id="537" name="Google Shape;537;p32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/>
          </a:p>
        </p:txBody>
      </p:sp>
      <p:pic>
        <p:nvPicPr>
          <p:cNvPr descr="body-23.png" id="538" name="Google Shape;5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3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3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3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3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Ba baseline đơn giản nên thử</a:t>
            </a:r>
            <a:endParaRPr/>
          </a:p>
        </p:txBody>
      </p:sp>
      <p:sp>
        <p:nvSpPr>
          <p:cNvPr id="548" name="Google Shape;548;p33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/>
          </a:p>
        </p:txBody>
      </p:sp>
      <p:sp>
        <p:nvSpPr>
          <p:cNvPr id="549" name="Google Shape;549;p33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Baseline giúp trả lời: mô hình phức tạp có thực sự tạo thêm giá trị không?</a:t>
            </a:r>
            <a:endParaRPr/>
          </a:p>
        </p:txBody>
      </p:sp>
      <p:sp>
        <p:nvSpPr>
          <p:cNvPr id="550" name="Google Shape;550;p33"/>
          <p:cNvSpPr/>
          <p:nvPr/>
        </p:nvSpPr>
        <p:spPr>
          <a:xfrm>
            <a:off x="502920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Last Value</a:t>
            </a:r>
            <a:endParaRPr/>
          </a:p>
        </p:txBody>
      </p:sp>
      <p:sp>
        <p:nvSpPr>
          <p:cNvPr id="552" name="Google Shape;552;p33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ŷ(t+1)=y(t)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Dễ triển khai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Mạnh khi chuỗi ổn định</a:t>
            </a:r>
            <a:endParaRPr/>
          </a:p>
        </p:txBody>
      </p:sp>
      <p:sp>
        <p:nvSpPr>
          <p:cNvPr id="553" name="Google Shape;553;p33"/>
          <p:cNvSpPr/>
          <p:nvPr/>
        </p:nvSpPr>
        <p:spPr>
          <a:xfrm>
            <a:off x="4041648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Moving Average</a:t>
            </a:r>
            <a:endParaRPr/>
          </a:p>
        </p:txBody>
      </p:sp>
      <p:sp>
        <p:nvSpPr>
          <p:cNvPr id="555" name="Google Shape;555;p33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Trung bình vài kỳ gần nhất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Làm mượt nhiễu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Có độ trễ</a:t>
            </a:r>
            <a:endParaRPr/>
          </a:p>
        </p:txBody>
      </p:sp>
      <p:sp>
        <p:nvSpPr>
          <p:cNvPr id="556" name="Google Shape;556;p33"/>
          <p:cNvSpPr/>
          <p:nvPr/>
        </p:nvSpPr>
        <p:spPr>
          <a:xfrm>
            <a:off x="7580375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3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Seasonal Naive</a:t>
            </a:r>
            <a:endParaRPr/>
          </a:p>
        </p:txBody>
      </p:sp>
      <p:sp>
        <p:nvSpPr>
          <p:cNvPr id="558" name="Google Shape;558;p33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Dùng cùng mùa trước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Phù hợp seasonality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Ví dụ cùng tháng năm trước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4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4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4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4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4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11.10</a:t>
            </a:r>
            <a:endParaRPr/>
          </a:p>
        </p:txBody>
      </p:sp>
      <p:sp>
        <p:nvSpPr>
          <p:cNvPr id="568" name="Google Shape;568;p34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Feature phục vụ dự báo</a:t>
            </a:r>
            <a:endParaRPr/>
          </a:p>
        </p:txBody>
      </p:sp>
      <p:sp>
        <p:nvSpPr>
          <p:cNvPr id="569" name="Google Shape;569;p34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Lag, rolling và calendar features — nhưng phải tránh nhìn thấy tương lai</a:t>
            </a:r>
            <a:endParaRPr/>
          </a:p>
        </p:txBody>
      </p:sp>
      <p:sp>
        <p:nvSpPr>
          <p:cNvPr id="570" name="Google Shape;570;p34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4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4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5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5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5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5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Các feature phổ biến phục vụ dự báo</a:t>
            </a:r>
            <a:endParaRPr/>
          </a:p>
        </p:txBody>
      </p:sp>
      <p:sp>
        <p:nvSpPr>
          <p:cNvPr id="582" name="Google Shape;582;p35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/>
          </a:p>
        </p:txBody>
      </p:sp>
      <p:pic>
        <p:nvPicPr>
          <p:cNvPr descr="body-25.png" id="583" name="Google Shape;58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6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6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6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6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6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Nhóm Feature thường dùng cho Forecasting</a:t>
            </a:r>
            <a:endParaRPr/>
          </a:p>
        </p:txBody>
      </p:sp>
      <p:sp>
        <p:nvSpPr>
          <p:cNvPr id="593" name="Google Shape;593;p3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/>
          </a:p>
        </p:txBody>
      </p:sp>
      <p:sp>
        <p:nvSpPr>
          <p:cNvPr id="594" name="Google Shape;594;p36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Các feature trong slide gốc được mở rộng thành bốn nhóm để dễ thiết kế pipeline.</a:t>
            </a:r>
            <a:endParaRPr/>
          </a:p>
        </p:txBody>
      </p:sp>
      <p:sp>
        <p:nvSpPr>
          <p:cNvPr id="595" name="Google Shape;595;p36"/>
          <p:cNvSpPr/>
          <p:nvPr/>
        </p:nvSpPr>
        <p:spPr>
          <a:xfrm>
            <a:off x="502920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6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Lag</a:t>
            </a:r>
            <a:endParaRPr/>
          </a:p>
        </p:txBody>
      </p:sp>
      <p:sp>
        <p:nvSpPr>
          <p:cNvPr id="597" name="Google Shape;597;p36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lag_1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lag_7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lag_12</a:t>
            </a:r>
            <a:endParaRPr/>
          </a:p>
        </p:txBody>
      </p:sp>
      <p:cxnSp>
        <p:nvCxnSpPr>
          <p:cNvPr id="598" name="Google Shape;598;p36"/>
          <p:cNvCxnSpPr/>
          <p:nvPr/>
        </p:nvCxnSpPr>
        <p:spPr>
          <a:xfrm>
            <a:off x="2743200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99" name="Google Shape;599;p36"/>
          <p:cNvSpPr/>
          <p:nvPr/>
        </p:nvSpPr>
        <p:spPr>
          <a:xfrm>
            <a:off x="3310128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6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Rolling</a:t>
            </a:r>
            <a:endParaRPr/>
          </a:p>
        </p:txBody>
      </p:sp>
      <p:sp>
        <p:nvSpPr>
          <p:cNvPr id="601" name="Google Shape;601;p36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rolling_mean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rolling_std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rolling_min/max</a:t>
            </a:r>
            <a:endParaRPr/>
          </a:p>
        </p:txBody>
      </p:sp>
      <p:cxnSp>
        <p:nvCxnSpPr>
          <p:cNvPr id="602" name="Google Shape;602;p36"/>
          <p:cNvCxnSpPr/>
          <p:nvPr/>
        </p:nvCxnSpPr>
        <p:spPr>
          <a:xfrm>
            <a:off x="5550408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03" name="Google Shape;603;p36"/>
          <p:cNvSpPr/>
          <p:nvPr/>
        </p:nvSpPr>
        <p:spPr>
          <a:xfrm>
            <a:off x="6117336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6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Calendar</a:t>
            </a:r>
            <a:endParaRPr/>
          </a:p>
        </p:txBody>
      </p:sp>
      <p:sp>
        <p:nvSpPr>
          <p:cNvPr id="605" name="Google Shape;605;p36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month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quarter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day_of_week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holiday</a:t>
            </a:r>
            <a:endParaRPr/>
          </a:p>
        </p:txBody>
      </p:sp>
      <p:cxnSp>
        <p:nvCxnSpPr>
          <p:cNvPr id="606" name="Google Shape;606;p36"/>
          <p:cNvCxnSpPr/>
          <p:nvPr/>
        </p:nvCxnSpPr>
        <p:spPr>
          <a:xfrm>
            <a:off x="8357616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07" name="Google Shape;607;p36"/>
          <p:cNvSpPr/>
          <p:nvPr/>
        </p:nvSpPr>
        <p:spPr>
          <a:xfrm>
            <a:off x="8924544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6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endParaRPr/>
          </a:p>
        </p:txBody>
      </p:sp>
      <p:sp>
        <p:nvSpPr>
          <p:cNvPr id="609" name="Google Shape;609;p36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promotion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price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campaign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capacity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7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7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7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7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7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Data Leakage khi tạo Lag/Rolling Feature</a:t>
            </a:r>
            <a:endParaRPr/>
          </a:p>
        </p:txBody>
      </p:sp>
      <p:sp>
        <p:nvSpPr>
          <p:cNvPr id="619" name="Google Shape;619;p37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/>
          </a:p>
        </p:txBody>
      </p:sp>
      <p:sp>
        <p:nvSpPr>
          <p:cNvPr id="620" name="Google Shape;620;p37"/>
          <p:cNvSpPr/>
          <p:nvPr/>
        </p:nvSpPr>
        <p:spPr>
          <a:xfrm>
            <a:off x="685800" y="969264"/>
            <a:ext cx="10698480" cy="530352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Đây là lỗi quan trọng nhất khi chuyển Time Series sang Regression với lag features.</a:t>
            </a:r>
            <a:endParaRPr/>
          </a:p>
        </p:txBody>
      </p:sp>
      <p:sp>
        <p:nvSpPr>
          <p:cNvPr id="621" name="Google Shape;621;p37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Lag phải dùng quá khứ: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lag_1 tại thời điểm t lấy giá trị t−1, không dùng t+1.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Rolling phải shift khi cần: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Không để rolling window chứa chính target tương lai đang dự báo.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Preprocessing fit trên train: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Scaler/encoder không được học từ test period.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Business feature phải biết trước: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Không dùng promotion/result chỉ xuất hiện sau thời điểm dự báo.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8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8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8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8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8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11.11</a:t>
            </a:r>
            <a:endParaRPr/>
          </a:p>
        </p:txBody>
      </p:sp>
      <p:sp>
        <p:nvSpPr>
          <p:cNvPr id="631" name="Google Shape;631;p38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Mô hình dự báo đơn giản</a:t>
            </a:r>
            <a:endParaRPr/>
          </a:p>
        </p:txBody>
      </p:sp>
      <p:sp>
        <p:nvSpPr>
          <p:cNvPr id="632" name="Google Shape;632;p38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Ba hướng: smoothing, ARIMA và regression với lag features</a:t>
            </a:r>
            <a:endParaRPr/>
          </a:p>
        </p:txBody>
      </p:sp>
      <p:sp>
        <p:nvSpPr>
          <p:cNvPr id="633" name="Google Shape;633;p3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8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8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9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9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9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9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9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Ba hướng xây dựng mô hình dự báo</a:t>
            </a:r>
            <a:endParaRPr/>
          </a:p>
        </p:txBody>
      </p:sp>
      <p:sp>
        <p:nvSpPr>
          <p:cNvPr id="645" name="Google Shape;645;p39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</p:txBody>
      </p:sp>
      <p:pic>
        <p:nvPicPr>
          <p:cNvPr descr="body-27.png" id="646" name="Google Shape;64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0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0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40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40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40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Chọn mô hình đơn giản theo tình huống</a:t>
            </a:r>
            <a:endParaRPr/>
          </a:p>
        </p:txBody>
      </p:sp>
      <p:sp>
        <p:nvSpPr>
          <p:cNvPr id="656" name="Google Shape;656;p4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657" name="Google Shape;657;p40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Bám đúng slide gốc: ba hướng tiếp cận, nhưng nhấn mạnh tiêu chí lựa chọn.</a:t>
            </a:r>
            <a:endParaRPr/>
          </a:p>
        </p:txBody>
      </p:sp>
      <p:sp>
        <p:nvSpPr>
          <p:cNvPr id="658" name="Google Shape;658;p40"/>
          <p:cNvSpPr/>
          <p:nvPr/>
        </p:nvSpPr>
        <p:spPr>
          <a:xfrm>
            <a:off x="566928" y="1536192"/>
            <a:ext cx="2926080" cy="749808"/>
          </a:xfrm>
          <a:prstGeom prst="rect">
            <a:avLst/>
          </a:prstGeom>
          <a:solidFill>
            <a:srgbClr val="0F3F6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Phương án</a:t>
            </a:r>
            <a:endParaRPr/>
          </a:p>
        </p:txBody>
      </p:sp>
      <p:sp>
        <p:nvSpPr>
          <p:cNvPr id="659" name="Google Shape;659;p40"/>
          <p:cNvSpPr/>
          <p:nvPr/>
        </p:nvSpPr>
        <p:spPr>
          <a:xfrm>
            <a:off x="3657600" y="1536192"/>
            <a:ext cx="3474720" cy="749808"/>
          </a:xfrm>
          <a:prstGeom prst="rect">
            <a:avLst/>
          </a:prstGeom>
          <a:solidFill>
            <a:srgbClr val="0F3F6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Phù hợp khi</a:t>
            </a:r>
            <a:endParaRPr/>
          </a:p>
        </p:txBody>
      </p:sp>
      <p:sp>
        <p:nvSpPr>
          <p:cNvPr id="660" name="Google Shape;660;p40"/>
          <p:cNvSpPr/>
          <p:nvPr/>
        </p:nvSpPr>
        <p:spPr>
          <a:xfrm>
            <a:off x="7315200" y="1536192"/>
            <a:ext cx="4297680" cy="749808"/>
          </a:xfrm>
          <a:prstGeom prst="rect">
            <a:avLst/>
          </a:prstGeom>
          <a:solidFill>
            <a:srgbClr val="0F3F6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Điểm cần nhớ</a:t>
            </a:r>
            <a:endParaRPr/>
          </a:p>
        </p:txBody>
      </p:sp>
      <p:sp>
        <p:nvSpPr>
          <p:cNvPr id="661" name="Google Shape;661;p40"/>
          <p:cNvSpPr/>
          <p:nvPr/>
        </p:nvSpPr>
        <p:spPr>
          <a:xfrm>
            <a:off x="566928" y="2286000"/>
            <a:ext cx="2926080" cy="74980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Exponential Smoothing</a:t>
            </a:r>
            <a:endParaRPr/>
          </a:p>
        </p:txBody>
      </p:sp>
      <p:sp>
        <p:nvSpPr>
          <p:cNvPr id="662" name="Google Shape;662;p40"/>
          <p:cNvSpPr/>
          <p:nvPr/>
        </p:nvSpPr>
        <p:spPr>
          <a:xfrm>
            <a:off x="3657600" y="2286000"/>
            <a:ext cx="3474720" cy="74980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Level/trend/seasonality rõ</a:t>
            </a:r>
            <a:endParaRPr/>
          </a:p>
        </p:txBody>
      </p:sp>
      <p:sp>
        <p:nvSpPr>
          <p:cNvPr id="663" name="Google Shape;663;p40"/>
          <p:cNvSpPr/>
          <p:nvPr/>
        </p:nvSpPr>
        <p:spPr>
          <a:xfrm>
            <a:off x="7315200" y="2286000"/>
            <a:ext cx="4297680" cy="74980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Dễ diễn giải, baseline mạnh</a:t>
            </a:r>
            <a:endParaRPr/>
          </a:p>
        </p:txBody>
      </p:sp>
      <p:sp>
        <p:nvSpPr>
          <p:cNvPr id="664" name="Google Shape;664;p40"/>
          <p:cNvSpPr/>
          <p:nvPr/>
        </p:nvSpPr>
        <p:spPr>
          <a:xfrm>
            <a:off x="566928" y="3035808"/>
            <a:ext cx="2926080" cy="74980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ARIMA</a:t>
            </a:r>
            <a:endParaRPr/>
          </a:p>
        </p:txBody>
      </p:sp>
      <p:sp>
        <p:nvSpPr>
          <p:cNvPr id="665" name="Google Shape;665;p40"/>
          <p:cNvSpPr/>
          <p:nvPr/>
        </p:nvSpPr>
        <p:spPr>
          <a:xfrm>
            <a:off x="3657600" y="3035808"/>
            <a:ext cx="3474720" cy="74980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Chuỗi đơn biến có autocorrelation</a:t>
            </a:r>
            <a:endParaRPr/>
          </a:p>
        </p:txBody>
      </p:sp>
      <p:sp>
        <p:nvSpPr>
          <p:cNvPr id="666" name="Google Shape;666;p40"/>
          <p:cNvSpPr/>
          <p:nvPr/>
        </p:nvSpPr>
        <p:spPr>
          <a:xfrm>
            <a:off x="7315200" y="3035808"/>
            <a:ext cx="4297680" cy="74980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Cần xử lý stationarity phù hợp</a:t>
            </a:r>
            <a:endParaRPr/>
          </a:p>
        </p:txBody>
      </p:sp>
      <p:sp>
        <p:nvSpPr>
          <p:cNvPr id="667" name="Google Shape;667;p40"/>
          <p:cNvSpPr/>
          <p:nvPr/>
        </p:nvSpPr>
        <p:spPr>
          <a:xfrm>
            <a:off x="566928" y="3785615"/>
            <a:ext cx="2926080" cy="74980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Linear Regression + Lag</a:t>
            </a:r>
            <a:endParaRPr/>
          </a:p>
        </p:txBody>
      </p:sp>
      <p:sp>
        <p:nvSpPr>
          <p:cNvPr id="668" name="Google Shape;668;p40"/>
          <p:cNvSpPr/>
          <p:nvPr/>
        </p:nvSpPr>
        <p:spPr>
          <a:xfrm>
            <a:off x="3657600" y="3785615"/>
            <a:ext cx="3474720" cy="74980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Có thêm business features</a:t>
            </a:r>
            <a:endParaRPr/>
          </a:p>
        </p:txBody>
      </p:sp>
      <p:sp>
        <p:nvSpPr>
          <p:cNvPr id="669" name="Google Shape;669;p40"/>
          <p:cNvSpPr/>
          <p:nvPr/>
        </p:nvSpPr>
        <p:spPr>
          <a:xfrm>
            <a:off x="7315200" y="3785615"/>
            <a:ext cx="4297680" cy="74980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Nối time series với supervised ML</a:t>
            </a:r>
            <a:endParaRPr/>
          </a:p>
        </p:txBody>
      </p:sp>
      <p:sp>
        <p:nvSpPr>
          <p:cNvPr id="670" name="Google Shape;670;p40"/>
          <p:cNvSpPr/>
          <p:nvPr/>
        </p:nvSpPr>
        <p:spPr>
          <a:xfrm>
            <a:off x="566928" y="4535424"/>
            <a:ext cx="2926080" cy="74980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/>
          </a:p>
        </p:txBody>
      </p:sp>
      <p:sp>
        <p:nvSpPr>
          <p:cNvPr id="671" name="Google Shape;671;p40"/>
          <p:cNvSpPr/>
          <p:nvPr/>
        </p:nvSpPr>
        <p:spPr>
          <a:xfrm>
            <a:off x="3657600" y="4535424"/>
            <a:ext cx="3474720" cy="74980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Luôn luôn</a:t>
            </a:r>
            <a:endParaRPr/>
          </a:p>
        </p:txBody>
      </p:sp>
      <p:sp>
        <p:nvSpPr>
          <p:cNvPr id="672" name="Google Shape;672;p40"/>
          <p:cNvSpPr/>
          <p:nvPr/>
        </p:nvSpPr>
        <p:spPr>
          <a:xfrm>
            <a:off x="7315200" y="4535424"/>
            <a:ext cx="4297680" cy="74980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Mốc so sánh bắt buộc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1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41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1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1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11.12</a:t>
            </a:r>
            <a:endParaRPr/>
          </a:p>
        </p:txBody>
      </p:sp>
      <p:sp>
        <p:nvSpPr>
          <p:cNvPr id="682" name="Google Shape;682;p41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Đánh giá mô hình</a:t>
            </a:r>
            <a:endParaRPr/>
          </a:p>
        </p:txBody>
      </p:sp>
      <p:sp>
        <p:nvSpPr>
          <p:cNvPr id="683" name="Google Shape;683;p41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Metric + Actual vs Predicted + so với Baseline</a:t>
            </a:r>
            <a:endParaRPr/>
          </a:p>
        </p:txBody>
      </p:sp>
      <p:sp>
        <p:nvSpPr>
          <p:cNvPr id="684" name="Google Shape;684;p41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1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41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2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2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42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2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2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Đánh giá mô hình dự báo</a:t>
            </a:r>
            <a:endParaRPr/>
          </a:p>
        </p:txBody>
      </p:sp>
      <p:sp>
        <p:nvSpPr>
          <p:cNvPr id="696" name="Google Shape;696;p42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42</a:t>
            </a:r>
            <a:endParaRPr/>
          </a:p>
        </p:txBody>
      </p:sp>
      <p:pic>
        <p:nvPicPr>
          <p:cNvPr descr="body-29.png" id="697" name="Google Shape;6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43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3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3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43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3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Đánh giá tốt không chỉ nhìn một metric</a:t>
            </a:r>
            <a:endParaRPr/>
          </a:p>
        </p:txBody>
      </p:sp>
      <p:sp>
        <p:nvSpPr>
          <p:cNvPr id="707" name="Google Shape;707;p43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endParaRPr/>
          </a:p>
        </p:txBody>
      </p:sp>
      <p:sp>
        <p:nvSpPr>
          <p:cNvPr id="708" name="Google Shape;708;p43"/>
          <p:cNvSpPr/>
          <p:nvPr/>
        </p:nvSpPr>
        <p:spPr>
          <a:xfrm>
            <a:off x="640080" y="1188720"/>
            <a:ext cx="5029200" cy="45720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43"/>
          <p:cNvSpPr txBox="1"/>
          <p:nvPr/>
        </p:nvSpPr>
        <p:spPr>
          <a:xfrm>
            <a:off x="841247" y="1389888"/>
            <a:ext cx="4617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/>
          </a:p>
        </p:txBody>
      </p:sp>
      <p:sp>
        <p:nvSpPr>
          <p:cNvPr id="710" name="Google Shape;710;p43"/>
          <p:cNvSpPr txBox="1"/>
          <p:nvPr/>
        </p:nvSpPr>
        <p:spPr>
          <a:xfrm>
            <a:off x="841247" y="1856231"/>
            <a:ext cx="4617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MAE: dễ hiểu cùng đơn vị.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RMSE: phạt mạnh sai số lớn.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MAPE: dễ đọc theo %, nhưng kém ổn định gần 0.</a:t>
            </a:r>
            <a:endParaRPr/>
          </a:p>
        </p:txBody>
      </p:sp>
      <p:sp>
        <p:nvSpPr>
          <p:cNvPr id="711" name="Google Shape;711;p43"/>
          <p:cNvSpPr/>
          <p:nvPr/>
        </p:nvSpPr>
        <p:spPr>
          <a:xfrm>
            <a:off x="6126480" y="1188720"/>
            <a:ext cx="5029200" cy="4572000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3"/>
          <p:cNvSpPr txBox="1"/>
          <p:nvPr/>
        </p:nvSpPr>
        <p:spPr>
          <a:xfrm>
            <a:off x="6327648" y="1389888"/>
            <a:ext cx="4617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Visual &amp; Business</a:t>
            </a:r>
            <a:endParaRPr/>
          </a:p>
        </p:txBody>
      </p:sp>
      <p:sp>
        <p:nvSpPr>
          <p:cNvPr id="713" name="Google Shape;713;p43"/>
          <p:cNvSpPr txBox="1"/>
          <p:nvPr/>
        </p:nvSpPr>
        <p:spPr>
          <a:xfrm>
            <a:off x="6327648" y="1856231"/>
            <a:ext cx="4617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Actual vs Predicted.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Có bỏ lỡ peak không?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Sai số có tập trung ở mùa/khu vực nào?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Có tốt hơn baseline đủ rõ không?</a:t>
            </a:r>
            <a:endParaRPr/>
          </a:p>
        </p:txBody>
      </p:sp>
      <p:sp>
        <p:nvSpPr>
          <p:cNvPr id="714" name="Google Shape;714;p43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Một model có MAE thấp hơn nhưng bỏ lỡ peak quan trọng vẫn có thể không phù hợp cho nghiệp vụ.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4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4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44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44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44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11.13</a:t>
            </a:r>
            <a:endParaRPr/>
          </a:p>
        </p:txBody>
      </p:sp>
      <p:sp>
        <p:nvSpPr>
          <p:cNvPr id="724" name="Google Shape;724;p44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Ứng dụng thực tế</a:t>
            </a:r>
            <a:endParaRPr/>
          </a:p>
        </p:txBody>
      </p:sp>
      <p:sp>
        <p:nvSpPr>
          <p:cNvPr id="725" name="Google Shape;725;p44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Dự đoán nhu cầu, doanh thu và sản xuất — từ forecast đến quyết định</a:t>
            </a:r>
            <a:endParaRPr/>
          </a:p>
        </p:txBody>
      </p:sp>
      <p:sp>
        <p:nvSpPr>
          <p:cNvPr id="726" name="Google Shape;726;p44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44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44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5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45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5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5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Ứng dụng thực tế của Predictive Analytics</a:t>
            </a:r>
            <a:endParaRPr/>
          </a:p>
        </p:txBody>
      </p:sp>
      <p:sp>
        <p:nvSpPr>
          <p:cNvPr id="738" name="Google Shape;738;p45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/>
          </a:p>
        </p:txBody>
      </p:sp>
      <p:pic>
        <p:nvPicPr>
          <p:cNvPr descr="body-31.png" id="739" name="Google Shape;73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6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46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46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6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46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Forecast được dùng để ra quyết định gì?</a:t>
            </a:r>
            <a:endParaRPr/>
          </a:p>
        </p:txBody>
      </p:sp>
      <p:sp>
        <p:nvSpPr>
          <p:cNvPr id="749" name="Google Shape;749;p4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/>
          </a:p>
        </p:txBody>
      </p:sp>
      <p:sp>
        <p:nvSpPr>
          <p:cNvPr id="750" name="Google Shape;750;p46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Đề cương yêu cầu các ứng dụng dự đoán nhu cầu thị trường, doanh thu và dự báo sản xuất.</a:t>
            </a:r>
            <a:endParaRPr/>
          </a:p>
        </p:txBody>
      </p:sp>
      <p:sp>
        <p:nvSpPr>
          <p:cNvPr id="751" name="Google Shape;751;p46"/>
          <p:cNvSpPr/>
          <p:nvPr/>
        </p:nvSpPr>
        <p:spPr>
          <a:xfrm>
            <a:off x="502920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46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endParaRPr/>
          </a:p>
        </p:txBody>
      </p:sp>
      <p:sp>
        <p:nvSpPr>
          <p:cNvPr id="753" name="Google Shape;753;p46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Lập kế hoạch tồn kho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Mua hàng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Phân bổ nguồn lực</a:t>
            </a:r>
            <a:endParaRPr/>
          </a:p>
        </p:txBody>
      </p:sp>
      <p:sp>
        <p:nvSpPr>
          <p:cNvPr id="754" name="Google Shape;754;p46"/>
          <p:cNvSpPr/>
          <p:nvPr/>
        </p:nvSpPr>
        <p:spPr>
          <a:xfrm>
            <a:off x="4041648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46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Revenue</a:t>
            </a:r>
            <a:endParaRPr/>
          </a:p>
        </p:txBody>
      </p:sp>
      <p:sp>
        <p:nvSpPr>
          <p:cNvPr id="756" name="Google Shape;756;p46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Budget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Target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Theo dõi rủi ro kế hoạch</a:t>
            </a:r>
            <a:endParaRPr/>
          </a:p>
        </p:txBody>
      </p:sp>
      <p:sp>
        <p:nvSpPr>
          <p:cNvPr id="757" name="Google Shape;757;p46"/>
          <p:cNvSpPr/>
          <p:nvPr/>
        </p:nvSpPr>
        <p:spPr>
          <a:xfrm>
            <a:off x="7580375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46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Production</a:t>
            </a:r>
            <a:endParaRPr/>
          </a:p>
        </p:txBody>
      </p:sp>
      <p:sp>
        <p:nvSpPr>
          <p:cNvPr id="759" name="Google Shape;759;p46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Kế hoạch sản xuất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Nhân lực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Công suất / nguyên liệu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7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7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47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7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7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TH</a:t>
            </a:r>
            <a:endParaRPr/>
          </a:p>
        </p:txBody>
      </p:sp>
      <p:sp>
        <p:nvSpPr>
          <p:cNvPr id="769" name="Google Shape;769;p47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Thực hành Bài 11</a:t>
            </a:r>
            <a:endParaRPr/>
          </a:p>
        </p:txBody>
      </p:sp>
      <p:sp>
        <p:nvSpPr>
          <p:cNvPr id="770" name="Google Shape;770;p4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Tiếp tục monthly_revenue.csv: Diagnostic trước, Predictive sau</a:t>
            </a:r>
            <a:endParaRPr/>
          </a:p>
        </p:txBody>
      </p:sp>
      <p:sp>
        <p:nvSpPr>
          <p:cNvPr id="771" name="Google Shape;771;p47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7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7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8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8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48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8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8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Phần A — Diagnostic Analytics</a:t>
            </a:r>
            <a:endParaRPr/>
          </a:p>
        </p:txBody>
      </p:sp>
      <p:sp>
        <p:nvSpPr>
          <p:cNvPr id="783" name="Google Shape;783;p48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/>
          </a:p>
        </p:txBody>
      </p:sp>
      <p:pic>
        <p:nvPicPr>
          <p:cNvPr descr="body-33.png" id="784" name="Google Shape;78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49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49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9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49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9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Phần B — Predictive Analytics</a:t>
            </a:r>
            <a:endParaRPr/>
          </a:p>
        </p:txBody>
      </p:sp>
      <p:sp>
        <p:nvSpPr>
          <p:cNvPr id="794" name="Google Shape;794;p49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/>
          </a:p>
        </p:txBody>
      </p:sp>
      <p:pic>
        <p:nvPicPr>
          <p:cNvPr descr="body-34.png" id="795" name="Google Shape;79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50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50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50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50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50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Pipeline thực hành mở rộng</a:t>
            </a:r>
            <a:endParaRPr/>
          </a:p>
        </p:txBody>
      </p:sp>
      <p:sp>
        <p:nvSpPr>
          <p:cNvPr id="805" name="Google Shape;805;p5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806" name="Google Shape;806;p50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Bám đúng đề cương: Diagnostic Analytics + xây dựng mô hình dự báo đơn giản trên cùng dataset.</a:t>
            </a:r>
            <a:endParaRPr/>
          </a:p>
        </p:txBody>
      </p:sp>
      <p:sp>
        <p:nvSpPr>
          <p:cNvPr id="807" name="Google Shape;807;p50"/>
          <p:cNvSpPr/>
          <p:nvPr/>
        </p:nvSpPr>
        <p:spPr>
          <a:xfrm>
            <a:off x="502920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50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1. Diagnose</a:t>
            </a:r>
            <a:endParaRPr/>
          </a:p>
        </p:txBody>
      </p:sp>
      <p:sp>
        <p:nvSpPr>
          <p:cNvPr id="809" name="Google Shape;809;p50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Tìm kỳ doanh thu giảm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Drill-down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Contribution</a:t>
            </a:r>
            <a:endParaRPr/>
          </a:p>
        </p:txBody>
      </p:sp>
      <p:cxnSp>
        <p:nvCxnSpPr>
          <p:cNvPr id="810" name="Google Shape;810;p50"/>
          <p:cNvCxnSpPr/>
          <p:nvPr/>
        </p:nvCxnSpPr>
        <p:spPr>
          <a:xfrm>
            <a:off x="2743200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11" name="Google Shape;811;p50"/>
          <p:cNvSpPr/>
          <p:nvPr/>
        </p:nvSpPr>
        <p:spPr>
          <a:xfrm>
            <a:off x="3310128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50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2. Engineer</a:t>
            </a:r>
            <a:endParaRPr/>
          </a:p>
        </p:txBody>
      </p:sp>
      <p:sp>
        <p:nvSpPr>
          <p:cNvPr id="813" name="Google Shape;813;p50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Lag features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Rolling mean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Calendar features</a:t>
            </a:r>
            <a:endParaRPr/>
          </a:p>
        </p:txBody>
      </p:sp>
      <p:cxnSp>
        <p:nvCxnSpPr>
          <p:cNvPr id="814" name="Google Shape;814;p50"/>
          <p:cNvCxnSpPr/>
          <p:nvPr/>
        </p:nvCxnSpPr>
        <p:spPr>
          <a:xfrm>
            <a:off x="5550408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15" name="Google Shape;815;p50"/>
          <p:cNvSpPr/>
          <p:nvPr/>
        </p:nvSpPr>
        <p:spPr>
          <a:xfrm>
            <a:off x="6117336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50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3. Predict</a:t>
            </a:r>
            <a:endParaRPr/>
          </a:p>
        </p:txBody>
      </p:sp>
      <p:sp>
        <p:nvSpPr>
          <p:cNvPr id="817" name="Google Shape;817;p50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Baseline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Regression/ES đơn giản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Forecast test period</a:t>
            </a:r>
            <a:endParaRPr/>
          </a:p>
        </p:txBody>
      </p:sp>
      <p:cxnSp>
        <p:nvCxnSpPr>
          <p:cNvPr id="818" name="Google Shape;818;p50"/>
          <p:cNvCxnSpPr/>
          <p:nvPr/>
        </p:nvCxnSpPr>
        <p:spPr>
          <a:xfrm>
            <a:off x="8357616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19" name="Google Shape;819;p50"/>
          <p:cNvSpPr/>
          <p:nvPr/>
        </p:nvSpPr>
        <p:spPr>
          <a:xfrm>
            <a:off x="8924544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50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4. Evaluate</a:t>
            </a:r>
            <a:endParaRPr/>
          </a:p>
        </p:txBody>
      </p:sp>
      <p:sp>
        <p:nvSpPr>
          <p:cNvPr id="821" name="Google Shape;821;p50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MAE / RMSE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Actual vs Predicted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Business interpretation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5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51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51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51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51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Sản phẩm thực hành nên có gì?</a:t>
            </a:r>
            <a:endParaRPr/>
          </a:p>
        </p:txBody>
      </p:sp>
      <p:sp>
        <p:nvSpPr>
          <p:cNvPr id="831" name="Google Shape;831;p51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/>
          </a:p>
        </p:txBody>
      </p:sp>
      <p:sp>
        <p:nvSpPr>
          <p:cNvPr id="832" name="Google Shape;832;p51"/>
          <p:cNvSpPr/>
          <p:nvPr/>
        </p:nvSpPr>
        <p:spPr>
          <a:xfrm>
            <a:off x="685800" y="969264"/>
            <a:ext cx="10698480" cy="530352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Mục tiêu là biến notebook thành một quy trình phân tích có thể giải thích, không chỉ chạy model.</a:t>
            </a:r>
            <a:endParaRPr/>
          </a:p>
        </p:txBody>
      </p:sp>
      <p:sp>
        <p:nvSpPr>
          <p:cNvPr id="833" name="Google Shape;833;p51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01_diagnostic.ipynb: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KPI biến động, drill-down, contribution và kết luận nguyên nhân khả dĩ.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02_forecast.ipynb: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Feature, baseline, model và đánh giá trên test period.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Bảng so sánh: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Baseline vs model theo MAE/RMSE/MAPE.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Kết luận nghiệp vụ: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Dự báo có đủ tốt để hỗ trợ quyết định không? Giới hạn của phân tích là gì?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52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52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52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52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52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Sản phẩm cuối cùng</a:t>
            </a:r>
            <a:endParaRPr/>
          </a:p>
        </p:txBody>
      </p:sp>
      <p:sp>
        <p:nvSpPr>
          <p:cNvPr id="843" name="Google Shape;843;p52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  <a:endParaRPr/>
          </a:p>
        </p:txBody>
      </p:sp>
      <p:pic>
        <p:nvPicPr>
          <p:cNvPr descr="body-35.png" id="844" name="Google Shape;84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53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53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53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53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53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Tóm tắt bài học</a:t>
            </a:r>
            <a:endParaRPr/>
          </a:p>
        </p:txBody>
      </p:sp>
      <p:sp>
        <p:nvSpPr>
          <p:cNvPr id="854" name="Google Shape;854;p53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  <a:endParaRPr/>
          </a:p>
        </p:txBody>
      </p:sp>
      <p:pic>
        <p:nvPicPr>
          <p:cNvPr descr="body-36.png" id="855" name="Google Shape;85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54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54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54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54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54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Câu hỏi kiểm tra nhanh</a:t>
            </a:r>
            <a:endParaRPr/>
          </a:p>
        </p:txBody>
      </p:sp>
      <p:sp>
        <p:nvSpPr>
          <p:cNvPr id="865" name="Google Shape;865;p54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54</a:t>
            </a:r>
            <a:endParaRPr/>
          </a:p>
        </p:txBody>
      </p:sp>
      <p:pic>
        <p:nvPicPr>
          <p:cNvPr descr="body-37.png" id="866" name="Google Shape;86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55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55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55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55"/>
          <p:cNvSpPr txBox="1"/>
          <p:nvPr/>
        </p:nvSpPr>
        <p:spPr>
          <a:xfrm>
            <a:off x="914400" y="1508760"/>
            <a:ext cx="10241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Cảm ơn đã theo dõi</a:t>
            </a:r>
            <a:endParaRPr/>
          </a:p>
        </p:txBody>
      </p:sp>
      <p:sp>
        <p:nvSpPr>
          <p:cNvPr id="876" name="Google Shape;876;p55"/>
          <p:cNvSpPr txBox="1"/>
          <p:nvPr/>
        </p:nvSpPr>
        <p:spPr>
          <a:xfrm>
            <a:off x="777240" y="2697480"/>
            <a:ext cx="10652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Bài tiếp theo:</a:t>
            </a:r>
            <a:br>
              <a:rPr b="1" lang="en-US" sz="2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Trực quan hóa dữ liệu và xây dựng Dashboard phân tích</a:t>
            </a:r>
            <a:endParaRPr/>
          </a:p>
        </p:txBody>
      </p:sp>
      <p:sp>
        <p:nvSpPr>
          <p:cNvPr id="877" name="Google Shape;877;p55"/>
          <p:cNvSpPr txBox="1"/>
          <p:nvPr/>
        </p:nvSpPr>
        <p:spPr>
          <a:xfrm>
            <a:off x="777240" y="3977639"/>
            <a:ext cx="106527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Tiếp tục dataset monthly_revenue.csv từ Bài 10</a:t>
            </a:r>
            <a:b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Hoàn thiện Diagnostic Analysis, baseline và mô hình dự báo đơn giản</a:t>
            </a:r>
            <a:b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Bài 12 sẽ tập trung riêng vào nguyên tắc trực quan hóa và Dashboard.</a:t>
            </a:r>
            <a:endParaRPr/>
          </a:p>
        </p:txBody>
      </p:sp>
      <p:sp>
        <p:nvSpPr>
          <p:cNvPr id="878" name="Google Shape;878;p55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
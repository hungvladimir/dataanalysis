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320040" y="-137160"/>
            <a:ext cx="3886200" cy="1024128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247888" y="5989320"/>
            <a:ext cx="4160520" cy="1024128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85e423d-ca97-4670-a2c8-fc9a156df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509" y="54864"/>
            <a:ext cx="1670033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27632"/>
            <a:ext cx="11247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0F3F6F"/>
                </a:solidFill>
                <a:latin typeface="Aptos Narrow"/>
              </a:rPr>
              <a:t>Phân tích mô tả, Dashboard KPI
và phát hiện bất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82112"/>
            <a:ext cx="1115568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80">
                <a:solidFill>
                  <a:srgbClr val="435266"/>
                </a:solidFill>
                <a:latin typeface="Aptos"/>
              </a:rPr>
              <a:t>9.1 Descriptive Analytics  •  9.2 Aggregation  •  9.3 KPI  •  9.4 Sales Analysis  •  9.5 Trend Analysis
9.6 Dashboard  •  9.7 Dashboard Design  •  9.8 Normal → Abnormal  •  9.9 Anomaly  •  9.10 Types of Anomaly
9.11 Statistical Detection  •  9.12 Isolation Forest  •  9.13 LOF  •  9.14 Method Comparison  •  9.15 Applications
Bổ sung theo đề cương: KPI hierarchy, aggregation pitfalls, dashboard interpretation, anomaly threshold, model output và pipeline thực hành giao dịch.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2179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 Narrow"/>
              </a:rPr>
              <a:t>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Vì sao gộp Descriptive Analytics và Anomaly Detection?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</a:t>
            </a:r>
          </a:p>
        </p:txBody>
      </p:sp>
      <p:pic>
        <p:nvPicPr>
          <p:cNvPr id="8" name="Picture 7" descr="body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Chương trình buổi học (4 giờ)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</a:t>
            </a:r>
          </a:p>
        </p:txBody>
      </p:sp>
      <p:pic>
        <p:nvPicPr>
          <p:cNvPr id="8" name="Picture 7" descr="body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Mục tiêu học tập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</a:t>
            </a:r>
          </a:p>
        </p:txBody>
      </p:sp>
      <p:pic>
        <p:nvPicPr>
          <p:cNvPr id="8" name="Picture 7" descr="body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Lộ trình khóa học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</a:t>
            </a:r>
          </a:p>
        </p:txBody>
      </p:sp>
      <p:pic>
        <p:nvPicPr>
          <p:cNvPr id="8" name="Picture 7" descr="body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Descriptive Analytics là gì?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Trả lời câu hỏi “Điều gì đã xảy ra?” trước khi giải thích hoặc dự đoán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4 loại phân tích dữ liệu — bài này tập trung Descriptive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7</a:t>
            </a:r>
          </a:p>
        </p:txBody>
      </p:sp>
      <p:pic>
        <p:nvPicPr>
          <p:cNvPr id="8" name="Picture 7" descr="body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Descriptive Analytics tạo giá trị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Đề cương đặt Descriptive Analytics trước KPI, Dashboard và Anomaly Detection — đây là nền để hiểu hoạt động bình thường.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Tóm tắt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Tổng hợp giao dịch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Mean / Sum / Count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KPI theo thời gian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So sánh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Theo vùng / sản phẩm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MoM / YoY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Top / Bottom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Hành động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Nhận diện vấn đề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Ưu tiên điều tra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Cung cấp đầu vào cho anomaly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Tổng hợp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GroupBy, Aggregation và tổng hợp theo thời gian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Các phép tổng hợp dữ liệu phổ biến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10</a:t>
            </a:r>
          </a:p>
        </p:txBody>
      </p:sp>
      <p:pic>
        <p:nvPicPr>
          <p:cNvPr id="8" name="Picture 7" descr="body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Từ giao dịch chi tiết đến KPI doanh nghiệp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11</a:t>
            </a:r>
          </a:p>
        </p:txBody>
      </p:sp>
      <p:pic>
        <p:nvPicPr>
          <p:cNvPr id="8" name="Picture 7" descr="body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Aggregation — ba lỗi thường gặp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Bổ sung trực tiếp cho phần GroupBy/Aggregation để học viên không chỉ biết cú pháp mà còn biết kiểm tra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Sai mức granularity: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Tổng hợp theo tháng nhưng dữ liệu trộn nhiều khu vực có thể che mất vấn đề cục bộ.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Double counting: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Join không đúng khóa có thể làm số dòng tăng và KPI bị nhân lên.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Metric không cùng đơn vị: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Doanh thu, số đơn và tỷ lệ cần được tổng hợp theo quy tắc khác nhau.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Nguyên tắc: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Trước khi tính KPI cần xác định đúng grain của dữ liệu và công thức aggregation.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KPI phải gắn với mục tiêu kinh doanh, không chỉ là một con số bất kỳ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KPI là gì? Metric và KPI khác nhau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14</a:t>
            </a:r>
          </a:p>
        </p:txBody>
      </p:sp>
      <p:pic>
        <p:nvPicPr>
          <p:cNvPr id="8" name="Picture 7" descr="body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Ví dụ các KPI phổ biến trong doanh nghiệp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15</a:t>
            </a:r>
          </a:p>
        </p:txBody>
      </p:sp>
      <p:pic>
        <p:nvPicPr>
          <p:cNvPr id="8" name="Picture 7" descr="body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Từ Metric đến KPI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Một KPI tốt phải liên kết rõ với mục tiêu kinh doanh và có metric hỗ trợ để giải thích biến động.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Business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Tăng doanh thu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Giảm chi phí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Tăng chất lượng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Revenue Growth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Conversion Rate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Defect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Supporting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Orders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AOV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Customers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Return 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Checklist một KPI tốt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Bám trực tiếp nội dung đề cương về KPI và dashboard phân tích dữ liệu.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Có mục tiêu rõ ràng: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Biết KPI này phục vụ quyết định nào.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Có công thức nhất quán: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Cùng một KPI phải được tính giống nhau qua các báo cáo.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Có chiều thời gian / benchmark: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So với kỳ trước, target hoặc baseline.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Có khả năng drill-down: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Khi KPI xấu đi, có thể phân rã theo sản phẩm, khu vực, khách hàng hoặc kênh.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Phân tích dữ liệu bán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Nhìn dữ liệu bán hàng dưới nhiều góc độ khác nhau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Phân tích dữ liệu bán hàng theo nhiều chiều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19</a:t>
            </a:r>
          </a:p>
        </p:txBody>
      </p:sp>
      <p:pic>
        <p:nvPicPr>
          <p:cNvPr id="8" name="Picture 7" descr="body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Một sales analysis nên drill-down theo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Đề cương yêu cầu xây dựng báo cáo phân tích dữ liệu bán hàng; slide này bổ sung khung drill-down thực hành.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Ngày / tuần / tháng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MoM / YoY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Seasonality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Category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SKU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Top / Bottom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New / Returning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Segment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AOV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Region /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Khu vực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Online / Offline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Hiệu quả kênh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Trend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Month-over-Month, Year-over-Year và Seasonality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Phân tích xu hướng theo thời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22</a:t>
            </a:r>
          </a:p>
        </p:txBody>
      </p:sp>
      <p:pic>
        <p:nvPicPr>
          <p:cNvPr id="8" name="Picture 7" descr="body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MoM và YoY — dùng khi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Month-over-Month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So sánh tháng hiện tại với tháng ngay trước.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Nhạy với thay đổi ngắn hạn.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Dễ bị ảnh hưởng bởi seasonality.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Year-over-Year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So sánh cùng kỳ năm trước.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Hữu ích khi dữ liệu có tính mùa vụ.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Cần đủ lịch sử để diễn giải.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Bài 10 sẽ đi sâu Time Series; ở Bài 9 chỉ dùng trend để đọc KPI và phát hiện biến động đáng chú ý.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Dashboard khác report như thế nào và vai trò trong ra quyết định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Dashboard là gì? Khác Report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25</a:t>
            </a:r>
          </a:p>
        </p:txBody>
      </p:sp>
      <p:pic>
        <p:nvPicPr>
          <p:cNvPr id="8" name="Picture 7" descr="body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Dashboard vận hành và Dashboard phân tích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Operational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Theo dõi KPI gần thời gian thực.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Tập trung trạng thái hiện tại và cảnh báo.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Ít biểu đồ nhưng cần phản ứng nhanh.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Analytical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Cho phép drill-down, filter và so sánh.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Hỗ trợ tìm nguyên nhân của biến động.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Thường dùng theo tuần/tháng trong phân tích.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Bài 9 tập trung dashboard phục vụ Descriptive Analytics; nguyên tắc visualization chuyên sâu được dành cho Bài 12.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Thiết kế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KPI Cards, Line/Bar Chart, Filters — không lạm dụng biểu đồ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Các thành phần khi thiết kế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28</a:t>
            </a:r>
          </a:p>
        </p:txBody>
      </p:sp>
      <p:pic>
        <p:nvPicPr>
          <p:cNvPr id="8" name="Picture 7" descr="body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Minh họa một Dashboard KPI đơn giản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29</a:t>
            </a:r>
          </a:p>
        </p:txBody>
      </p:sp>
      <p:pic>
        <p:nvPicPr>
          <p:cNvPr id="8" name="Picture 7" descr="body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Đọc Dashboard theo thứ tự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Đây là cầu nối tự nhiên từ dashboard mô tả sang phần anomaly detection của chính Bài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1. KPI Cards: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Xác định trạng thái tổng thể — tốt/xấu, tăng/giảm, có vượt target không.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2. Trend: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Xem biến động xảy ra từ khi nào và kéo dài bao lâu.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3. Breakdown: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Drill-down theo region/product/customer để tìm nơi đóng góp lớn nhất.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4. Anomaly: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Tìm các điểm hoặc giao dịch khác thường cần điều tra thêm.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Từ dữ liệu bình thường đến bất thường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Dashboard cho biết tổng thể — nhưng còn những giao dịch khác thường thì sao?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Câu hỏi mở đầu cho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32</a:t>
            </a:r>
          </a:p>
        </p:txBody>
      </p:sp>
      <p:pic>
        <p:nvPicPr>
          <p:cNvPr id="8" name="Picture 7" descr="body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Baseline — hiểu “bình thường” trước khi tìm “bất thường”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Anomaly chỉ có ý nghĩa khi so với một baseline phù hợp; một giá trị cao chưa chắc là bất thường nếu đúng ngữ cảnh.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Theo lịch sử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Mean / Median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Range / IQR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Trend theo thời gian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Theo nhóm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Khách hàng tương tự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Sản phẩm tương tự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Khu vực tương tự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Theo ngữ cảnh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Giờ giao dịch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Ngày trong tuần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Mùa / sự kiện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Khái niệm Anomaly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Anomaly ≠ Fraud — chỉ là một tín hiệu cần điều tra thêm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Anomaly là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35</a:t>
            </a:r>
          </a:p>
        </p:txBody>
      </p:sp>
      <p:pic>
        <p:nvPicPr>
          <p:cNvPr id="8" name="Picture 7" descr="body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Outlier và Anomaly — giống nhưng không hoàn toàn đồng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Outlier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Khác biệt về mặt thống kê so với phần lớn dữ liệu.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Có thể do lỗi dữ liệu hoặc giá trị thật hiếm gặp.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Thường được nhận diện trong EDA.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Điểm/mẫu dữ liệu bất thường theo mục tiêu giám sát.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Có thể phụ thuộc thời gian, ngữ cảnh hoặc nhóm lân cận.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Thường dùng như tín hiệu để cảnh báo/điều tra.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Một outlier có thể không phải anomaly nghiệp vụ; ngược lại anomaly có thể không cực đoan trên một biến đơn lẻ.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Các dạng bất thường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Point, Contextual và Collective Anomaly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Ba dạng bất thường phổ biến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38</a:t>
            </a:r>
          </a:p>
        </p:txBody>
      </p:sp>
      <p:pic>
        <p:nvPicPr>
          <p:cNvPr id="8" name="Picture 7" descr="body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Ví dụ ngân hàng: nhận diện một giao dịch bất thường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39</a:t>
            </a:r>
          </a:p>
        </p:txBody>
      </p:sp>
      <p:pic>
        <p:nvPicPr>
          <p:cNvPr id="8" name="Picture 7" descr="body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Ví dụ nhanh cho ba dạng Anomaly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Phân loại anomaly giúp chọn feature và phương pháp phù hợp thay vì chỉ đặt một threshold duy nhất.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Một giao dịch 200 triệu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Trong khi phần lớn &lt; 5 triệu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Bất thường tự thân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Contextual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Chi 10 triệu lúc 14:00 có thể bình thường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Nhưng 03:00 có thể đáng ngờ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Phụ thuộc ngữ cảnh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Collective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Nhiều giao dịch nhỏ liên tiếp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Mỗi giao dịch riêng lẻ bình thường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Chuỗi hành vi mới bất thường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Phát hiện bất thường bằng thống kê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Dùng lại Mean, Standard Deviation, Z-score, IQR đã học ở Bài 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Dùng lại kiến thức thống kê từ Bài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42</a:t>
            </a:r>
          </a:p>
        </p:txBody>
      </p:sp>
      <p:pic>
        <p:nvPicPr>
          <p:cNvPr id="8" name="Picture 7" descr="body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Z-score và IQR — chọn cách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Z-score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Phù hợp hơn khi distribution gần chuẩn.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Dễ diễn giải theo số standard deviations.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Nhạy với mean/std nếu dữ liệu lệch mạnh.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IQR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Robust hơn với skew và outlier.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Dùng Q1, Q3 và khoảng IQR.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Phù hợp EDA và boxplot.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Không có threshold hoàn hảo cho mọi dataset; cần kiểm tra false positive/false negative theo nghiệp vụ.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Threshold trong Anomaly Detection — không chỉ là con số kỹ thuật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Bổ sung trực tiếp cho việc áp dụng Statistical Methods trong đề cương.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Threshold thấp: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Bắt được nhiều anomaly hơn nhưng tăng false positive.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Threshold cao: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Ít cảnh báo hơn nhưng có thể bỏ sót trường hợp quan trọng.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Cách chọn: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Kết hợp phân phối score, dữ liệu gán nhãn nếu có và khả năng xử lý cảnh báo của doanh nghiệp.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Thông điệp: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Một hệ thống anomaly detection tốt phải cân bằng giữa độ nhạy và chi phí điều tra.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Isolation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Anomaly dễ bị cô lập hơn — không cần đi sâu toán học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Isolation Forest — ý tưởng thuật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46</a:t>
            </a:r>
          </a:p>
        </p:txBody>
      </p:sp>
      <p:pic>
        <p:nvPicPr>
          <p:cNvPr id="8" name="Picture 7" descr="body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Isolation Forest — từ feature đến anomaly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Bài 9 chỉ cần hiểu trực giác, đầu vào và đầu ra của mô hình.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Các feature số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Có thể chuẩn hóa khi cần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Không cần label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Random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Chọn feature ngẫu nhiên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Chọn threshold ngẫu nhiên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Path 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Anomaly bị cô lập sớm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Normal point cần nhiều split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Anomaly score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Dùng threshold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Đánh dấu điểm cần kiểm tra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Local Outlier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So sánh mật độ cục bộ của một điểm với các điểm lân cận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LOF — Local Outlier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49</a:t>
            </a:r>
          </a:p>
        </p:txBody>
      </p:sp>
      <p:pic>
        <p:nvPicPr>
          <p:cNvPr id="8" name="Picture 7" descr="body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LOF phụ thuộc mạnh vào “lân cận”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Điểm mạnh của LOF là phát hiện anomaly cục bộ, nhưng đổi lại nhạy với scale và lựa chọn số lân cận.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Local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So mật độ quanh một điểm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Không chỉ nhìn khoảng cách tuyệt đối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n_neighbors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Quá nhỏ → nhạy nhiễu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Quá lớn → mất tính cục bộ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Cần thử nghiệm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Feature khác đơn vị làm méo khoảng cách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Thường cần scaling trước LOF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Đặc biệt dữ liệu nhiều feature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So sánh phương pháp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Z-score, IQR, Isolation Forest và LOF — khi nào dùng phương pháp nào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So sánh các phương pháp phát hiện bất thường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52</a:t>
            </a:r>
          </a:p>
        </p:txBody>
      </p:sp>
      <p:pic>
        <p:nvPicPr>
          <p:cNvPr id="8" name="Picture 7" descr="body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Chọn phương pháp theo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Không có phương pháp tốt nhất cho mọi bài toán; chọn theo distribution, số feature và kiểu anomaly.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36192"/>
            <a:ext cx="292608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Phương 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536192"/>
            <a:ext cx="347472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Phù hợp khi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536192"/>
            <a:ext cx="429768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Lưu 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86000"/>
            <a:ext cx="29260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Z-score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347472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Một biến, gần 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286000"/>
            <a:ext cx="42976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Đơn giản, dễ giải thích, nhạy với skew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35808"/>
            <a:ext cx="29260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IQR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035808"/>
            <a:ext cx="347472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Một biến, skew/outlier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035808"/>
            <a:ext cx="42976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Robust, dễ trực quan hóa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85615"/>
            <a:ext cx="29260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Isolation Forest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85615"/>
            <a:ext cx="347472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Nhiều feature, dữ liệu lớn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785615"/>
            <a:ext cx="42976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Không cần density; phù hợp anomaly toàn cục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35424"/>
            <a:ext cx="29260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LOF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535424"/>
            <a:ext cx="347472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Anomaly cục bộ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535424"/>
            <a:ext cx="42976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Nhạy scale và n_neighbors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9.15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Fraud Detection, giám sát hệ thống, IoT và kiểm soát chất lượng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Ứng dụng thực tế của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55</a:t>
            </a:r>
          </a:p>
        </p:txBody>
      </p:sp>
      <p:pic>
        <p:nvPicPr>
          <p:cNvPr id="8" name="Picture 7" descr="body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Từ anomaly score đến hành động doanh nghiệp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Anomaly detection chỉ có giá trị khi được nối vào quy trình điều tra và hành động thực tế.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Tính anomaly score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Đặt threshold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Prioritize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Xếp hạng cảnh báo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Ưu tiên rủi ro cao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Investigate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Kiểm tra dữ liệu gốc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Kết hợp quy tắc nghiệp vụ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Ghi nhận kết quả điều tra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Cập nhật feature/threshold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Giảm false alert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Thực hành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Một bài toán xuyên suốt: từ KPI, Dashboard đến phát hiện bất thường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Dataset thực hành: transactions.csv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58</a:t>
            </a:r>
          </a:p>
        </p:txBody>
      </p:sp>
      <p:pic>
        <p:nvPicPr>
          <p:cNvPr id="8" name="Picture 7" descr="body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Pipeline thực hành xuyên suốt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59</a:t>
            </a:r>
          </a:p>
        </p:txBody>
      </p:sp>
      <p:pic>
        <p:nvPicPr>
          <p:cNvPr id="8" name="Picture 7" descr="body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Pipeline thực hành mở rộng theo đề cương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Bám trực tiếp đề cương: báo cáo bán hàng + phát hiện bất thường trong dữ liệu giao dịch.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1. Descriptive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Tổng hợp transactions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Revenue / Count / AOV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Theo time / region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2.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KPI cards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Trend chart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Filter / drill-down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3.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Z-score / IQR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Isolation Forest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LOF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4.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So sánh kết quả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Kiểm tra top anomalies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Viết nhận xét nghiệp vụ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Checklist tránh Data Leakage khi tạo feature anomaly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Phần này giúp bài thực hành anomaly gần với pipeline thực tế hơn nhưng vẫn giữ mức nhập môn.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Không dùng thông tin tương lai: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Feature tại thời điểm t chỉ nên dùng dữ liệu có sẵn đến thời điểm t nếu bài toán là monitoring.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Không dùng label ẩn: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Các thông tin chỉ xuất hiện sau điều tra không được đưa vào feature ban đầu.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Tách logic theo thời gian khi cần: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Baseline hoặc rolling statistics nên được tính từ quá khứ.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Kiểm tra dữ liệu: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Một lỗi nhập liệu có thể bị mô hình đánh dấu anomaly nhưng không phải bất thường nghiệp vụ.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Sản phẩm cuối cùng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62</a:t>
            </a:r>
          </a:p>
        </p:txBody>
      </p:sp>
      <p:pic>
        <p:nvPicPr>
          <p:cNvPr id="8" name="Picture 7" descr="body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Tóm tắt bài học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63</a:t>
            </a:r>
          </a:p>
        </p:txBody>
      </p:sp>
      <p:pic>
        <p:nvPicPr>
          <p:cNvPr id="8" name="Picture 7" descr="body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Câu hỏi 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64</a:t>
            </a:r>
          </a:p>
        </p:txBody>
      </p:sp>
      <p:pic>
        <p:nvPicPr>
          <p:cNvPr id="8" name="Picture 7" descr="body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0F3F6F"/>
                </a:solidFill>
                <a:latin typeface="Aptos Narrow"/>
              </a:rPr>
              <a:t>Cảm ơn đã theo dõi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10652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F3F6F"/>
                </a:solidFill>
                <a:latin typeface="Aptos"/>
              </a:rPr>
              <a:t>Bài tiếp theo:
Phân tích chuỗi thời gian và xu hướng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52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435266"/>
                </a:solidFill>
                <a:latin typeface="Aptos"/>
              </a:rPr>
              <a:t>Tài liệu tham khảo: dataset transactions.csv mẫu sẽ được chia sẻ trên LMS
Liên hệ giảng viên/trợ giảng nếu gặp khó khăn khi chạy Isolation Forest/LOF
Xem lại Bài 8 (Z-score, IQR, Distribution) nếu cần củng cố nền tảng thống kê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
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9" roundtripDataSignature="AMtx7mi7Kr8F04N019QVzSx/P4E1WNhZ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FD18A04-F853-4D2E-8F69-0A5930EE7D93}">
  <a:tblStyle styleId="{5FD18A04-F853-4D2E-8F69-0A5930EE7D9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customschemas.google.com/relationships/presentationmetadata" Target="metadata"/><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 name="Google Shape;24;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5" name="Google Shape;25;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 name="Google Shape;3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9" name="Google Shape;39;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 name="Google Shape;7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6" name="Google Shape;76;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14" name="Google Shape;114;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29" name="Google Shape;129;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52" name="Google Shape;152;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85" name="Google Shape;185;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9" name="Google Shape;19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00" name="Google Shape;200;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16" name="Google Shape;216;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65" name="Google Shape;265;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 name="Google Shape;279;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80" name="Google Shape;280;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17" name="Google Shape;317;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1" name="Google Shape;331;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32" name="Google Shape;332;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 name="Google Shape;347;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48" name="Google Shape;348;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 name="Google Shape;362;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63" name="Google Shape;363;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2" name="Google Shape;402;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03" name="Google Shape;403;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7" name="Google Shape;41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18" name="Google Shape;418;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4" name="Google Shape;444;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45" name="Google Shape;445;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9" name="Google Shape;459;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60" name="Google Shape;460;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3" name="Google Shape;493;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94" name="Google Shape;494;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8" name="Google Shape;508;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09" name="Google Shape;509;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6" name="Google Shape;546;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47" name="Google Shape;547;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1" name="Google Shape;561;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62" name="Google Shape;562;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0" name="Google Shape;590;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91" name="Google Shape;591;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5" name="Google Shape;605;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06" name="Google Shape;606;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8" name="Google Shape;638;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39" name="Google Shape;639;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3" name="Google Shape;653;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54" name="Google Shape;654;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8" name="Google Shape;688;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89" name="Google Shape;689;p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5" name="Google Shape;725;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26" name="Google Shape;726;p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6" name="Google Shape;746;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47" name="Google Shape;747;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3" name="Google Shape;773;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74" name="Google Shape;774;p3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3" name="Google Shape;793;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94" name="Google Shape;794;p3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 name="Shape 11"/>
        <p:cNvGrpSpPr/>
        <p:nvPr/>
      </p:nvGrpSpPr>
      <p:grpSpPr>
        <a:xfrm>
          <a:off x="0" y="0"/>
          <a:ext cx="0" cy="0"/>
          <a:chOff x="0" y="0"/>
          <a:chExt cx="0" cy="0"/>
        </a:xfrm>
      </p:grpSpPr>
      <p:sp>
        <p:nvSpPr>
          <p:cNvPr id="12" name="Google Shape;12;p1"/>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2/ss2026_logo.png" id="16" name="Google Shape;16;p1"/>
          <p:cNvPicPr preferRelativeResize="0"/>
          <p:nvPr/>
        </p:nvPicPr>
        <p:blipFill rotWithShape="1">
          <a:blip r:embed="rId3">
            <a:alphaModFix/>
          </a:blip>
          <a:srcRect b="0" l="0" r="0" t="0"/>
          <a:stretch/>
        </p:blipFill>
        <p:spPr>
          <a:xfrm>
            <a:off x="9646920" y="320040"/>
            <a:ext cx="1737360" cy="877824"/>
          </a:xfrm>
          <a:prstGeom prst="rect">
            <a:avLst/>
          </a:prstGeom>
          <a:noFill/>
          <a:ln>
            <a:noFill/>
          </a:ln>
        </p:spPr>
      </p:pic>
      <p:sp>
        <p:nvSpPr>
          <p:cNvPr id="17" name="Google Shape;17;p1"/>
          <p:cNvSpPr/>
          <p:nvPr/>
        </p:nvSpPr>
        <p:spPr>
          <a:xfrm>
            <a:off x="914400" y="2286000"/>
            <a:ext cx="9144000" cy="8778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4800" u="none" cap="none" strike="noStrike">
                <a:solidFill>
                  <a:srgbClr val="0F3F6F"/>
                </a:solidFill>
                <a:latin typeface="Arial"/>
                <a:ea typeface="Arial"/>
                <a:cs typeface="Arial"/>
                <a:sym typeface="Arial"/>
              </a:rPr>
              <a:t>Bài 6: Data Wrangling và</a:t>
            </a:r>
            <a:r>
              <a:rPr b="0" i="0" lang="en-US" sz="4800" u="none" cap="none" strike="noStrike">
                <a:solidFill>
                  <a:schemeClr val="dk1"/>
                </a:solidFill>
                <a:latin typeface="Arial"/>
                <a:ea typeface="Arial"/>
                <a:cs typeface="Arial"/>
                <a:sym typeface="Arial"/>
              </a:rPr>
              <a:t> </a:t>
            </a:r>
            <a:r>
              <a:rPr b="1" i="0" lang="en-US" sz="4800" u="none" cap="none" strike="noStrike">
                <a:solidFill>
                  <a:srgbClr val="0F3F6F"/>
                </a:solidFill>
                <a:latin typeface="Arial"/>
                <a:ea typeface="Arial"/>
                <a:cs typeface="Arial"/>
                <a:sym typeface="Arial"/>
              </a:rPr>
              <a:t>làm sạch dữ liệu</a:t>
            </a:r>
            <a:endParaRPr sz="4800">
              <a:solidFill>
                <a:schemeClr val="dk1"/>
              </a:solidFill>
              <a:latin typeface="Arial"/>
              <a:ea typeface="Arial"/>
              <a:cs typeface="Arial"/>
              <a:sym typeface="Arial"/>
            </a:endParaRPr>
          </a:p>
          <a:p>
            <a:pPr indent="0" lvl="0" marL="0" marR="0" rtl="0" algn="l">
              <a:spcBef>
                <a:spcPts val="0"/>
              </a:spcBef>
              <a:spcAft>
                <a:spcPts val="0"/>
              </a:spcAft>
              <a:buNone/>
            </a:pPr>
            <a:r>
              <a:rPr b="1" lang="en-US" sz="4800">
                <a:solidFill>
                  <a:srgbClr val="0F3F6F"/>
                </a:solidFill>
                <a:latin typeface="Arial"/>
                <a:ea typeface="Arial"/>
                <a:cs typeface="Arial"/>
                <a:sym typeface="Arial"/>
              </a:rPr>
              <a:t> </a:t>
            </a:r>
            <a:endParaRPr sz="4800">
              <a:solidFill>
                <a:schemeClr val="dk1"/>
              </a:solidFill>
              <a:latin typeface="Calibri"/>
              <a:ea typeface="Calibri"/>
              <a:cs typeface="Calibri"/>
              <a:sym typeface="Calibri"/>
            </a:endParaRPr>
          </a:p>
        </p:txBody>
      </p:sp>
      <p:sp>
        <p:nvSpPr>
          <p:cNvPr id="18" name="Google Shape;18;p1"/>
          <p:cNvSpPr/>
          <p:nvPr/>
        </p:nvSpPr>
        <p:spPr>
          <a:xfrm>
            <a:off x="914399" y="2286000"/>
            <a:ext cx="10639839"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chemeClr val="dk1"/>
              </a:buClr>
              <a:buSzPts val="5700"/>
              <a:buFont typeface="Calibri"/>
              <a:buNone/>
            </a:pPr>
            <a:r>
              <a:t/>
            </a:r>
            <a:endParaRPr sz="5700">
              <a:solidFill>
                <a:schemeClr val="dk1"/>
              </a:solidFill>
              <a:latin typeface="Arial"/>
              <a:ea typeface="Arial"/>
              <a:cs typeface="Arial"/>
              <a:sym typeface="Arial"/>
            </a:endParaRPr>
          </a:p>
        </p:txBody>
      </p:sp>
      <p:sp>
        <p:nvSpPr>
          <p:cNvPr id="19" name="Google Shape;19;p1"/>
          <p:cNvSpPr/>
          <p:nvPr/>
        </p:nvSpPr>
        <p:spPr>
          <a:xfrm>
            <a:off x="960120" y="3977640"/>
            <a:ext cx="5120640" cy="192024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435266"/>
              </a:buClr>
              <a:buSzPts val="1250"/>
              <a:buFont typeface="Arial"/>
              <a:buNone/>
            </a:pPr>
            <a:r>
              <a:rPr lang="en-US" sz="1250">
                <a:solidFill>
                  <a:srgbClr val="435266"/>
                </a:solidFill>
                <a:latin typeface="Arial"/>
                <a:ea typeface="Arial"/>
                <a:cs typeface="Arial"/>
                <a:sym typeface="Arial"/>
              </a:rPr>
              <a:t>6.1  Data Wrangling là gì?</a:t>
            </a:r>
            <a:endParaRPr sz="1250">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435266"/>
              </a:buClr>
              <a:buSzPts val="1250"/>
              <a:buFont typeface="Arial"/>
              <a:buNone/>
            </a:pPr>
            <a:r>
              <a:rPr lang="en-US" sz="1250">
                <a:solidFill>
                  <a:srgbClr val="435266"/>
                </a:solidFill>
                <a:latin typeface="Arial"/>
                <a:ea typeface="Arial"/>
                <a:cs typeface="Arial"/>
                <a:sym typeface="Arial"/>
              </a:rPr>
              <a:t>6.2  Các vấn đề thường gặp trong dữ liệu thực tế</a:t>
            </a:r>
            <a:endParaRPr sz="1250">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435266"/>
              </a:buClr>
              <a:buSzPts val="1250"/>
              <a:buFont typeface="Arial"/>
              <a:buNone/>
            </a:pPr>
            <a:r>
              <a:rPr lang="en-US" sz="1250">
                <a:solidFill>
                  <a:srgbClr val="435266"/>
                </a:solidFill>
                <a:latin typeface="Arial"/>
                <a:ea typeface="Arial"/>
                <a:cs typeface="Arial"/>
                <a:sym typeface="Arial"/>
              </a:rPr>
              <a:t>6.3  Thu thập dữ liệu</a:t>
            </a:r>
            <a:endParaRPr sz="1250">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435266"/>
              </a:buClr>
              <a:buSzPts val="1250"/>
              <a:buFont typeface="Arial"/>
              <a:buNone/>
            </a:pPr>
            <a:r>
              <a:rPr lang="en-US" sz="1250">
                <a:solidFill>
                  <a:srgbClr val="435266"/>
                </a:solidFill>
                <a:latin typeface="Arial"/>
                <a:ea typeface="Arial"/>
                <a:cs typeface="Arial"/>
                <a:sym typeface="Arial"/>
              </a:rPr>
              <a:t>6.4  Khám phá và đánh giá chất lượng dữ liệu</a:t>
            </a:r>
            <a:endParaRPr sz="1250">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435266"/>
              </a:buClr>
              <a:buSzPts val="1250"/>
              <a:buFont typeface="Arial"/>
              <a:buNone/>
            </a:pPr>
            <a:r>
              <a:rPr lang="en-US" sz="1250">
                <a:solidFill>
                  <a:srgbClr val="435266"/>
                </a:solidFill>
                <a:latin typeface="Arial"/>
                <a:ea typeface="Arial"/>
                <a:cs typeface="Arial"/>
                <a:sym typeface="Arial"/>
              </a:rPr>
              <a:t>6.5  Xử lý dữ liệu thiếu</a:t>
            </a:r>
            <a:endParaRPr sz="1250">
              <a:solidFill>
                <a:schemeClr val="dk1"/>
              </a:solidFill>
              <a:latin typeface="Calibri"/>
              <a:ea typeface="Calibri"/>
              <a:cs typeface="Calibri"/>
              <a:sym typeface="Calibri"/>
            </a:endParaRPr>
          </a:p>
        </p:txBody>
      </p:sp>
      <p:sp>
        <p:nvSpPr>
          <p:cNvPr id="20" name="Google Shape;20;p1"/>
          <p:cNvSpPr/>
          <p:nvPr/>
        </p:nvSpPr>
        <p:spPr>
          <a:xfrm>
            <a:off x="6217920" y="3977640"/>
            <a:ext cx="5120640" cy="219456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435266"/>
              </a:buClr>
              <a:buSzPts val="1250"/>
              <a:buFont typeface="Arial"/>
              <a:buNone/>
            </a:pPr>
            <a:r>
              <a:rPr lang="en-US" sz="1250">
                <a:solidFill>
                  <a:srgbClr val="435266"/>
                </a:solidFill>
                <a:latin typeface="Arial"/>
                <a:ea typeface="Arial"/>
                <a:cs typeface="Arial"/>
                <a:sym typeface="Arial"/>
              </a:rPr>
              <a:t>6.6  Xử lý dữ liệu trùng lặp</a:t>
            </a:r>
            <a:endParaRPr sz="1250">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435266"/>
              </a:buClr>
              <a:buSzPts val="1250"/>
              <a:buFont typeface="Arial"/>
              <a:buNone/>
            </a:pPr>
            <a:r>
              <a:rPr lang="en-US" sz="1250">
                <a:solidFill>
                  <a:srgbClr val="435266"/>
                </a:solidFill>
                <a:latin typeface="Arial"/>
                <a:ea typeface="Arial"/>
                <a:cs typeface="Arial"/>
                <a:sym typeface="Arial"/>
              </a:rPr>
              <a:t>6.7  Chuẩn hóa kiểu dữ liệu</a:t>
            </a:r>
            <a:endParaRPr sz="1250">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435266"/>
              </a:buClr>
              <a:buSzPts val="1250"/>
              <a:buFont typeface="Arial"/>
              <a:buNone/>
            </a:pPr>
            <a:r>
              <a:rPr lang="en-US" sz="1250">
                <a:solidFill>
                  <a:srgbClr val="435266"/>
                </a:solidFill>
                <a:latin typeface="Arial"/>
                <a:ea typeface="Arial"/>
                <a:cs typeface="Arial"/>
                <a:sym typeface="Arial"/>
              </a:rPr>
              <a:t>6.8  Chuẩn hóa dữ liệu dạng text</a:t>
            </a:r>
            <a:endParaRPr sz="1250">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435266"/>
              </a:buClr>
              <a:buSzPts val="1250"/>
              <a:buFont typeface="Arial"/>
              <a:buNone/>
            </a:pPr>
            <a:r>
              <a:rPr lang="en-US" sz="1250">
                <a:solidFill>
                  <a:srgbClr val="435266"/>
                </a:solidFill>
                <a:latin typeface="Arial"/>
                <a:ea typeface="Arial"/>
                <a:cs typeface="Arial"/>
                <a:sym typeface="Arial"/>
              </a:rPr>
              <a:t>6.9  Phát hiện giá trị bất thường</a:t>
            </a:r>
            <a:endParaRPr sz="1250">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435266"/>
              </a:buClr>
              <a:buSzPts val="1250"/>
              <a:buFont typeface="Arial"/>
              <a:buNone/>
            </a:pPr>
            <a:r>
              <a:rPr lang="en-US" sz="1250">
                <a:solidFill>
                  <a:srgbClr val="435266"/>
                </a:solidFill>
                <a:latin typeface="Arial"/>
                <a:ea typeface="Arial"/>
                <a:cs typeface="Arial"/>
                <a:sym typeface="Arial"/>
              </a:rPr>
              <a:t>6.10  Chuẩn hóa giá trị số</a:t>
            </a:r>
            <a:endParaRPr sz="1250">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435266"/>
              </a:buClr>
              <a:buSzPts val="1250"/>
              <a:buFont typeface="Arial"/>
              <a:buNone/>
            </a:pPr>
            <a:r>
              <a:rPr lang="en-US" sz="1250">
                <a:solidFill>
                  <a:srgbClr val="435266"/>
                </a:solidFill>
                <a:latin typeface="Arial"/>
                <a:ea typeface="Arial"/>
                <a:cs typeface="Arial"/>
                <a:sym typeface="Arial"/>
              </a:rPr>
              <a:t>Thực hành Bài 6</a:t>
            </a:r>
            <a:endParaRPr sz="1250">
              <a:solidFill>
                <a:schemeClr val="dk1"/>
              </a:solidFill>
              <a:latin typeface="Calibri"/>
              <a:ea typeface="Calibri"/>
              <a:cs typeface="Calibri"/>
              <a:sym typeface="Calibri"/>
            </a:endParaRPr>
          </a:p>
        </p:txBody>
      </p:sp>
      <p:sp>
        <p:nvSpPr>
          <p:cNvPr id="21" name="Google Shape;21;p1"/>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1</a:t>
            </a:r>
            <a:endParaRPr sz="10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2"/>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530352" y="237744"/>
            <a:ext cx="978408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2100"/>
              <a:buFont typeface="Arial"/>
              <a:buNone/>
            </a:pPr>
            <a:r>
              <a:rPr b="1" lang="en-US" sz="2100">
                <a:solidFill>
                  <a:srgbClr val="0F3F6F"/>
                </a:solidFill>
                <a:latin typeface="Arial"/>
                <a:ea typeface="Arial"/>
                <a:cs typeface="Arial"/>
                <a:sym typeface="Arial"/>
              </a:rPr>
              <a:t>Chương trình buổi học (4 giờ)</a:t>
            </a:r>
            <a:endParaRPr sz="2100">
              <a:solidFill>
                <a:schemeClr val="dk1"/>
              </a:solidFill>
              <a:latin typeface="Calibri"/>
              <a:ea typeface="Calibri"/>
              <a:cs typeface="Calibri"/>
              <a:sym typeface="Calibri"/>
            </a:endParaRPr>
          </a:p>
        </p:txBody>
      </p:sp>
      <p:sp>
        <p:nvSpPr>
          <p:cNvPr id="32" name="Google Shape;32;p2"/>
          <p:cNvSpPr/>
          <p:nvPr/>
        </p:nvSpPr>
        <p:spPr>
          <a:xfrm>
            <a:off x="548640" y="969264"/>
            <a:ext cx="9144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i="1" lang="en-US" sz="1100">
                <a:solidFill>
                  <a:srgbClr val="8497A5"/>
                </a:solidFill>
                <a:latin typeface="Arial"/>
                <a:ea typeface="Arial"/>
                <a:cs typeface="Arial"/>
                <a:sym typeface="Arial"/>
              </a:rPr>
              <a:t>Giới thiệu tổng quan bài học · Bài 06</a:t>
            </a:r>
            <a:endParaRPr sz="1100">
              <a:solidFill>
                <a:schemeClr val="dk1"/>
              </a:solidFill>
              <a:latin typeface="Calibri"/>
              <a:ea typeface="Calibri"/>
              <a:cs typeface="Calibri"/>
              <a:sym typeface="Calibri"/>
            </a:endParaRPr>
          </a:p>
        </p:txBody>
      </p:sp>
      <p:graphicFrame>
        <p:nvGraphicFramePr>
          <p:cNvPr id="33" name="Google Shape;33;p2"/>
          <p:cNvGraphicFramePr/>
          <p:nvPr/>
        </p:nvGraphicFramePr>
        <p:xfrm>
          <a:off x="457200" y="1371600"/>
          <a:ext cx="3000000" cy="3000000"/>
        </p:xfrm>
        <a:graphic>
          <a:graphicData uri="http://schemas.openxmlformats.org/drawingml/2006/table">
            <a:tbl>
              <a:tblPr>
                <a:noFill/>
                <a:tableStyleId>{5FD18A04-F853-4D2E-8F69-0A5930EE7D93}</a:tableStyleId>
              </a:tblPr>
              <a:tblGrid>
                <a:gridCol w="1600200"/>
                <a:gridCol w="640075"/>
                <a:gridCol w="7406650"/>
                <a:gridCol w="1645925"/>
              </a:tblGrid>
              <a:tr h="502925">
                <a:tc>
                  <a:txBody>
                    <a:bodyPr/>
                    <a:lstStyle/>
                    <a:p>
                      <a:pPr indent="0" lvl="0" marL="0" marR="0" rtl="0" algn="l">
                        <a:spcBef>
                          <a:spcPts val="0"/>
                        </a:spcBef>
                        <a:spcAft>
                          <a:spcPts val="0"/>
                        </a:spcAft>
                        <a:buClr>
                          <a:srgbClr val="FFFFFF"/>
                        </a:buClr>
                        <a:buSzPts val="1100"/>
                        <a:buFont typeface="Arial"/>
                        <a:buNone/>
                      </a:pPr>
                      <a:r>
                        <a:rPr b="1" lang="en-US" sz="1100" u="none" cap="none" strike="noStrike">
                          <a:solidFill>
                            <a:srgbClr val="FFFFFF"/>
                          </a:solidFill>
                          <a:latin typeface="Arial"/>
                          <a:ea typeface="Arial"/>
                          <a:cs typeface="Arial"/>
                          <a:sym typeface="Arial"/>
                        </a:rPr>
                        <a:t>Thời gian</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0F3F6F"/>
                    </a:solidFill>
                  </a:tcPr>
                </a:tc>
                <a:tc>
                  <a:txBody>
                    <a:bodyPr/>
                    <a:lstStyle/>
                    <a:p>
                      <a:pPr indent="0" lvl="0" marL="0" marR="0" rtl="0" algn="l">
                        <a:spcBef>
                          <a:spcPts val="0"/>
                        </a:spcBef>
                        <a:spcAft>
                          <a:spcPts val="0"/>
                        </a:spcAft>
                        <a:buClr>
                          <a:srgbClr val="FFFFFF"/>
                        </a:buClr>
                        <a:buSzPts val="1100"/>
                        <a:buFont typeface="Arial"/>
                        <a:buNone/>
                      </a:pPr>
                      <a:r>
                        <a:rPr b="1" lang="en-US" sz="1100" u="none" cap="none" strike="noStrike">
                          <a:solidFill>
                            <a:srgbClr val="FFFFFF"/>
                          </a:solidFill>
                          <a:latin typeface="Arial"/>
                          <a:ea typeface="Arial"/>
                          <a:cs typeface="Arial"/>
                          <a:sym typeface="Arial"/>
                        </a:rPr>
                        <a:t>TG</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0F3F6F"/>
                    </a:solidFill>
                  </a:tcPr>
                </a:tc>
                <a:tc>
                  <a:txBody>
                    <a:bodyPr/>
                    <a:lstStyle/>
                    <a:p>
                      <a:pPr indent="0" lvl="0" marL="0" marR="0" rtl="0" algn="l">
                        <a:spcBef>
                          <a:spcPts val="0"/>
                        </a:spcBef>
                        <a:spcAft>
                          <a:spcPts val="0"/>
                        </a:spcAft>
                        <a:buClr>
                          <a:srgbClr val="FFFFFF"/>
                        </a:buClr>
                        <a:buSzPts val="1100"/>
                        <a:buFont typeface="Arial"/>
                        <a:buNone/>
                      </a:pPr>
                      <a:r>
                        <a:rPr b="1" lang="en-US" sz="1100" u="none" cap="none" strike="noStrike">
                          <a:solidFill>
                            <a:srgbClr val="FFFFFF"/>
                          </a:solidFill>
                          <a:latin typeface="Arial"/>
                          <a:ea typeface="Arial"/>
                          <a:cs typeface="Arial"/>
                          <a:sym typeface="Arial"/>
                        </a:rPr>
                        <a:t>Nội dung</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0F3F6F"/>
                    </a:solidFill>
                  </a:tcPr>
                </a:tc>
                <a:tc>
                  <a:txBody>
                    <a:bodyPr/>
                    <a:lstStyle/>
                    <a:p>
                      <a:pPr indent="0" lvl="0" marL="0" marR="0" rtl="0" algn="l">
                        <a:spcBef>
                          <a:spcPts val="0"/>
                        </a:spcBef>
                        <a:spcAft>
                          <a:spcPts val="0"/>
                        </a:spcAft>
                        <a:buClr>
                          <a:srgbClr val="FFFFFF"/>
                        </a:buClr>
                        <a:buSzPts val="1100"/>
                        <a:buFont typeface="Arial"/>
                        <a:buNone/>
                      </a:pPr>
                      <a:r>
                        <a:rPr b="1" lang="en-US" sz="1100" u="none" cap="none" strike="noStrike">
                          <a:solidFill>
                            <a:srgbClr val="FFFFFF"/>
                          </a:solidFill>
                          <a:latin typeface="Arial"/>
                          <a:ea typeface="Arial"/>
                          <a:cs typeface="Arial"/>
                          <a:sym typeface="Arial"/>
                        </a:rPr>
                        <a:t>Loại</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0F3F6F"/>
                    </a:solidFill>
                  </a:tcPr>
                </a:tc>
              </a:tr>
              <a:tr h="502925">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08:00 – 08:15</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15p</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Khởi động, giới thiệu mục tiêu học tập</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Lý thuyết</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08:15 – 09:00</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45p</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6.1 Data Wrangling · 6.2 Vấn đề thường gặp · 6.3 Thu thập dữ liệu</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Lý thuyết</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r>
              <a:tr h="502925">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09:00 – 09:45</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45p</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6.4 Khám phá dữ liệu · 6.5 Xử lý dữ liệu thiếu · 6.6 Xử lý trùng lặp</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Lý thuyết</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09:45 – 10:00</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15p</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Giải lao</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Nghỉ</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r>
              <a:tr h="502925">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10:00 – 10:45</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45p</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6.7 Chuẩn hóa kiểu dữ liệu · 6.8 Chuẩn hóa text · 6.9 Giá trị bất thường · 6.10 Chuẩn hóa số</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Lý thuyết</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10:45 – 11:45</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60p</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Thực hành: làm sạch customer_transactions_dirty.csv</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Thực hành</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r>
              <a:tr h="502925">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11:45 – 12:00</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15p</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Tóm tắt, hỏi đáp, đánh giá nhanh</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Tổng kết</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r>
            </a:tbl>
          </a:graphicData>
        </a:graphic>
      </p:graphicFrame>
      <p:sp>
        <p:nvSpPr>
          <p:cNvPr id="34" name="Google Shape;34;p2"/>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Bài 6. Data Wrangling và làm sạch dữ liệu</a:t>
            </a:r>
            <a:endParaRPr sz="1000">
              <a:solidFill>
                <a:schemeClr val="dk1"/>
              </a:solidFill>
              <a:latin typeface="Calibri"/>
              <a:ea typeface="Calibri"/>
              <a:cs typeface="Calibri"/>
              <a:sym typeface="Calibri"/>
            </a:endParaRPr>
          </a:p>
        </p:txBody>
      </p:sp>
      <p:sp>
        <p:nvSpPr>
          <p:cNvPr id="35" name="Google Shape;35;p2"/>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2</a:t>
            </a:r>
            <a:endParaRPr sz="1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 name="Shape 40"/>
        <p:cNvGrpSpPr/>
        <p:nvPr/>
      </p:nvGrpSpPr>
      <p:grpSpPr>
        <a:xfrm>
          <a:off x="0" y="0"/>
          <a:ext cx="0" cy="0"/>
          <a:chOff x="0" y="0"/>
          <a:chExt cx="0" cy="0"/>
        </a:xfrm>
      </p:grpSpPr>
      <p:sp>
        <p:nvSpPr>
          <p:cNvPr id="41" name="Google Shape;41;p3"/>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3"/>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530352" y="237744"/>
            <a:ext cx="978408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2100"/>
              <a:buFont typeface="Arial"/>
              <a:buNone/>
            </a:pPr>
            <a:r>
              <a:rPr b="1" lang="en-US" sz="2100">
                <a:solidFill>
                  <a:srgbClr val="0F3F6F"/>
                </a:solidFill>
                <a:latin typeface="Arial"/>
                <a:ea typeface="Arial"/>
                <a:cs typeface="Arial"/>
                <a:sym typeface="Arial"/>
              </a:rPr>
              <a:t>Mục tiêu học tập</a:t>
            </a:r>
            <a:endParaRPr sz="2100">
              <a:solidFill>
                <a:schemeClr val="dk1"/>
              </a:solidFill>
              <a:latin typeface="Calibri"/>
              <a:ea typeface="Calibri"/>
              <a:cs typeface="Calibri"/>
              <a:sym typeface="Calibri"/>
            </a:endParaRPr>
          </a:p>
        </p:txBody>
      </p:sp>
      <p:sp>
        <p:nvSpPr>
          <p:cNvPr id="46" name="Google Shape;46;p3"/>
          <p:cNvSpPr/>
          <p:nvPr/>
        </p:nvSpPr>
        <p:spPr>
          <a:xfrm>
            <a:off x="548640" y="969264"/>
            <a:ext cx="9144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i="1" lang="en-US" sz="1100">
                <a:solidFill>
                  <a:srgbClr val="8497A5"/>
                </a:solidFill>
                <a:latin typeface="Arial"/>
                <a:ea typeface="Arial"/>
                <a:cs typeface="Arial"/>
                <a:sym typeface="Arial"/>
              </a:rPr>
              <a:t>Giới thiệu tổng quan bài học · Bài 06</a:t>
            </a:r>
            <a:endParaRPr sz="1100">
              <a:solidFill>
                <a:schemeClr val="dk1"/>
              </a:solidFill>
              <a:latin typeface="Calibri"/>
              <a:ea typeface="Calibri"/>
              <a:cs typeface="Calibri"/>
              <a:sym typeface="Calibri"/>
            </a:endParaRPr>
          </a:p>
        </p:txBody>
      </p:sp>
      <p:sp>
        <p:nvSpPr>
          <p:cNvPr id="47" name="Google Shape;47;p3"/>
          <p:cNvSpPr/>
          <p:nvPr/>
        </p:nvSpPr>
        <p:spPr>
          <a:xfrm>
            <a:off x="640080" y="1371600"/>
            <a:ext cx="365760" cy="365760"/>
          </a:xfrm>
          <a:prstGeom prst="ellipse">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a:off x="640080" y="137160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1</a:t>
            </a:r>
            <a:endParaRPr sz="1200">
              <a:solidFill>
                <a:schemeClr val="dk1"/>
              </a:solidFill>
              <a:latin typeface="Calibri"/>
              <a:ea typeface="Calibri"/>
              <a:cs typeface="Calibri"/>
              <a:sym typeface="Calibri"/>
            </a:endParaRPr>
          </a:p>
        </p:txBody>
      </p:sp>
      <p:sp>
        <p:nvSpPr>
          <p:cNvPr id="49" name="Google Shape;49;p3"/>
          <p:cNvSpPr/>
          <p:nvPr/>
        </p:nvSpPr>
        <p:spPr>
          <a:xfrm>
            <a:off x="1170432" y="1325880"/>
            <a:ext cx="10332720" cy="6217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A2A2A"/>
              </a:buClr>
              <a:buSzPts val="1200"/>
              <a:buFont typeface="Arial"/>
              <a:buNone/>
            </a:pPr>
            <a:r>
              <a:rPr lang="en-US" sz="1200">
                <a:solidFill>
                  <a:srgbClr val="2A2A2A"/>
                </a:solidFill>
                <a:latin typeface="Arial"/>
                <a:ea typeface="Arial"/>
                <a:cs typeface="Arial"/>
                <a:sym typeface="Arial"/>
              </a:rPr>
              <a:t>Phân biệt được Data Wrangling và Data Cleaning, hiểu vai trò trong pipeline dữ liệu</a:t>
            </a:r>
            <a:endParaRPr sz="1200">
              <a:solidFill>
                <a:schemeClr val="dk1"/>
              </a:solidFill>
              <a:latin typeface="Calibri"/>
              <a:ea typeface="Calibri"/>
              <a:cs typeface="Calibri"/>
              <a:sym typeface="Calibri"/>
            </a:endParaRPr>
          </a:p>
        </p:txBody>
      </p:sp>
      <p:sp>
        <p:nvSpPr>
          <p:cNvPr id="50" name="Google Shape;50;p3"/>
          <p:cNvSpPr/>
          <p:nvPr/>
        </p:nvSpPr>
        <p:spPr>
          <a:xfrm>
            <a:off x="640080" y="1993392"/>
            <a:ext cx="365760" cy="365760"/>
          </a:xfrm>
          <a:prstGeom prst="ellipse">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a:off x="640080" y="199339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2</a:t>
            </a:r>
            <a:endParaRPr sz="1200">
              <a:solidFill>
                <a:schemeClr val="dk1"/>
              </a:solidFill>
              <a:latin typeface="Calibri"/>
              <a:ea typeface="Calibri"/>
              <a:cs typeface="Calibri"/>
              <a:sym typeface="Calibri"/>
            </a:endParaRPr>
          </a:p>
        </p:txBody>
      </p:sp>
      <p:sp>
        <p:nvSpPr>
          <p:cNvPr id="52" name="Google Shape;52;p3"/>
          <p:cNvSpPr/>
          <p:nvPr/>
        </p:nvSpPr>
        <p:spPr>
          <a:xfrm>
            <a:off x="1170432" y="1947672"/>
            <a:ext cx="10332720" cy="6217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A2A2A"/>
              </a:buClr>
              <a:buSzPts val="1200"/>
              <a:buFont typeface="Arial"/>
              <a:buNone/>
            </a:pPr>
            <a:r>
              <a:rPr lang="en-US" sz="1200">
                <a:solidFill>
                  <a:srgbClr val="2A2A2A"/>
                </a:solidFill>
                <a:latin typeface="Arial"/>
                <a:ea typeface="Arial"/>
                <a:cs typeface="Arial"/>
                <a:sym typeface="Arial"/>
              </a:rPr>
              <a:t>Nhận diện được các vấn đề phổ biến trong dữ liệu thực tế: missing, duplicate, sai kiểu, outlier...</a:t>
            </a:r>
            <a:endParaRPr sz="1200">
              <a:solidFill>
                <a:schemeClr val="dk1"/>
              </a:solidFill>
              <a:latin typeface="Calibri"/>
              <a:ea typeface="Calibri"/>
              <a:cs typeface="Calibri"/>
              <a:sym typeface="Calibri"/>
            </a:endParaRPr>
          </a:p>
        </p:txBody>
      </p:sp>
      <p:sp>
        <p:nvSpPr>
          <p:cNvPr id="53" name="Google Shape;53;p3"/>
          <p:cNvSpPr/>
          <p:nvPr/>
        </p:nvSpPr>
        <p:spPr>
          <a:xfrm>
            <a:off x="640080" y="2615184"/>
            <a:ext cx="365760" cy="365760"/>
          </a:xfrm>
          <a:prstGeom prst="ellipse">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640080" y="261518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3</a:t>
            </a:r>
            <a:endParaRPr sz="1200">
              <a:solidFill>
                <a:schemeClr val="dk1"/>
              </a:solidFill>
              <a:latin typeface="Calibri"/>
              <a:ea typeface="Calibri"/>
              <a:cs typeface="Calibri"/>
              <a:sym typeface="Calibri"/>
            </a:endParaRPr>
          </a:p>
        </p:txBody>
      </p:sp>
      <p:sp>
        <p:nvSpPr>
          <p:cNvPr id="55" name="Google Shape;55;p3"/>
          <p:cNvSpPr/>
          <p:nvPr/>
        </p:nvSpPr>
        <p:spPr>
          <a:xfrm>
            <a:off x="1170432" y="2569464"/>
            <a:ext cx="10332720" cy="6217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A2A2A"/>
              </a:buClr>
              <a:buSzPts val="1200"/>
              <a:buFont typeface="Arial"/>
              <a:buNone/>
            </a:pPr>
            <a:r>
              <a:rPr lang="en-US" sz="1200">
                <a:solidFill>
                  <a:srgbClr val="2A2A2A"/>
                </a:solidFill>
                <a:latin typeface="Arial"/>
                <a:ea typeface="Arial"/>
                <a:cs typeface="Arial"/>
                <a:sym typeface="Arial"/>
              </a:rPr>
              <a:t>Sử dụng Pandas để khám phá và đánh giá chất lượng dữ liệu trước khi xử lý</a:t>
            </a:r>
            <a:endParaRPr sz="1200">
              <a:solidFill>
                <a:schemeClr val="dk1"/>
              </a:solidFill>
              <a:latin typeface="Calibri"/>
              <a:ea typeface="Calibri"/>
              <a:cs typeface="Calibri"/>
              <a:sym typeface="Calibri"/>
            </a:endParaRPr>
          </a:p>
        </p:txBody>
      </p:sp>
      <p:sp>
        <p:nvSpPr>
          <p:cNvPr id="56" name="Google Shape;56;p3"/>
          <p:cNvSpPr/>
          <p:nvPr/>
        </p:nvSpPr>
        <p:spPr>
          <a:xfrm>
            <a:off x="640080" y="3236976"/>
            <a:ext cx="365760" cy="365760"/>
          </a:xfrm>
          <a:prstGeom prst="ellipse">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640080" y="3236976"/>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4</a:t>
            </a:r>
            <a:endParaRPr sz="1200">
              <a:solidFill>
                <a:schemeClr val="dk1"/>
              </a:solidFill>
              <a:latin typeface="Calibri"/>
              <a:ea typeface="Calibri"/>
              <a:cs typeface="Calibri"/>
              <a:sym typeface="Calibri"/>
            </a:endParaRPr>
          </a:p>
        </p:txBody>
      </p:sp>
      <p:sp>
        <p:nvSpPr>
          <p:cNvPr id="58" name="Google Shape;58;p3"/>
          <p:cNvSpPr/>
          <p:nvPr/>
        </p:nvSpPr>
        <p:spPr>
          <a:xfrm>
            <a:off x="1170432" y="3191256"/>
            <a:ext cx="10332720" cy="6217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A2A2A"/>
              </a:buClr>
              <a:buSzPts val="1200"/>
              <a:buFont typeface="Arial"/>
              <a:buNone/>
            </a:pPr>
            <a:r>
              <a:rPr lang="en-US" sz="1200">
                <a:solidFill>
                  <a:srgbClr val="2A2A2A"/>
                </a:solidFill>
                <a:latin typeface="Arial"/>
                <a:ea typeface="Arial"/>
                <a:cs typeface="Arial"/>
                <a:sym typeface="Arial"/>
              </a:rPr>
              <a:t>Áp dụng các chiến lược xử lý dữ liệu thiếu phù hợp với ý nghĩa nghiệp vụ</a:t>
            </a:r>
            <a:endParaRPr sz="1200">
              <a:solidFill>
                <a:schemeClr val="dk1"/>
              </a:solidFill>
              <a:latin typeface="Calibri"/>
              <a:ea typeface="Calibri"/>
              <a:cs typeface="Calibri"/>
              <a:sym typeface="Calibri"/>
            </a:endParaRPr>
          </a:p>
        </p:txBody>
      </p:sp>
      <p:sp>
        <p:nvSpPr>
          <p:cNvPr id="59" name="Google Shape;59;p3"/>
          <p:cNvSpPr/>
          <p:nvPr/>
        </p:nvSpPr>
        <p:spPr>
          <a:xfrm>
            <a:off x="640080" y="3858768"/>
            <a:ext cx="365760" cy="365760"/>
          </a:xfrm>
          <a:prstGeom prst="ellipse">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640080" y="385876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5</a:t>
            </a:r>
            <a:endParaRPr sz="1200">
              <a:solidFill>
                <a:schemeClr val="dk1"/>
              </a:solidFill>
              <a:latin typeface="Calibri"/>
              <a:ea typeface="Calibri"/>
              <a:cs typeface="Calibri"/>
              <a:sym typeface="Calibri"/>
            </a:endParaRPr>
          </a:p>
        </p:txBody>
      </p:sp>
      <p:sp>
        <p:nvSpPr>
          <p:cNvPr id="61" name="Google Shape;61;p3"/>
          <p:cNvSpPr/>
          <p:nvPr/>
        </p:nvSpPr>
        <p:spPr>
          <a:xfrm>
            <a:off x="1170432" y="3813048"/>
            <a:ext cx="10332720" cy="6217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A2A2A"/>
              </a:buClr>
              <a:buSzPts val="1200"/>
              <a:buFont typeface="Arial"/>
              <a:buNone/>
            </a:pPr>
            <a:r>
              <a:rPr lang="en-US" sz="1200">
                <a:solidFill>
                  <a:srgbClr val="2A2A2A"/>
                </a:solidFill>
                <a:latin typeface="Arial"/>
                <a:ea typeface="Arial"/>
                <a:cs typeface="Arial"/>
                <a:sym typeface="Arial"/>
              </a:rPr>
              <a:t>Phát hiện và xử lý dữ liệu trùng lặp, phân biệt trùng dữ liệu và trùng nghiệp vụ</a:t>
            </a:r>
            <a:endParaRPr sz="1200">
              <a:solidFill>
                <a:schemeClr val="dk1"/>
              </a:solidFill>
              <a:latin typeface="Calibri"/>
              <a:ea typeface="Calibri"/>
              <a:cs typeface="Calibri"/>
              <a:sym typeface="Calibri"/>
            </a:endParaRPr>
          </a:p>
        </p:txBody>
      </p:sp>
      <p:sp>
        <p:nvSpPr>
          <p:cNvPr id="62" name="Google Shape;62;p3"/>
          <p:cNvSpPr/>
          <p:nvPr/>
        </p:nvSpPr>
        <p:spPr>
          <a:xfrm>
            <a:off x="640080" y="4480560"/>
            <a:ext cx="365760" cy="365760"/>
          </a:xfrm>
          <a:prstGeom prst="ellipse">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640080" y="448056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6</a:t>
            </a:r>
            <a:endParaRPr sz="1200">
              <a:solidFill>
                <a:schemeClr val="dk1"/>
              </a:solidFill>
              <a:latin typeface="Calibri"/>
              <a:ea typeface="Calibri"/>
              <a:cs typeface="Calibri"/>
              <a:sym typeface="Calibri"/>
            </a:endParaRPr>
          </a:p>
        </p:txBody>
      </p:sp>
      <p:sp>
        <p:nvSpPr>
          <p:cNvPr id="64" name="Google Shape;64;p3"/>
          <p:cNvSpPr/>
          <p:nvPr/>
        </p:nvSpPr>
        <p:spPr>
          <a:xfrm>
            <a:off x="1170432" y="4434840"/>
            <a:ext cx="10332720" cy="6217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A2A2A"/>
              </a:buClr>
              <a:buSzPts val="1200"/>
              <a:buFont typeface="Arial"/>
              <a:buNone/>
            </a:pPr>
            <a:r>
              <a:rPr lang="en-US" sz="1200">
                <a:solidFill>
                  <a:srgbClr val="2A2A2A"/>
                </a:solidFill>
                <a:latin typeface="Arial"/>
                <a:ea typeface="Arial"/>
                <a:cs typeface="Arial"/>
                <a:sym typeface="Arial"/>
              </a:rPr>
              <a:t>Chuẩn hóa kiểu dữ liệu, định dạng text và giá trị số về một chuẩn thống nhất</a:t>
            </a:r>
            <a:endParaRPr sz="1200">
              <a:solidFill>
                <a:schemeClr val="dk1"/>
              </a:solidFill>
              <a:latin typeface="Calibri"/>
              <a:ea typeface="Calibri"/>
              <a:cs typeface="Calibri"/>
              <a:sym typeface="Calibri"/>
            </a:endParaRPr>
          </a:p>
        </p:txBody>
      </p:sp>
      <p:sp>
        <p:nvSpPr>
          <p:cNvPr id="65" name="Google Shape;65;p3"/>
          <p:cNvSpPr/>
          <p:nvPr/>
        </p:nvSpPr>
        <p:spPr>
          <a:xfrm>
            <a:off x="640080" y="5102352"/>
            <a:ext cx="365760" cy="365760"/>
          </a:xfrm>
          <a:prstGeom prst="ellipse">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40080" y="510235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7</a:t>
            </a:r>
            <a:endParaRPr sz="1200">
              <a:solidFill>
                <a:schemeClr val="dk1"/>
              </a:solidFill>
              <a:latin typeface="Calibri"/>
              <a:ea typeface="Calibri"/>
              <a:cs typeface="Calibri"/>
              <a:sym typeface="Calibri"/>
            </a:endParaRPr>
          </a:p>
        </p:txBody>
      </p:sp>
      <p:sp>
        <p:nvSpPr>
          <p:cNvPr id="67" name="Google Shape;67;p3"/>
          <p:cNvSpPr/>
          <p:nvPr/>
        </p:nvSpPr>
        <p:spPr>
          <a:xfrm>
            <a:off x="1170432" y="5056632"/>
            <a:ext cx="10332720" cy="6217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A2A2A"/>
              </a:buClr>
              <a:buSzPts val="1200"/>
              <a:buFont typeface="Arial"/>
              <a:buNone/>
            </a:pPr>
            <a:r>
              <a:rPr lang="en-US" sz="1200">
                <a:solidFill>
                  <a:srgbClr val="2A2A2A"/>
                </a:solidFill>
                <a:latin typeface="Arial"/>
                <a:ea typeface="Arial"/>
                <a:cs typeface="Arial"/>
                <a:sym typeface="Arial"/>
              </a:rPr>
              <a:t>Phát hiện giá trị bất thường bằng các phương pháp cơ bản: Min/Max, IQR, Z-score</a:t>
            </a:r>
            <a:endParaRPr sz="1200">
              <a:solidFill>
                <a:schemeClr val="dk1"/>
              </a:solidFill>
              <a:latin typeface="Calibri"/>
              <a:ea typeface="Calibri"/>
              <a:cs typeface="Calibri"/>
              <a:sym typeface="Calibri"/>
            </a:endParaRPr>
          </a:p>
        </p:txBody>
      </p:sp>
      <p:sp>
        <p:nvSpPr>
          <p:cNvPr id="68" name="Google Shape;68;p3"/>
          <p:cNvSpPr/>
          <p:nvPr/>
        </p:nvSpPr>
        <p:spPr>
          <a:xfrm>
            <a:off x="640080" y="5724144"/>
            <a:ext cx="365760" cy="365760"/>
          </a:xfrm>
          <a:prstGeom prst="ellipse">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640080" y="572414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8</a:t>
            </a:r>
            <a:endParaRPr sz="1200">
              <a:solidFill>
                <a:schemeClr val="dk1"/>
              </a:solidFill>
              <a:latin typeface="Calibri"/>
              <a:ea typeface="Calibri"/>
              <a:cs typeface="Calibri"/>
              <a:sym typeface="Calibri"/>
            </a:endParaRPr>
          </a:p>
        </p:txBody>
      </p:sp>
      <p:sp>
        <p:nvSpPr>
          <p:cNvPr id="70" name="Google Shape;70;p3"/>
          <p:cNvSpPr/>
          <p:nvPr/>
        </p:nvSpPr>
        <p:spPr>
          <a:xfrm>
            <a:off x="1170432" y="5678424"/>
            <a:ext cx="10332720" cy="6217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A2A2A"/>
              </a:buClr>
              <a:buSzPts val="1200"/>
              <a:buFont typeface="Arial"/>
              <a:buNone/>
            </a:pPr>
            <a:r>
              <a:rPr lang="en-US" sz="1200">
                <a:solidFill>
                  <a:srgbClr val="2A2A2A"/>
                </a:solidFill>
                <a:latin typeface="Arial"/>
                <a:ea typeface="Arial"/>
                <a:cs typeface="Arial"/>
                <a:sym typeface="Arial"/>
              </a:rPr>
              <a:t>Thực hành làm sạch một dataset thực tế từ trạng thái "bẩn" đến sẵn sàng phân tích</a:t>
            </a:r>
            <a:endParaRPr sz="1200">
              <a:solidFill>
                <a:schemeClr val="dk1"/>
              </a:solidFill>
              <a:latin typeface="Calibri"/>
              <a:ea typeface="Calibri"/>
              <a:cs typeface="Calibri"/>
              <a:sym typeface="Calibri"/>
            </a:endParaRPr>
          </a:p>
        </p:txBody>
      </p:sp>
      <p:sp>
        <p:nvSpPr>
          <p:cNvPr id="71" name="Google Shape;71;p3"/>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Bài 6. Data Wrangling và làm sạch dữ liệu</a:t>
            </a:r>
            <a:endParaRPr sz="1000">
              <a:solidFill>
                <a:schemeClr val="dk1"/>
              </a:solidFill>
              <a:latin typeface="Calibri"/>
              <a:ea typeface="Calibri"/>
              <a:cs typeface="Calibri"/>
              <a:sym typeface="Calibri"/>
            </a:endParaRPr>
          </a:p>
        </p:txBody>
      </p:sp>
      <p:sp>
        <p:nvSpPr>
          <p:cNvPr id="72" name="Google Shape;72;p3"/>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3</a:t>
            </a:r>
            <a:endParaRPr sz="10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 name="Shape 77"/>
        <p:cNvGrpSpPr/>
        <p:nvPr/>
      </p:nvGrpSpPr>
      <p:grpSpPr>
        <a:xfrm>
          <a:off x="0" y="0"/>
          <a:ext cx="0" cy="0"/>
          <a:chOff x="0" y="0"/>
          <a:chExt cx="0" cy="0"/>
        </a:xfrm>
      </p:grpSpPr>
      <p:sp>
        <p:nvSpPr>
          <p:cNvPr id="78" name="Google Shape;78;p4"/>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4"/>
          <p:cNvSpPr/>
          <p:nvPr/>
        </p:nvSpPr>
        <p:spPr>
          <a:xfrm>
            <a:off x="530352" y="237744"/>
            <a:ext cx="978408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2100"/>
              <a:buFont typeface="Arial"/>
              <a:buNone/>
            </a:pPr>
            <a:r>
              <a:rPr b="1" lang="en-US" sz="2100">
                <a:solidFill>
                  <a:srgbClr val="0F3F6F"/>
                </a:solidFill>
                <a:latin typeface="Arial"/>
                <a:ea typeface="Arial"/>
                <a:cs typeface="Arial"/>
                <a:sym typeface="Arial"/>
              </a:rPr>
              <a:t>Lộ trình khóa học Big Data</a:t>
            </a:r>
            <a:endParaRPr sz="2100">
              <a:solidFill>
                <a:schemeClr val="dk1"/>
              </a:solidFill>
              <a:latin typeface="Calibri"/>
              <a:ea typeface="Calibri"/>
              <a:cs typeface="Calibri"/>
              <a:sym typeface="Calibri"/>
            </a:endParaRPr>
          </a:p>
        </p:txBody>
      </p:sp>
      <p:sp>
        <p:nvSpPr>
          <p:cNvPr id="83" name="Google Shape;83;p4"/>
          <p:cNvSpPr/>
          <p:nvPr/>
        </p:nvSpPr>
        <p:spPr>
          <a:xfrm>
            <a:off x="548640" y="969264"/>
            <a:ext cx="9144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i="1" lang="en-US" sz="1100">
                <a:solidFill>
                  <a:srgbClr val="8497A5"/>
                </a:solidFill>
                <a:latin typeface="Arial"/>
                <a:ea typeface="Arial"/>
                <a:cs typeface="Arial"/>
                <a:sym typeface="Arial"/>
              </a:rPr>
              <a:t>Giới thiệu tổng quan bài học · Bài 06</a:t>
            </a:r>
            <a:endParaRPr sz="1100">
              <a:solidFill>
                <a:schemeClr val="dk1"/>
              </a:solidFill>
              <a:latin typeface="Calibri"/>
              <a:ea typeface="Calibri"/>
              <a:cs typeface="Calibri"/>
              <a:sym typeface="Calibri"/>
            </a:endParaRPr>
          </a:p>
        </p:txBody>
      </p:sp>
      <p:sp>
        <p:nvSpPr>
          <p:cNvPr id="84" name="Google Shape;84;p4"/>
          <p:cNvSpPr/>
          <p:nvPr/>
        </p:nvSpPr>
        <p:spPr>
          <a:xfrm>
            <a:off x="548640" y="1325880"/>
            <a:ext cx="111556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35266"/>
              </a:buClr>
              <a:buSzPts val="1150"/>
              <a:buFont typeface="Arial"/>
              <a:buNone/>
            </a:pPr>
            <a:r>
              <a:rPr i="1" lang="en-US" sz="1150">
                <a:solidFill>
                  <a:srgbClr val="435266"/>
                </a:solidFill>
                <a:latin typeface="Arial"/>
                <a:ea typeface="Arial"/>
                <a:cs typeface="Arial"/>
                <a:sym typeface="Arial"/>
              </a:rPr>
              <a:t>Từ Bài 6, khóa học chuyển trọng tâm sang chất lượng dữ liệu — nền tảng bắt buộc trước khi phân tích hay xây dựng mô hình.</a:t>
            </a:r>
            <a:endParaRPr sz="1150">
              <a:solidFill>
                <a:schemeClr val="dk1"/>
              </a:solidFill>
              <a:latin typeface="Calibri"/>
              <a:ea typeface="Calibri"/>
              <a:cs typeface="Calibri"/>
              <a:sym typeface="Calibri"/>
            </a:endParaRPr>
          </a:p>
        </p:txBody>
      </p:sp>
      <p:sp>
        <p:nvSpPr>
          <p:cNvPr id="85" name="Google Shape;85;p4"/>
          <p:cNvSpPr/>
          <p:nvPr/>
        </p:nvSpPr>
        <p:spPr>
          <a:xfrm>
            <a:off x="548640" y="1828800"/>
            <a:ext cx="11155680" cy="658368"/>
          </a:xfrm>
          <a:prstGeom prst="roundRect">
            <a:avLst>
              <a:gd fmla="val 8333" name="adj"/>
            </a:avLst>
          </a:prstGeom>
          <a:solidFill>
            <a:srgbClr val="F0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
          <p:cNvSpPr/>
          <p:nvPr/>
        </p:nvSpPr>
        <p:spPr>
          <a:xfrm>
            <a:off x="777240" y="1828800"/>
            <a:ext cx="100584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250"/>
              <a:buFont typeface="Arial"/>
              <a:buNone/>
            </a:pPr>
            <a:r>
              <a:rPr b="1" lang="en-US" sz="1250">
                <a:solidFill>
                  <a:srgbClr val="0F3F6F"/>
                </a:solidFill>
                <a:latin typeface="Arial"/>
                <a:ea typeface="Arial"/>
                <a:cs typeface="Arial"/>
                <a:sym typeface="Arial"/>
              </a:rPr>
              <a:t>Bài 1</a:t>
            </a:r>
            <a:endParaRPr sz="1250">
              <a:solidFill>
                <a:schemeClr val="dk1"/>
              </a:solidFill>
              <a:latin typeface="Calibri"/>
              <a:ea typeface="Calibri"/>
              <a:cs typeface="Calibri"/>
              <a:sym typeface="Calibri"/>
            </a:endParaRPr>
          </a:p>
        </p:txBody>
      </p:sp>
      <p:sp>
        <p:nvSpPr>
          <p:cNvPr id="87" name="Google Shape;87;p4"/>
          <p:cNvSpPr/>
          <p:nvPr/>
        </p:nvSpPr>
        <p:spPr>
          <a:xfrm>
            <a:off x="1828800" y="1828800"/>
            <a:ext cx="768096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150"/>
              <a:buFont typeface="Arial"/>
              <a:buNone/>
            </a:pPr>
            <a:r>
              <a:rPr lang="en-US" sz="1150">
                <a:solidFill>
                  <a:srgbClr val="000000"/>
                </a:solidFill>
                <a:latin typeface="Arial"/>
                <a:ea typeface="Arial"/>
                <a:cs typeface="Arial"/>
                <a:sym typeface="Arial"/>
              </a:rPr>
              <a:t>Kiến trúc và Ứng dụng Big Data trong Công nghiệp</a:t>
            </a:r>
            <a:endParaRPr sz="1150">
              <a:solidFill>
                <a:schemeClr val="dk1"/>
              </a:solidFill>
              <a:latin typeface="Calibri"/>
              <a:ea typeface="Calibri"/>
              <a:cs typeface="Calibri"/>
              <a:sym typeface="Calibri"/>
            </a:endParaRPr>
          </a:p>
        </p:txBody>
      </p:sp>
      <p:sp>
        <p:nvSpPr>
          <p:cNvPr id="88" name="Google Shape;88;p4"/>
          <p:cNvSpPr/>
          <p:nvPr/>
        </p:nvSpPr>
        <p:spPr>
          <a:xfrm>
            <a:off x="9601200" y="1828800"/>
            <a:ext cx="1920240" cy="6583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50"/>
              <a:buFont typeface="Arial"/>
              <a:buNone/>
            </a:pPr>
            <a:r>
              <a:rPr b="1" lang="en-US" sz="1050">
                <a:solidFill>
                  <a:srgbClr val="5F5F5F"/>
                </a:solidFill>
                <a:latin typeface="Arial"/>
                <a:ea typeface="Arial"/>
                <a:cs typeface="Arial"/>
                <a:sym typeface="Arial"/>
              </a:rPr>
              <a:t>Đã học</a:t>
            </a:r>
            <a:endParaRPr sz="1050">
              <a:solidFill>
                <a:schemeClr val="dk1"/>
              </a:solidFill>
              <a:latin typeface="Calibri"/>
              <a:ea typeface="Calibri"/>
              <a:cs typeface="Calibri"/>
              <a:sym typeface="Calibri"/>
            </a:endParaRPr>
          </a:p>
        </p:txBody>
      </p:sp>
      <p:sp>
        <p:nvSpPr>
          <p:cNvPr id="89" name="Google Shape;89;p4"/>
          <p:cNvSpPr/>
          <p:nvPr/>
        </p:nvSpPr>
        <p:spPr>
          <a:xfrm>
            <a:off x="548640" y="2578608"/>
            <a:ext cx="11155680" cy="658368"/>
          </a:xfrm>
          <a:prstGeom prst="roundRect">
            <a:avLst>
              <a:gd fmla="val 8333" name="adj"/>
            </a:avLst>
          </a:prstGeom>
          <a:solidFill>
            <a:srgbClr val="F0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777240" y="2578608"/>
            <a:ext cx="100584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250"/>
              <a:buFont typeface="Arial"/>
              <a:buNone/>
            </a:pPr>
            <a:r>
              <a:rPr b="1" lang="en-US" sz="1250">
                <a:solidFill>
                  <a:srgbClr val="0F3F6F"/>
                </a:solidFill>
                <a:latin typeface="Arial"/>
                <a:ea typeface="Arial"/>
                <a:cs typeface="Arial"/>
                <a:sym typeface="Arial"/>
              </a:rPr>
              <a:t>Bài 2</a:t>
            </a:r>
            <a:endParaRPr sz="1250">
              <a:solidFill>
                <a:schemeClr val="dk1"/>
              </a:solidFill>
              <a:latin typeface="Calibri"/>
              <a:ea typeface="Calibri"/>
              <a:cs typeface="Calibri"/>
              <a:sym typeface="Calibri"/>
            </a:endParaRPr>
          </a:p>
        </p:txBody>
      </p:sp>
      <p:sp>
        <p:nvSpPr>
          <p:cNvPr id="91" name="Google Shape;91;p4"/>
          <p:cNvSpPr/>
          <p:nvPr/>
        </p:nvSpPr>
        <p:spPr>
          <a:xfrm>
            <a:off x="1828800" y="2578608"/>
            <a:ext cx="768096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150"/>
              <a:buFont typeface="Arial"/>
              <a:buNone/>
            </a:pPr>
            <a:r>
              <a:rPr lang="en-US" sz="1150">
                <a:solidFill>
                  <a:srgbClr val="000000"/>
                </a:solidFill>
                <a:latin typeface="Arial"/>
                <a:ea typeface="Arial"/>
                <a:cs typeface="Arial"/>
                <a:sym typeface="Arial"/>
              </a:rPr>
              <a:t>Kiến trúc hệ sinh thái Big Data và công nghệ lưu trữ dữ liệu</a:t>
            </a:r>
            <a:endParaRPr sz="1150">
              <a:solidFill>
                <a:schemeClr val="dk1"/>
              </a:solidFill>
              <a:latin typeface="Calibri"/>
              <a:ea typeface="Calibri"/>
              <a:cs typeface="Calibri"/>
              <a:sym typeface="Calibri"/>
            </a:endParaRPr>
          </a:p>
        </p:txBody>
      </p:sp>
      <p:sp>
        <p:nvSpPr>
          <p:cNvPr id="92" name="Google Shape;92;p4"/>
          <p:cNvSpPr/>
          <p:nvPr/>
        </p:nvSpPr>
        <p:spPr>
          <a:xfrm>
            <a:off x="9601200" y="2578608"/>
            <a:ext cx="1920240" cy="6583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50"/>
              <a:buFont typeface="Arial"/>
              <a:buNone/>
            </a:pPr>
            <a:r>
              <a:rPr b="1" lang="en-US" sz="1050">
                <a:solidFill>
                  <a:srgbClr val="5F5F5F"/>
                </a:solidFill>
                <a:latin typeface="Arial"/>
                <a:ea typeface="Arial"/>
                <a:cs typeface="Arial"/>
                <a:sym typeface="Arial"/>
              </a:rPr>
              <a:t>Đã học</a:t>
            </a:r>
            <a:endParaRPr sz="1050">
              <a:solidFill>
                <a:schemeClr val="dk1"/>
              </a:solidFill>
              <a:latin typeface="Calibri"/>
              <a:ea typeface="Calibri"/>
              <a:cs typeface="Calibri"/>
              <a:sym typeface="Calibri"/>
            </a:endParaRPr>
          </a:p>
        </p:txBody>
      </p:sp>
      <p:sp>
        <p:nvSpPr>
          <p:cNvPr id="93" name="Google Shape;93;p4"/>
          <p:cNvSpPr/>
          <p:nvPr/>
        </p:nvSpPr>
        <p:spPr>
          <a:xfrm>
            <a:off x="548640" y="3328416"/>
            <a:ext cx="11155680" cy="658368"/>
          </a:xfrm>
          <a:prstGeom prst="roundRect">
            <a:avLst>
              <a:gd fmla="val 8333" name="adj"/>
            </a:avLst>
          </a:prstGeom>
          <a:solidFill>
            <a:srgbClr val="F0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777240" y="3328416"/>
            <a:ext cx="100584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250"/>
              <a:buFont typeface="Arial"/>
              <a:buNone/>
            </a:pPr>
            <a:r>
              <a:rPr b="1" lang="en-US" sz="1250">
                <a:solidFill>
                  <a:srgbClr val="0F3F6F"/>
                </a:solidFill>
                <a:latin typeface="Arial"/>
                <a:ea typeface="Arial"/>
                <a:cs typeface="Arial"/>
                <a:sym typeface="Arial"/>
              </a:rPr>
              <a:t>Bài 3</a:t>
            </a:r>
            <a:endParaRPr sz="1250">
              <a:solidFill>
                <a:schemeClr val="dk1"/>
              </a:solidFill>
              <a:latin typeface="Calibri"/>
              <a:ea typeface="Calibri"/>
              <a:cs typeface="Calibri"/>
              <a:sym typeface="Calibri"/>
            </a:endParaRPr>
          </a:p>
        </p:txBody>
      </p:sp>
      <p:sp>
        <p:nvSpPr>
          <p:cNvPr id="95" name="Google Shape;95;p4"/>
          <p:cNvSpPr/>
          <p:nvPr/>
        </p:nvSpPr>
        <p:spPr>
          <a:xfrm>
            <a:off x="1828800" y="3328416"/>
            <a:ext cx="768096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150"/>
              <a:buFont typeface="Arial"/>
              <a:buNone/>
            </a:pPr>
            <a:r>
              <a:rPr lang="en-US" sz="1150">
                <a:solidFill>
                  <a:srgbClr val="000000"/>
                </a:solidFill>
                <a:latin typeface="Arial"/>
                <a:ea typeface="Arial"/>
                <a:cs typeface="Arial"/>
                <a:sym typeface="Arial"/>
              </a:rPr>
              <a:t>Xử lý, truy vấn, phân tích và trực quan hóa dữ liệu lớn</a:t>
            </a:r>
            <a:endParaRPr sz="1150">
              <a:solidFill>
                <a:schemeClr val="dk1"/>
              </a:solidFill>
              <a:latin typeface="Calibri"/>
              <a:ea typeface="Calibri"/>
              <a:cs typeface="Calibri"/>
              <a:sym typeface="Calibri"/>
            </a:endParaRPr>
          </a:p>
        </p:txBody>
      </p:sp>
      <p:sp>
        <p:nvSpPr>
          <p:cNvPr id="96" name="Google Shape;96;p4"/>
          <p:cNvSpPr/>
          <p:nvPr/>
        </p:nvSpPr>
        <p:spPr>
          <a:xfrm>
            <a:off x="9601200" y="3328416"/>
            <a:ext cx="1920240" cy="6583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50"/>
              <a:buFont typeface="Arial"/>
              <a:buNone/>
            </a:pPr>
            <a:r>
              <a:rPr b="1" lang="en-US" sz="1050">
                <a:solidFill>
                  <a:srgbClr val="5F5F5F"/>
                </a:solidFill>
                <a:latin typeface="Arial"/>
                <a:ea typeface="Arial"/>
                <a:cs typeface="Arial"/>
                <a:sym typeface="Arial"/>
              </a:rPr>
              <a:t>Đã học</a:t>
            </a:r>
            <a:endParaRPr sz="1050">
              <a:solidFill>
                <a:schemeClr val="dk1"/>
              </a:solidFill>
              <a:latin typeface="Calibri"/>
              <a:ea typeface="Calibri"/>
              <a:cs typeface="Calibri"/>
              <a:sym typeface="Calibri"/>
            </a:endParaRPr>
          </a:p>
        </p:txBody>
      </p:sp>
      <p:sp>
        <p:nvSpPr>
          <p:cNvPr id="97" name="Google Shape;97;p4"/>
          <p:cNvSpPr/>
          <p:nvPr/>
        </p:nvSpPr>
        <p:spPr>
          <a:xfrm>
            <a:off x="548640" y="4078224"/>
            <a:ext cx="11155680" cy="658368"/>
          </a:xfrm>
          <a:prstGeom prst="roundRect">
            <a:avLst>
              <a:gd fmla="val 8333" name="adj"/>
            </a:avLst>
          </a:prstGeom>
          <a:solidFill>
            <a:srgbClr val="F0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777240" y="4078224"/>
            <a:ext cx="100584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250"/>
              <a:buFont typeface="Arial"/>
              <a:buNone/>
            </a:pPr>
            <a:r>
              <a:rPr b="1" lang="en-US" sz="1250">
                <a:solidFill>
                  <a:srgbClr val="0F3F6F"/>
                </a:solidFill>
                <a:latin typeface="Arial"/>
                <a:ea typeface="Arial"/>
                <a:cs typeface="Arial"/>
                <a:sym typeface="Arial"/>
              </a:rPr>
              <a:t>Bài 4</a:t>
            </a:r>
            <a:endParaRPr sz="1250">
              <a:solidFill>
                <a:schemeClr val="dk1"/>
              </a:solidFill>
              <a:latin typeface="Calibri"/>
              <a:ea typeface="Calibri"/>
              <a:cs typeface="Calibri"/>
              <a:sym typeface="Calibri"/>
            </a:endParaRPr>
          </a:p>
        </p:txBody>
      </p:sp>
      <p:sp>
        <p:nvSpPr>
          <p:cNvPr id="99" name="Google Shape;99;p4"/>
          <p:cNvSpPr/>
          <p:nvPr/>
        </p:nvSpPr>
        <p:spPr>
          <a:xfrm>
            <a:off x="1828800" y="4078224"/>
            <a:ext cx="768096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150"/>
              <a:buFont typeface="Arial"/>
              <a:buNone/>
            </a:pPr>
            <a:r>
              <a:rPr lang="en-US" sz="1150">
                <a:solidFill>
                  <a:srgbClr val="000000"/>
                </a:solidFill>
                <a:latin typeface="Arial"/>
                <a:ea typeface="Arial"/>
                <a:cs typeface="Arial"/>
                <a:sym typeface="Arial"/>
              </a:rPr>
              <a:t>Cơ chế thực thi Hadoop và mô hình MapReduce</a:t>
            </a:r>
            <a:endParaRPr sz="1150">
              <a:solidFill>
                <a:schemeClr val="dk1"/>
              </a:solidFill>
              <a:latin typeface="Calibri"/>
              <a:ea typeface="Calibri"/>
              <a:cs typeface="Calibri"/>
              <a:sym typeface="Calibri"/>
            </a:endParaRPr>
          </a:p>
        </p:txBody>
      </p:sp>
      <p:sp>
        <p:nvSpPr>
          <p:cNvPr id="100" name="Google Shape;100;p4"/>
          <p:cNvSpPr/>
          <p:nvPr/>
        </p:nvSpPr>
        <p:spPr>
          <a:xfrm>
            <a:off x="9601200" y="4078224"/>
            <a:ext cx="1920240" cy="6583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50"/>
              <a:buFont typeface="Arial"/>
              <a:buNone/>
            </a:pPr>
            <a:r>
              <a:rPr b="1" lang="en-US" sz="1050">
                <a:solidFill>
                  <a:srgbClr val="5F5F5F"/>
                </a:solidFill>
                <a:latin typeface="Arial"/>
                <a:ea typeface="Arial"/>
                <a:cs typeface="Arial"/>
                <a:sym typeface="Arial"/>
              </a:rPr>
              <a:t>Đã học</a:t>
            </a:r>
            <a:endParaRPr sz="1050">
              <a:solidFill>
                <a:schemeClr val="dk1"/>
              </a:solidFill>
              <a:latin typeface="Calibri"/>
              <a:ea typeface="Calibri"/>
              <a:cs typeface="Calibri"/>
              <a:sym typeface="Calibri"/>
            </a:endParaRPr>
          </a:p>
        </p:txBody>
      </p:sp>
      <p:sp>
        <p:nvSpPr>
          <p:cNvPr id="101" name="Google Shape;101;p4"/>
          <p:cNvSpPr/>
          <p:nvPr/>
        </p:nvSpPr>
        <p:spPr>
          <a:xfrm>
            <a:off x="548640" y="4828032"/>
            <a:ext cx="11155680" cy="658368"/>
          </a:xfrm>
          <a:prstGeom prst="roundRect">
            <a:avLst>
              <a:gd fmla="val 8333" name="adj"/>
            </a:avLst>
          </a:prstGeom>
          <a:solidFill>
            <a:srgbClr val="F0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777240" y="4828032"/>
            <a:ext cx="100584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250"/>
              <a:buFont typeface="Arial"/>
              <a:buNone/>
            </a:pPr>
            <a:r>
              <a:rPr b="1" lang="en-US" sz="1250">
                <a:solidFill>
                  <a:srgbClr val="0F3F6F"/>
                </a:solidFill>
                <a:latin typeface="Arial"/>
                <a:ea typeface="Arial"/>
                <a:cs typeface="Arial"/>
                <a:sym typeface="Arial"/>
              </a:rPr>
              <a:t>Bài 5</a:t>
            </a:r>
            <a:endParaRPr sz="1250">
              <a:solidFill>
                <a:schemeClr val="dk1"/>
              </a:solidFill>
              <a:latin typeface="Calibri"/>
              <a:ea typeface="Calibri"/>
              <a:cs typeface="Calibri"/>
              <a:sym typeface="Calibri"/>
            </a:endParaRPr>
          </a:p>
        </p:txBody>
      </p:sp>
      <p:sp>
        <p:nvSpPr>
          <p:cNvPr id="103" name="Google Shape;103;p4"/>
          <p:cNvSpPr/>
          <p:nvPr/>
        </p:nvSpPr>
        <p:spPr>
          <a:xfrm>
            <a:off x="1828800" y="4828032"/>
            <a:ext cx="768096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150"/>
              <a:buFont typeface="Arial"/>
              <a:buNone/>
            </a:pPr>
            <a:r>
              <a:rPr lang="en-US" sz="1150">
                <a:solidFill>
                  <a:srgbClr val="000000"/>
                </a:solidFill>
                <a:latin typeface="Arial"/>
                <a:ea typeface="Arial"/>
                <a:cs typeface="Arial"/>
                <a:sym typeface="Arial"/>
              </a:rPr>
              <a:t>Apache Spark và xử lý dữ liệu phân tán với PySpark</a:t>
            </a:r>
            <a:endParaRPr sz="1150">
              <a:solidFill>
                <a:schemeClr val="dk1"/>
              </a:solidFill>
              <a:latin typeface="Calibri"/>
              <a:ea typeface="Calibri"/>
              <a:cs typeface="Calibri"/>
              <a:sym typeface="Calibri"/>
            </a:endParaRPr>
          </a:p>
        </p:txBody>
      </p:sp>
      <p:sp>
        <p:nvSpPr>
          <p:cNvPr id="104" name="Google Shape;104;p4"/>
          <p:cNvSpPr/>
          <p:nvPr/>
        </p:nvSpPr>
        <p:spPr>
          <a:xfrm>
            <a:off x="9601200" y="4828032"/>
            <a:ext cx="1920240" cy="6583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50"/>
              <a:buFont typeface="Arial"/>
              <a:buNone/>
            </a:pPr>
            <a:r>
              <a:rPr b="1" lang="en-US" sz="1050">
                <a:solidFill>
                  <a:srgbClr val="5F5F5F"/>
                </a:solidFill>
                <a:latin typeface="Arial"/>
                <a:ea typeface="Arial"/>
                <a:cs typeface="Arial"/>
                <a:sym typeface="Arial"/>
              </a:rPr>
              <a:t>Đã học</a:t>
            </a:r>
            <a:endParaRPr sz="1050">
              <a:solidFill>
                <a:schemeClr val="dk1"/>
              </a:solidFill>
              <a:latin typeface="Calibri"/>
              <a:ea typeface="Calibri"/>
              <a:cs typeface="Calibri"/>
              <a:sym typeface="Calibri"/>
            </a:endParaRPr>
          </a:p>
        </p:txBody>
      </p:sp>
      <p:sp>
        <p:nvSpPr>
          <p:cNvPr id="105" name="Google Shape;105;p4"/>
          <p:cNvSpPr/>
          <p:nvPr/>
        </p:nvSpPr>
        <p:spPr>
          <a:xfrm>
            <a:off x="548640" y="5577840"/>
            <a:ext cx="11155680" cy="658368"/>
          </a:xfrm>
          <a:prstGeom prst="roundRect">
            <a:avLst>
              <a:gd fmla="val 8333"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777240" y="5577840"/>
            <a:ext cx="100584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Arial"/>
              <a:buNone/>
            </a:pPr>
            <a:r>
              <a:rPr b="1" lang="en-US" sz="1250">
                <a:solidFill>
                  <a:srgbClr val="FFFFFF"/>
                </a:solidFill>
                <a:latin typeface="Arial"/>
                <a:ea typeface="Arial"/>
                <a:cs typeface="Arial"/>
                <a:sym typeface="Arial"/>
              </a:rPr>
              <a:t>Bài 6</a:t>
            </a:r>
            <a:endParaRPr sz="1250">
              <a:solidFill>
                <a:schemeClr val="dk1"/>
              </a:solidFill>
              <a:latin typeface="Calibri"/>
              <a:ea typeface="Calibri"/>
              <a:cs typeface="Calibri"/>
              <a:sym typeface="Calibri"/>
            </a:endParaRPr>
          </a:p>
        </p:txBody>
      </p:sp>
      <p:sp>
        <p:nvSpPr>
          <p:cNvPr id="107" name="Google Shape;107;p4"/>
          <p:cNvSpPr/>
          <p:nvPr/>
        </p:nvSpPr>
        <p:spPr>
          <a:xfrm>
            <a:off x="1828800" y="5577840"/>
            <a:ext cx="768096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Arial"/>
              <a:buNone/>
            </a:pPr>
            <a:r>
              <a:rPr lang="en-US" sz="1150">
                <a:solidFill>
                  <a:srgbClr val="FFFFFF"/>
                </a:solidFill>
                <a:latin typeface="Arial"/>
                <a:ea typeface="Arial"/>
                <a:cs typeface="Arial"/>
                <a:sym typeface="Arial"/>
              </a:rPr>
              <a:t>Data Wrangling và làm sạch dữ liệu</a:t>
            </a:r>
            <a:endParaRPr sz="1150">
              <a:solidFill>
                <a:schemeClr val="dk1"/>
              </a:solidFill>
              <a:latin typeface="Calibri"/>
              <a:ea typeface="Calibri"/>
              <a:cs typeface="Calibri"/>
              <a:sym typeface="Calibri"/>
            </a:endParaRPr>
          </a:p>
        </p:txBody>
      </p:sp>
      <p:sp>
        <p:nvSpPr>
          <p:cNvPr id="108" name="Google Shape;108;p4"/>
          <p:cNvSpPr/>
          <p:nvPr/>
        </p:nvSpPr>
        <p:spPr>
          <a:xfrm>
            <a:off x="9601200" y="5577840"/>
            <a:ext cx="1920240" cy="6583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FFFFF"/>
              </a:buClr>
              <a:buSzPts val="1050"/>
              <a:buFont typeface="Arial"/>
              <a:buNone/>
            </a:pPr>
            <a:r>
              <a:rPr b="1" lang="en-US" sz="1050">
                <a:solidFill>
                  <a:srgbClr val="FFFFFF"/>
                </a:solidFill>
                <a:latin typeface="Arial"/>
                <a:ea typeface="Arial"/>
                <a:cs typeface="Arial"/>
                <a:sym typeface="Arial"/>
              </a:rPr>
              <a:t>Hôm nay</a:t>
            </a:r>
            <a:endParaRPr sz="1050">
              <a:solidFill>
                <a:schemeClr val="dk1"/>
              </a:solidFill>
              <a:latin typeface="Calibri"/>
              <a:ea typeface="Calibri"/>
              <a:cs typeface="Calibri"/>
              <a:sym typeface="Calibri"/>
            </a:endParaRPr>
          </a:p>
        </p:txBody>
      </p:sp>
      <p:sp>
        <p:nvSpPr>
          <p:cNvPr id="109" name="Google Shape;109;p4"/>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Bài 6. Data Wrangling và làm sạch dữ liệu</a:t>
            </a:r>
            <a:endParaRPr sz="1000">
              <a:solidFill>
                <a:schemeClr val="dk1"/>
              </a:solidFill>
              <a:latin typeface="Calibri"/>
              <a:ea typeface="Calibri"/>
              <a:cs typeface="Calibri"/>
              <a:sym typeface="Calibri"/>
            </a:endParaRPr>
          </a:p>
        </p:txBody>
      </p:sp>
      <p:sp>
        <p:nvSpPr>
          <p:cNvPr id="110" name="Google Shape;110;p4"/>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4</a:t>
            </a:r>
            <a:endParaRPr sz="10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 name="Shape 115"/>
        <p:cNvGrpSpPr/>
        <p:nvPr/>
      </p:nvGrpSpPr>
      <p:grpSpPr>
        <a:xfrm>
          <a:off x="0" y="0"/>
          <a:ext cx="0" cy="0"/>
          <a:chOff x="0" y="0"/>
          <a:chExt cx="0" cy="0"/>
        </a:xfrm>
      </p:grpSpPr>
      <p:sp>
        <p:nvSpPr>
          <p:cNvPr id="116" name="Google Shape;116;p5"/>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658368" y="1371600"/>
            <a:ext cx="32004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5B518"/>
              </a:buClr>
              <a:buSzPts val="1900"/>
              <a:buFont typeface="Arial"/>
              <a:buNone/>
            </a:pPr>
            <a:r>
              <a:rPr b="1" lang="en-US" sz="1900">
                <a:solidFill>
                  <a:srgbClr val="85B518"/>
                </a:solidFill>
                <a:latin typeface="Arial"/>
                <a:ea typeface="Arial"/>
                <a:cs typeface="Arial"/>
                <a:sym typeface="Arial"/>
              </a:rPr>
              <a:t>PHẦN 6.1</a:t>
            </a:r>
            <a:endParaRPr sz="1900">
              <a:solidFill>
                <a:schemeClr val="dk1"/>
              </a:solidFill>
              <a:latin typeface="Calibri"/>
              <a:ea typeface="Calibri"/>
              <a:cs typeface="Calibri"/>
              <a:sym typeface="Calibri"/>
            </a:endParaRPr>
          </a:p>
        </p:txBody>
      </p:sp>
      <p:sp>
        <p:nvSpPr>
          <p:cNvPr id="121" name="Google Shape;121;p5"/>
          <p:cNvSpPr/>
          <p:nvPr/>
        </p:nvSpPr>
        <p:spPr>
          <a:xfrm>
            <a:off x="658368" y="1965960"/>
            <a:ext cx="10241280" cy="11887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3400"/>
              <a:buFont typeface="Arial"/>
              <a:buNone/>
            </a:pPr>
            <a:r>
              <a:rPr b="1" lang="en-US" sz="3400">
                <a:solidFill>
                  <a:srgbClr val="0F3F6F"/>
                </a:solidFill>
                <a:latin typeface="Arial"/>
                <a:ea typeface="Arial"/>
                <a:cs typeface="Arial"/>
                <a:sym typeface="Arial"/>
              </a:rPr>
              <a:t>Data Wrangling là gì?</a:t>
            </a:r>
            <a:endParaRPr sz="3400">
              <a:solidFill>
                <a:schemeClr val="dk1"/>
              </a:solidFill>
              <a:latin typeface="Calibri"/>
              <a:ea typeface="Calibri"/>
              <a:cs typeface="Calibri"/>
              <a:sym typeface="Calibri"/>
            </a:endParaRPr>
          </a:p>
        </p:txBody>
      </p:sp>
      <p:sp>
        <p:nvSpPr>
          <p:cNvPr id="122" name="Google Shape;122;p5"/>
          <p:cNvSpPr/>
          <p:nvPr/>
        </p:nvSpPr>
        <p:spPr>
          <a:xfrm>
            <a:off x="685800" y="3246120"/>
            <a:ext cx="100126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35266"/>
              </a:buClr>
              <a:buSzPts val="1500"/>
              <a:buFont typeface="Arial"/>
              <a:buNone/>
            </a:pPr>
            <a:r>
              <a:rPr lang="en-US" sz="1500">
                <a:solidFill>
                  <a:srgbClr val="435266"/>
                </a:solidFill>
                <a:latin typeface="Arial"/>
                <a:ea typeface="Arial"/>
                <a:cs typeface="Arial"/>
                <a:sym typeface="Arial"/>
              </a:rPr>
              <a:t>Data Cleaning chỉ là một phần của Data Wrangling</a:t>
            </a:r>
            <a:endParaRPr sz="1500">
              <a:solidFill>
                <a:schemeClr val="dk1"/>
              </a:solidFill>
              <a:latin typeface="Calibri"/>
              <a:ea typeface="Calibri"/>
              <a:cs typeface="Calibri"/>
              <a:sym typeface="Calibri"/>
            </a:endParaRPr>
          </a:p>
        </p:txBody>
      </p:sp>
      <p:sp>
        <p:nvSpPr>
          <p:cNvPr id="123" name="Google Shape;123;p5"/>
          <p:cNvSpPr/>
          <p:nvPr/>
        </p:nvSpPr>
        <p:spPr>
          <a:xfrm>
            <a:off x="685800" y="4937760"/>
            <a:ext cx="5212080" cy="5029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
          <p:cNvSpPr/>
          <p:nvPr/>
        </p:nvSpPr>
        <p:spPr>
          <a:xfrm>
            <a:off x="6016752" y="4937760"/>
            <a:ext cx="1143000" cy="50292"/>
          </a:xfrm>
          <a:prstGeom prst="rect">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5</a:t>
            </a:r>
            <a:endParaRPr sz="10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 name="Shape 130"/>
        <p:cNvGrpSpPr/>
        <p:nvPr/>
      </p:nvGrpSpPr>
      <p:grpSpPr>
        <a:xfrm>
          <a:off x="0" y="0"/>
          <a:ext cx="0" cy="0"/>
          <a:chOff x="0" y="0"/>
          <a:chExt cx="0" cy="0"/>
        </a:xfrm>
      </p:grpSpPr>
      <p:sp>
        <p:nvSpPr>
          <p:cNvPr id="131" name="Google Shape;131;p6"/>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6"/>
          <p:cNvSpPr/>
          <p:nvPr/>
        </p:nvSpPr>
        <p:spPr>
          <a:xfrm>
            <a:off x="530352" y="237744"/>
            <a:ext cx="978408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2100"/>
              <a:buFont typeface="Arial"/>
              <a:buNone/>
            </a:pPr>
            <a:r>
              <a:rPr b="1" lang="en-US" sz="2100">
                <a:solidFill>
                  <a:srgbClr val="0F3F6F"/>
                </a:solidFill>
                <a:latin typeface="Arial"/>
                <a:ea typeface="Arial"/>
                <a:cs typeface="Arial"/>
                <a:sym typeface="Arial"/>
              </a:rPr>
              <a:t>Khái niệm Data Wrangling</a:t>
            </a:r>
            <a:endParaRPr sz="2100">
              <a:solidFill>
                <a:schemeClr val="dk1"/>
              </a:solidFill>
              <a:latin typeface="Calibri"/>
              <a:ea typeface="Calibri"/>
              <a:cs typeface="Calibri"/>
              <a:sym typeface="Calibri"/>
            </a:endParaRPr>
          </a:p>
        </p:txBody>
      </p:sp>
      <p:sp>
        <p:nvSpPr>
          <p:cNvPr id="136" name="Google Shape;136;p6"/>
          <p:cNvSpPr/>
          <p:nvPr/>
        </p:nvSpPr>
        <p:spPr>
          <a:xfrm>
            <a:off x="548640" y="969264"/>
            <a:ext cx="9144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i="1" lang="en-US" sz="1100">
                <a:solidFill>
                  <a:srgbClr val="8497A5"/>
                </a:solidFill>
                <a:latin typeface="Arial"/>
                <a:ea typeface="Arial"/>
                <a:cs typeface="Arial"/>
                <a:sym typeface="Arial"/>
              </a:rPr>
              <a:t>6.1. Data Wrangling là gì? · Bài 06</a:t>
            </a:r>
            <a:endParaRPr sz="1100">
              <a:solidFill>
                <a:schemeClr val="dk1"/>
              </a:solidFill>
              <a:latin typeface="Calibri"/>
              <a:ea typeface="Calibri"/>
              <a:cs typeface="Calibri"/>
              <a:sym typeface="Calibri"/>
            </a:endParaRPr>
          </a:p>
        </p:txBody>
      </p:sp>
      <p:sp>
        <p:nvSpPr>
          <p:cNvPr id="137" name="Google Shape;137;p6"/>
          <p:cNvSpPr/>
          <p:nvPr/>
        </p:nvSpPr>
        <p:spPr>
          <a:xfrm>
            <a:off x="548640" y="1280160"/>
            <a:ext cx="1115568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Data Wrangling là toàn bộ quá trình biến dữ liệu thô, chưa có cấu trúc rõ ràng hoặc còn lỗi, thành dữ liệu sạch, có cấu trúc và sẵn sàng cho phân tích.</a:t>
            </a:r>
            <a:endParaRPr sz="1300">
              <a:solidFill>
                <a:schemeClr val="dk1"/>
              </a:solidFill>
              <a:latin typeface="Calibri"/>
              <a:ea typeface="Calibri"/>
              <a:cs typeface="Calibri"/>
              <a:sym typeface="Calibri"/>
            </a:endParaRPr>
          </a:p>
        </p:txBody>
      </p:sp>
      <p:sp>
        <p:nvSpPr>
          <p:cNvPr id="138" name="Google Shape;138;p6"/>
          <p:cNvSpPr/>
          <p:nvPr/>
        </p:nvSpPr>
        <p:spPr>
          <a:xfrm>
            <a:off x="640080" y="2011680"/>
            <a:ext cx="5349240" cy="1554480"/>
          </a:xfrm>
          <a:prstGeom prst="roundRect">
            <a:avLst>
              <a:gd fmla="val 7059"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6"/>
          <p:cNvSpPr/>
          <p:nvPr/>
        </p:nvSpPr>
        <p:spPr>
          <a:xfrm>
            <a:off x="914400" y="2176272"/>
            <a:ext cx="4800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500"/>
              <a:buFont typeface="Arial"/>
              <a:buNone/>
            </a:pPr>
            <a:r>
              <a:rPr b="1" lang="en-US" sz="1500">
                <a:solidFill>
                  <a:srgbClr val="0F3F6F"/>
                </a:solidFill>
                <a:latin typeface="Arial"/>
                <a:ea typeface="Arial"/>
                <a:cs typeface="Arial"/>
                <a:sym typeface="Arial"/>
              </a:rPr>
              <a:t>Data Cleaning</a:t>
            </a:r>
            <a:endParaRPr sz="1500">
              <a:solidFill>
                <a:schemeClr val="dk1"/>
              </a:solidFill>
              <a:latin typeface="Calibri"/>
              <a:ea typeface="Calibri"/>
              <a:cs typeface="Calibri"/>
              <a:sym typeface="Calibri"/>
            </a:endParaRPr>
          </a:p>
        </p:txBody>
      </p:sp>
      <p:sp>
        <p:nvSpPr>
          <p:cNvPr id="140" name="Google Shape;140;p6"/>
          <p:cNvSpPr/>
          <p:nvPr/>
        </p:nvSpPr>
        <p:spPr>
          <a:xfrm>
            <a:off x="914400" y="2606040"/>
            <a:ext cx="4800600" cy="82296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5000"/>
              </a:lnSpc>
              <a:spcBef>
                <a:spcPts val="0"/>
              </a:spcBef>
              <a:spcAft>
                <a:spcPts val="0"/>
              </a:spcAft>
              <a:buClr>
                <a:srgbClr val="435266"/>
              </a:buClr>
              <a:buSzPts val="1150"/>
              <a:buFont typeface="Arial"/>
              <a:buChar char="•"/>
            </a:pPr>
            <a:r>
              <a:rPr lang="en-US" sz="1150">
                <a:solidFill>
                  <a:srgbClr val="435266"/>
                </a:solidFill>
                <a:latin typeface="Arial"/>
                <a:ea typeface="Arial"/>
                <a:cs typeface="Arial"/>
                <a:sym typeface="Arial"/>
              </a:rPr>
              <a:t>Chỉ tập trung sửa lỗi: thiếu, trùng, sai kiểu</a:t>
            </a:r>
            <a:endParaRPr sz="1150">
              <a:solidFill>
                <a:schemeClr val="dk1"/>
              </a:solidFill>
              <a:latin typeface="Calibri"/>
              <a:ea typeface="Calibri"/>
              <a:cs typeface="Calibri"/>
              <a:sym typeface="Calibri"/>
            </a:endParaRPr>
          </a:p>
          <a:p>
            <a:pPr indent="-342900" lvl="0" marL="342900" marR="0" rtl="0" algn="l">
              <a:lnSpc>
                <a:spcPct val="125000"/>
              </a:lnSpc>
              <a:spcBef>
                <a:spcPts val="0"/>
              </a:spcBef>
              <a:spcAft>
                <a:spcPts val="0"/>
              </a:spcAft>
              <a:buClr>
                <a:srgbClr val="435266"/>
              </a:buClr>
              <a:buSzPts val="1150"/>
              <a:buFont typeface="Arial"/>
              <a:buChar char="•"/>
            </a:pPr>
            <a:r>
              <a:rPr lang="en-US" sz="1150">
                <a:solidFill>
                  <a:srgbClr val="435266"/>
                </a:solidFill>
                <a:latin typeface="Arial"/>
                <a:ea typeface="Arial"/>
                <a:cs typeface="Arial"/>
                <a:sym typeface="Arial"/>
              </a:rPr>
              <a:t>Là MỘT bước trong Data Wrangling</a:t>
            </a:r>
            <a:endParaRPr sz="1150">
              <a:solidFill>
                <a:schemeClr val="dk1"/>
              </a:solidFill>
              <a:latin typeface="Calibri"/>
              <a:ea typeface="Calibri"/>
              <a:cs typeface="Calibri"/>
              <a:sym typeface="Calibri"/>
            </a:endParaRPr>
          </a:p>
        </p:txBody>
      </p:sp>
      <p:sp>
        <p:nvSpPr>
          <p:cNvPr id="141" name="Google Shape;141;p6"/>
          <p:cNvSpPr/>
          <p:nvPr/>
        </p:nvSpPr>
        <p:spPr>
          <a:xfrm>
            <a:off x="6492240" y="2011680"/>
            <a:ext cx="5349240" cy="1554480"/>
          </a:xfrm>
          <a:prstGeom prst="roundRect">
            <a:avLst>
              <a:gd fmla="val 7059" name="adj"/>
            </a:avLst>
          </a:prstGeom>
          <a:solidFill>
            <a:srgbClr val="E9F3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p:nvPr/>
        </p:nvSpPr>
        <p:spPr>
          <a:xfrm>
            <a:off x="6766560" y="2176272"/>
            <a:ext cx="4800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500"/>
              <a:buFont typeface="Arial"/>
              <a:buNone/>
            </a:pPr>
            <a:r>
              <a:rPr b="1" lang="en-US" sz="1500">
                <a:solidFill>
                  <a:srgbClr val="0F3F6F"/>
                </a:solidFill>
                <a:latin typeface="Arial"/>
                <a:ea typeface="Arial"/>
                <a:cs typeface="Arial"/>
                <a:sym typeface="Arial"/>
              </a:rPr>
              <a:t>Data Wrangling</a:t>
            </a:r>
            <a:endParaRPr sz="1500">
              <a:solidFill>
                <a:schemeClr val="dk1"/>
              </a:solidFill>
              <a:latin typeface="Calibri"/>
              <a:ea typeface="Calibri"/>
              <a:cs typeface="Calibri"/>
              <a:sym typeface="Calibri"/>
            </a:endParaRPr>
          </a:p>
        </p:txBody>
      </p:sp>
      <p:sp>
        <p:nvSpPr>
          <p:cNvPr id="143" name="Google Shape;143;p6"/>
          <p:cNvSpPr/>
          <p:nvPr/>
        </p:nvSpPr>
        <p:spPr>
          <a:xfrm>
            <a:off x="6766560" y="2606040"/>
            <a:ext cx="4800600" cy="82296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5000"/>
              </a:lnSpc>
              <a:spcBef>
                <a:spcPts val="0"/>
              </a:spcBef>
              <a:spcAft>
                <a:spcPts val="0"/>
              </a:spcAft>
              <a:buClr>
                <a:srgbClr val="435266"/>
              </a:buClr>
              <a:buSzPts val="1150"/>
              <a:buFont typeface="Arial"/>
              <a:buChar char="•"/>
            </a:pPr>
            <a:r>
              <a:rPr lang="en-US" sz="1150">
                <a:solidFill>
                  <a:srgbClr val="435266"/>
                </a:solidFill>
                <a:latin typeface="Arial"/>
                <a:ea typeface="Arial"/>
                <a:cs typeface="Arial"/>
                <a:sym typeface="Arial"/>
              </a:rPr>
              <a:t>Bao gồm: thu thập, khám phá, làm sạch, chuẩn hóa</a:t>
            </a:r>
            <a:endParaRPr sz="1150">
              <a:solidFill>
                <a:schemeClr val="dk1"/>
              </a:solidFill>
              <a:latin typeface="Calibri"/>
              <a:ea typeface="Calibri"/>
              <a:cs typeface="Calibri"/>
              <a:sym typeface="Calibri"/>
            </a:endParaRPr>
          </a:p>
          <a:p>
            <a:pPr indent="-342900" lvl="0" marL="342900" marR="0" rtl="0" algn="l">
              <a:lnSpc>
                <a:spcPct val="125000"/>
              </a:lnSpc>
              <a:spcBef>
                <a:spcPts val="0"/>
              </a:spcBef>
              <a:spcAft>
                <a:spcPts val="0"/>
              </a:spcAft>
              <a:buClr>
                <a:srgbClr val="435266"/>
              </a:buClr>
              <a:buSzPts val="1150"/>
              <a:buFont typeface="Arial"/>
              <a:buChar char="•"/>
            </a:pPr>
            <a:r>
              <a:rPr lang="en-US" sz="1150">
                <a:solidFill>
                  <a:srgbClr val="435266"/>
                </a:solidFill>
                <a:latin typeface="Arial"/>
                <a:ea typeface="Arial"/>
                <a:cs typeface="Arial"/>
                <a:sym typeface="Arial"/>
              </a:rPr>
              <a:t>Quy trình đầy đủ từ dữ liệu thô đến sẵn sàng phân tích</a:t>
            </a:r>
            <a:endParaRPr sz="1150">
              <a:solidFill>
                <a:schemeClr val="dk1"/>
              </a:solidFill>
              <a:latin typeface="Calibri"/>
              <a:ea typeface="Calibri"/>
              <a:cs typeface="Calibri"/>
              <a:sym typeface="Calibri"/>
            </a:endParaRPr>
          </a:p>
        </p:txBody>
      </p:sp>
      <p:sp>
        <p:nvSpPr>
          <p:cNvPr id="144" name="Google Shape;144;p6"/>
          <p:cNvSpPr/>
          <p:nvPr/>
        </p:nvSpPr>
        <p:spPr>
          <a:xfrm>
            <a:off x="640080" y="3840480"/>
            <a:ext cx="10881360" cy="1371600"/>
          </a:xfrm>
          <a:prstGeom prst="roundRect">
            <a:avLst>
              <a:gd fmla="val 5333" name="adj"/>
            </a:avLst>
          </a:prstGeom>
          <a:solidFill>
            <a:srgbClr val="F0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
          <p:cNvSpPr/>
          <p:nvPr/>
        </p:nvSpPr>
        <p:spPr>
          <a:xfrm>
            <a:off x="914400" y="4005072"/>
            <a:ext cx="103327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300"/>
              <a:buFont typeface="Arial"/>
              <a:buNone/>
            </a:pPr>
            <a:r>
              <a:rPr b="1" lang="en-US" sz="1300">
                <a:solidFill>
                  <a:srgbClr val="0F3F6F"/>
                </a:solidFill>
                <a:latin typeface="Arial"/>
                <a:ea typeface="Arial"/>
                <a:cs typeface="Arial"/>
                <a:sym typeface="Arial"/>
              </a:rPr>
              <a:t>Vì sao tốn nhiều thời gian?</a:t>
            </a:r>
            <a:endParaRPr sz="1300">
              <a:solidFill>
                <a:schemeClr val="dk1"/>
              </a:solidFill>
              <a:latin typeface="Calibri"/>
              <a:ea typeface="Calibri"/>
              <a:cs typeface="Calibri"/>
              <a:sym typeface="Calibri"/>
            </a:endParaRPr>
          </a:p>
        </p:txBody>
      </p:sp>
      <p:sp>
        <p:nvSpPr>
          <p:cNvPr id="146" name="Google Shape;146;p6"/>
          <p:cNvSpPr/>
          <p:nvPr/>
        </p:nvSpPr>
        <p:spPr>
          <a:xfrm>
            <a:off x="914400" y="4343400"/>
            <a:ext cx="1033272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35266"/>
              </a:buClr>
              <a:buSzPts val="1150"/>
              <a:buFont typeface="Arial"/>
              <a:buNone/>
            </a:pPr>
            <a:r>
              <a:rPr lang="en-US" sz="1150">
                <a:solidFill>
                  <a:srgbClr val="435266"/>
                </a:solidFill>
                <a:latin typeface="Arial"/>
                <a:ea typeface="Arial"/>
                <a:cs typeface="Arial"/>
                <a:sym typeface="Arial"/>
              </a:rPr>
              <a:t>Trong đa số dự án dữ liệu thực tế, phần lớn thời gian không nằm ở phân tích hay mô hình hóa, mà nằm ở việc chuẩn bị dữ liệu — vì dữ liệu thực tế hiếm khi "sạch" sẵn.</a:t>
            </a:r>
            <a:endParaRPr sz="1150">
              <a:solidFill>
                <a:schemeClr val="dk1"/>
              </a:solidFill>
              <a:latin typeface="Calibri"/>
              <a:ea typeface="Calibri"/>
              <a:cs typeface="Calibri"/>
              <a:sym typeface="Calibri"/>
            </a:endParaRPr>
          </a:p>
        </p:txBody>
      </p:sp>
      <p:sp>
        <p:nvSpPr>
          <p:cNvPr id="147" name="Google Shape;147;p6"/>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Bài 6. Data Wrangling và làm sạch dữ liệu</a:t>
            </a:r>
            <a:endParaRPr sz="1000">
              <a:solidFill>
                <a:schemeClr val="dk1"/>
              </a:solidFill>
              <a:latin typeface="Calibri"/>
              <a:ea typeface="Calibri"/>
              <a:cs typeface="Calibri"/>
              <a:sym typeface="Calibri"/>
            </a:endParaRPr>
          </a:p>
        </p:txBody>
      </p:sp>
      <p:sp>
        <p:nvSpPr>
          <p:cNvPr id="148" name="Google Shape;148;p6"/>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6</a:t>
            </a:r>
            <a:endParaRPr sz="10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 name="Shape 153"/>
        <p:cNvGrpSpPr/>
        <p:nvPr/>
      </p:nvGrpSpPr>
      <p:grpSpPr>
        <a:xfrm>
          <a:off x="0" y="0"/>
          <a:ext cx="0" cy="0"/>
          <a:chOff x="0" y="0"/>
          <a:chExt cx="0" cy="0"/>
        </a:xfrm>
      </p:grpSpPr>
      <p:sp>
        <p:nvSpPr>
          <p:cNvPr id="154" name="Google Shape;154;p7"/>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7"/>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7"/>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7"/>
          <p:cNvSpPr/>
          <p:nvPr/>
        </p:nvSpPr>
        <p:spPr>
          <a:xfrm>
            <a:off x="530352" y="237744"/>
            <a:ext cx="978408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2100"/>
              <a:buFont typeface="Arial"/>
              <a:buNone/>
            </a:pPr>
            <a:r>
              <a:rPr b="1" lang="en-US" sz="2100">
                <a:solidFill>
                  <a:srgbClr val="0F3F6F"/>
                </a:solidFill>
                <a:latin typeface="Arial"/>
                <a:ea typeface="Arial"/>
                <a:cs typeface="Arial"/>
                <a:sym typeface="Arial"/>
              </a:rPr>
              <a:t>Vai trò của Data Wrangling trong Pipeline</a:t>
            </a:r>
            <a:endParaRPr sz="2100">
              <a:solidFill>
                <a:schemeClr val="dk1"/>
              </a:solidFill>
              <a:latin typeface="Calibri"/>
              <a:ea typeface="Calibri"/>
              <a:cs typeface="Calibri"/>
              <a:sym typeface="Calibri"/>
            </a:endParaRPr>
          </a:p>
        </p:txBody>
      </p:sp>
      <p:sp>
        <p:nvSpPr>
          <p:cNvPr id="159" name="Google Shape;159;p7"/>
          <p:cNvSpPr/>
          <p:nvPr/>
        </p:nvSpPr>
        <p:spPr>
          <a:xfrm>
            <a:off x="548640" y="969264"/>
            <a:ext cx="9144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i="1" lang="en-US" sz="1100">
                <a:solidFill>
                  <a:srgbClr val="8497A5"/>
                </a:solidFill>
                <a:latin typeface="Arial"/>
                <a:ea typeface="Arial"/>
                <a:cs typeface="Arial"/>
                <a:sym typeface="Arial"/>
              </a:rPr>
              <a:t>6.1. Data Wrangling là gì? · Bài 06</a:t>
            </a:r>
            <a:endParaRPr sz="1100">
              <a:solidFill>
                <a:schemeClr val="dk1"/>
              </a:solidFill>
              <a:latin typeface="Calibri"/>
              <a:ea typeface="Calibri"/>
              <a:cs typeface="Calibri"/>
              <a:sym typeface="Calibri"/>
            </a:endParaRPr>
          </a:p>
        </p:txBody>
      </p:sp>
      <p:sp>
        <p:nvSpPr>
          <p:cNvPr id="160" name="Google Shape;160;p7"/>
          <p:cNvSpPr/>
          <p:nvPr/>
        </p:nvSpPr>
        <p:spPr>
          <a:xfrm>
            <a:off x="3352648" y="1371600"/>
            <a:ext cx="5486400" cy="502920"/>
          </a:xfrm>
          <a:prstGeom prst="roundRect">
            <a:avLst>
              <a:gd fmla="val 10909"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7"/>
          <p:cNvSpPr/>
          <p:nvPr/>
        </p:nvSpPr>
        <p:spPr>
          <a:xfrm>
            <a:off x="3352648" y="1371600"/>
            <a:ext cx="548640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Arial"/>
              <a:buNone/>
            </a:pPr>
            <a:r>
              <a:rPr b="1" lang="en-US" sz="1250">
                <a:solidFill>
                  <a:srgbClr val="FFFFFF"/>
                </a:solidFill>
                <a:latin typeface="Arial"/>
                <a:ea typeface="Arial"/>
                <a:cs typeface="Arial"/>
                <a:sym typeface="Arial"/>
              </a:rPr>
              <a:t>Dữ liệu thô</a:t>
            </a:r>
            <a:endParaRPr sz="1250">
              <a:solidFill>
                <a:schemeClr val="dk1"/>
              </a:solidFill>
              <a:latin typeface="Calibri"/>
              <a:ea typeface="Calibri"/>
              <a:cs typeface="Calibri"/>
              <a:sym typeface="Calibri"/>
            </a:endParaRPr>
          </a:p>
        </p:txBody>
      </p:sp>
      <p:cxnSp>
        <p:nvCxnSpPr>
          <p:cNvPr id="162" name="Google Shape;162;p7"/>
          <p:cNvCxnSpPr/>
          <p:nvPr/>
        </p:nvCxnSpPr>
        <p:spPr>
          <a:xfrm>
            <a:off x="6095848" y="1874520"/>
            <a:ext cx="0" cy="100584"/>
          </a:xfrm>
          <a:prstGeom prst="straightConnector1">
            <a:avLst/>
          </a:prstGeom>
          <a:noFill/>
          <a:ln cap="flat" cmpd="sng" w="15875">
            <a:solidFill>
              <a:srgbClr val="5F5F5F"/>
            </a:solidFill>
            <a:prstDash val="solid"/>
            <a:round/>
            <a:headEnd len="sm" w="sm" type="none"/>
            <a:tailEnd len="med" w="med" type="triangle"/>
          </a:ln>
        </p:spPr>
      </p:cxnSp>
      <p:sp>
        <p:nvSpPr>
          <p:cNvPr id="163" name="Google Shape;163;p7"/>
          <p:cNvSpPr/>
          <p:nvPr/>
        </p:nvSpPr>
        <p:spPr>
          <a:xfrm>
            <a:off x="3352648" y="1975104"/>
            <a:ext cx="5486400" cy="502920"/>
          </a:xfrm>
          <a:prstGeom prst="roundRect">
            <a:avLst>
              <a:gd fmla="val 10909"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7"/>
          <p:cNvSpPr/>
          <p:nvPr/>
        </p:nvSpPr>
        <p:spPr>
          <a:xfrm>
            <a:off x="3352648" y="1975104"/>
            <a:ext cx="548640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Arial"/>
              <a:buNone/>
            </a:pPr>
            <a:r>
              <a:rPr b="1" lang="en-US" sz="1250">
                <a:solidFill>
                  <a:srgbClr val="FFFFFF"/>
                </a:solidFill>
                <a:latin typeface="Arial"/>
                <a:ea typeface="Arial"/>
                <a:cs typeface="Arial"/>
                <a:sym typeface="Arial"/>
              </a:rPr>
              <a:t>Thu thập</a:t>
            </a:r>
            <a:endParaRPr sz="1250">
              <a:solidFill>
                <a:schemeClr val="dk1"/>
              </a:solidFill>
              <a:latin typeface="Calibri"/>
              <a:ea typeface="Calibri"/>
              <a:cs typeface="Calibri"/>
              <a:sym typeface="Calibri"/>
            </a:endParaRPr>
          </a:p>
        </p:txBody>
      </p:sp>
      <p:cxnSp>
        <p:nvCxnSpPr>
          <p:cNvPr id="165" name="Google Shape;165;p7"/>
          <p:cNvCxnSpPr/>
          <p:nvPr/>
        </p:nvCxnSpPr>
        <p:spPr>
          <a:xfrm>
            <a:off x="6095848" y="2478024"/>
            <a:ext cx="0" cy="100584"/>
          </a:xfrm>
          <a:prstGeom prst="straightConnector1">
            <a:avLst/>
          </a:prstGeom>
          <a:noFill/>
          <a:ln cap="flat" cmpd="sng" w="15875">
            <a:solidFill>
              <a:srgbClr val="5F5F5F"/>
            </a:solidFill>
            <a:prstDash val="solid"/>
            <a:round/>
            <a:headEnd len="sm" w="sm" type="none"/>
            <a:tailEnd len="med" w="med" type="triangle"/>
          </a:ln>
        </p:spPr>
      </p:cxnSp>
      <p:sp>
        <p:nvSpPr>
          <p:cNvPr id="166" name="Google Shape;166;p7"/>
          <p:cNvSpPr/>
          <p:nvPr/>
        </p:nvSpPr>
        <p:spPr>
          <a:xfrm>
            <a:off x="3352648" y="2578608"/>
            <a:ext cx="5486400" cy="502920"/>
          </a:xfrm>
          <a:prstGeom prst="roundRect">
            <a:avLst>
              <a:gd fmla="val 10909"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7"/>
          <p:cNvSpPr/>
          <p:nvPr/>
        </p:nvSpPr>
        <p:spPr>
          <a:xfrm>
            <a:off x="3352648" y="2578608"/>
            <a:ext cx="548640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Arial"/>
              <a:buNone/>
            </a:pPr>
            <a:r>
              <a:rPr b="1" lang="en-US" sz="1250">
                <a:solidFill>
                  <a:srgbClr val="FFFFFF"/>
                </a:solidFill>
                <a:latin typeface="Arial"/>
                <a:ea typeface="Arial"/>
                <a:cs typeface="Arial"/>
                <a:sym typeface="Arial"/>
              </a:rPr>
              <a:t>Kiểm tra chất lượng</a:t>
            </a:r>
            <a:endParaRPr sz="1250">
              <a:solidFill>
                <a:schemeClr val="dk1"/>
              </a:solidFill>
              <a:latin typeface="Calibri"/>
              <a:ea typeface="Calibri"/>
              <a:cs typeface="Calibri"/>
              <a:sym typeface="Calibri"/>
            </a:endParaRPr>
          </a:p>
        </p:txBody>
      </p:sp>
      <p:cxnSp>
        <p:nvCxnSpPr>
          <p:cNvPr id="168" name="Google Shape;168;p7"/>
          <p:cNvCxnSpPr/>
          <p:nvPr/>
        </p:nvCxnSpPr>
        <p:spPr>
          <a:xfrm>
            <a:off x="6095848" y="3081528"/>
            <a:ext cx="0" cy="100584"/>
          </a:xfrm>
          <a:prstGeom prst="straightConnector1">
            <a:avLst/>
          </a:prstGeom>
          <a:noFill/>
          <a:ln cap="flat" cmpd="sng" w="15875">
            <a:solidFill>
              <a:srgbClr val="5F5F5F"/>
            </a:solidFill>
            <a:prstDash val="solid"/>
            <a:round/>
            <a:headEnd len="sm" w="sm" type="none"/>
            <a:tailEnd len="med" w="med" type="triangle"/>
          </a:ln>
        </p:spPr>
      </p:cxnSp>
      <p:sp>
        <p:nvSpPr>
          <p:cNvPr id="169" name="Google Shape;169;p7"/>
          <p:cNvSpPr/>
          <p:nvPr/>
        </p:nvSpPr>
        <p:spPr>
          <a:xfrm>
            <a:off x="3352648" y="3182112"/>
            <a:ext cx="5486400" cy="502920"/>
          </a:xfrm>
          <a:prstGeom prst="roundRect">
            <a:avLst>
              <a:gd fmla="val 10909"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7"/>
          <p:cNvSpPr/>
          <p:nvPr/>
        </p:nvSpPr>
        <p:spPr>
          <a:xfrm>
            <a:off x="3352648" y="3182112"/>
            <a:ext cx="548640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Arial"/>
              <a:buNone/>
            </a:pPr>
            <a:r>
              <a:rPr b="1" lang="en-US" sz="1250">
                <a:solidFill>
                  <a:srgbClr val="FFFFFF"/>
                </a:solidFill>
                <a:latin typeface="Arial"/>
                <a:ea typeface="Arial"/>
                <a:cs typeface="Arial"/>
                <a:sym typeface="Arial"/>
              </a:rPr>
              <a:t>Làm sạch</a:t>
            </a:r>
            <a:endParaRPr sz="1250">
              <a:solidFill>
                <a:schemeClr val="dk1"/>
              </a:solidFill>
              <a:latin typeface="Calibri"/>
              <a:ea typeface="Calibri"/>
              <a:cs typeface="Calibri"/>
              <a:sym typeface="Calibri"/>
            </a:endParaRPr>
          </a:p>
        </p:txBody>
      </p:sp>
      <p:cxnSp>
        <p:nvCxnSpPr>
          <p:cNvPr id="171" name="Google Shape;171;p7"/>
          <p:cNvCxnSpPr/>
          <p:nvPr/>
        </p:nvCxnSpPr>
        <p:spPr>
          <a:xfrm>
            <a:off x="6095848" y="3685032"/>
            <a:ext cx="0" cy="100584"/>
          </a:xfrm>
          <a:prstGeom prst="straightConnector1">
            <a:avLst/>
          </a:prstGeom>
          <a:noFill/>
          <a:ln cap="flat" cmpd="sng" w="15875">
            <a:solidFill>
              <a:srgbClr val="5F5F5F"/>
            </a:solidFill>
            <a:prstDash val="solid"/>
            <a:round/>
            <a:headEnd len="sm" w="sm" type="none"/>
            <a:tailEnd len="med" w="med" type="triangle"/>
          </a:ln>
        </p:spPr>
      </p:cxnSp>
      <p:sp>
        <p:nvSpPr>
          <p:cNvPr id="172" name="Google Shape;172;p7"/>
          <p:cNvSpPr/>
          <p:nvPr/>
        </p:nvSpPr>
        <p:spPr>
          <a:xfrm>
            <a:off x="3352648" y="3785616"/>
            <a:ext cx="5486400" cy="502920"/>
          </a:xfrm>
          <a:prstGeom prst="roundRect">
            <a:avLst>
              <a:gd fmla="val 10909"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7"/>
          <p:cNvSpPr/>
          <p:nvPr/>
        </p:nvSpPr>
        <p:spPr>
          <a:xfrm>
            <a:off x="3352648" y="3785616"/>
            <a:ext cx="548640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Arial"/>
              <a:buNone/>
            </a:pPr>
            <a:r>
              <a:rPr b="1" lang="en-US" sz="1250">
                <a:solidFill>
                  <a:srgbClr val="FFFFFF"/>
                </a:solidFill>
                <a:latin typeface="Arial"/>
                <a:ea typeface="Arial"/>
                <a:cs typeface="Arial"/>
                <a:sym typeface="Arial"/>
              </a:rPr>
              <a:t>Chuẩn hóa</a:t>
            </a:r>
            <a:endParaRPr sz="1250">
              <a:solidFill>
                <a:schemeClr val="dk1"/>
              </a:solidFill>
              <a:latin typeface="Calibri"/>
              <a:ea typeface="Calibri"/>
              <a:cs typeface="Calibri"/>
              <a:sym typeface="Calibri"/>
            </a:endParaRPr>
          </a:p>
        </p:txBody>
      </p:sp>
      <p:cxnSp>
        <p:nvCxnSpPr>
          <p:cNvPr id="174" name="Google Shape;174;p7"/>
          <p:cNvCxnSpPr/>
          <p:nvPr/>
        </p:nvCxnSpPr>
        <p:spPr>
          <a:xfrm>
            <a:off x="6095848" y="4288536"/>
            <a:ext cx="0" cy="100584"/>
          </a:xfrm>
          <a:prstGeom prst="straightConnector1">
            <a:avLst/>
          </a:prstGeom>
          <a:noFill/>
          <a:ln cap="flat" cmpd="sng" w="15875">
            <a:solidFill>
              <a:srgbClr val="5F5F5F"/>
            </a:solidFill>
            <a:prstDash val="solid"/>
            <a:round/>
            <a:headEnd len="sm" w="sm" type="none"/>
            <a:tailEnd len="med" w="med" type="triangle"/>
          </a:ln>
        </p:spPr>
      </p:cxnSp>
      <p:sp>
        <p:nvSpPr>
          <p:cNvPr id="175" name="Google Shape;175;p7"/>
          <p:cNvSpPr/>
          <p:nvPr/>
        </p:nvSpPr>
        <p:spPr>
          <a:xfrm>
            <a:off x="3352648" y="4389120"/>
            <a:ext cx="5486400" cy="502920"/>
          </a:xfrm>
          <a:prstGeom prst="roundRect">
            <a:avLst>
              <a:gd fmla="val 10909"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7"/>
          <p:cNvSpPr/>
          <p:nvPr/>
        </p:nvSpPr>
        <p:spPr>
          <a:xfrm>
            <a:off x="3352648" y="4389120"/>
            <a:ext cx="548640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Arial"/>
              <a:buNone/>
            </a:pPr>
            <a:r>
              <a:rPr b="1" lang="en-US" sz="1250">
                <a:solidFill>
                  <a:srgbClr val="FFFFFF"/>
                </a:solidFill>
                <a:latin typeface="Arial"/>
                <a:ea typeface="Arial"/>
                <a:cs typeface="Arial"/>
                <a:sym typeface="Arial"/>
              </a:rPr>
              <a:t>Dữ liệu sẵn sàng</a:t>
            </a:r>
            <a:endParaRPr sz="1250">
              <a:solidFill>
                <a:schemeClr val="dk1"/>
              </a:solidFill>
              <a:latin typeface="Calibri"/>
              <a:ea typeface="Calibri"/>
              <a:cs typeface="Calibri"/>
              <a:sym typeface="Calibri"/>
            </a:endParaRPr>
          </a:p>
        </p:txBody>
      </p:sp>
      <p:cxnSp>
        <p:nvCxnSpPr>
          <p:cNvPr id="177" name="Google Shape;177;p7"/>
          <p:cNvCxnSpPr/>
          <p:nvPr/>
        </p:nvCxnSpPr>
        <p:spPr>
          <a:xfrm>
            <a:off x="6095848" y="4892040"/>
            <a:ext cx="0" cy="100584"/>
          </a:xfrm>
          <a:prstGeom prst="straightConnector1">
            <a:avLst/>
          </a:prstGeom>
          <a:noFill/>
          <a:ln cap="flat" cmpd="sng" w="15875">
            <a:solidFill>
              <a:srgbClr val="5F5F5F"/>
            </a:solidFill>
            <a:prstDash val="solid"/>
            <a:round/>
            <a:headEnd len="sm" w="sm" type="none"/>
            <a:tailEnd len="med" w="med" type="triangle"/>
          </a:ln>
        </p:spPr>
      </p:cxnSp>
      <p:sp>
        <p:nvSpPr>
          <p:cNvPr id="178" name="Google Shape;178;p7"/>
          <p:cNvSpPr/>
          <p:nvPr/>
        </p:nvSpPr>
        <p:spPr>
          <a:xfrm>
            <a:off x="3352648" y="4992624"/>
            <a:ext cx="5486400" cy="502920"/>
          </a:xfrm>
          <a:prstGeom prst="roundRect">
            <a:avLst>
              <a:gd fmla="val 10909" name="adj"/>
            </a:avLst>
          </a:prstGeom>
          <a:solidFill>
            <a:srgbClr val="1F4E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7"/>
          <p:cNvSpPr/>
          <p:nvPr/>
        </p:nvSpPr>
        <p:spPr>
          <a:xfrm>
            <a:off x="3352648" y="4992624"/>
            <a:ext cx="548640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Arial"/>
              <a:buNone/>
            </a:pPr>
            <a:r>
              <a:rPr b="1" lang="en-US" sz="1250">
                <a:solidFill>
                  <a:srgbClr val="FFFFFF"/>
                </a:solidFill>
                <a:latin typeface="Arial"/>
                <a:ea typeface="Arial"/>
                <a:cs typeface="Arial"/>
                <a:sym typeface="Arial"/>
              </a:rPr>
              <a:t>Phân tích / Machine Learning</a:t>
            </a:r>
            <a:endParaRPr sz="1250">
              <a:solidFill>
                <a:schemeClr val="dk1"/>
              </a:solidFill>
              <a:latin typeface="Calibri"/>
              <a:ea typeface="Calibri"/>
              <a:cs typeface="Calibri"/>
              <a:sym typeface="Calibri"/>
            </a:endParaRPr>
          </a:p>
        </p:txBody>
      </p:sp>
      <p:sp>
        <p:nvSpPr>
          <p:cNvPr id="180" name="Google Shape;180;p7"/>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Bài 6. Data Wrangling và làm sạch dữ liệu</a:t>
            </a:r>
            <a:endParaRPr sz="1000">
              <a:solidFill>
                <a:schemeClr val="dk1"/>
              </a:solidFill>
              <a:latin typeface="Calibri"/>
              <a:ea typeface="Calibri"/>
              <a:cs typeface="Calibri"/>
              <a:sym typeface="Calibri"/>
            </a:endParaRPr>
          </a:p>
        </p:txBody>
      </p:sp>
      <p:sp>
        <p:nvSpPr>
          <p:cNvPr id="181" name="Google Shape;181;p7"/>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7</a:t>
            </a:r>
            <a:endParaRPr sz="10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sp>
        <p:nvSpPr>
          <p:cNvPr id="187" name="Google Shape;187;p8"/>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8"/>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8"/>
          <p:cNvSpPr/>
          <p:nvPr/>
        </p:nvSpPr>
        <p:spPr>
          <a:xfrm>
            <a:off x="658368" y="1371600"/>
            <a:ext cx="32004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5B518"/>
              </a:buClr>
              <a:buSzPts val="1900"/>
              <a:buFont typeface="Arial"/>
              <a:buNone/>
            </a:pPr>
            <a:r>
              <a:rPr b="1" lang="en-US" sz="1900">
                <a:solidFill>
                  <a:srgbClr val="85B518"/>
                </a:solidFill>
                <a:latin typeface="Arial"/>
                <a:ea typeface="Arial"/>
                <a:cs typeface="Arial"/>
                <a:sym typeface="Arial"/>
              </a:rPr>
              <a:t>PHẦN 6.2</a:t>
            </a:r>
            <a:endParaRPr sz="1900">
              <a:solidFill>
                <a:schemeClr val="dk1"/>
              </a:solidFill>
              <a:latin typeface="Calibri"/>
              <a:ea typeface="Calibri"/>
              <a:cs typeface="Calibri"/>
              <a:sym typeface="Calibri"/>
            </a:endParaRPr>
          </a:p>
        </p:txBody>
      </p:sp>
      <p:sp>
        <p:nvSpPr>
          <p:cNvPr id="192" name="Google Shape;192;p8"/>
          <p:cNvSpPr/>
          <p:nvPr/>
        </p:nvSpPr>
        <p:spPr>
          <a:xfrm>
            <a:off x="658368" y="1965960"/>
            <a:ext cx="10241280" cy="11887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3400"/>
              <a:buFont typeface="Arial"/>
              <a:buNone/>
            </a:pPr>
            <a:r>
              <a:rPr b="1" lang="en-US" sz="3400">
                <a:solidFill>
                  <a:srgbClr val="0F3F6F"/>
                </a:solidFill>
                <a:latin typeface="Arial"/>
                <a:ea typeface="Arial"/>
                <a:cs typeface="Arial"/>
                <a:sym typeface="Arial"/>
              </a:rPr>
              <a:t>Các vấn đề thường gặp trong dữ liệu thực tế</a:t>
            </a:r>
            <a:endParaRPr sz="3400">
              <a:solidFill>
                <a:schemeClr val="dk1"/>
              </a:solidFill>
              <a:latin typeface="Calibri"/>
              <a:ea typeface="Calibri"/>
              <a:cs typeface="Calibri"/>
              <a:sym typeface="Calibri"/>
            </a:endParaRPr>
          </a:p>
        </p:txBody>
      </p:sp>
      <p:sp>
        <p:nvSpPr>
          <p:cNvPr id="193" name="Google Shape;193;p8"/>
          <p:cNvSpPr/>
          <p:nvPr/>
        </p:nvSpPr>
        <p:spPr>
          <a:xfrm>
            <a:off x="685800" y="3246120"/>
            <a:ext cx="100126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35266"/>
              </a:buClr>
              <a:buSzPts val="1500"/>
              <a:buFont typeface="Arial"/>
              <a:buNone/>
            </a:pPr>
            <a:r>
              <a:rPr lang="en-US" sz="1500">
                <a:solidFill>
                  <a:srgbClr val="435266"/>
                </a:solidFill>
                <a:latin typeface="Arial"/>
                <a:ea typeface="Arial"/>
                <a:cs typeface="Arial"/>
                <a:sym typeface="Arial"/>
              </a:rPr>
              <a:t>Nhìn thẳng vào một bảng dữ liệu "bẩn" điển hình</a:t>
            </a:r>
            <a:endParaRPr sz="1500">
              <a:solidFill>
                <a:schemeClr val="dk1"/>
              </a:solidFill>
              <a:latin typeface="Calibri"/>
              <a:ea typeface="Calibri"/>
              <a:cs typeface="Calibri"/>
              <a:sym typeface="Calibri"/>
            </a:endParaRPr>
          </a:p>
        </p:txBody>
      </p:sp>
      <p:sp>
        <p:nvSpPr>
          <p:cNvPr id="194" name="Google Shape;194;p8"/>
          <p:cNvSpPr/>
          <p:nvPr/>
        </p:nvSpPr>
        <p:spPr>
          <a:xfrm>
            <a:off x="685800" y="4937760"/>
            <a:ext cx="5212080" cy="5029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8"/>
          <p:cNvSpPr/>
          <p:nvPr/>
        </p:nvSpPr>
        <p:spPr>
          <a:xfrm>
            <a:off x="6016752" y="4937760"/>
            <a:ext cx="1143000" cy="50292"/>
          </a:xfrm>
          <a:prstGeom prst="rect">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8"/>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8</a:t>
            </a:r>
            <a:endParaRPr sz="10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sp>
        <p:nvSpPr>
          <p:cNvPr id="202" name="Google Shape;202;p9"/>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9"/>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9"/>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9"/>
          <p:cNvSpPr/>
          <p:nvPr/>
        </p:nvSpPr>
        <p:spPr>
          <a:xfrm>
            <a:off x="530352" y="237744"/>
            <a:ext cx="978408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2100"/>
              <a:buFont typeface="Arial"/>
              <a:buNone/>
            </a:pPr>
            <a:r>
              <a:rPr b="1" lang="en-US" sz="2100">
                <a:solidFill>
                  <a:srgbClr val="0F3F6F"/>
                </a:solidFill>
                <a:latin typeface="Arial"/>
                <a:ea typeface="Arial"/>
                <a:cs typeface="Arial"/>
                <a:sym typeface="Arial"/>
              </a:rPr>
              <a:t>Một bảng dữ liệu thực tế trông như thế nào?</a:t>
            </a:r>
            <a:endParaRPr sz="2100">
              <a:solidFill>
                <a:schemeClr val="dk1"/>
              </a:solidFill>
              <a:latin typeface="Calibri"/>
              <a:ea typeface="Calibri"/>
              <a:cs typeface="Calibri"/>
              <a:sym typeface="Calibri"/>
            </a:endParaRPr>
          </a:p>
        </p:txBody>
      </p:sp>
      <p:sp>
        <p:nvSpPr>
          <p:cNvPr id="207" name="Google Shape;207;p9"/>
          <p:cNvSpPr/>
          <p:nvPr/>
        </p:nvSpPr>
        <p:spPr>
          <a:xfrm>
            <a:off x="548640" y="969264"/>
            <a:ext cx="9144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i="1" lang="en-US" sz="1100">
                <a:solidFill>
                  <a:srgbClr val="8497A5"/>
                </a:solidFill>
                <a:latin typeface="Arial"/>
                <a:ea typeface="Arial"/>
                <a:cs typeface="Arial"/>
                <a:sym typeface="Arial"/>
              </a:rPr>
              <a:t>6.2. Các vấn đề thường gặp trong dữ liệu thực tế · Bài 06</a:t>
            </a:r>
            <a:endParaRPr sz="1100">
              <a:solidFill>
                <a:schemeClr val="dk1"/>
              </a:solidFill>
              <a:latin typeface="Calibri"/>
              <a:ea typeface="Calibri"/>
              <a:cs typeface="Calibri"/>
              <a:sym typeface="Calibri"/>
            </a:endParaRPr>
          </a:p>
        </p:txBody>
      </p:sp>
      <p:graphicFrame>
        <p:nvGraphicFramePr>
          <p:cNvPr id="208" name="Google Shape;208;p9"/>
          <p:cNvGraphicFramePr/>
          <p:nvPr/>
        </p:nvGraphicFramePr>
        <p:xfrm>
          <a:off x="457200" y="1463040"/>
          <a:ext cx="3000000" cy="3000000"/>
        </p:xfrm>
        <a:graphic>
          <a:graphicData uri="http://schemas.openxmlformats.org/drawingml/2006/table">
            <a:tbl>
              <a:tblPr>
                <a:noFill/>
                <a:tableStyleId>{5FD18A04-F853-4D2E-8F69-0A5930EE7D93}</a:tableStyleId>
              </a:tblPr>
              <a:tblGrid>
                <a:gridCol w="2377450"/>
                <a:gridCol w="1554475"/>
                <a:gridCol w="1737350"/>
                <a:gridCol w="2743200"/>
                <a:gridCol w="2880350"/>
              </a:tblGrid>
              <a:tr h="411475">
                <a:tc>
                  <a:txBody>
                    <a:bodyPr/>
                    <a:lstStyle/>
                    <a:p>
                      <a:pPr indent="0" lvl="0" marL="0" marR="0" rtl="0" algn="l">
                        <a:spcBef>
                          <a:spcPts val="0"/>
                        </a:spcBef>
                        <a:spcAft>
                          <a:spcPts val="0"/>
                        </a:spcAft>
                        <a:buClr>
                          <a:srgbClr val="FFFFFF"/>
                        </a:buClr>
                        <a:buSzPts val="1100"/>
                        <a:buFont typeface="Arial"/>
                        <a:buNone/>
                      </a:pPr>
                      <a:r>
                        <a:rPr b="1" lang="en-US" sz="1100" u="none" cap="none" strike="noStrike">
                          <a:solidFill>
                            <a:srgbClr val="FFFFFF"/>
                          </a:solidFill>
                          <a:latin typeface="Arial"/>
                          <a:ea typeface="Arial"/>
                          <a:cs typeface="Arial"/>
                          <a:sym typeface="Arial"/>
                        </a:rPr>
                        <a:t>customer_id</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0F3F6F"/>
                    </a:solidFill>
                  </a:tcPr>
                </a:tc>
                <a:tc>
                  <a:txBody>
                    <a:bodyPr/>
                    <a:lstStyle/>
                    <a:p>
                      <a:pPr indent="0" lvl="0" marL="0" marR="0" rtl="0" algn="l">
                        <a:spcBef>
                          <a:spcPts val="0"/>
                        </a:spcBef>
                        <a:spcAft>
                          <a:spcPts val="0"/>
                        </a:spcAft>
                        <a:buClr>
                          <a:srgbClr val="FFFFFF"/>
                        </a:buClr>
                        <a:buSzPts val="1100"/>
                        <a:buFont typeface="Arial"/>
                        <a:buNone/>
                      </a:pPr>
                      <a:r>
                        <a:rPr b="1" lang="en-US" sz="1100" u="none" cap="none" strike="noStrike">
                          <a:solidFill>
                            <a:srgbClr val="FFFFFF"/>
                          </a:solidFill>
                          <a:latin typeface="Arial"/>
                          <a:ea typeface="Arial"/>
                          <a:cs typeface="Arial"/>
                          <a:sym typeface="Arial"/>
                        </a:rPr>
                        <a:t>age</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0F3F6F"/>
                    </a:solidFill>
                  </a:tcPr>
                </a:tc>
                <a:tc>
                  <a:txBody>
                    <a:bodyPr/>
                    <a:lstStyle/>
                    <a:p>
                      <a:pPr indent="0" lvl="0" marL="0" marR="0" rtl="0" algn="l">
                        <a:spcBef>
                          <a:spcPts val="0"/>
                        </a:spcBef>
                        <a:spcAft>
                          <a:spcPts val="0"/>
                        </a:spcAft>
                        <a:buClr>
                          <a:srgbClr val="FFFFFF"/>
                        </a:buClr>
                        <a:buSzPts val="1100"/>
                        <a:buFont typeface="Arial"/>
                        <a:buNone/>
                      </a:pPr>
                      <a:r>
                        <a:rPr b="1" lang="en-US" sz="1100" u="none" cap="none" strike="noStrike">
                          <a:solidFill>
                            <a:srgbClr val="FFFFFF"/>
                          </a:solidFill>
                          <a:latin typeface="Arial"/>
                          <a:ea typeface="Arial"/>
                          <a:cs typeface="Arial"/>
                          <a:sym typeface="Arial"/>
                        </a:rPr>
                        <a:t>gender</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0F3F6F"/>
                    </a:solidFill>
                  </a:tcPr>
                </a:tc>
                <a:tc>
                  <a:txBody>
                    <a:bodyPr/>
                    <a:lstStyle/>
                    <a:p>
                      <a:pPr indent="0" lvl="0" marL="0" marR="0" rtl="0" algn="l">
                        <a:spcBef>
                          <a:spcPts val="0"/>
                        </a:spcBef>
                        <a:spcAft>
                          <a:spcPts val="0"/>
                        </a:spcAft>
                        <a:buClr>
                          <a:srgbClr val="FFFFFF"/>
                        </a:buClr>
                        <a:buSzPts val="1100"/>
                        <a:buFont typeface="Arial"/>
                        <a:buNone/>
                      </a:pPr>
                      <a:r>
                        <a:rPr b="1" lang="en-US" sz="1100" u="none" cap="none" strike="noStrike">
                          <a:solidFill>
                            <a:srgbClr val="FFFFFF"/>
                          </a:solidFill>
                          <a:latin typeface="Arial"/>
                          <a:ea typeface="Arial"/>
                          <a:cs typeface="Arial"/>
                          <a:sym typeface="Arial"/>
                        </a:rPr>
                        <a:t>amount</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0F3F6F"/>
                    </a:solidFill>
                  </a:tcPr>
                </a:tc>
                <a:tc>
                  <a:txBody>
                    <a:bodyPr/>
                    <a:lstStyle/>
                    <a:p>
                      <a:pPr indent="0" lvl="0" marL="0" marR="0" rtl="0" algn="l">
                        <a:spcBef>
                          <a:spcPts val="0"/>
                        </a:spcBef>
                        <a:spcAft>
                          <a:spcPts val="0"/>
                        </a:spcAft>
                        <a:buClr>
                          <a:srgbClr val="FFFFFF"/>
                        </a:buClr>
                        <a:buSzPts val="1100"/>
                        <a:buFont typeface="Arial"/>
                        <a:buNone/>
                      </a:pPr>
                      <a:r>
                        <a:rPr b="1" lang="en-US" sz="1100" u="none" cap="none" strike="noStrike">
                          <a:solidFill>
                            <a:srgbClr val="FFFFFF"/>
                          </a:solidFill>
                          <a:latin typeface="Arial"/>
                          <a:ea typeface="Arial"/>
                          <a:cs typeface="Arial"/>
                          <a:sym typeface="Arial"/>
                        </a:rPr>
                        <a:t>date</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0F3F6F"/>
                    </a:solidFill>
                  </a:tcPr>
                </a:tc>
              </a:tr>
              <a:tr h="411475">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C001</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25</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Male</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1,500,000</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01/02/2026</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r>
              <a:tr h="411475">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C002</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NULL</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F</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-500000</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2026-02-03</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r>
              <a:tr h="411475">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C002</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NULL</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F</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-500000</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2026-02-03</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r>
              <a:tr h="411475">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C003</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250</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female</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2 triệu</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05-02-26</a:t>
                      </a:r>
                      <a:endParaRPr sz="110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r>
            </a:tbl>
          </a:graphicData>
        </a:graphic>
      </p:graphicFrame>
      <p:sp>
        <p:nvSpPr>
          <p:cNvPr id="209" name="Google Shape;209;p9"/>
          <p:cNvSpPr/>
          <p:nvPr/>
        </p:nvSpPr>
        <p:spPr>
          <a:xfrm>
            <a:off x="548640" y="3931920"/>
            <a:ext cx="11155680" cy="1188720"/>
          </a:xfrm>
          <a:prstGeom prst="roundRect">
            <a:avLst>
              <a:gd fmla="val 6154" name="adj"/>
            </a:avLst>
          </a:prstGeom>
          <a:solidFill>
            <a:srgbClr val="FDF2E9"/>
          </a:solidFill>
          <a:ln cap="flat" cmpd="sng" w="9525">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9"/>
          <p:cNvSpPr/>
          <p:nvPr/>
        </p:nvSpPr>
        <p:spPr>
          <a:xfrm>
            <a:off x="777240" y="3931920"/>
            <a:ext cx="106984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4000"/>
              </a:buClr>
              <a:buSzPts val="1200"/>
              <a:buFont typeface="Arial"/>
              <a:buNone/>
            </a:pPr>
            <a:r>
              <a:rPr i="1" lang="en-US" sz="1200">
                <a:solidFill>
                  <a:srgbClr val="A04000"/>
                </a:solidFill>
                <a:latin typeface="Arial"/>
                <a:ea typeface="Arial"/>
                <a:cs typeface="Arial"/>
                <a:sym typeface="Arial"/>
              </a:rPr>
              <a:t>Chỉ với 4 dòng dữ liệu, đã xuất hiện: giá trị thiếu (NULL), số âm bất hợp lý, dòng lặp lại, tuổi bất thường (250), giá trị viết dạng chữ ("2 triệu") và định dạng ngày không thống nhất.</a:t>
            </a:r>
            <a:endParaRPr sz="1200">
              <a:solidFill>
                <a:schemeClr val="dk1"/>
              </a:solidFill>
              <a:latin typeface="Calibri"/>
              <a:ea typeface="Calibri"/>
              <a:cs typeface="Calibri"/>
              <a:sym typeface="Calibri"/>
            </a:endParaRPr>
          </a:p>
        </p:txBody>
      </p:sp>
      <p:sp>
        <p:nvSpPr>
          <p:cNvPr id="211" name="Google Shape;211;p9"/>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Bài 6. Data Wrangling và làm sạch dữ liệu</a:t>
            </a:r>
            <a:endParaRPr sz="1000">
              <a:solidFill>
                <a:schemeClr val="dk1"/>
              </a:solidFill>
              <a:latin typeface="Calibri"/>
              <a:ea typeface="Calibri"/>
              <a:cs typeface="Calibri"/>
              <a:sym typeface="Calibri"/>
            </a:endParaRPr>
          </a:p>
        </p:txBody>
      </p:sp>
      <p:sp>
        <p:nvSpPr>
          <p:cNvPr id="212" name="Google Shape;212;p9"/>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9</a:t>
            </a:r>
            <a:endParaRPr sz="10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10"/>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0"/>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0"/>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0"/>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0"/>
          <p:cNvSpPr/>
          <p:nvPr/>
        </p:nvSpPr>
        <p:spPr>
          <a:xfrm>
            <a:off x="530352" y="237744"/>
            <a:ext cx="978408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2100"/>
              <a:buFont typeface="Arial"/>
              <a:buNone/>
            </a:pPr>
            <a:r>
              <a:rPr b="1" lang="en-US" sz="2100">
                <a:solidFill>
                  <a:srgbClr val="0F3F6F"/>
                </a:solidFill>
                <a:latin typeface="Arial"/>
                <a:ea typeface="Arial"/>
                <a:cs typeface="Arial"/>
                <a:sym typeface="Arial"/>
              </a:rPr>
              <a:t>9 loại vấn đề thường gặp</a:t>
            </a:r>
            <a:endParaRPr sz="2100">
              <a:solidFill>
                <a:schemeClr val="dk1"/>
              </a:solidFill>
              <a:latin typeface="Calibri"/>
              <a:ea typeface="Calibri"/>
              <a:cs typeface="Calibri"/>
              <a:sym typeface="Calibri"/>
            </a:endParaRPr>
          </a:p>
        </p:txBody>
      </p:sp>
      <p:sp>
        <p:nvSpPr>
          <p:cNvPr id="223" name="Google Shape;223;p10"/>
          <p:cNvSpPr/>
          <p:nvPr/>
        </p:nvSpPr>
        <p:spPr>
          <a:xfrm>
            <a:off x="548640" y="969264"/>
            <a:ext cx="9144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i="1" lang="en-US" sz="1100">
                <a:solidFill>
                  <a:srgbClr val="8497A5"/>
                </a:solidFill>
                <a:latin typeface="Arial"/>
                <a:ea typeface="Arial"/>
                <a:cs typeface="Arial"/>
                <a:sym typeface="Arial"/>
              </a:rPr>
              <a:t>6.2. Các vấn đề thường gặp trong dữ liệu thực tế · Bài 06</a:t>
            </a:r>
            <a:endParaRPr sz="1100">
              <a:solidFill>
                <a:schemeClr val="dk1"/>
              </a:solidFill>
              <a:latin typeface="Calibri"/>
              <a:ea typeface="Calibri"/>
              <a:cs typeface="Calibri"/>
              <a:sym typeface="Calibri"/>
            </a:endParaRPr>
          </a:p>
        </p:txBody>
      </p:sp>
      <p:sp>
        <p:nvSpPr>
          <p:cNvPr id="224" name="Google Shape;224;p10"/>
          <p:cNvSpPr/>
          <p:nvPr/>
        </p:nvSpPr>
        <p:spPr>
          <a:xfrm>
            <a:off x="548640" y="1463040"/>
            <a:ext cx="3566160" cy="1051560"/>
          </a:xfrm>
          <a:prstGeom prst="roundRect">
            <a:avLst>
              <a:gd fmla="val 6957"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0"/>
          <p:cNvSpPr/>
          <p:nvPr/>
        </p:nvSpPr>
        <p:spPr>
          <a:xfrm>
            <a:off x="548640" y="1463040"/>
            <a:ext cx="54864" cy="1051560"/>
          </a:xfrm>
          <a:prstGeom prst="rect">
            <a:avLst/>
          </a:prstGeom>
          <a:solidFill>
            <a:srgbClr val="1F4E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0"/>
          <p:cNvSpPr/>
          <p:nvPr/>
        </p:nvSpPr>
        <p:spPr>
          <a:xfrm>
            <a:off x="731520" y="1554480"/>
            <a:ext cx="5486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b="1" lang="en-US" sz="1100">
                <a:solidFill>
                  <a:srgbClr val="8497A5"/>
                </a:solidFill>
                <a:latin typeface="Arial"/>
                <a:ea typeface="Arial"/>
                <a:cs typeface="Arial"/>
                <a:sym typeface="Arial"/>
              </a:rPr>
              <a:t>1</a:t>
            </a:r>
            <a:endParaRPr sz="1100">
              <a:solidFill>
                <a:schemeClr val="dk1"/>
              </a:solidFill>
              <a:latin typeface="Calibri"/>
              <a:ea typeface="Calibri"/>
              <a:cs typeface="Calibri"/>
              <a:sym typeface="Calibri"/>
            </a:endParaRPr>
          </a:p>
        </p:txBody>
      </p:sp>
      <p:sp>
        <p:nvSpPr>
          <p:cNvPr id="227" name="Google Shape;227;p10"/>
          <p:cNvSpPr/>
          <p:nvPr/>
        </p:nvSpPr>
        <p:spPr>
          <a:xfrm>
            <a:off x="731520" y="1810512"/>
            <a:ext cx="320040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1400"/>
              <a:buFont typeface="Arial"/>
              <a:buNone/>
            </a:pPr>
            <a:r>
              <a:rPr b="1" lang="en-US" sz="1400">
                <a:solidFill>
                  <a:srgbClr val="0F3F6F"/>
                </a:solidFill>
                <a:latin typeface="Arial"/>
                <a:ea typeface="Arial"/>
                <a:cs typeface="Arial"/>
                <a:sym typeface="Arial"/>
              </a:rPr>
              <a:t>Missing values</a:t>
            </a:r>
            <a:endParaRPr sz="1400">
              <a:solidFill>
                <a:schemeClr val="dk1"/>
              </a:solidFill>
              <a:latin typeface="Calibri"/>
              <a:ea typeface="Calibri"/>
              <a:cs typeface="Calibri"/>
              <a:sym typeface="Calibri"/>
            </a:endParaRPr>
          </a:p>
        </p:txBody>
      </p:sp>
      <p:sp>
        <p:nvSpPr>
          <p:cNvPr id="228" name="Google Shape;228;p10"/>
          <p:cNvSpPr/>
          <p:nvPr/>
        </p:nvSpPr>
        <p:spPr>
          <a:xfrm>
            <a:off x="4343400" y="1463040"/>
            <a:ext cx="3566160" cy="1051560"/>
          </a:xfrm>
          <a:prstGeom prst="roundRect">
            <a:avLst>
              <a:gd fmla="val 6957"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0"/>
          <p:cNvSpPr/>
          <p:nvPr/>
        </p:nvSpPr>
        <p:spPr>
          <a:xfrm>
            <a:off x="4343400" y="1463040"/>
            <a:ext cx="54864" cy="1051560"/>
          </a:xfrm>
          <a:prstGeom prst="rect">
            <a:avLst/>
          </a:prstGeom>
          <a:solidFill>
            <a:srgbClr val="1F4E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0"/>
          <p:cNvSpPr/>
          <p:nvPr/>
        </p:nvSpPr>
        <p:spPr>
          <a:xfrm>
            <a:off x="4526280" y="1554480"/>
            <a:ext cx="5486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b="1" lang="en-US" sz="1100">
                <a:solidFill>
                  <a:srgbClr val="8497A5"/>
                </a:solidFill>
                <a:latin typeface="Arial"/>
                <a:ea typeface="Arial"/>
                <a:cs typeface="Arial"/>
                <a:sym typeface="Arial"/>
              </a:rPr>
              <a:t>2</a:t>
            </a:r>
            <a:endParaRPr sz="1100">
              <a:solidFill>
                <a:schemeClr val="dk1"/>
              </a:solidFill>
              <a:latin typeface="Calibri"/>
              <a:ea typeface="Calibri"/>
              <a:cs typeface="Calibri"/>
              <a:sym typeface="Calibri"/>
            </a:endParaRPr>
          </a:p>
        </p:txBody>
      </p:sp>
      <p:sp>
        <p:nvSpPr>
          <p:cNvPr id="231" name="Google Shape;231;p10"/>
          <p:cNvSpPr/>
          <p:nvPr/>
        </p:nvSpPr>
        <p:spPr>
          <a:xfrm>
            <a:off x="4526280" y="1810512"/>
            <a:ext cx="320040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1400"/>
              <a:buFont typeface="Arial"/>
              <a:buNone/>
            </a:pPr>
            <a:r>
              <a:rPr b="1" lang="en-US" sz="1400">
                <a:solidFill>
                  <a:srgbClr val="0F3F6F"/>
                </a:solidFill>
                <a:latin typeface="Arial"/>
                <a:ea typeface="Arial"/>
                <a:cs typeface="Arial"/>
                <a:sym typeface="Arial"/>
              </a:rPr>
              <a:t>Duplicate</a:t>
            </a:r>
            <a:endParaRPr sz="1400">
              <a:solidFill>
                <a:schemeClr val="dk1"/>
              </a:solidFill>
              <a:latin typeface="Calibri"/>
              <a:ea typeface="Calibri"/>
              <a:cs typeface="Calibri"/>
              <a:sym typeface="Calibri"/>
            </a:endParaRPr>
          </a:p>
        </p:txBody>
      </p:sp>
      <p:sp>
        <p:nvSpPr>
          <p:cNvPr id="232" name="Google Shape;232;p10"/>
          <p:cNvSpPr/>
          <p:nvPr/>
        </p:nvSpPr>
        <p:spPr>
          <a:xfrm>
            <a:off x="8138160" y="1463040"/>
            <a:ext cx="3566160" cy="1051560"/>
          </a:xfrm>
          <a:prstGeom prst="roundRect">
            <a:avLst>
              <a:gd fmla="val 6957"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0"/>
          <p:cNvSpPr/>
          <p:nvPr/>
        </p:nvSpPr>
        <p:spPr>
          <a:xfrm>
            <a:off x="8138160" y="1463040"/>
            <a:ext cx="54864" cy="1051560"/>
          </a:xfrm>
          <a:prstGeom prst="rect">
            <a:avLst/>
          </a:prstGeom>
          <a:solidFill>
            <a:srgbClr val="1F4E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0"/>
          <p:cNvSpPr/>
          <p:nvPr/>
        </p:nvSpPr>
        <p:spPr>
          <a:xfrm>
            <a:off x="8321040" y="1554480"/>
            <a:ext cx="5486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b="1" lang="en-US" sz="1100">
                <a:solidFill>
                  <a:srgbClr val="8497A5"/>
                </a:solidFill>
                <a:latin typeface="Arial"/>
                <a:ea typeface="Arial"/>
                <a:cs typeface="Arial"/>
                <a:sym typeface="Arial"/>
              </a:rPr>
              <a:t>3</a:t>
            </a:r>
            <a:endParaRPr sz="1100">
              <a:solidFill>
                <a:schemeClr val="dk1"/>
              </a:solidFill>
              <a:latin typeface="Calibri"/>
              <a:ea typeface="Calibri"/>
              <a:cs typeface="Calibri"/>
              <a:sym typeface="Calibri"/>
            </a:endParaRPr>
          </a:p>
        </p:txBody>
      </p:sp>
      <p:sp>
        <p:nvSpPr>
          <p:cNvPr id="235" name="Google Shape;235;p10"/>
          <p:cNvSpPr/>
          <p:nvPr/>
        </p:nvSpPr>
        <p:spPr>
          <a:xfrm>
            <a:off x="8321040" y="1810512"/>
            <a:ext cx="320040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1400"/>
              <a:buFont typeface="Arial"/>
              <a:buNone/>
            </a:pPr>
            <a:r>
              <a:rPr b="1" lang="en-US" sz="1400">
                <a:solidFill>
                  <a:srgbClr val="0F3F6F"/>
                </a:solidFill>
                <a:latin typeface="Arial"/>
                <a:ea typeface="Arial"/>
                <a:cs typeface="Arial"/>
                <a:sym typeface="Arial"/>
              </a:rPr>
              <a:t>Sai kiểu dữ liệu</a:t>
            </a:r>
            <a:endParaRPr sz="1400">
              <a:solidFill>
                <a:schemeClr val="dk1"/>
              </a:solidFill>
              <a:latin typeface="Calibri"/>
              <a:ea typeface="Calibri"/>
              <a:cs typeface="Calibri"/>
              <a:sym typeface="Calibri"/>
            </a:endParaRPr>
          </a:p>
        </p:txBody>
      </p:sp>
      <p:sp>
        <p:nvSpPr>
          <p:cNvPr id="236" name="Google Shape;236;p10"/>
          <p:cNvSpPr/>
          <p:nvPr/>
        </p:nvSpPr>
        <p:spPr>
          <a:xfrm>
            <a:off x="548640" y="2743200"/>
            <a:ext cx="3566160" cy="1051560"/>
          </a:xfrm>
          <a:prstGeom prst="roundRect">
            <a:avLst>
              <a:gd fmla="val 6957"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0"/>
          <p:cNvSpPr/>
          <p:nvPr/>
        </p:nvSpPr>
        <p:spPr>
          <a:xfrm>
            <a:off x="548640" y="2743200"/>
            <a:ext cx="54864" cy="1051560"/>
          </a:xfrm>
          <a:prstGeom prst="rect">
            <a:avLst/>
          </a:prstGeom>
          <a:solidFill>
            <a:srgbClr val="1F4E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0"/>
          <p:cNvSpPr/>
          <p:nvPr/>
        </p:nvSpPr>
        <p:spPr>
          <a:xfrm>
            <a:off x="731520" y="2834640"/>
            <a:ext cx="5486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b="1" lang="en-US" sz="1100">
                <a:solidFill>
                  <a:srgbClr val="8497A5"/>
                </a:solidFill>
                <a:latin typeface="Arial"/>
                <a:ea typeface="Arial"/>
                <a:cs typeface="Arial"/>
                <a:sym typeface="Arial"/>
              </a:rPr>
              <a:t>4</a:t>
            </a:r>
            <a:endParaRPr sz="1100">
              <a:solidFill>
                <a:schemeClr val="dk1"/>
              </a:solidFill>
              <a:latin typeface="Calibri"/>
              <a:ea typeface="Calibri"/>
              <a:cs typeface="Calibri"/>
              <a:sym typeface="Calibri"/>
            </a:endParaRPr>
          </a:p>
        </p:txBody>
      </p:sp>
      <p:sp>
        <p:nvSpPr>
          <p:cNvPr id="239" name="Google Shape;239;p10"/>
          <p:cNvSpPr/>
          <p:nvPr/>
        </p:nvSpPr>
        <p:spPr>
          <a:xfrm>
            <a:off x="731520" y="3090672"/>
            <a:ext cx="320040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1400"/>
              <a:buFont typeface="Arial"/>
              <a:buNone/>
            </a:pPr>
            <a:r>
              <a:rPr b="1" lang="en-US" sz="1400">
                <a:solidFill>
                  <a:srgbClr val="0F3F6F"/>
                </a:solidFill>
                <a:latin typeface="Arial"/>
                <a:ea typeface="Arial"/>
                <a:cs typeface="Arial"/>
                <a:sym typeface="Arial"/>
              </a:rPr>
              <a:t>Giá trị bất hợp lý</a:t>
            </a:r>
            <a:endParaRPr sz="1400">
              <a:solidFill>
                <a:schemeClr val="dk1"/>
              </a:solidFill>
              <a:latin typeface="Calibri"/>
              <a:ea typeface="Calibri"/>
              <a:cs typeface="Calibri"/>
              <a:sym typeface="Calibri"/>
            </a:endParaRPr>
          </a:p>
        </p:txBody>
      </p:sp>
      <p:sp>
        <p:nvSpPr>
          <p:cNvPr id="240" name="Google Shape;240;p10"/>
          <p:cNvSpPr/>
          <p:nvPr/>
        </p:nvSpPr>
        <p:spPr>
          <a:xfrm>
            <a:off x="4343400" y="2743200"/>
            <a:ext cx="3566160" cy="1051560"/>
          </a:xfrm>
          <a:prstGeom prst="roundRect">
            <a:avLst>
              <a:gd fmla="val 6957"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0"/>
          <p:cNvSpPr/>
          <p:nvPr/>
        </p:nvSpPr>
        <p:spPr>
          <a:xfrm>
            <a:off x="4343400" y="2743200"/>
            <a:ext cx="54864" cy="1051560"/>
          </a:xfrm>
          <a:prstGeom prst="rect">
            <a:avLst/>
          </a:prstGeom>
          <a:solidFill>
            <a:srgbClr val="1F4E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0"/>
          <p:cNvSpPr/>
          <p:nvPr/>
        </p:nvSpPr>
        <p:spPr>
          <a:xfrm>
            <a:off x="4526280" y="2834640"/>
            <a:ext cx="5486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b="1" lang="en-US" sz="1100">
                <a:solidFill>
                  <a:srgbClr val="8497A5"/>
                </a:solidFill>
                <a:latin typeface="Arial"/>
                <a:ea typeface="Arial"/>
                <a:cs typeface="Arial"/>
                <a:sym typeface="Arial"/>
              </a:rPr>
              <a:t>5</a:t>
            </a:r>
            <a:endParaRPr sz="1100">
              <a:solidFill>
                <a:schemeClr val="dk1"/>
              </a:solidFill>
              <a:latin typeface="Calibri"/>
              <a:ea typeface="Calibri"/>
              <a:cs typeface="Calibri"/>
              <a:sym typeface="Calibri"/>
            </a:endParaRPr>
          </a:p>
        </p:txBody>
      </p:sp>
      <p:sp>
        <p:nvSpPr>
          <p:cNvPr id="243" name="Google Shape;243;p10"/>
          <p:cNvSpPr/>
          <p:nvPr/>
        </p:nvSpPr>
        <p:spPr>
          <a:xfrm>
            <a:off x="4526280" y="3090672"/>
            <a:ext cx="320040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1400"/>
              <a:buFont typeface="Arial"/>
              <a:buNone/>
            </a:pPr>
            <a:r>
              <a:rPr b="1" lang="en-US" sz="1400">
                <a:solidFill>
                  <a:srgbClr val="0F3F6F"/>
                </a:solidFill>
                <a:latin typeface="Arial"/>
                <a:ea typeface="Arial"/>
                <a:cs typeface="Arial"/>
                <a:sym typeface="Arial"/>
              </a:rPr>
              <a:t>Không thống nhất định dạng</a:t>
            </a:r>
            <a:endParaRPr sz="1400">
              <a:solidFill>
                <a:schemeClr val="dk1"/>
              </a:solidFill>
              <a:latin typeface="Calibri"/>
              <a:ea typeface="Calibri"/>
              <a:cs typeface="Calibri"/>
              <a:sym typeface="Calibri"/>
            </a:endParaRPr>
          </a:p>
        </p:txBody>
      </p:sp>
      <p:sp>
        <p:nvSpPr>
          <p:cNvPr id="244" name="Google Shape;244;p10"/>
          <p:cNvSpPr/>
          <p:nvPr/>
        </p:nvSpPr>
        <p:spPr>
          <a:xfrm>
            <a:off x="8138160" y="2743200"/>
            <a:ext cx="3566160" cy="1051560"/>
          </a:xfrm>
          <a:prstGeom prst="roundRect">
            <a:avLst>
              <a:gd fmla="val 6957"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0"/>
          <p:cNvSpPr/>
          <p:nvPr/>
        </p:nvSpPr>
        <p:spPr>
          <a:xfrm>
            <a:off x="8138160" y="2743200"/>
            <a:ext cx="54864" cy="1051560"/>
          </a:xfrm>
          <a:prstGeom prst="rect">
            <a:avLst/>
          </a:prstGeom>
          <a:solidFill>
            <a:srgbClr val="1F4E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0"/>
          <p:cNvSpPr/>
          <p:nvPr/>
        </p:nvSpPr>
        <p:spPr>
          <a:xfrm>
            <a:off x="8321040" y="2834640"/>
            <a:ext cx="5486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b="1" lang="en-US" sz="1100">
                <a:solidFill>
                  <a:srgbClr val="8497A5"/>
                </a:solidFill>
                <a:latin typeface="Arial"/>
                <a:ea typeface="Arial"/>
                <a:cs typeface="Arial"/>
                <a:sym typeface="Arial"/>
              </a:rPr>
              <a:t>6</a:t>
            </a:r>
            <a:endParaRPr sz="1100">
              <a:solidFill>
                <a:schemeClr val="dk1"/>
              </a:solidFill>
              <a:latin typeface="Calibri"/>
              <a:ea typeface="Calibri"/>
              <a:cs typeface="Calibri"/>
              <a:sym typeface="Calibri"/>
            </a:endParaRPr>
          </a:p>
        </p:txBody>
      </p:sp>
      <p:sp>
        <p:nvSpPr>
          <p:cNvPr id="247" name="Google Shape;247;p10"/>
          <p:cNvSpPr/>
          <p:nvPr/>
        </p:nvSpPr>
        <p:spPr>
          <a:xfrm>
            <a:off x="8321040" y="3090672"/>
            <a:ext cx="320040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1400"/>
              <a:buFont typeface="Arial"/>
              <a:buNone/>
            </a:pPr>
            <a:r>
              <a:rPr b="1" lang="en-US" sz="1400">
                <a:solidFill>
                  <a:srgbClr val="0F3F6F"/>
                </a:solidFill>
                <a:latin typeface="Arial"/>
                <a:ea typeface="Arial"/>
                <a:cs typeface="Arial"/>
                <a:sym typeface="Arial"/>
              </a:rPr>
              <a:t>Không thống nhất đơn vị</a:t>
            </a:r>
            <a:endParaRPr sz="1400">
              <a:solidFill>
                <a:schemeClr val="dk1"/>
              </a:solidFill>
              <a:latin typeface="Calibri"/>
              <a:ea typeface="Calibri"/>
              <a:cs typeface="Calibri"/>
              <a:sym typeface="Calibri"/>
            </a:endParaRPr>
          </a:p>
        </p:txBody>
      </p:sp>
      <p:sp>
        <p:nvSpPr>
          <p:cNvPr id="248" name="Google Shape;248;p10"/>
          <p:cNvSpPr/>
          <p:nvPr/>
        </p:nvSpPr>
        <p:spPr>
          <a:xfrm>
            <a:off x="548640" y="4023360"/>
            <a:ext cx="3566160" cy="1051560"/>
          </a:xfrm>
          <a:prstGeom prst="roundRect">
            <a:avLst>
              <a:gd fmla="val 6957"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0"/>
          <p:cNvSpPr/>
          <p:nvPr/>
        </p:nvSpPr>
        <p:spPr>
          <a:xfrm>
            <a:off x="548640" y="4023360"/>
            <a:ext cx="54864" cy="1051560"/>
          </a:xfrm>
          <a:prstGeom prst="rect">
            <a:avLst/>
          </a:prstGeom>
          <a:solidFill>
            <a:srgbClr val="1F4E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0"/>
          <p:cNvSpPr/>
          <p:nvPr/>
        </p:nvSpPr>
        <p:spPr>
          <a:xfrm>
            <a:off x="731520" y="4114800"/>
            <a:ext cx="5486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b="1" lang="en-US" sz="1100">
                <a:solidFill>
                  <a:srgbClr val="8497A5"/>
                </a:solidFill>
                <a:latin typeface="Arial"/>
                <a:ea typeface="Arial"/>
                <a:cs typeface="Arial"/>
                <a:sym typeface="Arial"/>
              </a:rPr>
              <a:t>7</a:t>
            </a:r>
            <a:endParaRPr sz="1100">
              <a:solidFill>
                <a:schemeClr val="dk1"/>
              </a:solidFill>
              <a:latin typeface="Calibri"/>
              <a:ea typeface="Calibri"/>
              <a:cs typeface="Calibri"/>
              <a:sym typeface="Calibri"/>
            </a:endParaRPr>
          </a:p>
        </p:txBody>
      </p:sp>
      <p:sp>
        <p:nvSpPr>
          <p:cNvPr id="251" name="Google Shape;251;p10"/>
          <p:cNvSpPr/>
          <p:nvPr/>
        </p:nvSpPr>
        <p:spPr>
          <a:xfrm>
            <a:off x="731520" y="4370832"/>
            <a:ext cx="320040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1400"/>
              <a:buFont typeface="Arial"/>
              <a:buNone/>
            </a:pPr>
            <a:r>
              <a:rPr b="1" lang="en-US" sz="1400">
                <a:solidFill>
                  <a:srgbClr val="0F3F6F"/>
                </a:solidFill>
                <a:latin typeface="Arial"/>
                <a:ea typeface="Arial"/>
                <a:cs typeface="Arial"/>
                <a:sym typeface="Arial"/>
              </a:rPr>
              <a:t>Không thống nhất category</a:t>
            </a:r>
            <a:endParaRPr sz="1400">
              <a:solidFill>
                <a:schemeClr val="dk1"/>
              </a:solidFill>
              <a:latin typeface="Calibri"/>
              <a:ea typeface="Calibri"/>
              <a:cs typeface="Calibri"/>
              <a:sym typeface="Calibri"/>
            </a:endParaRPr>
          </a:p>
        </p:txBody>
      </p:sp>
      <p:sp>
        <p:nvSpPr>
          <p:cNvPr id="252" name="Google Shape;252;p10"/>
          <p:cNvSpPr/>
          <p:nvPr/>
        </p:nvSpPr>
        <p:spPr>
          <a:xfrm>
            <a:off x="4343400" y="4023360"/>
            <a:ext cx="3566160" cy="1051560"/>
          </a:xfrm>
          <a:prstGeom prst="roundRect">
            <a:avLst>
              <a:gd fmla="val 6957"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0"/>
          <p:cNvSpPr/>
          <p:nvPr/>
        </p:nvSpPr>
        <p:spPr>
          <a:xfrm>
            <a:off x="4343400" y="4023360"/>
            <a:ext cx="54864" cy="1051560"/>
          </a:xfrm>
          <a:prstGeom prst="rect">
            <a:avLst/>
          </a:prstGeom>
          <a:solidFill>
            <a:srgbClr val="1F4E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0"/>
          <p:cNvSpPr/>
          <p:nvPr/>
        </p:nvSpPr>
        <p:spPr>
          <a:xfrm>
            <a:off x="4526280" y="4114800"/>
            <a:ext cx="5486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b="1" lang="en-US" sz="1100">
                <a:solidFill>
                  <a:srgbClr val="8497A5"/>
                </a:solidFill>
                <a:latin typeface="Arial"/>
                <a:ea typeface="Arial"/>
                <a:cs typeface="Arial"/>
                <a:sym typeface="Arial"/>
              </a:rPr>
              <a:t>8</a:t>
            </a:r>
            <a:endParaRPr sz="1100">
              <a:solidFill>
                <a:schemeClr val="dk1"/>
              </a:solidFill>
              <a:latin typeface="Calibri"/>
              <a:ea typeface="Calibri"/>
              <a:cs typeface="Calibri"/>
              <a:sym typeface="Calibri"/>
            </a:endParaRPr>
          </a:p>
        </p:txBody>
      </p:sp>
      <p:sp>
        <p:nvSpPr>
          <p:cNvPr id="255" name="Google Shape;255;p10"/>
          <p:cNvSpPr/>
          <p:nvPr/>
        </p:nvSpPr>
        <p:spPr>
          <a:xfrm>
            <a:off x="4526280" y="4370832"/>
            <a:ext cx="320040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1400"/>
              <a:buFont typeface="Arial"/>
              <a:buNone/>
            </a:pPr>
            <a:r>
              <a:rPr b="1" lang="en-US" sz="1400">
                <a:solidFill>
                  <a:srgbClr val="0F3F6F"/>
                </a:solidFill>
                <a:latin typeface="Arial"/>
                <a:ea typeface="Arial"/>
                <a:cs typeface="Arial"/>
                <a:sym typeface="Arial"/>
              </a:rPr>
              <a:t>Outlier</a:t>
            </a:r>
            <a:endParaRPr sz="1400">
              <a:solidFill>
                <a:schemeClr val="dk1"/>
              </a:solidFill>
              <a:latin typeface="Calibri"/>
              <a:ea typeface="Calibri"/>
              <a:cs typeface="Calibri"/>
              <a:sym typeface="Calibri"/>
            </a:endParaRPr>
          </a:p>
        </p:txBody>
      </p:sp>
      <p:sp>
        <p:nvSpPr>
          <p:cNvPr id="256" name="Google Shape;256;p10"/>
          <p:cNvSpPr/>
          <p:nvPr/>
        </p:nvSpPr>
        <p:spPr>
          <a:xfrm>
            <a:off x="8138160" y="4023360"/>
            <a:ext cx="3566160" cy="1051560"/>
          </a:xfrm>
          <a:prstGeom prst="roundRect">
            <a:avLst>
              <a:gd fmla="val 6957"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0"/>
          <p:cNvSpPr/>
          <p:nvPr/>
        </p:nvSpPr>
        <p:spPr>
          <a:xfrm>
            <a:off x="8138160" y="4023360"/>
            <a:ext cx="54864" cy="1051560"/>
          </a:xfrm>
          <a:prstGeom prst="rect">
            <a:avLst/>
          </a:prstGeom>
          <a:solidFill>
            <a:srgbClr val="1F4E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0"/>
          <p:cNvSpPr/>
          <p:nvPr/>
        </p:nvSpPr>
        <p:spPr>
          <a:xfrm>
            <a:off x="8321040" y="4114800"/>
            <a:ext cx="5486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b="1" lang="en-US" sz="1100">
                <a:solidFill>
                  <a:srgbClr val="8497A5"/>
                </a:solidFill>
                <a:latin typeface="Arial"/>
                <a:ea typeface="Arial"/>
                <a:cs typeface="Arial"/>
                <a:sym typeface="Arial"/>
              </a:rPr>
              <a:t>9</a:t>
            </a:r>
            <a:endParaRPr sz="1100">
              <a:solidFill>
                <a:schemeClr val="dk1"/>
              </a:solidFill>
              <a:latin typeface="Calibri"/>
              <a:ea typeface="Calibri"/>
              <a:cs typeface="Calibri"/>
              <a:sym typeface="Calibri"/>
            </a:endParaRPr>
          </a:p>
        </p:txBody>
      </p:sp>
      <p:sp>
        <p:nvSpPr>
          <p:cNvPr id="259" name="Google Shape;259;p10"/>
          <p:cNvSpPr/>
          <p:nvPr/>
        </p:nvSpPr>
        <p:spPr>
          <a:xfrm>
            <a:off x="8321040" y="4370832"/>
            <a:ext cx="320040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1400"/>
              <a:buFont typeface="Arial"/>
              <a:buNone/>
            </a:pPr>
            <a:r>
              <a:rPr b="1" lang="en-US" sz="1400">
                <a:solidFill>
                  <a:srgbClr val="0F3F6F"/>
                </a:solidFill>
                <a:latin typeface="Arial"/>
                <a:ea typeface="Arial"/>
                <a:cs typeface="Arial"/>
                <a:sym typeface="Arial"/>
              </a:rPr>
              <a:t>Encoding / text issues</a:t>
            </a:r>
            <a:endParaRPr sz="1400">
              <a:solidFill>
                <a:schemeClr val="dk1"/>
              </a:solidFill>
              <a:latin typeface="Calibri"/>
              <a:ea typeface="Calibri"/>
              <a:cs typeface="Calibri"/>
              <a:sym typeface="Calibri"/>
            </a:endParaRPr>
          </a:p>
        </p:txBody>
      </p:sp>
      <p:sp>
        <p:nvSpPr>
          <p:cNvPr id="260" name="Google Shape;260;p10"/>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Bài 6. Data Wrangling và làm sạch dữ liệu</a:t>
            </a:r>
            <a:endParaRPr sz="1000">
              <a:solidFill>
                <a:schemeClr val="dk1"/>
              </a:solidFill>
              <a:latin typeface="Calibri"/>
              <a:ea typeface="Calibri"/>
              <a:cs typeface="Calibri"/>
              <a:sym typeface="Calibri"/>
            </a:endParaRPr>
          </a:p>
        </p:txBody>
      </p:sp>
      <p:sp>
        <p:nvSpPr>
          <p:cNvPr id="261" name="Google Shape;261;p10"/>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10</a:t>
            </a:r>
            <a:endParaRPr sz="10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6" name="Shape 266"/>
        <p:cNvGrpSpPr/>
        <p:nvPr/>
      </p:nvGrpSpPr>
      <p:grpSpPr>
        <a:xfrm>
          <a:off x="0" y="0"/>
          <a:ext cx="0" cy="0"/>
          <a:chOff x="0" y="0"/>
          <a:chExt cx="0" cy="0"/>
        </a:xfrm>
      </p:grpSpPr>
      <p:sp>
        <p:nvSpPr>
          <p:cNvPr id="267" name="Google Shape;267;p11"/>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1"/>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1"/>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1"/>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1"/>
          <p:cNvSpPr/>
          <p:nvPr/>
        </p:nvSpPr>
        <p:spPr>
          <a:xfrm>
            <a:off x="658368" y="1371600"/>
            <a:ext cx="32004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5B518"/>
              </a:buClr>
              <a:buSzPts val="1900"/>
              <a:buFont typeface="Arial"/>
              <a:buNone/>
            </a:pPr>
            <a:r>
              <a:rPr b="1" lang="en-US" sz="1900">
                <a:solidFill>
                  <a:srgbClr val="85B518"/>
                </a:solidFill>
                <a:latin typeface="Arial"/>
                <a:ea typeface="Arial"/>
                <a:cs typeface="Arial"/>
                <a:sym typeface="Arial"/>
              </a:rPr>
              <a:t>PHẦN 6.3</a:t>
            </a:r>
            <a:endParaRPr sz="1900">
              <a:solidFill>
                <a:schemeClr val="dk1"/>
              </a:solidFill>
              <a:latin typeface="Calibri"/>
              <a:ea typeface="Calibri"/>
              <a:cs typeface="Calibri"/>
              <a:sym typeface="Calibri"/>
            </a:endParaRPr>
          </a:p>
        </p:txBody>
      </p:sp>
      <p:sp>
        <p:nvSpPr>
          <p:cNvPr id="272" name="Google Shape;272;p11"/>
          <p:cNvSpPr/>
          <p:nvPr/>
        </p:nvSpPr>
        <p:spPr>
          <a:xfrm>
            <a:off x="658368" y="1965960"/>
            <a:ext cx="10241280" cy="11887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3400"/>
              <a:buFont typeface="Arial"/>
              <a:buNone/>
            </a:pPr>
            <a:r>
              <a:rPr b="1" lang="en-US" sz="3400">
                <a:solidFill>
                  <a:srgbClr val="0F3F6F"/>
                </a:solidFill>
                <a:latin typeface="Arial"/>
                <a:ea typeface="Arial"/>
                <a:cs typeface="Arial"/>
                <a:sym typeface="Arial"/>
              </a:rPr>
              <a:t>Thu thập dữ liệu</a:t>
            </a:r>
            <a:endParaRPr sz="3400">
              <a:solidFill>
                <a:schemeClr val="dk1"/>
              </a:solidFill>
              <a:latin typeface="Calibri"/>
              <a:ea typeface="Calibri"/>
              <a:cs typeface="Calibri"/>
              <a:sym typeface="Calibri"/>
            </a:endParaRPr>
          </a:p>
        </p:txBody>
      </p:sp>
      <p:sp>
        <p:nvSpPr>
          <p:cNvPr id="273" name="Google Shape;273;p11"/>
          <p:cNvSpPr/>
          <p:nvPr/>
        </p:nvSpPr>
        <p:spPr>
          <a:xfrm>
            <a:off x="685800" y="3246120"/>
            <a:ext cx="100126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35266"/>
              </a:buClr>
              <a:buSzPts val="1500"/>
              <a:buFont typeface="Arial"/>
              <a:buNone/>
            </a:pPr>
            <a:r>
              <a:rPr lang="en-US" sz="1500">
                <a:solidFill>
                  <a:srgbClr val="435266"/>
                </a:solidFill>
                <a:latin typeface="Arial"/>
                <a:ea typeface="Arial"/>
                <a:cs typeface="Arial"/>
                <a:sym typeface="Arial"/>
              </a:rPr>
              <a:t>Các nguồn dữ liệu phổ biến hội tụ về Pandas DataFrame</a:t>
            </a:r>
            <a:endParaRPr sz="1500">
              <a:solidFill>
                <a:schemeClr val="dk1"/>
              </a:solidFill>
              <a:latin typeface="Calibri"/>
              <a:ea typeface="Calibri"/>
              <a:cs typeface="Calibri"/>
              <a:sym typeface="Calibri"/>
            </a:endParaRPr>
          </a:p>
        </p:txBody>
      </p:sp>
      <p:sp>
        <p:nvSpPr>
          <p:cNvPr id="274" name="Google Shape;274;p11"/>
          <p:cNvSpPr/>
          <p:nvPr/>
        </p:nvSpPr>
        <p:spPr>
          <a:xfrm>
            <a:off x="685800" y="4937760"/>
            <a:ext cx="5212080" cy="5029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6016752" y="4937760"/>
            <a:ext cx="1143000" cy="50292"/>
          </a:xfrm>
          <a:prstGeom prst="rect">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1"/>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11</a:t>
            </a:r>
            <a:endParaRPr sz="10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1" name="Shape 281"/>
        <p:cNvGrpSpPr/>
        <p:nvPr/>
      </p:nvGrpSpPr>
      <p:grpSpPr>
        <a:xfrm>
          <a:off x="0" y="0"/>
          <a:ext cx="0" cy="0"/>
          <a:chOff x="0" y="0"/>
          <a:chExt cx="0" cy="0"/>
        </a:xfrm>
      </p:grpSpPr>
      <p:sp>
        <p:nvSpPr>
          <p:cNvPr id="282" name="Google Shape;282;p12"/>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2"/>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2"/>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2"/>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2"/>
          <p:cNvSpPr/>
          <p:nvPr/>
        </p:nvSpPr>
        <p:spPr>
          <a:xfrm>
            <a:off x="530352" y="237744"/>
            <a:ext cx="978408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2100"/>
              <a:buFont typeface="Arial"/>
              <a:buNone/>
            </a:pPr>
            <a:r>
              <a:rPr b="1" lang="en-US" sz="2100">
                <a:solidFill>
                  <a:srgbClr val="0F3F6F"/>
                </a:solidFill>
                <a:latin typeface="Arial"/>
                <a:ea typeface="Arial"/>
                <a:cs typeface="Arial"/>
                <a:sym typeface="Arial"/>
              </a:rPr>
              <a:t>Các nguồn dữ liệu phổ biến</a:t>
            </a:r>
            <a:endParaRPr sz="2100">
              <a:solidFill>
                <a:schemeClr val="dk1"/>
              </a:solidFill>
              <a:latin typeface="Calibri"/>
              <a:ea typeface="Calibri"/>
              <a:cs typeface="Calibri"/>
              <a:sym typeface="Calibri"/>
            </a:endParaRPr>
          </a:p>
        </p:txBody>
      </p:sp>
      <p:sp>
        <p:nvSpPr>
          <p:cNvPr id="287" name="Google Shape;287;p12"/>
          <p:cNvSpPr/>
          <p:nvPr/>
        </p:nvSpPr>
        <p:spPr>
          <a:xfrm>
            <a:off x="548640" y="969264"/>
            <a:ext cx="9144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i="1" lang="en-US" sz="1100">
                <a:solidFill>
                  <a:srgbClr val="8497A5"/>
                </a:solidFill>
                <a:latin typeface="Arial"/>
                <a:ea typeface="Arial"/>
                <a:cs typeface="Arial"/>
                <a:sym typeface="Arial"/>
              </a:rPr>
              <a:t>6.3. Thu thập dữ liệu · Bài 06</a:t>
            </a:r>
            <a:endParaRPr sz="1100">
              <a:solidFill>
                <a:schemeClr val="dk1"/>
              </a:solidFill>
              <a:latin typeface="Calibri"/>
              <a:ea typeface="Calibri"/>
              <a:cs typeface="Calibri"/>
              <a:sym typeface="Calibri"/>
            </a:endParaRPr>
          </a:p>
        </p:txBody>
      </p:sp>
      <p:sp>
        <p:nvSpPr>
          <p:cNvPr id="288" name="Google Shape;288;p12"/>
          <p:cNvSpPr/>
          <p:nvPr/>
        </p:nvSpPr>
        <p:spPr>
          <a:xfrm>
            <a:off x="554584" y="1554480"/>
            <a:ext cx="1481328" cy="777240"/>
          </a:xfrm>
          <a:prstGeom prst="roundRect">
            <a:avLst>
              <a:gd fmla="val 9412" name="adj"/>
            </a:avLst>
          </a:prstGeom>
          <a:solidFill>
            <a:srgbClr val="F0F4F7"/>
          </a:solidFill>
          <a:ln cap="flat" cmpd="sng" w="9525">
            <a:solidFill>
              <a:srgbClr val="D6DC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2"/>
          <p:cNvSpPr/>
          <p:nvPr/>
        </p:nvSpPr>
        <p:spPr>
          <a:xfrm>
            <a:off x="554584" y="1554480"/>
            <a:ext cx="1481328"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00"/>
              <a:buFont typeface="Arial"/>
              <a:buNone/>
            </a:pPr>
            <a:r>
              <a:rPr b="1" lang="en-US" sz="1100">
                <a:solidFill>
                  <a:srgbClr val="0F3F6F"/>
                </a:solidFill>
                <a:latin typeface="Arial"/>
                <a:ea typeface="Arial"/>
                <a:cs typeface="Arial"/>
                <a:sym typeface="Arial"/>
              </a:rPr>
              <a:t>CSV</a:t>
            </a:r>
            <a:endParaRPr sz="1100">
              <a:solidFill>
                <a:schemeClr val="dk1"/>
              </a:solidFill>
              <a:latin typeface="Calibri"/>
              <a:ea typeface="Calibri"/>
              <a:cs typeface="Calibri"/>
              <a:sym typeface="Calibri"/>
            </a:endParaRPr>
          </a:p>
        </p:txBody>
      </p:sp>
      <p:cxnSp>
        <p:nvCxnSpPr>
          <p:cNvPr id="290" name="Google Shape;290;p12"/>
          <p:cNvCxnSpPr/>
          <p:nvPr/>
        </p:nvCxnSpPr>
        <p:spPr>
          <a:xfrm>
            <a:off x="1295248" y="2331720"/>
            <a:ext cx="0" cy="502920"/>
          </a:xfrm>
          <a:prstGeom prst="straightConnector1">
            <a:avLst/>
          </a:prstGeom>
          <a:noFill/>
          <a:ln cap="flat" cmpd="sng" w="12700">
            <a:solidFill>
              <a:srgbClr val="5F5F5F"/>
            </a:solidFill>
            <a:prstDash val="solid"/>
            <a:round/>
            <a:headEnd len="sm" w="sm" type="none"/>
            <a:tailEnd len="med" w="med" type="triangle"/>
          </a:ln>
        </p:spPr>
      </p:cxnSp>
      <p:sp>
        <p:nvSpPr>
          <p:cNvPr id="291" name="Google Shape;291;p12"/>
          <p:cNvSpPr/>
          <p:nvPr/>
        </p:nvSpPr>
        <p:spPr>
          <a:xfrm>
            <a:off x="2154784" y="1554480"/>
            <a:ext cx="1481328" cy="777240"/>
          </a:xfrm>
          <a:prstGeom prst="roundRect">
            <a:avLst>
              <a:gd fmla="val 9412" name="adj"/>
            </a:avLst>
          </a:prstGeom>
          <a:solidFill>
            <a:srgbClr val="F0F4F7"/>
          </a:solidFill>
          <a:ln cap="flat" cmpd="sng" w="9525">
            <a:solidFill>
              <a:srgbClr val="D6DC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2"/>
          <p:cNvSpPr/>
          <p:nvPr/>
        </p:nvSpPr>
        <p:spPr>
          <a:xfrm>
            <a:off x="2154784" y="1554480"/>
            <a:ext cx="1481328"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00"/>
              <a:buFont typeface="Arial"/>
              <a:buNone/>
            </a:pPr>
            <a:r>
              <a:rPr b="1" lang="en-US" sz="1100">
                <a:solidFill>
                  <a:srgbClr val="0F3F6F"/>
                </a:solidFill>
                <a:latin typeface="Arial"/>
                <a:ea typeface="Arial"/>
                <a:cs typeface="Arial"/>
                <a:sym typeface="Arial"/>
              </a:rPr>
              <a:t>Excel</a:t>
            </a:r>
            <a:endParaRPr sz="1100">
              <a:solidFill>
                <a:schemeClr val="dk1"/>
              </a:solidFill>
              <a:latin typeface="Calibri"/>
              <a:ea typeface="Calibri"/>
              <a:cs typeface="Calibri"/>
              <a:sym typeface="Calibri"/>
            </a:endParaRPr>
          </a:p>
        </p:txBody>
      </p:sp>
      <p:cxnSp>
        <p:nvCxnSpPr>
          <p:cNvPr id="293" name="Google Shape;293;p12"/>
          <p:cNvCxnSpPr/>
          <p:nvPr/>
        </p:nvCxnSpPr>
        <p:spPr>
          <a:xfrm>
            <a:off x="2895448" y="2331720"/>
            <a:ext cx="0" cy="502920"/>
          </a:xfrm>
          <a:prstGeom prst="straightConnector1">
            <a:avLst/>
          </a:prstGeom>
          <a:noFill/>
          <a:ln cap="flat" cmpd="sng" w="12700">
            <a:solidFill>
              <a:srgbClr val="5F5F5F"/>
            </a:solidFill>
            <a:prstDash val="solid"/>
            <a:round/>
            <a:headEnd len="sm" w="sm" type="none"/>
            <a:tailEnd len="med" w="med" type="triangle"/>
          </a:ln>
        </p:spPr>
      </p:cxnSp>
      <p:sp>
        <p:nvSpPr>
          <p:cNvPr id="294" name="Google Shape;294;p12"/>
          <p:cNvSpPr/>
          <p:nvPr/>
        </p:nvSpPr>
        <p:spPr>
          <a:xfrm>
            <a:off x="3754984" y="1554480"/>
            <a:ext cx="1481328" cy="777240"/>
          </a:xfrm>
          <a:prstGeom prst="roundRect">
            <a:avLst>
              <a:gd fmla="val 9412" name="adj"/>
            </a:avLst>
          </a:prstGeom>
          <a:solidFill>
            <a:srgbClr val="F0F4F7"/>
          </a:solidFill>
          <a:ln cap="flat" cmpd="sng" w="9525">
            <a:solidFill>
              <a:srgbClr val="D6DC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2"/>
          <p:cNvSpPr/>
          <p:nvPr/>
        </p:nvSpPr>
        <p:spPr>
          <a:xfrm>
            <a:off x="3754984" y="1554480"/>
            <a:ext cx="1481328"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00"/>
              <a:buFont typeface="Arial"/>
              <a:buNone/>
            </a:pPr>
            <a:r>
              <a:rPr b="1" lang="en-US" sz="1100">
                <a:solidFill>
                  <a:srgbClr val="0F3F6F"/>
                </a:solidFill>
                <a:latin typeface="Arial"/>
                <a:ea typeface="Arial"/>
                <a:cs typeface="Arial"/>
                <a:sym typeface="Arial"/>
              </a:rPr>
              <a:t>JSON</a:t>
            </a:r>
            <a:endParaRPr sz="1100">
              <a:solidFill>
                <a:schemeClr val="dk1"/>
              </a:solidFill>
              <a:latin typeface="Calibri"/>
              <a:ea typeface="Calibri"/>
              <a:cs typeface="Calibri"/>
              <a:sym typeface="Calibri"/>
            </a:endParaRPr>
          </a:p>
        </p:txBody>
      </p:sp>
      <p:cxnSp>
        <p:nvCxnSpPr>
          <p:cNvPr id="296" name="Google Shape;296;p12"/>
          <p:cNvCxnSpPr/>
          <p:nvPr/>
        </p:nvCxnSpPr>
        <p:spPr>
          <a:xfrm>
            <a:off x="4495648" y="2331720"/>
            <a:ext cx="0" cy="502920"/>
          </a:xfrm>
          <a:prstGeom prst="straightConnector1">
            <a:avLst/>
          </a:prstGeom>
          <a:noFill/>
          <a:ln cap="flat" cmpd="sng" w="12700">
            <a:solidFill>
              <a:srgbClr val="5F5F5F"/>
            </a:solidFill>
            <a:prstDash val="solid"/>
            <a:round/>
            <a:headEnd len="sm" w="sm" type="none"/>
            <a:tailEnd len="med" w="med" type="triangle"/>
          </a:ln>
        </p:spPr>
      </p:cxnSp>
      <p:sp>
        <p:nvSpPr>
          <p:cNvPr id="297" name="Google Shape;297;p12"/>
          <p:cNvSpPr/>
          <p:nvPr/>
        </p:nvSpPr>
        <p:spPr>
          <a:xfrm>
            <a:off x="5355184" y="1554480"/>
            <a:ext cx="1481328" cy="777240"/>
          </a:xfrm>
          <a:prstGeom prst="roundRect">
            <a:avLst>
              <a:gd fmla="val 9412" name="adj"/>
            </a:avLst>
          </a:prstGeom>
          <a:solidFill>
            <a:srgbClr val="F0F4F7"/>
          </a:solidFill>
          <a:ln cap="flat" cmpd="sng" w="9525">
            <a:solidFill>
              <a:srgbClr val="D6DC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2"/>
          <p:cNvSpPr/>
          <p:nvPr/>
        </p:nvSpPr>
        <p:spPr>
          <a:xfrm>
            <a:off x="5355184" y="1554480"/>
            <a:ext cx="1481328"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00"/>
              <a:buFont typeface="Arial"/>
              <a:buNone/>
            </a:pPr>
            <a:r>
              <a:rPr b="1" lang="en-US" sz="1100">
                <a:solidFill>
                  <a:srgbClr val="0F3F6F"/>
                </a:solidFill>
                <a:latin typeface="Arial"/>
                <a:ea typeface="Arial"/>
                <a:cs typeface="Arial"/>
                <a:sym typeface="Arial"/>
              </a:rPr>
              <a:t>Database</a:t>
            </a:r>
            <a:endParaRPr sz="1100">
              <a:solidFill>
                <a:schemeClr val="dk1"/>
              </a:solidFill>
              <a:latin typeface="Calibri"/>
              <a:ea typeface="Calibri"/>
              <a:cs typeface="Calibri"/>
              <a:sym typeface="Calibri"/>
            </a:endParaRPr>
          </a:p>
        </p:txBody>
      </p:sp>
      <p:cxnSp>
        <p:nvCxnSpPr>
          <p:cNvPr id="299" name="Google Shape;299;p12"/>
          <p:cNvCxnSpPr/>
          <p:nvPr/>
        </p:nvCxnSpPr>
        <p:spPr>
          <a:xfrm>
            <a:off x="6095848" y="2331720"/>
            <a:ext cx="0" cy="502920"/>
          </a:xfrm>
          <a:prstGeom prst="straightConnector1">
            <a:avLst/>
          </a:prstGeom>
          <a:noFill/>
          <a:ln cap="flat" cmpd="sng" w="12700">
            <a:solidFill>
              <a:srgbClr val="5F5F5F"/>
            </a:solidFill>
            <a:prstDash val="solid"/>
            <a:round/>
            <a:headEnd len="sm" w="sm" type="none"/>
            <a:tailEnd len="med" w="med" type="triangle"/>
          </a:ln>
        </p:spPr>
      </p:cxnSp>
      <p:sp>
        <p:nvSpPr>
          <p:cNvPr id="300" name="Google Shape;300;p12"/>
          <p:cNvSpPr/>
          <p:nvPr/>
        </p:nvSpPr>
        <p:spPr>
          <a:xfrm>
            <a:off x="6955384" y="1554480"/>
            <a:ext cx="1481328" cy="777240"/>
          </a:xfrm>
          <a:prstGeom prst="roundRect">
            <a:avLst>
              <a:gd fmla="val 9412" name="adj"/>
            </a:avLst>
          </a:prstGeom>
          <a:solidFill>
            <a:srgbClr val="F0F4F7"/>
          </a:solidFill>
          <a:ln cap="flat" cmpd="sng" w="9525">
            <a:solidFill>
              <a:srgbClr val="D6DC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2"/>
          <p:cNvSpPr/>
          <p:nvPr/>
        </p:nvSpPr>
        <p:spPr>
          <a:xfrm>
            <a:off x="6955384" y="1554480"/>
            <a:ext cx="1481328"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00"/>
              <a:buFont typeface="Arial"/>
              <a:buNone/>
            </a:pPr>
            <a:r>
              <a:rPr b="1" lang="en-US" sz="1100">
                <a:solidFill>
                  <a:srgbClr val="0F3F6F"/>
                </a:solidFill>
                <a:latin typeface="Arial"/>
                <a:ea typeface="Arial"/>
                <a:cs typeface="Arial"/>
                <a:sym typeface="Arial"/>
              </a:rPr>
              <a:t>API</a:t>
            </a:r>
            <a:endParaRPr sz="1100">
              <a:solidFill>
                <a:schemeClr val="dk1"/>
              </a:solidFill>
              <a:latin typeface="Calibri"/>
              <a:ea typeface="Calibri"/>
              <a:cs typeface="Calibri"/>
              <a:sym typeface="Calibri"/>
            </a:endParaRPr>
          </a:p>
        </p:txBody>
      </p:sp>
      <p:cxnSp>
        <p:nvCxnSpPr>
          <p:cNvPr id="302" name="Google Shape;302;p12"/>
          <p:cNvCxnSpPr/>
          <p:nvPr/>
        </p:nvCxnSpPr>
        <p:spPr>
          <a:xfrm>
            <a:off x="7696048" y="2331720"/>
            <a:ext cx="0" cy="502920"/>
          </a:xfrm>
          <a:prstGeom prst="straightConnector1">
            <a:avLst/>
          </a:prstGeom>
          <a:noFill/>
          <a:ln cap="flat" cmpd="sng" w="12700">
            <a:solidFill>
              <a:srgbClr val="5F5F5F"/>
            </a:solidFill>
            <a:prstDash val="solid"/>
            <a:round/>
            <a:headEnd len="sm" w="sm" type="none"/>
            <a:tailEnd len="med" w="med" type="triangle"/>
          </a:ln>
        </p:spPr>
      </p:cxnSp>
      <p:sp>
        <p:nvSpPr>
          <p:cNvPr id="303" name="Google Shape;303;p12"/>
          <p:cNvSpPr/>
          <p:nvPr/>
        </p:nvSpPr>
        <p:spPr>
          <a:xfrm>
            <a:off x="8555584" y="1554480"/>
            <a:ext cx="1481328" cy="777240"/>
          </a:xfrm>
          <a:prstGeom prst="roundRect">
            <a:avLst>
              <a:gd fmla="val 9412" name="adj"/>
            </a:avLst>
          </a:prstGeom>
          <a:solidFill>
            <a:srgbClr val="F0F4F7"/>
          </a:solidFill>
          <a:ln cap="flat" cmpd="sng" w="9525">
            <a:solidFill>
              <a:srgbClr val="D6DC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2"/>
          <p:cNvSpPr/>
          <p:nvPr/>
        </p:nvSpPr>
        <p:spPr>
          <a:xfrm>
            <a:off x="8555584" y="1554480"/>
            <a:ext cx="1481328"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00"/>
              <a:buFont typeface="Arial"/>
              <a:buNone/>
            </a:pPr>
            <a:r>
              <a:rPr b="1" lang="en-US" sz="1100">
                <a:solidFill>
                  <a:srgbClr val="0F3F6F"/>
                </a:solidFill>
                <a:latin typeface="Arial"/>
                <a:ea typeface="Arial"/>
                <a:cs typeface="Arial"/>
                <a:sym typeface="Arial"/>
              </a:rPr>
              <a:t>Log</a:t>
            </a:r>
            <a:endParaRPr sz="1100">
              <a:solidFill>
                <a:schemeClr val="dk1"/>
              </a:solidFill>
              <a:latin typeface="Calibri"/>
              <a:ea typeface="Calibri"/>
              <a:cs typeface="Calibri"/>
              <a:sym typeface="Calibri"/>
            </a:endParaRPr>
          </a:p>
        </p:txBody>
      </p:sp>
      <p:cxnSp>
        <p:nvCxnSpPr>
          <p:cNvPr id="305" name="Google Shape;305;p12"/>
          <p:cNvCxnSpPr/>
          <p:nvPr/>
        </p:nvCxnSpPr>
        <p:spPr>
          <a:xfrm>
            <a:off x="9296248" y="2331720"/>
            <a:ext cx="0" cy="502920"/>
          </a:xfrm>
          <a:prstGeom prst="straightConnector1">
            <a:avLst/>
          </a:prstGeom>
          <a:noFill/>
          <a:ln cap="flat" cmpd="sng" w="12700">
            <a:solidFill>
              <a:srgbClr val="5F5F5F"/>
            </a:solidFill>
            <a:prstDash val="solid"/>
            <a:round/>
            <a:headEnd len="sm" w="sm" type="none"/>
            <a:tailEnd len="med" w="med" type="triangle"/>
          </a:ln>
        </p:spPr>
      </p:cxnSp>
      <p:sp>
        <p:nvSpPr>
          <p:cNvPr id="306" name="Google Shape;306;p12"/>
          <p:cNvSpPr/>
          <p:nvPr/>
        </p:nvSpPr>
        <p:spPr>
          <a:xfrm>
            <a:off x="10155784" y="1554480"/>
            <a:ext cx="1481328" cy="777240"/>
          </a:xfrm>
          <a:prstGeom prst="roundRect">
            <a:avLst>
              <a:gd fmla="val 9412" name="adj"/>
            </a:avLst>
          </a:prstGeom>
          <a:solidFill>
            <a:srgbClr val="F0F4F7"/>
          </a:solidFill>
          <a:ln cap="flat" cmpd="sng" w="9525">
            <a:solidFill>
              <a:srgbClr val="D6DC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2"/>
          <p:cNvSpPr/>
          <p:nvPr/>
        </p:nvSpPr>
        <p:spPr>
          <a:xfrm>
            <a:off x="10155784" y="1554480"/>
            <a:ext cx="1481328"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00"/>
              <a:buFont typeface="Arial"/>
              <a:buNone/>
            </a:pPr>
            <a:r>
              <a:rPr b="1" lang="en-US" sz="1100">
                <a:solidFill>
                  <a:srgbClr val="0F3F6F"/>
                </a:solidFill>
                <a:latin typeface="Arial"/>
                <a:ea typeface="Arial"/>
                <a:cs typeface="Arial"/>
                <a:sym typeface="Arial"/>
              </a:rPr>
              <a:t>Web / Data stream</a:t>
            </a:r>
            <a:endParaRPr sz="1100">
              <a:solidFill>
                <a:schemeClr val="dk1"/>
              </a:solidFill>
              <a:latin typeface="Calibri"/>
              <a:ea typeface="Calibri"/>
              <a:cs typeface="Calibri"/>
              <a:sym typeface="Calibri"/>
            </a:endParaRPr>
          </a:p>
        </p:txBody>
      </p:sp>
      <p:cxnSp>
        <p:nvCxnSpPr>
          <p:cNvPr id="308" name="Google Shape;308;p12"/>
          <p:cNvCxnSpPr/>
          <p:nvPr/>
        </p:nvCxnSpPr>
        <p:spPr>
          <a:xfrm>
            <a:off x="10896448" y="2331720"/>
            <a:ext cx="0" cy="502920"/>
          </a:xfrm>
          <a:prstGeom prst="straightConnector1">
            <a:avLst/>
          </a:prstGeom>
          <a:noFill/>
          <a:ln cap="flat" cmpd="sng" w="12700">
            <a:solidFill>
              <a:srgbClr val="5F5F5F"/>
            </a:solidFill>
            <a:prstDash val="solid"/>
            <a:round/>
            <a:headEnd len="sm" w="sm" type="none"/>
            <a:tailEnd len="med" w="med" type="triangle"/>
          </a:ln>
        </p:spPr>
      </p:cxnSp>
      <p:sp>
        <p:nvSpPr>
          <p:cNvPr id="309" name="Google Shape;309;p12"/>
          <p:cNvSpPr/>
          <p:nvPr/>
        </p:nvSpPr>
        <p:spPr>
          <a:xfrm>
            <a:off x="4724248" y="2834640"/>
            <a:ext cx="2743200" cy="548640"/>
          </a:xfrm>
          <a:prstGeom prst="roundRect">
            <a:avLst>
              <a:gd fmla="val 10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2"/>
          <p:cNvSpPr/>
          <p:nvPr/>
        </p:nvSpPr>
        <p:spPr>
          <a:xfrm>
            <a:off x="4724248" y="2834640"/>
            <a:ext cx="274320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Arial"/>
              <a:buNone/>
            </a:pPr>
            <a:r>
              <a:rPr b="1" lang="en-US" sz="1300">
                <a:solidFill>
                  <a:srgbClr val="FFFFFF"/>
                </a:solidFill>
                <a:latin typeface="Arial"/>
                <a:ea typeface="Arial"/>
                <a:cs typeface="Arial"/>
                <a:sym typeface="Arial"/>
              </a:rPr>
              <a:t>Pandas DataFrame</a:t>
            </a:r>
            <a:endParaRPr sz="1300">
              <a:solidFill>
                <a:schemeClr val="dk1"/>
              </a:solidFill>
              <a:latin typeface="Calibri"/>
              <a:ea typeface="Calibri"/>
              <a:cs typeface="Calibri"/>
              <a:sym typeface="Calibri"/>
            </a:endParaRPr>
          </a:p>
        </p:txBody>
      </p:sp>
      <p:sp>
        <p:nvSpPr>
          <p:cNvPr id="311" name="Google Shape;311;p12"/>
          <p:cNvSpPr/>
          <p:nvPr/>
        </p:nvSpPr>
        <p:spPr>
          <a:xfrm>
            <a:off x="914400" y="4206240"/>
            <a:ext cx="1033272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35266"/>
              </a:buClr>
              <a:buSzPts val="1150"/>
              <a:buFont typeface="Arial"/>
              <a:buNone/>
            </a:pPr>
            <a:r>
              <a:rPr i="1" lang="en-US" sz="1150">
                <a:solidFill>
                  <a:srgbClr val="435266"/>
                </a:solidFill>
                <a:latin typeface="Arial"/>
                <a:ea typeface="Arial"/>
                <a:cs typeface="Arial"/>
                <a:sym typeface="Arial"/>
              </a:rPr>
              <a:t>Dù xuất phát từ nguồn nào, mục tiêu chung là đưa dữ liệu về một cấu trúc bảng thống nhất để xử lý. Không cần đi sâu Web Scraping hay API ở bài này.</a:t>
            </a:r>
            <a:endParaRPr sz="1150">
              <a:solidFill>
                <a:schemeClr val="dk1"/>
              </a:solidFill>
              <a:latin typeface="Calibri"/>
              <a:ea typeface="Calibri"/>
              <a:cs typeface="Calibri"/>
              <a:sym typeface="Calibri"/>
            </a:endParaRPr>
          </a:p>
        </p:txBody>
      </p:sp>
      <p:sp>
        <p:nvSpPr>
          <p:cNvPr id="312" name="Google Shape;312;p12"/>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Bài 6. Data Wrangling và làm sạch dữ liệu</a:t>
            </a:r>
            <a:endParaRPr sz="1000">
              <a:solidFill>
                <a:schemeClr val="dk1"/>
              </a:solidFill>
              <a:latin typeface="Calibri"/>
              <a:ea typeface="Calibri"/>
              <a:cs typeface="Calibri"/>
              <a:sym typeface="Calibri"/>
            </a:endParaRPr>
          </a:p>
        </p:txBody>
      </p:sp>
      <p:sp>
        <p:nvSpPr>
          <p:cNvPr id="313" name="Google Shape;313;p12"/>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12</a:t>
            </a:r>
            <a:endParaRPr sz="10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8" name="Shape 318"/>
        <p:cNvGrpSpPr/>
        <p:nvPr/>
      </p:nvGrpSpPr>
      <p:grpSpPr>
        <a:xfrm>
          <a:off x="0" y="0"/>
          <a:ext cx="0" cy="0"/>
          <a:chOff x="0" y="0"/>
          <a:chExt cx="0" cy="0"/>
        </a:xfrm>
      </p:grpSpPr>
      <p:sp>
        <p:nvSpPr>
          <p:cNvPr id="319" name="Google Shape;319;p13"/>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3"/>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3"/>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3"/>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3"/>
          <p:cNvSpPr/>
          <p:nvPr/>
        </p:nvSpPr>
        <p:spPr>
          <a:xfrm>
            <a:off x="658368" y="1371600"/>
            <a:ext cx="32004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5B518"/>
              </a:buClr>
              <a:buSzPts val="1900"/>
              <a:buFont typeface="Arial"/>
              <a:buNone/>
            </a:pPr>
            <a:r>
              <a:rPr b="1" lang="en-US" sz="1900">
                <a:solidFill>
                  <a:srgbClr val="85B518"/>
                </a:solidFill>
                <a:latin typeface="Arial"/>
                <a:ea typeface="Arial"/>
                <a:cs typeface="Arial"/>
                <a:sym typeface="Arial"/>
              </a:rPr>
              <a:t>PHẦN 6.4</a:t>
            </a:r>
            <a:endParaRPr sz="1900">
              <a:solidFill>
                <a:schemeClr val="dk1"/>
              </a:solidFill>
              <a:latin typeface="Calibri"/>
              <a:ea typeface="Calibri"/>
              <a:cs typeface="Calibri"/>
              <a:sym typeface="Calibri"/>
            </a:endParaRPr>
          </a:p>
        </p:txBody>
      </p:sp>
      <p:sp>
        <p:nvSpPr>
          <p:cNvPr id="324" name="Google Shape;324;p13"/>
          <p:cNvSpPr/>
          <p:nvPr/>
        </p:nvSpPr>
        <p:spPr>
          <a:xfrm>
            <a:off x="658368" y="1965960"/>
            <a:ext cx="10241280" cy="11887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3400"/>
              <a:buFont typeface="Arial"/>
              <a:buNone/>
            </a:pPr>
            <a:r>
              <a:rPr b="1" lang="en-US" sz="3400">
                <a:solidFill>
                  <a:srgbClr val="0F3F6F"/>
                </a:solidFill>
                <a:latin typeface="Arial"/>
                <a:ea typeface="Arial"/>
                <a:cs typeface="Arial"/>
                <a:sym typeface="Arial"/>
              </a:rPr>
              <a:t>Khám phá và đánh giá chất lượng dữ liệu</a:t>
            </a:r>
            <a:endParaRPr sz="3400">
              <a:solidFill>
                <a:schemeClr val="dk1"/>
              </a:solidFill>
              <a:latin typeface="Calibri"/>
              <a:ea typeface="Calibri"/>
              <a:cs typeface="Calibri"/>
              <a:sym typeface="Calibri"/>
            </a:endParaRPr>
          </a:p>
        </p:txBody>
      </p:sp>
      <p:sp>
        <p:nvSpPr>
          <p:cNvPr id="325" name="Google Shape;325;p13"/>
          <p:cNvSpPr/>
          <p:nvPr/>
        </p:nvSpPr>
        <p:spPr>
          <a:xfrm>
            <a:off x="685800" y="3246120"/>
            <a:ext cx="100126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35266"/>
              </a:buClr>
              <a:buSzPts val="1500"/>
              <a:buFont typeface="Arial"/>
              <a:buNone/>
            </a:pPr>
            <a:r>
              <a:rPr lang="en-US" sz="1500">
                <a:solidFill>
                  <a:srgbClr val="435266"/>
                </a:solidFill>
                <a:latin typeface="Arial"/>
                <a:ea typeface="Arial"/>
                <a:cs typeface="Arial"/>
                <a:sym typeface="Arial"/>
              </a:rPr>
              <a:t>Không sửa dữ liệu trước khi biết dữ liệu đang có vấn đề gì</a:t>
            </a:r>
            <a:endParaRPr sz="1500">
              <a:solidFill>
                <a:schemeClr val="dk1"/>
              </a:solidFill>
              <a:latin typeface="Calibri"/>
              <a:ea typeface="Calibri"/>
              <a:cs typeface="Calibri"/>
              <a:sym typeface="Calibri"/>
            </a:endParaRPr>
          </a:p>
        </p:txBody>
      </p:sp>
      <p:sp>
        <p:nvSpPr>
          <p:cNvPr id="326" name="Google Shape;326;p13"/>
          <p:cNvSpPr/>
          <p:nvPr/>
        </p:nvSpPr>
        <p:spPr>
          <a:xfrm>
            <a:off x="685800" y="4937760"/>
            <a:ext cx="5212080" cy="5029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3"/>
          <p:cNvSpPr/>
          <p:nvPr/>
        </p:nvSpPr>
        <p:spPr>
          <a:xfrm>
            <a:off x="6016752" y="4937760"/>
            <a:ext cx="1143000" cy="50292"/>
          </a:xfrm>
          <a:prstGeom prst="rect">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3"/>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13</a:t>
            </a:r>
            <a:endParaRPr sz="10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3" name="Shape 333"/>
        <p:cNvGrpSpPr/>
        <p:nvPr/>
      </p:nvGrpSpPr>
      <p:grpSpPr>
        <a:xfrm>
          <a:off x="0" y="0"/>
          <a:ext cx="0" cy="0"/>
          <a:chOff x="0" y="0"/>
          <a:chExt cx="0" cy="0"/>
        </a:xfrm>
      </p:grpSpPr>
      <p:sp>
        <p:nvSpPr>
          <p:cNvPr id="334" name="Google Shape;334;p14"/>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4"/>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4"/>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4"/>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4"/>
          <p:cNvSpPr/>
          <p:nvPr/>
        </p:nvSpPr>
        <p:spPr>
          <a:xfrm>
            <a:off x="530352" y="237744"/>
            <a:ext cx="978408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2100"/>
              <a:buFont typeface="Arial"/>
              <a:buNone/>
            </a:pPr>
            <a:r>
              <a:rPr b="1" lang="en-US" sz="2100">
                <a:solidFill>
                  <a:srgbClr val="0F3F6F"/>
                </a:solidFill>
                <a:latin typeface="Arial"/>
                <a:ea typeface="Arial"/>
                <a:cs typeface="Arial"/>
                <a:sym typeface="Arial"/>
              </a:rPr>
              <a:t>Các hàm Pandas quan trọng để khám phá dữ liệu</a:t>
            </a:r>
            <a:endParaRPr sz="2100">
              <a:solidFill>
                <a:schemeClr val="dk1"/>
              </a:solidFill>
              <a:latin typeface="Calibri"/>
              <a:ea typeface="Calibri"/>
              <a:cs typeface="Calibri"/>
              <a:sym typeface="Calibri"/>
            </a:endParaRPr>
          </a:p>
        </p:txBody>
      </p:sp>
      <p:sp>
        <p:nvSpPr>
          <p:cNvPr id="339" name="Google Shape;339;p14"/>
          <p:cNvSpPr/>
          <p:nvPr/>
        </p:nvSpPr>
        <p:spPr>
          <a:xfrm>
            <a:off x="548640" y="969264"/>
            <a:ext cx="9144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i="1" lang="en-US" sz="1100">
                <a:solidFill>
                  <a:srgbClr val="8497A5"/>
                </a:solidFill>
                <a:latin typeface="Arial"/>
                <a:ea typeface="Arial"/>
                <a:cs typeface="Arial"/>
                <a:sym typeface="Arial"/>
              </a:rPr>
              <a:t>6.4. Khám phá và đánh giá chất lượng dữ liệu · Bài 06</a:t>
            </a:r>
            <a:endParaRPr sz="1100">
              <a:solidFill>
                <a:schemeClr val="dk1"/>
              </a:solidFill>
              <a:latin typeface="Calibri"/>
              <a:ea typeface="Calibri"/>
              <a:cs typeface="Calibri"/>
              <a:sym typeface="Calibri"/>
            </a:endParaRPr>
          </a:p>
        </p:txBody>
      </p:sp>
      <p:graphicFrame>
        <p:nvGraphicFramePr>
          <p:cNvPr id="340" name="Google Shape;340;p14"/>
          <p:cNvGraphicFramePr/>
          <p:nvPr/>
        </p:nvGraphicFramePr>
        <p:xfrm>
          <a:off x="548640" y="1371600"/>
          <a:ext cx="3000000" cy="3000000"/>
        </p:xfrm>
        <a:graphic>
          <a:graphicData uri="http://schemas.openxmlformats.org/drawingml/2006/table">
            <a:tbl>
              <a:tblPr>
                <a:noFill/>
                <a:tableStyleId>{5FD18A04-F853-4D2E-8F69-0A5930EE7D93}</a:tableStyleId>
              </a:tblPr>
              <a:tblGrid>
                <a:gridCol w="4023350"/>
                <a:gridCol w="7086600"/>
              </a:tblGrid>
              <a:tr h="438900">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Hàm</a:t>
                      </a:r>
                      <a:endParaRPr sz="1050" u="none" cap="none" strike="noStrike">
                        <a:latin typeface="Consolas"/>
                        <a:ea typeface="Consolas"/>
                        <a:cs typeface="Consolas"/>
                        <a:sym typeface="Consolas"/>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0F3F6F"/>
                    </a:solidFill>
                  </a:tcPr>
                </a:tc>
                <a:tc>
                  <a:txBody>
                    <a:bodyPr/>
                    <a:lstStyle/>
                    <a:p>
                      <a:pPr indent="0" lvl="0" marL="0" marR="0" rtl="0" algn="l">
                        <a:spcBef>
                          <a:spcPts val="0"/>
                        </a:spcBef>
                        <a:spcAft>
                          <a:spcPts val="0"/>
                        </a:spcAft>
                        <a:buClr>
                          <a:srgbClr val="FFFFFF"/>
                        </a:buClr>
                        <a:buSzPts val="1050"/>
                        <a:buFont typeface="Arial"/>
                        <a:buNone/>
                      </a:pPr>
                      <a:r>
                        <a:rPr b="1" lang="en-US" sz="1050" u="none" cap="none" strike="noStrike">
                          <a:solidFill>
                            <a:srgbClr val="FFFFFF"/>
                          </a:solidFill>
                          <a:latin typeface="Arial"/>
                          <a:ea typeface="Arial"/>
                          <a:cs typeface="Arial"/>
                          <a:sym typeface="Arial"/>
                        </a:rPr>
                        <a:t>Mục đích</a:t>
                      </a:r>
                      <a:endParaRPr sz="105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0F3F6F"/>
                    </a:solidFill>
                  </a:tcPr>
                </a:tc>
              </a:tr>
              <a:tr h="438900">
                <a:tc>
                  <a:txBody>
                    <a:bodyPr/>
                    <a:lstStyle/>
                    <a:p>
                      <a:pPr indent="0" lvl="0" marL="0" marR="0" rtl="0" algn="l">
                        <a:spcBef>
                          <a:spcPts val="0"/>
                        </a:spcBef>
                        <a:spcAft>
                          <a:spcPts val="0"/>
                        </a:spcAft>
                        <a:buClr>
                          <a:srgbClr val="0F3F6F"/>
                        </a:buClr>
                        <a:buSzPts val="1050"/>
                        <a:buFont typeface="Consolas"/>
                        <a:buNone/>
                      </a:pPr>
                      <a:r>
                        <a:rPr b="1" lang="en-US" sz="1050" u="none" cap="none" strike="noStrike">
                          <a:solidFill>
                            <a:srgbClr val="0F3F6F"/>
                          </a:solidFill>
                          <a:latin typeface="Consolas"/>
                          <a:ea typeface="Consolas"/>
                          <a:cs typeface="Consolas"/>
                          <a:sym typeface="Consolas"/>
                        </a:rPr>
                        <a:t>df.head() / df.tail()</a:t>
                      </a:r>
                      <a:endParaRPr sz="1050" u="none" cap="none" strike="noStrike">
                        <a:latin typeface="Consolas"/>
                        <a:ea typeface="Consolas"/>
                        <a:cs typeface="Consolas"/>
                        <a:sym typeface="Consolas"/>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50"/>
                        <a:buFont typeface="Arial"/>
                        <a:buNone/>
                      </a:pPr>
                      <a:r>
                        <a:rPr lang="en-US" sz="1050" u="none" cap="none" strike="noStrike">
                          <a:solidFill>
                            <a:srgbClr val="000000"/>
                          </a:solidFill>
                          <a:latin typeface="Arial"/>
                          <a:ea typeface="Arial"/>
                          <a:cs typeface="Arial"/>
                          <a:sym typeface="Arial"/>
                        </a:rPr>
                        <a:t>Xem nhanh vài dòng đầu/cuối của dữ liệu</a:t>
                      </a:r>
                      <a:endParaRPr sz="105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0F3F6F"/>
                        </a:buClr>
                        <a:buSzPts val="1050"/>
                        <a:buFont typeface="Consolas"/>
                        <a:buNone/>
                      </a:pPr>
                      <a:r>
                        <a:rPr b="1" lang="en-US" sz="1050" u="none" cap="none" strike="noStrike">
                          <a:solidFill>
                            <a:srgbClr val="0F3F6F"/>
                          </a:solidFill>
                          <a:latin typeface="Consolas"/>
                          <a:ea typeface="Consolas"/>
                          <a:cs typeface="Consolas"/>
                          <a:sym typeface="Consolas"/>
                        </a:rPr>
                        <a:t>df.shape</a:t>
                      </a:r>
                      <a:endParaRPr sz="1050" u="none" cap="none" strike="noStrike">
                        <a:latin typeface="Consolas"/>
                        <a:ea typeface="Consolas"/>
                        <a:cs typeface="Consolas"/>
                        <a:sym typeface="Consolas"/>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c>
                  <a:txBody>
                    <a:bodyPr/>
                    <a:lstStyle/>
                    <a:p>
                      <a:pPr indent="0" lvl="0" marL="0" marR="0" rtl="0" algn="l">
                        <a:spcBef>
                          <a:spcPts val="0"/>
                        </a:spcBef>
                        <a:spcAft>
                          <a:spcPts val="0"/>
                        </a:spcAft>
                        <a:buClr>
                          <a:srgbClr val="000000"/>
                        </a:buClr>
                        <a:buSzPts val="1050"/>
                        <a:buFont typeface="Arial"/>
                        <a:buNone/>
                      </a:pPr>
                      <a:r>
                        <a:rPr lang="en-US" sz="1050" u="none" cap="none" strike="noStrike">
                          <a:solidFill>
                            <a:srgbClr val="000000"/>
                          </a:solidFill>
                          <a:latin typeface="Arial"/>
                          <a:ea typeface="Arial"/>
                          <a:cs typeface="Arial"/>
                          <a:sym typeface="Arial"/>
                        </a:rPr>
                        <a:t>Số dòng và số cột của dataset</a:t>
                      </a:r>
                      <a:endParaRPr sz="105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r>
              <a:tr h="438900">
                <a:tc>
                  <a:txBody>
                    <a:bodyPr/>
                    <a:lstStyle/>
                    <a:p>
                      <a:pPr indent="0" lvl="0" marL="0" marR="0" rtl="0" algn="l">
                        <a:spcBef>
                          <a:spcPts val="0"/>
                        </a:spcBef>
                        <a:spcAft>
                          <a:spcPts val="0"/>
                        </a:spcAft>
                        <a:buClr>
                          <a:srgbClr val="0F3F6F"/>
                        </a:buClr>
                        <a:buSzPts val="1050"/>
                        <a:buFont typeface="Consolas"/>
                        <a:buNone/>
                      </a:pPr>
                      <a:r>
                        <a:rPr b="1" lang="en-US" sz="1050" u="none" cap="none" strike="noStrike">
                          <a:solidFill>
                            <a:srgbClr val="0F3F6F"/>
                          </a:solidFill>
                          <a:latin typeface="Consolas"/>
                          <a:ea typeface="Consolas"/>
                          <a:cs typeface="Consolas"/>
                          <a:sym typeface="Consolas"/>
                        </a:rPr>
                        <a:t>df.columns / df.dtypes</a:t>
                      </a:r>
                      <a:endParaRPr sz="1050" u="none" cap="none" strike="noStrike">
                        <a:latin typeface="Consolas"/>
                        <a:ea typeface="Consolas"/>
                        <a:cs typeface="Consolas"/>
                        <a:sym typeface="Consolas"/>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50"/>
                        <a:buFont typeface="Arial"/>
                        <a:buNone/>
                      </a:pPr>
                      <a:r>
                        <a:rPr lang="en-US" sz="1050" u="none" cap="none" strike="noStrike">
                          <a:solidFill>
                            <a:srgbClr val="000000"/>
                          </a:solidFill>
                          <a:latin typeface="Arial"/>
                          <a:ea typeface="Arial"/>
                          <a:cs typeface="Arial"/>
                          <a:sym typeface="Arial"/>
                        </a:rPr>
                        <a:t>Tên cột và kiểu dữ liệu từng cột</a:t>
                      </a:r>
                      <a:endParaRPr sz="105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0F3F6F"/>
                        </a:buClr>
                        <a:buSzPts val="1050"/>
                        <a:buFont typeface="Consolas"/>
                        <a:buNone/>
                      </a:pPr>
                      <a:r>
                        <a:rPr b="1" lang="en-US" sz="1050" u="none" cap="none" strike="noStrike">
                          <a:solidFill>
                            <a:srgbClr val="0F3F6F"/>
                          </a:solidFill>
                          <a:latin typeface="Consolas"/>
                          <a:ea typeface="Consolas"/>
                          <a:cs typeface="Consolas"/>
                          <a:sym typeface="Consolas"/>
                        </a:rPr>
                        <a:t>df.info()</a:t>
                      </a:r>
                      <a:endParaRPr sz="1050" u="none" cap="none" strike="noStrike">
                        <a:latin typeface="Consolas"/>
                        <a:ea typeface="Consolas"/>
                        <a:cs typeface="Consolas"/>
                        <a:sym typeface="Consolas"/>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c>
                  <a:txBody>
                    <a:bodyPr/>
                    <a:lstStyle/>
                    <a:p>
                      <a:pPr indent="0" lvl="0" marL="0" marR="0" rtl="0" algn="l">
                        <a:spcBef>
                          <a:spcPts val="0"/>
                        </a:spcBef>
                        <a:spcAft>
                          <a:spcPts val="0"/>
                        </a:spcAft>
                        <a:buClr>
                          <a:srgbClr val="000000"/>
                        </a:buClr>
                        <a:buSzPts val="1050"/>
                        <a:buFont typeface="Arial"/>
                        <a:buNone/>
                      </a:pPr>
                      <a:r>
                        <a:rPr lang="en-US" sz="1050" u="none" cap="none" strike="noStrike">
                          <a:solidFill>
                            <a:srgbClr val="000000"/>
                          </a:solidFill>
                          <a:latin typeface="Arial"/>
                          <a:ea typeface="Arial"/>
                          <a:cs typeface="Arial"/>
                          <a:sym typeface="Arial"/>
                        </a:rPr>
                        <a:t>Tổng quan cấu trúc, kiểu dữ liệu, số lượng giá trị non-null</a:t>
                      </a:r>
                      <a:endParaRPr sz="105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r>
              <a:tr h="438900">
                <a:tc>
                  <a:txBody>
                    <a:bodyPr/>
                    <a:lstStyle/>
                    <a:p>
                      <a:pPr indent="0" lvl="0" marL="0" marR="0" rtl="0" algn="l">
                        <a:spcBef>
                          <a:spcPts val="0"/>
                        </a:spcBef>
                        <a:spcAft>
                          <a:spcPts val="0"/>
                        </a:spcAft>
                        <a:buClr>
                          <a:srgbClr val="0F3F6F"/>
                        </a:buClr>
                        <a:buSzPts val="1050"/>
                        <a:buFont typeface="Consolas"/>
                        <a:buNone/>
                      </a:pPr>
                      <a:r>
                        <a:rPr b="1" lang="en-US" sz="1050" u="none" cap="none" strike="noStrike">
                          <a:solidFill>
                            <a:srgbClr val="0F3F6F"/>
                          </a:solidFill>
                          <a:latin typeface="Consolas"/>
                          <a:ea typeface="Consolas"/>
                          <a:cs typeface="Consolas"/>
                          <a:sym typeface="Consolas"/>
                        </a:rPr>
                        <a:t>df.describe()</a:t>
                      </a:r>
                      <a:endParaRPr sz="1050" u="none" cap="none" strike="noStrike">
                        <a:latin typeface="Consolas"/>
                        <a:ea typeface="Consolas"/>
                        <a:cs typeface="Consolas"/>
                        <a:sym typeface="Consolas"/>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50"/>
                        <a:buFont typeface="Arial"/>
                        <a:buNone/>
                      </a:pPr>
                      <a:r>
                        <a:rPr lang="en-US" sz="1050" u="none" cap="none" strike="noStrike">
                          <a:solidFill>
                            <a:srgbClr val="000000"/>
                          </a:solidFill>
                          <a:latin typeface="Arial"/>
                          <a:ea typeface="Arial"/>
                          <a:cs typeface="Arial"/>
                          <a:sym typeface="Arial"/>
                        </a:rPr>
                        <a:t>Thống kê mô tả: mean, min, max, phân vị</a:t>
                      </a:r>
                      <a:endParaRPr sz="105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0F3F6F"/>
                        </a:buClr>
                        <a:buSzPts val="1050"/>
                        <a:buFont typeface="Consolas"/>
                        <a:buNone/>
                      </a:pPr>
                      <a:r>
                        <a:rPr b="1" lang="en-US" sz="1050" u="none" cap="none" strike="noStrike">
                          <a:solidFill>
                            <a:srgbClr val="0F3F6F"/>
                          </a:solidFill>
                          <a:latin typeface="Consolas"/>
                          <a:ea typeface="Consolas"/>
                          <a:cs typeface="Consolas"/>
                          <a:sym typeface="Consolas"/>
                        </a:rPr>
                        <a:t>df.isnull().sum()</a:t>
                      </a:r>
                      <a:endParaRPr sz="1050" u="none" cap="none" strike="noStrike">
                        <a:latin typeface="Consolas"/>
                        <a:ea typeface="Consolas"/>
                        <a:cs typeface="Consolas"/>
                        <a:sym typeface="Consolas"/>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c>
                  <a:txBody>
                    <a:bodyPr/>
                    <a:lstStyle/>
                    <a:p>
                      <a:pPr indent="0" lvl="0" marL="0" marR="0" rtl="0" algn="l">
                        <a:spcBef>
                          <a:spcPts val="0"/>
                        </a:spcBef>
                        <a:spcAft>
                          <a:spcPts val="0"/>
                        </a:spcAft>
                        <a:buClr>
                          <a:srgbClr val="000000"/>
                        </a:buClr>
                        <a:buSzPts val="1050"/>
                        <a:buFont typeface="Arial"/>
                        <a:buNone/>
                      </a:pPr>
                      <a:r>
                        <a:rPr lang="en-US" sz="1050" u="none" cap="none" strike="noStrike">
                          <a:solidFill>
                            <a:srgbClr val="000000"/>
                          </a:solidFill>
                          <a:latin typeface="Arial"/>
                          <a:ea typeface="Arial"/>
                          <a:cs typeface="Arial"/>
                          <a:sym typeface="Arial"/>
                        </a:rPr>
                        <a:t>Đếm số giá trị thiếu theo từng cột</a:t>
                      </a:r>
                      <a:endParaRPr sz="105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r>
              <a:tr h="438900">
                <a:tc>
                  <a:txBody>
                    <a:bodyPr/>
                    <a:lstStyle/>
                    <a:p>
                      <a:pPr indent="0" lvl="0" marL="0" marR="0" rtl="0" algn="l">
                        <a:spcBef>
                          <a:spcPts val="0"/>
                        </a:spcBef>
                        <a:spcAft>
                          <a:spcPts val="0"/>
                        </a:spcAft>
                        <a:buClr>
                          <a:srgbClr val="0F3F6F"/>
                        </a:buClr>
                        <a:buSzPts val="1050"/>
                        <a:buFont typeface="Consolas"/>
                        <a:buNone/>
                      </a:pPr>
                      <a:r>
                        <a:rPr b="1" lang="en-US" sz="1050" u="none" cap="none" strike="noStrike">
                          <a:solidFill>
                            <a:srgbClr val="0F3F6F"/>
                          </a:solidFill>
                          <a:latin typeface="Consolas"/>
                          <a:ea typeface="Consolas"/>
                          <a:cs typeface="Consolas"/>
                          <a:sym typeface="Consolas"/>
                        </a:rPr>
                        <a:t>df.duplicated().sum()</a:t>
                      </a:r>
                      <a:endParaRPr sz="1050" u="none" cap="none" strike="noStrike">
                        <a:latin typeface="Consolas"/>
                        <a:ea typeface="Consolas"/>
                        <a:cs typeface="Consolas"/>
                        <a:sym typeface="Consolas"/>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50"/>
                        <a:buFont typeface="Arial"/>
                        <a:buNone/>
                      </a:pPr>
                      <a:r>
                        <a:rPr lang="en-US" sz="1050" u="none" cap="none" strike="noStrike">
                          <a:solidFill>
                            <a:srgbClr val="000000"/>
                          </a:solidFill>
                          <a:latin typeface="Arial"/>
                          <a:ea typeface="Arial"/>
                          <a:cs typeface="Arial"/>
                          <a:sym typeface="Arial"/>
                        </a:rPr>
                        <a:t>Đếm số dòng dữ liệu bị trùng lặp</a:t>
                      </a:r>
                      <a:endParaRPr sz="105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0F3F6F"/>
                        </a:buClr>
                        <a:buSzPts val="1050"/>
                        <a:buFont typeface="Consolas"/>
                        <a:buNone/>
                      </a:pPr>
                      <a:r>
                        <a:rPr b="1" lang="en-US" sz="1050" u="none" cap="none" strike="noStrike">
                          <a:solidFill>
                            <a:srgbClr val="0F3F6F"/>
                          </a:solidFill>
                          <a:latin typeface="Consolas"/>
                          <a:ea typeface="Consolas"/>
                          <a:cs typeface="Consolas"/>
                          <a:sym typeface="Consolas"/>
                        </a:rPr>
                        <a:t>df["category"].value_counts()</a:t>
                      </a:r>
                      <a:endParaRPr sz="1050" u="none" cap="none" strike="noStrike">
                        <a:latin typeface="Consolas"/>
                        <a:ea typeface="Consolas"/>
                        <a:cs typeface="Consolas"/>
                        <a:sym typeface="Consolas"/>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c>
                  <a:txBody>
                    <a:bodyPr/>
                    <a:lstStyle/>
                    <a:p>
                      <a:pPr indent="0" lvl="0" marL="0" marR="0" rtl="0" algn="l">
                        <a:spcBef>
                          <a:spcPts val="0"/>
                        </a:spcBef>
                        <a:spcAft>
                          <a:spcPts val="0"/>
                        </a:spcAft>
                        <a:buClr>
                          <a:srgbClr val="000000"/>
                        </a:buClr>
                        <a:buSzPts val="1050"/>
                        <a:buFont typeface="Arial"/>
                        <a:buNone/>
                      </a:pPr>
                      <a:r>
                        <a:rPr lang="en-US" sz="1050" u="none" cap="none" strike="noStrike">
                          <a:solidFill>
                            <a:srgbClr val="000000"/>
                          </a:solidFill>
                          <a:latin typeface="Arial"/>
                          <a:ea typeface="Arial"/>
                          <a:cs typeface="Arial"/>
                          <a:sym typeface="Arial"/>
                        </a:rPr>
                        <a:t>Phân bố tần suất của một cột phân loại</a:t>
                      </a:r>
                      <a:endParaRPr sz="1050" u="none" cap="none" strike="noStrike">
                        <a:latin typeface="Arial"/>
                        <a:ea typeface="Arial"/>
                        <a:cs typeface="Arial"/>
                        <a:sym typeface="Arial"/>
                      </a:endParaRPr>
                    </a:p>
                  </a:txBody>
                  <a:tcPr marT="45725" marB="45725" marR="91450" marL="91450" anchor="ctr">
                    <a:lnL cap="flat" cmpd="sng" w="9525">
                      <a:solidFill>
                        <a:srgbClr val="D6DCE4"/>
                      </a:solidFill>
                      <a:prstDash val="solid"/>
                      <a:round/>
                      <a:headEnd len="sm" w="sm" type="none"/>
                      <a:tailEnd len="sm" w="sm" type="none"/>
                    </a:lnL>
                    <a:lnR cap="flat" cmpd="sng" w="9525">
                      <a:solidFill>
                        <a:srgbClr val="D6DCE4"/>
                      </a:solidFill>
                      <a:prstDash val="solid"/>
                      <a:round/>
                      <a:headEnd len="sm" w="sm" type="none"/>
                      <a:tailEnd len="sm" w="sm" type="none"/>
                    </a:lnR>
                    <a:lnT cap="flat" cmpd="sng" w="9525">
                      <a:solidFill>
                        <a:srgbClr val="D6DCE4"/>
                      </a:solidFill>
                      <a:prstDash val="solid"/>
                      <a:round/>
                      <a:headEnd len="sm" w="sm" type="none"/>
                      <a:tailEnd len="sm" w="sm" type="none"/>
                    </a:lnT>
                    <a:lnB cap="flat" cmpd="sng" w="9525">
                      <a:solidFill>
                        <a:srgbClr val="D6DCE4"/>
                      </a:solidFill>
                      <a:prstDash val="solid"/>
                      <a:round/>
                      <a:headEnd len="sm" w="sm" type="none"/>
                      <a:tailEnd len="sm" w="sm" type="none"/>
                    </a:lnB>
                    <a:solidFill>
                      <a:srgbClr val="F0F4F7"/>
                    </a:solidFill>
                  </a:tcPr>
                </a:tc>
              </a:tr>
            </a:tbl>
          </a:graphicData>
        </a:graphic>
      </p:graphicFrame>
      <p:sp>
        <p:nvSpPr>
          <p:cNvPr id="341" name="Google Shape;341;p14"/>
          <p:cNvSpPr/>
          <p:nvPr/>
        </p:nvSpPr>
        <p:spPr>
          <a:xfrm>
            <a:off x="548640" y="5486400"/>
            <a:ext cx="11109960" cy="502920"/>
          </a:xfrm>
          <a:prstGeom prst="roundRect">
            <a:avLst>
              <a:gd fmla="val 10909" name="adj"/>
            </a:avLst>
          </a:prstGeom>
          <a:solidFill>
            <a:srgbClr val="F0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4"/>
          <p:cNvSpPr/>
          <p:nvPr/>
        </p:nvSpPr>
        <p:spPr>
          <a:xfrm>
            <a:off x="777240" y="5486400"/>
            <a:ext cx="1065276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150"/>
              <a:buFont typeface="Arial"/>
              <a:buNone/>
            </a:pPr>
            <a:r>
              <a:rPr b="1" i="1" lang="en-US" sz="1150">
                <a:solidFill>
                  <a:srgbClr val="0F3F6F"/>
                </a:solidFill>
                <a:latin typeface="Arial"/>
                <a:ea typeface="Arial"/>
                <a:cs typeface="Arial"/>
                <a:sym typeface="Arial"/>
              </a:rPr>
              <a:t>Nguyên tắc: không sửa dữ liệu trước khi biết dữ liệu đang có vấn đề gì.</a:t>
            </a:r>
            <a:endParaRPr sz="1150">
              <a:solidFill>
                <a:schemeClr val="dk1"/>
              </a:solidFill>
              <a:latin typeface="Calibri"/>
              <a:ea typeface="Calibri"/>
              <a:cs typeface="Calibri"/>
              <a:sym typeface="Calibri"/>
            </a:endParaRPr>
          </a:p>
        </p:txBody>
      </p:sp>
      <p:sp>
        <p:nvSpPr>
          <p:cNvPr id="343" name="Google Shape;343;p14"/>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Bài 6. Data Wrangling và làm sạch dữ liệu</a:t>
            </a:r>
            <a:endParaRPr sz="1000">
              <a:solidFill>
                <a:schemeClr val="dk1"/>
              </a:solidFill>
              <a:latin typeface="Calibri"/>
              <a:ea typeface="Calibri"/>
              <a:cs typeface="Calibri"/>
              <a:sym typeface="Calibri"/>
            </a:endParaRPr>
          </a:p>
        </p:txBody>
      </p:sp>
      <p:sp>
        <p:nvSpPr>
          <p:cNvPr id="344" name="Google Shape;344;p14"/>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14</a:t>
            </a:r>
            <a:endParaRPr sz="10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9" name="Shape 349"/>
        <p:cNvGrpSpPr/>
        <p:nvPr/>
      </p:nvGrpSpPr>
      <p:grpSpPr>
        <a:xfrm>
          <a:off x="0" y="0"/>
          <a:ext cx="0" cy="0"/>
          <a:chOff x="0" y="0"/>
          <a:chExt cx="0" cy="0"/>
        </a:xfrm>
      </p:grpSpPr>
      <p:sp>
        <p:nvSpPr>
          <p:cNvPr id="350" name="Google Shape;350;p15"/>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5"/>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5"/>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5"/>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5"/>
          <p:cNvSpPr/>
          <p:nvPr/>
        </p:nvSpPr>
        <p:spPr>
          <a:xfrm>
            <a:off x="658368" y="1371600"/>
            <a:ext cx="32004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5B518"/>
              </a:buClr>
              <a:buSzPts val="1900"/>
              <a:buFont typeface="Arial"/>
              <a:buNone/>
            </a:pPr>
            <a:r>
              <a:rPr b="1" lang="en-US" sz="1900">
                <a:solidFill>
                  <a:srgbClr val="85B518"/>
                </a:solidFill>
                <a:latin typeface="Arial"/>
                <a:ea typeface="Arial"/>
                <a:cs typeface="Arial"/>
                <a:sym typeface="Arial"/>
              </a:rPr>
              <a:t>PHẦN 6.5</a:t>
            </a:r>
            <a:endParaRPr sz="1900">
              <a:solidFill>
                <a:schemeClr val="dk1"/>
              </a:solidFill>
              <a:latin typeface="Calibri"/>
              <a:ea typeface="Calibri"/>
              <a:cs typeface="Calibri"/>
              <a:sym typeface="Calibri"/>
            </a:endParaRPr>
          </a:p>
        </p:txBody>
      </p:sp>
      <p:sp>
        <p:nvSpPr>
          <p:cNvPr id="355" name="Google Shape;355;p15"/>
          <p:cNvSpPr/>
          <p:nvPr/>
        </p:nvSpPr>
        <p:spPr>
          <a:xfrm>
            <a:off x="658368" y="1965960"/>
            <a:ext cx="10241280" cy="11887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3400"/>
              <a:buFont typeface="Arial"/>
              <a:buNone/>
            </a:pPr>
            <a:r>
              <a:rPr b="1" lang="en-US" sz="3400">
                <a:solidFill>
                  <a:srgbClr val="0F3F6F"/>
                </a:solidFill>
                <a:latin typeface="Arial"/>
                <a:ea typeface="Arial"/>
                <a:cs typeface="Arial"/>
                <a:sym typeface="Arial"/>
              </a:rPr>
              <a:t>Xử lý dữ liệu thiếu</a:t>
            </a:r>
            <a:endParaRPr sz="3400">
              <a:solidFill>
                <a:schemeClr val="dk1"/>
              </a:solidFill>
              <a:latin typeface="Calibri"/>
              <a:ea typeface="Calibri"/>
              <a:cs typeface="Calibri"/>
              <a:sym typeface="Calibri"/>
            </a:endParaRPr>
          </a:p>
        </p:txBody>
      </p:sp>
      <p:sp>
        <p:nvSpPr>
          <p:cNvPr id="356" name="Google Shape;356;p15"/>
          <p:cNvSpPr/>
          <p:nvPr/>
        </p:nvSpPr>
        <p:spPr>
          <a:xfrm>
            <a:off x="685800" y="3246120"/>
            <a:ext cx="100126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35266"/>
              </a:buClr>
              <a:buSzPts val="1500"/>
              <a:buFont typeface="Arial"/>
              <a:buNone/>
            </a:pPr>
            <a:r>
              <a:rPr lang="en-US" sz="1500">
                <a:solidFill>
                  <a:srgbClr val="435266"/>
                </a:solidFill>
                <a:latin typeface="Arial"/>
                <a:ea typeface="Arial"/>
                <a:cs typeface="Arial"/>
                <a:sym typeface="Arial"/>
              </a:rPr>
              <a:t>Không tồn tại quy tắc "cứ gặp missing value là điền mean"</a:t>
            </a:r>
            <a:endParaRPr sz="1500">
              <a:solidFill>
                <a:schemeClr val="dk1"/>
              </a:solidFill>
              <a:latin typeface="Calibri"/>
              <a:ea typeface="Calibri"/>
              <a:cs typeface="Calibri"/>
              <a:sym typeface="Calibri"/>
            </a:endParaRPr>
          </a:p>
        </p:txBody>
      </p:sp>
      <p:sp>
        <p:nvSpPr>
          <p:cNvPr id="357" name="Google Shape;357;p15"/>
          <p:cNvSpPr/>
          <p:nvPr/>
        </p:nvSpPr>
        <p:spPr>
          <a:xfrm>
            <a:off x="685800" y="4937760"/>
            <a:ext cx="5212080" cy="5029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5"/>
          <p:cNvSpPr/>
          <p:nvPr/>
        </p:nvSpPr>
        <p:spPr>
          <a:xfrm>
            <a:off x="6016752" y="4937760"/>
            <a:ext cx="1143000" cy="50292"/>
          </a:xfrm>
          <a:prstGeom prst="rect">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5"/>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15</a:t>
            </a:r>
            <a:endParaRPr sz="10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4" name="Shape 364"/>
        <p:cNvGrpSpPr/>
        <p:nvPr/>
      </p:nvGrpSpPr>
      <p:grpSpPr>
        <a:xfrm>
          <a:off x="0" y="0"/>
          <a:ext cx="0" cy="0"/>
          <a:chOff x="0" y="0"/>
          <a:chExt cx="0" cy="0"/>
        </a:xfrm>
      </p:grpSpPr>
      <p:sp>
        <p:nvSpPr>
          <p:cNvPr id="365" name="Google Shape;365;p16"/>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6"/>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6"/>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6"/>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6"/>
          <p:cNvSpPr/>
          <p:nvPr/>
        </p:nvSpPr>
        <p:spPr>
          <a:xfrm>
            <a:off x="530352" y="237744"/>
            <a:ext cx="978408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2100"/>
              <a:buFont typeface="Arial"/>
              <a:buNone/>
            </a:pPr>
            <a:r>
              <a:rPr b="1" lang="en-US" sz="2100">
                <a:solidFill>
                  <a:srgbClr val="0F3F6F"/>
                </a:solidFill>
                <a:latin typeface="Arial"/>
                <a:ea typeface="Arial"/>
                <a:cs typeface="Arial"/>
                <a:sym typeface="Arial"/>
              </a:rPr>
              <a:t>Các dạng dữ liệu thiếu &amp; chiến lược xử lý</a:t>
            </a:r>
            <a:endParaRPr sz="2100">
              <a:solidFill>
                <a:schemeClr val="dk1"/>
              </a:solidFill>
              <a:latin typeface="Calibri"/>
              <a:ea typeface="Calibri"/>
              <a:cs typeface="Calibri"/>
              <a:sym typeface="Calibri"/>
            </a:endParaRPr>
          </a:p>
        </p:txBody>
      </p:sp>
      <p:sp>
        <p:nvSpPr>
          <p:cNvPr id="370" name="Google Shape;370;p16"/>
          <p:cNvSpPr/>
          <p:nvPr/>
        </p:nvSpPr>
        <p:spPr>
          <a:xfrm>
            <a:off x="548640" y="969264"/>
            <a:ext cx="9144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i="1" lang="en-US" sz="1100">
                <a:solidFill>
                  <a:srgbClr val="8497A5"/>
                </a:solidFill>
                <a:latin typeface="Arial"/>
                <a:ea typeface="Arial"/>
                <a:cs typeface="Arial"/>
                <a:sym typeface="Arial"/>
              </a:rPr>
              <a:t>6.5. Xử lý dữ liệu thiếu · Bài 06</a:t>
            </a:r>
            <a:endParaRPr sz="1100">
              <a:solidFill>
                <a:schemeClr val="dk1"/>
              </a:solidFill>
              <a:latin typeface="Calibri"/>
              <a:ea typeface="Calibri"/>
              <a:cs typeface="Calibri"/>
              <a:sym typeface="Calibri"/>
            </a:endParaRPr>
          </a:p>
        </p:txBody>
      </p:sp>
      <p:sp>
        <p:nvSpPr>
          <p:cNvPr id="371" name="Google Shape;371;p16"/>
          <p:cNvSpPr/>
          <p:nvPr/>
        </p:nvSpPr>
        <p:spPr>
          <a:xfrm>
            <a:off x="548640" y="12801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250"/>
              <a:buFont typeface="Arial"/>
              <a:buNone/>
            </a:pPr>
            <a:r>
              <a:rPr lang="en-US" sz="1250">
                <a:solidFill>
                  <a:srgbClr val="000000"/>
                </a:solidFill>
                <a:latin typeface="Arial"/>
                <a:ea typeface="Arial"/>
                <a:cs typeface="Arial"/>
                <a:sym typeface="Arial"/>
              </a:rPr>
              <a:t>Dữ liệu thiếu có thể xuất hiện dưới nhiều dạng:</a:t>
            </a:r>
            <a:endParaRPr sz="1250">
              <a:solidFill>
                <a:schemeClr val="dk1"/>
              </a:solidFill>
              <a:latin typeface="Calibri"/>
              <a:ea typeface="Calibri"/>
              <a:cs typeface="Calibri"/>
              <a:sym typeface="Calibri"/>
            </a:endParaRPr>
          </a:p>
        </p:txBody>
      </p:sp>
      <p:sp>
        <p:nvSpPr>
          <p:cNvPr id="372" name="Google Shape;372;p16"/>
          <p:cNvSpPr/>
          <p:nvPr/>
        </p:nvSpPr>
        <p:spPr>
          <a:xfrm>
            <a:off x="548640" y="1645920"/>
            <a:ext cx="1463040" cy="457200"/>
          </a:xfrm>
          <a:prstGeom prst="roundRect">
            <a:avLst>
              <a:gd fmla="val 50000"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6"/>
          <p:cNvSpPr/>
          <p:nvPr/>
        </p:nvSpPr>
        <p:spPr>
          <a:xfrm>
            <a:off x="548640" y="1645920"/>
            <a:ext cx="14630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00"/>
              <a:buFont typeface="Consolas"/>
              <a:buNone/>
            </a:pPr>
            <a:r>
              <a:rPr b="1" lang="en-US" sz="1100">
                <a:solidFill>
                  <a:srgbClr val="0F3F6F"/>
                </a:solidFill>
                <a:latin typeface="Consolas"/>
                <a:ea typeface="Consolas"/>
                <a:cs typeface="Consolas"/>
                <a:sym typeface="Consolas"/>
              </a:rPr>
              <a:t>NaN</a:t>
            </a:r>
            <a:endParaRPr sz="1100">
              <a:solidFill>
                <a:schemeClr val="dk1"/>
              </a:solidFill>
              <a:latin typeface="Calibri"/>
              <a:ea typeface="Calibri"/>
              <a:cs typeface="Calibri"/>
              <a:sym typeface="Calibri"/>
            </a:endParaRPr>
          </a:p>
        </p:txBody>
      </p:sp>
      <p:sp>
        <p:nvSpPr>
          <p:cNvPr id="374" name="Google Shape;374;p16"/>
          <p:cNvSpPr/>
          <p:nvPr/>
        </p:nvSpPr>
        <p:spPr>
          <a:xfrm>
            <a:off x="2148840" y="1645920"/>
            <a:ext cx="1463040" cy="457200"/>
          </a:xfrm>
          <a:prstGeom prst="roundRect">
            <a:avLst>
              <a:gd fmla="val 50000"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6"/>
          <p:cNvSpPr/>
          <p:nvPr/>
        </p:nvSpPr>
        <p:spPr>
          <a:xfrm>
            <a:off x="2148840" y="1645920"/>
            <a:ext cx="14630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00"/>
              <a:buFont typeface="Consolas"/>
              <a:buNone/>
            </a:pPr>
            <a:r>
              <a:rPr b="1" lang="en-US" sz="1100">
                <a:solidFill>
                  <a:srgbClr val="0F3F6F"/>
                </a:solidFill>
                <a:latin typeface="Consolas"/>
                <a:ea typeface="Consolas"/>
                <a:cs typeface="Consolas"/>
                <a:sym typeface="Consolas"/>
              </a:rPr>
              <a:t>None</a:t>
            </a:r>
            <a:endParaRPr sz="1100">
              <a:solidFill>
                <a:schemeClr val="dk1"/>
              </a:solidFill>
              <a:latin typeface="Calibri"/>
              <a:ea typeface="Calibri"/>
              <a:cs typeface="Calibri"/>
              <a:sym typeface="Calibri"/>
            </a:endParaRPr>
          </a:p>
        </p:txBody>
      </p:sp>
      <p:sp>
        <p:nvSpPr>
          <p:cNvPr id="376" name="Google Shape;376;p16"/>
          <p:cNvSpPr/>
          <p:nvPr/>
        </p:nvSpPr>
        <p:spPr>
          <a:xfrm>
            <a:off x="3749040" y="1645920"/>
            <a:ext cx="1463040" cy="457200"/>
          </a:xfrm>
          <a:prstGeom prst="roundRect">
            <a:avLst>
              <a:gd fmla="val 50000"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6"/>
          <p:cNvSpPr/>
          <p:nvPr/>
        </p:nvSpPr>
        <p:spPr>
          <a:xfrm>
            <a:off x="3749040" y="1645920"/>
            <a:ext cx="14630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00"/>
              <a:buFont typeface="Consolas"/>
              <a:buNone/>
            </a:pPr>
            <a:r>
              <a:rPr b="1" lang="en-US" sz="1100">
                <a:solidFill>
                  <a:srgbClr val="0F3F6F"/>
                </a:solidFill>
                <a:latin typeface="Consolas"/>
                <a:ea typeface="Consolas"/>
                <a:cs typeface="Consolas"/>
                <a:sym typeface="Consolas"/>
              </a:rPr>
              <a:t>NULL</a:t>
            </a:r>
            <a:endParaRPr sz="1100">
              <a:solidFill>
                <a:schemeClr val="dk1"/>
              </a:solidFill>
              <a:latin typeface="Calibri"/>
              <a:ea typeface="Calibri"/>
              <a:cs typeface="Calibri"/>
              <a:sym typeface="Calibri"/>
            </a:endParaRPr>
          </a:p>
        </p:txBody>
      </p:sp>
      <p:sp>
        <p:nvSpPr>
          <p:cNvPr id="378" name="Google Shape;378;p16"/>
          <p:cNvSpPr/>
          <p:nvPr/>
        </p:nvSpPr>
        <p:spPr>
          <a:xfrm>
            <a:off x="5349240" y="1645920"/>
            <a:ext cx="1463040" cy="457200"/>
          </a:xfrm>
          <a:prstGeom prst="roundRect">
            <a:avLst>
              <a:gd fmla="val 50000"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6"/>
          <p:cNvSpPr/>
          <p:nvPr/>
        </p:nvSpPr>
        <p:spPr>
          <a:xfrm>
            <a:off x="5349240" y="1645920"/>
            <a:ext cx="14630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00"/>
              <a:buFont typeface="Consolas"/>
              <a:buNone/>
            </a:pPr>
            <a:r>
              <a:rPr b="1" lang="en-US" sz="1100">
                <a:solidFill>
                  <a:srgbClr val="0F3F6F"/>
                </a:solidFill>
                <a:latin typeface="Consolas"/>
                <a:ea typeface="Consolas"/>
                <a:cs typeface="Consolas"/>
                <a:sym typeface="Consolas"/>
              </a:rPr>
              <a:t>ô trống</a:t>
            </a:r>
            <a:endParaRPr sz="1100">
              <a:solidFill>
                <a:schemeClr val="dk1"/>
              </a:solidFill>
              <a:latin typeface="Calibri"/>
              <a:ea typeface="Calibri"/>
              <a:cs typeface="Calibri"/>
              <a:sym typeface="Calibri"/>
            </a:endParaRPr>
          </a:p>
        </p:txBody>
      </p:sp>
      <p:sp>
        <p:nvSpPr>
          <p:cNvPr id="380" name="Google Shape;380;p16"/>
          <p:cNvSpPr/>
          <p:nvPr/>
        </p:nvSpPr>
        <p:spPr>
          <a:xfrm>
            <a:off x="6949440" y="1645920"/>
            <a:ext cx="1463040" cy="457200"/>
          </a:xfrm>
          <a:prstGeom prst="roundRect">
            <a:avLst>
              <a:gd fmla="val 50000"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6"/>
          <p:cNvSpPr/>
          <p:nvPr/>
        </p:nvSpPr>
        <p:spPr>
          <a:xfrm>
            <a:off x="6949440" y="1645920"/>
            <a:ext cx="14630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00"/>
              <a:buFont typeface="Consolas"/>
              <a:buNone/>
            </a:pPr>
            <a:r>
              <a:rPr b="1" lang="en-US" sz="1100">
                <a:solidFill>
                  <a:srgbClr val="0F3F6F"/>
                </a:solidFill>
                <a:latin typeface="Consolas"/>
                <a:ea typeface="Consolas"/>
                <a:cs typeface="Consolas"/>
                <a:sym typeface="Consolas"/>
              </a:rPr>
              <a:t>"N/A"</a:t>
            </a:r>
            <a:endParaRPr sz="1100">
              <a:solidFill>
                <a:schemeClr val="dk1"/>
              </a:solidFill>
              <a:latin typeface="Calibri"/>
              <a:ea typeface="Calibri"/>
              <a:cs typeface="Calibri"/>
              <a:sym typeface="Calibri"/>
            </a:endParaRPr>
          </a:p>
        </p:txBody>
      </p:sp>
      <p:sp>
        <p:nvSpPr>
          <p:cNvPr id="382" name="Google Shape;382;p16"/>
          <p:cNvSpPr/>
          <p:nvPr/>
        </p:nvSpPr>
        <p:spPr>
          <a:xfrm>
            <a:off x="8549640" y="1645920"/>
            <a:ext cx="1463040" cy="457200"/>
          </a:xfrm>
          <a:prstGeom prst="roundRect">
            <a:avLst>
              <a:gd fmla="val 50000"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6"/>
          <p:cNvSpPr/>
          <p:nvPr/>
        </p:nvSpPr>
        <p:spPr>
          <a:xfrm>
            <a:off x="8549640" y="1645920"/>
            <a:ext cx="14630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00"/>
              <a:buFont typeface="Consolas"/>
              <a:buNone/>
            </a:pPr>
            <a:r>
              <a:rPr b="1" lang="en-US" sz="1100">
                <a:solidFill>
                  <a:srgbClr val="0F3F6F"/>
                </a:solidFill>
                <a:latin typeface="Consolas"/>
                <a:ea typeface="Consolas"/>
                <a:cs typeface="Consolas"/>
                <a:sym typeface="Consolas"/>
              </a:rPr>
              <a:t>"unknown"</a:t>
            </a:r>
            <a:endParaRPr sz="1100">
              <a:solidFill>
                <a:schemeClr val="dk1"/>
              </a:solidFill>
              <a:latin typeface="Calibri"/>
              <a:ea typeface="Calibri"/>
              <a:cs typeface="Calibri"/>
              <a:sym typeface="Calibri"/>
            </a:endParaRPr>
          </a:p>
        </p:txBody>
      </p:sp>
      <p:sp>
        <p:nvSpPr>
          <p:cNvPr id="384" name="Google Shape;384;p16"/>
          <p:cNvSpPr/>
          <p:nvPr/>
        </p:nvSpPr>
        <p:spPr>
          <a:xfrm>
            <a:off x="10149840" y="1645920"/>
            <a:ext cx="1463040" cy="457200"/>
          </a:xfrm>
          <a:prstGeom prst="roundRect">
            <a:avLst>
              <a:gd fmla="val 50000"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6"/>
          <p:cNvSpPr/>
          <p:nvPr/>
        </p:nvSpPr>
        <p:spPr>
          <a:xfrm>
            <a:off x="10149840" y="1645920"/>
            <a:ext cx="14630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00"/>
              <a:buFont typeface="Consolas"/>
              <a:buNone/>
            </a:pPr>
            <a:r>
              <a:rPr b="1" lang="en-US" sz="1100">
                <a:solidFill>
                  <a:srgbClr val="0F3F6F"/>
                </a:solidFill>
                <a:latin typeface="Consolas"/>
                <a:ea typeface="Consolas"/>
                <a:cs typeface="Consolas"/>
                <a:sym typeface="Consolas"/>
              </a:rPr>
              <a:t>"-"</a:t>
            </a:r>
            <a:endParaRPr sz="1100">
              <a:solidFill>
                <a:schemeClr val="dk1"/>
              </a:solidFill>
              <a:latin typeface="Calibri"/>
              <a:ea typeface="Calibri"/>
              <a:cs typeface="Calibri"/>
              <a:sym typeface="Calibri"/>
            </a:endParaRPr>
          </a:p>
        </p:txBody>
      </p:sp>
      <p:sp>
        <p:nvSpPr>
          <p:cNvPr id="386" name="Google Shape;386;p16"/>
          <p:cNvSpPr/>
          <p:nvPr/>
        </p:nvSpPr>
        <p:spPr>
          <a:xfrm>
            <a:off x="548640" y="2423160"/>
            <a:ext cx="36118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250"/>
              <a:buFont typeface="Arial"/>
              <a:buNone/>
            </a:pPr>
            <a:r>
              <a:rPr b="1" lang="en-US" sz="1250">
                <a:solidFill>
                  <a:srgbClr val="0F3F6F"/>
                </a:solidFill>
                <a:latin typeface="Arial"/>
                <a:ea typeface="Arial"/>
                <a:cs typeface="Arial"/>
                <a:sym typeface="Arial"/>
              </a:rPr>
              <a:t>Xóa</a:t>
            </a:r>
            <a:endParaRPr sz="1250">
              <a:solidFill>
                <a:schemeClr val="dk1"/>
              </a:solidFill>
              <a:latin typeface="Calibri"/>
              <a:ea typeface="Calibri"/>
              <a:cs typeface="Calibri"/>
              <a:sym typeface="Calibri"/>
            </a:endParaRPr>
          </a:p>
        </p:txBody>
      </p:sp>
      <p:sp>
        <p:nvSpPr>
          <p:cNvPr id="387" name="Google Shape;387;p16"/>
          <p:cNvSpPr/>
          <p:nvPr/>
        </p:nvSpPr>
        <p:spPr>
          <a:xfrm>
            <a:off x="548640" y="2788920"/>
            <a:ext cx="3611880" cy="914400"/>
          </a:xfrm>
          <a:prstGeom prst="roundRect">
            <a:avLst>
              <a:gd fmla="val 6000" name="adj"/>
            </a:avLst>
          </a:prstGeom>
          <a:solidFill>
            <a:srgbClr val="1B2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6"/>
          <p:cNvSpPr/>
          <p:nvPr/>
        </p:nvSpPr>
        <p:spPr>
          <a:xfrm>
            <a:off x="749808" y="2898648"/>
            <a:ext cx="3209544" cy="694944"/>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E8EEF5"/>
              </a:buClr>
              <a:buSzPts val="1000"/>
              <a:buFont typeface="Consolas"/>
              <a:buNone/>
            </a:pPr>
            <a:r>
              <a:rPr lang="en-US" sz="1000">
                <a:solidFill>
                  <a:srgbClr val="E8EEF5"/>
                </a:solidFill>
                <a:latin typeface="Consolas"/>
                <a:ea typeface="Consolas"/>
                <a:cs typeface="Consolas"/>
                <a:sym typeface="Consolas"/>
              </a:rPr>
              <a:t>df.dropna()</a:t>
            </a:r>
            <a:endParaRPr sz="1000">
              <a:solidFill>
                <a:schemeClr val="dk1"/>
              </a:solidFill>
              <a:latin typeface="Calibri"/>
              <a:ea typeface="Calibri"/>
              <a:cs typeface="Calibri"/>
              <a:sym typeface="Calibri"/>
            </a:endParaRPr>
          </a:p>
        </p:txBody>
      </p:sp>
      <p:sp>
        <p:nvSpPr>
          <p:cNvPr id="389" name="Google Shape;389;p16"/>
          <p:cNvSpPr/>
          <p:nvPr/>
        </p:nvSpPr>
        <p:spPr>
          <a:xfrm>
            <a:off x="4389120" y="2423160"/>
            <a:ext cx="36118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250"/>
              <a:buFont typeface="Arial"/>
              <a:buNone/>
            </a:pPr>
            <a:r>
              <a:rPr b="1" lang="en-US" sz="1250">
                <a:solidFill>
                  <a:srgbClr val="0F3F6F"/>
                </a:solidFill>
                <a:latin typeface="Arial"/>
                <a:ea typeface="Arial"/>
                <a:cs typeface="Arial"/>
                <a:sym typeface="Arial"/>
              </a:rPr>
              <a:t>Điền giá trị</a:t>
            </a:r>
            <a:endParaRPr sz="1250">
              <a:solidFill>
                <a:schemeClr val="dk1"/>
              </a:solidFill>
              <a:latin typeface="Calibri"/>
              <a:ea typeface="Calibri"/>
              <a:cs typeface="Calibri"/>
              <a:sym typeface="Calibri"/>
            </a:endParaRPr>
          </a:p>
        </p:txBody>
      </p:sp>
      <p:sp>
        <p:nvSpPr>
          <p:cNvPr id="390" name="Google Shape;390;p16"/>
          <p:cNvSpPr/>
          <p:nvPr/>
        </p:nvSpPr>
        <p:spPr>
          <a:xfrm>
            <a:off x="4389120" y="2788920"/>
            <a:ext cx="3611880" cy="914400"/>
          </a:xfrm>
          <a:prstGeom prst="roundRect">
            <a:avLst>
              <a:gd fmla="val 6000" name="adj"/>
            </a:avLst>
          </a:prstGeom>
          <a:solidFill>
            <a:srgbClr val="1B2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6"/>
          <p:cNvSpPr/>
          <p:nvPr/>
        </p:nvSpPr>
        <p:spPr>
          <a:xfrm>
            <a:off x="4590288" y="2898648"/>
            <a:ext cx="3209544" cy="694944"/>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E8EEF5"/>
              </a:buClr>
              <a:buSzPts val="1000"/>
              <a:buFont typeface="Consolas"/>
              <a:buNone/>
            </a:pPr>
            <a:r>
              <a:rPr lang="en-US" sz="1000">
                <a:solidFill>
                  <a:srgbClr val="E8EEF5"/>
                </a:solidFill>
                <a:latin typeface="Consolas"/>
                <a:ea typeface="Consolas"/>
                <a:cs typeface="Consolas"/>
                <a:sym typeface="Consolas"/>
              </a:rPr>
              <a:t>df["age"] = df["age"]</a:t>
            </a:r>
            <a:endParaRPr sz="1000">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E8EEF5"/>
              </a:buClr>
              <a:buSzPts val="1000"/>
              <a:buFont typeface="Consolas"/>
              <a:buNone/>
            </a:pPr>
            <a:r>
              <a:rPr lang="en-US" sz="1000">
                <a:solidFill>
                  <a:srgbClr val="E8EEF5"/>
                </a:solidFill>
                <a:latin typeface="Consolas"/>
                <a:ea typeface="Consolas"/>
                <a:cs typeface="Consolas"/>
                <a:sym typeface="Consolas"/>
              </a:rPr>
              <a:t>  .fillna(df["age"].median())</a:t>
            </a:r>
            <a:endParaRPr sz="1000">
              <a:solidFill>
                <a:schemeClr val="dk1"/>
              </a:solidFill>
              <a:latin typeface="Calibri"/>
              <a:ea typeface="Calibri"/>
              <a:cs typeface="Calibri"/>
              <a:sym typeface="Calibri"/>
            </a:endParaRPr>
          </a:p>
        </p:txBody>
      </p:sp>
      <p:sp>
        <p:nvSpPr>
          <p:cNvPr id="392" name="Google Shape;392;p16"/>
          <p:cNvSpPr/>
          <p:nvPr/>
        </p:nvSpPr>
        <p:spPr>
          <a:xfrm>
            <a:off x="8229600" y="2423160"/>
            <a:ext cx="36118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250"/>
              <a:buFont typeface="Arial"/>
              <a:buNone/>
            </a:pPr>
            <a:r>
              <a:rPr b="1" lang="en-US" sz="1250">
                <a:solidFill>
                  <a:srgbClr val="0F3F6F"/>
                </a:solidFill>
                <a:latin typeface="Arial"/>
                <a:ea typeface="Arial"/>
                <a:cs typeface="Arial"/>
                <a:sym typeface="Arial"/>
              </a:rPr>
              <a:t>Điền theo category</a:t>
            </a:r>
            <a:endParaRPr sz="1250">
              <a:solidFill>
                <a:schemeClr val="dk1"/>
              </a:solidFill>
              <a:latin typeface="Calibri"/>
              <a:ea typeface="Calibri"/>
              <a:cs typeface="Calibri"/>
              <a:sym typeface="Calibri"/>
            </a:endParaRPr>
          </a:p>
        </p:txBody>
      </p:sp>
      <p:sp>
        <p:nvSpPr>
          <p:cNvPr id="393" name="Google Shape;393;p16"/>
          <p:cNvSpPr/>
          <p:nvPr/>
        </p:nvSpPr>
        <p:spPr>
          <a:xfrm>
            <a:off x="8229600" y="2788920"/>
            <a:ext cx="3611880" cy="914400"/>
          </a:xfrm>
          <a:prstGeom prst="roundRect">
            <a:avLst>
              <a:gd fmla="val 6000" name="adj"/>
            </a:avLst>
          </a:prstGeom>
          <a:solidFill>
            <a:srgbClr val="1B2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6"/>
          <p:cNvSpPr/>
          <p:nvPr/>
        </p:nvSpPr>
        <p:spPr>
          <a:xfrm>
            <a:off x="8430768" y="2898648"/>
            <a:ext cx="3209544" cy="694944"/>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E8EEF5"/>
              </a:buClr>
              <a:buSzPts val="1000"/>
              <a:buFont typeface="Consolas"/>
              <a:buNone/>
            </a:pPr>
            <a:r>
              <a:rPr lang="en-US" sz="1000">
                <a:solidFill>
                  <a:srgbClr val="E8EEF5"/>
                </a:solidFill>
                <a:latin typeface="Consolas"/>
                <a:ea typeface="Consolas"/>
                <a:cs typeface="Consolas"/>
                <a:sym typeface="Consolas"/>
              </a:rPr>
              <a:t>df["city"] = df["city"]</a:t>
            </a:r>
            <a:endParaRPr sz="1000">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E8EEF5"/>
              </a:buClr>
              <a:buSzPts val="1000"/>
              <a:buFont typeface="Consolas"/>
              <a:buNone/>
            </a:pPr>
            <a:r>
              <a:rPr lang="en-US" sz="1000">
                <a:solidFill>
                  <a:srgbClr val="E8EEF5"/>
                </a:solidFill>
                <a:latin typeface="Consolas"/>
                <a:ea typeface="Consolas"/>
                <a:cs typeface="Consolas"/>
                <a:sym typeface="Consolas"/>
              </a:rPr>
              <a:t>  .fillna("Unknown")</a:t>
            </a:r>
            <a:endParaRPr sz="1000">
              <a:solidFill>
                <a:schemeClr val="dk1"/>
              </a:solidFill>
              <a:latin typeface="Calibri"/>
              <a:ea typeface="Calibri"/>
              <a:cs typeface="Calibri"/>
              <a:sym typeface="Calibri"/>
            </a:endParaRPr>
          </a:p>
        </p:txBody>
      </p:sp>
      <p:sp>
        <p:nvSpPr>
          <p:cNvPr id="395" name="Google Shape;395;p16"/>
          <p:cNvSpPr/>
          <p:nvPr/>
        </p:nvSpPr>
        <p:spPr>
          <a:xfrm>
            <a:off x="548640" y="3977640"/>
            <a:ext cx="11109960" cy="1280160"/>
          </a:xfrm>
          <a:prstGeom prst="roundRect">
            <a:avLst>
              <a:gd fmla="val 5714" name="adj"/>
            </a:avLst>
          </a:prstGeom>
          <a:solidFill>
            <a:srgbClr val="F0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6"/>
          <p:cNvSpPr/>
          <p:nvPr/>
        </p:nvSpPr>
        <p:spPr>
          <a:xfrm>
            <a:off x="822960" y="4114800"/>
            <a:ext cx="10607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300"/>
              <a:buFont typeface="Arial"/>
              <a:buNone/>
            </a:pPr>
            <a:r>
              <a:rPr b="1" lang="en-US" sz="1300">
                <a:solidFill>
                  <a:srgbClr val="0F3F6F"/>
                </a:solidFill>
                <a:latin typeface="Arial"/>
                <a:ea typeface="Arial"/>
                <a:cs typeface="Arial"/>
                <a:sym typeface="Arial"/>
              </a:rPr>
              <a:t>Quan trọng hơn code là cách lựa chọn</a:t>
            </a:r>
            <a:endParaRPr sz="1300">
              <a:solidFill>
                <a:schemeClr val="dk1"/>
              </a:solidFill>
              <a:latin typeface="Calibri"/>
              <a:ea typeface="Calibri"/>
              <a:cs typeface="Calibri"/>
              <a:sym typeface="Calibri"/>
            </a:endParaRPr>
          </a:p>
        </p:txBody>
      </p:sp>
      <p:sp>
        <p:nvSpPr>
          <p:cNvPr id="397" name="Google Shape;397;p16"/>
          <p:cNvSpPr/>
          <p:nvPr/>
        </p:nvSpPr>
        <p:spPr>
          <a:xfrm>
            <a:off x="822960" y="4462272"/>
            <a:ext cx="1060704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35266"/>
              </a:buClr>
              <a:buSzPts val="1150"/>
              <a:buFont typeface="Arial"/>
              <a:buNone/>
            </a:pPr>
            <a:r>
              <a:rPr lang="en-US" sz="1150">
                <a:solidFill>
                  <a:srgbClr val="435266"/>
                </a:solidFill>
                <a:latin typeface="Arial"/>
                <a:ea typeface="Arial"/>
                <a:cs typeface="Arial"/>
                <a:sym typeface="Arial"/>
              </a:rPr>
              <a:t>Không tồn tại quy tắc "cứ gặp missing value là điền mean". Lựa chọn xóa hay điền, điền bằng gì, phụ thuộc vào ý nghĩa nghiệp vụ của cột dữ liệu đó.</a:t>
            </a:r>
            <a:endParaRPr sz="1150">
              <a:solidFill>
                <a:schemeClr val="dk1"/>
              </a:solidFill>
              <a:latin typeface="Calibri"/>
              <a:ea typeface="Calibri"/>
              <a:cs typeface="Calibri"/>
              <a:sym typeface="Calibri"/>
            </a:endParaRPr>
          </a:p>
        </p:txBody>
      </p:sp>
      <p:sp>
        <p:nvSpPr>
          <p:cNvPr id="398" name="Google Shape;398;p16"/>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Bài 6. Data Wrangling và làm sạch dữ liệu</a:t>
            </a:r>
            <a:endParaRPr sz="1000">
              <a:solidFill>
                <a:schemeClr val="dk1"/>
              </a:solidFill>
              <a:latin typeface="Calibri"/>
              <a:ea typeface="Calibri"/>
              <a:cs typeface="Calibri"/>
              <a:sym typeface="Calibri"/>
            </a:endParaRPr>
          </a:p>
        </p:txBody>
      </p:sp>
      <p:sp>
        <p:nvSpPr>
          <p:cNvPr id="399" name="Google Shape;399;p16"/>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16</a:t>
            </a:r>
            <a:endParaRPr sz="10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4" name="Shape 404"/>
        <p:cNvGrpSpPr/>
        <p:nvPr/>
      </p:nvGrpSpPr>
      <p:grpSpPr>
        <a:xfrm>
          <a:off x="0" y="0"/>
          <a:ext cx="0" cy="0"/>
          <a:chOff x="0" y="0"/>
          <a:chExt cx="0" cy="0"/>
        </a:xfrm>
      </p:grpSpPr>
      <p:sp>
        <p:nvSpPr>
          <p:cNvPr id="405" name="Google Shape;405;p17"/>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7"/>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7"/>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7"/>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7"/>
          <p:cNvSpPr/>
          <p:nvPr/>
        </p:nvSpPr>
        <p:spPr>
          <a:xfrm>
            <a:off x="658368" y="1371600"/>
            <a:ext cx="32004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5B518"/>
              </a:buClr>
              <a:buSzPts val="1900"/>
              <a:buFont typeface="Arial"/>
              <a:buNone/>
            </a:pPr>
            <a:r>
              <a:rPr b="1" lang="en-US" sz="1900">
                <a:solidFill>
                  <a:srgbClr val="85B518"/>
                </a:solidFill>
                <a:latin typeface="Arial"/>
                <a:ea typeface="Arial"/>
                <a:cs typeface="Arial"/>
                <a:sym typeface="Arial"/>
              </a:rPr>
              <a:t>PHẦN 6.6</a:t>
            </a:r>
            <a:endParaRPr sz="1900">
              <a:solidFill>
                <a:schemeClr val="dk1"/>
              </a:solidFill>
              <a:latin typeface="Calibri"/>
              <a:ea typeface="Calibri"/>
              <a:cs typeface="Calibri"/>
              <a:sym typeface="Calibri"/>
            </a:endParaRPr>
          </a:p>
        </p:txBody>
      </p:sp>
      <p:sp>
        <p:nvSpPr>
          <p:cNvPr id="410" name="Google Shape;410;p17"/>
          <p:cNvSpPr/>
          <p:nvPr/>
        </p:nvSpPr>
        <p:spPr>
          <a:xfrm>
            <a:off x="658368" y="1965960"/>
            <a:ext cx="10241280" cy="11887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3400"/>
              <a:buFont typeface="Arial"/>
              <a:buNone/>
            </a:pPr>
            <a:r>
              <a:rPr b="1" lang="en-US" sz="3400">
                <a:solidFill>
                  <a:srgbClr val="0F3F6F"/>
                </a:solidFill>
                <a:latin typeface="Arial"/>
                <a:ea typeface="Arial"/>
                <a:cs typeface="Arial"/>
                <a:sym typeface="Arial"/>
              </a:rPr>
              <a:t>Xử lý dữ liệu trùng lặp</a:t>
            </a:r>
            <a:endParaRPr sz="3400">
              <a:solidFill>
                <a:schemeClr val="dk1"/>
              </a:solidFill>
              <a:latin typeface="Calibri"/>
              <a:ea typeface="Calibri"/>
              <a:cs typeface="Calibri"/>
              <a:sym typeface="Calibri"/>
            </a:endParaRPr>
          </a:p>
        </p:txBody>
      </p:sp>
      <p:sp>
        <p:nvSpPr>
          <p:cNvPr id="411" name="Google Shape;411;p17"/>
          <p:cNvSpPr/>
          <p:nvPr/>
        </p:nvSpPr>
        <p:spPr>
          <a:xfrm>
            <a:off x="685800" y="3246120"/>
            <a:ext cx="100126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35266"/>
              </a:buClr>
              <a:buSzPts val="1500"/>
              <a:buFont typeface="Arial"/>
              <a:buNone/>
            </a:pPr>
            <a:r>
              <a:rPr lang="en-US" sz="1500">
                <a:solidFill>
                  <a:srgbClr val="435266"/>
                </a:solidFill>
                <a:latin typeface="Arial"/>
                <a:ea typeface="Arial"/>
                <a:cs typeface="Arial"/>
                <a:sym typeface="Arial"/>
              </a:rPr>
              <a:t>Duplicate về dữ liệu không nhất thiết là duplicate về nghiệp vụ</a:t>
            </a:r>
            <a:endParaRPr sz="1500">
              <a:solidFill>
                <a:schemeClr val="dk1"/>
              </a:solidFill>
              <a:latin typeface="Calibri"/>
              <a:ea typeface="Calibri"/>
              <a:cs typeface="Calibri"/>
              <a:sym typeface="Calibri"/>
            </a:endParaRPr>
          </a:p>
        </p:txBody>
      </p:sp>
      <p:sp>
        <p:nvSpPr>
          <p:cNvPr id="412" name="Google Shape;412;p17"/>
          <p:cNvSpPr/>
          <p:nvPr/>
        </p:nvSpPr>
        <p:spPr>
          <a:xfrm>
            <a:off x="685800" y="4937760"/>
            <a:ext cx="5212080" cy="5029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7"/>
          <p:cNvSpPr/>
          <p:nvPr/>
        </p:nvSpPr>
        <p:spPr>
          <a:xfrm>
            <a:off x="6016752" y="4937760"/>
            <a:ext cx="1143000" cy="50292"/>
          </a:xfrm>
          <a:prstGeom prst="rect">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7"/>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17</a:t>
            </a:r>
            <a:endParaRPr sz="10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9" name="Shape 419"/>
        <p:cNvGrpSpPr/>
        <p:nvPr/>
      </p:nvGrpSpPr>
      <p:grpSpPr>
        <a:xfrm>
          <a:off x="0" y="0"/>
          <a:ext cx="0" cy="0"/>
          <a:chOff x="0" y="0"/>
          <a:chExt cx="0" cy="0"/>
        </a:xfrm>
      </p:grpSpPr>
      <p:sp>
        <p:nvSpPr>
          <p:cNvPr id="420" name="Google Shape;420;p18"/>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8"/>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8"/>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8"/>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8"/>
          <p:cNvSpPr/>
          <p:nvPr/>
        </p:nvSpPr>
        <p:spPr>
          <a:xfrm>
            <a:off x="530352" y="237744"/>
            <a:ext cx="978408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2100"/>
              <a:buFont typeface="Arial"/>
              <a:buNone/>
            </a:pPr>
            <a:r>
              <a:rPr b="1" lang="en-US" sz="2100">
                <a:solidFill>
                  <a:srgbClr val="0F3F6F"/>
                </a:solidFill>
                <a:latin typeface="Arial"/>
                <a:ea typeface="Arial"/>
                <a:cs typeface="Arial"/>
                <a:sym typeface="Arial"/>
              </a:rPr>
              <a:t>Kiểm tra và xử lý dữ liệu trùng lặp</a:t>
            </a:r>
            <a:endParaRPr sz="2100">
              <a:solidFill>
                <a:schemeClr val="dk1"/>
              </a:solidFill>
              <a:latin typeface="Calibri"/>
              <a:ea typeface="Calibri"/>
              <a:cs typeface="Calibri"/>
              <a:sym typeface="Calibri"/>
            </a:endParaRPr>
          </a:p>
        </p:txBody>
      </p:sp>
      <p:sp>
        <p:nvSpPr>
          <p:cNvPr id="425" name="Google Shape;425;p18"/>
          <p:cNvSpPr/>
          <p:nvPr/>
        </p:nvSpPr>
        <p:spPr>
          <a:xfrm>
            <a:off x="548640" y="969264"/>
            <a:ext cx="9144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i="1" lang="en-US" sz="1100">
                <a:solidFill>
                  <a:srgbClr val="8497A5"/>
                </a:solidFill>
                <a:latin typeface="Arial"/>
                <a:ea typeface="Arial"/>
                <a:cs typeface="Arial"/>
                <a:sym typeface="Arial"/>
              </a:rPr>
              <a:t>6.6. Xử lý dữ liệu trùng lặp · Bài 06</a:t>
            </a:r>
            <a:endParaRPr sz="1100">
              <a:solidFill>
                <a:schemeClr val="dk1"/>
              </a:solidFill>
              <a:latin typeface="Calibri"/>
              <a:ea typeface="Calibri"/>
              <a:cs typeface="Calibri"/>
              <a:sym typeface="Calibri"/>
            </a:endParaRPr>
          </a:p>
        </p:txBody>
      </p:sp>
      <p:sp>
        <p:nvSpPr>
          <p:cNvPr id="426" name="Google Shape;426;p18"/>
          <p:cNvSpPr/>
          <p:nvPr/>
        </p:nvSpPr>
        <p:spPr>
          <a:xfrm>
            <a:off x="548640" y="1325880"/>
            <a:ext cx="53035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250"/>
              <a:buFont typeface="Arial"/>
              <a:buNone/>
            </a:pPr>
            <a:r>
              <a:rPr b="1" lang="en-US" sz="1250">
                <a:solidFill>
                  <a:srgbClr val="0F3F6F"/>
                </a:solidFill>
                <a:latin typeface="Arial"/>
                <a:ea typeface="Arial"/>
                <a:cs typeface="Arial"/>
                <a:sym typeface="Arial"/>
              </a:rPr>
              <a:t>Kiểm tra</a:t>
            </a:r>
            <a:endParaRPr sz="1250">
              <a:solidFill>
                <a:schemeClr val="dk1"/>
              </a:solidFill>
              <a:latin typeface="Calibri"/>
              <a:ea typeface="Calibri"/>
              <a:cs typeface="Calibri"/>
              <a:sym typeface="Calibri"/>
            </a:endParaRPr>
          </a:p>
        </p:txBody>
      </p:sp>
      <p:sp>
        <p:nvSpPr>
          <p:cNvPr id="427" name="Google Shape;427;p18"/>
          <p:cNvSpPr/>
          <p:nvPr/>
        </p:nvSpPr>
        <p:spPr>
          <a:xfrm>
            <a:off x="6126480" y="1325880"/>
            <a:ext cx="53035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250"/>
              <a:buFont typeface="Arial"/>
              <a:buNone/>
            </a:pPr>
            <a:r>
              <a:rPr b="1" lang="en-US" sz="1250">
                <a:solidFill>
                  <a:srgbClr val="0F3F6F"/>
                </a:solidFill>
                <a:latin typeface="Arial"/>
                <a:ea typeface="Arial"/>
                <a:cs typeface="Arial"/>
                <a:sym typeface="Arial"/>
              </a:rPr>
              <a:t>Xóa</a:t>
            </a:r>
            <a:endParaRPr sz="1250">
              <a:solidFill>
                <a:schemeClr val="dk1"/>
              </a:solidFill>
              <a:latin typeface="Calibri"/>
              <a:ea typeface="Calibri"/>
              <a:cs typeface="Calibri"/>
              <a:sym typeface="Calibri"/>
            </a:endParaRPr>
          </a:p>
        </p:txBody>
      </p:sp>
      <p:sp>
        <p:nvSpPr>
          <p:cNvPr id="428" name="Google Shape;428;p18"/>
          <p:cNvSpPr/>
          <p:nvPr/>
        </p:nvSpPr>
        <p:spPr>
          <a:xfrm>
            <a:off x="548640" y="1664208"/>
            <a:ext cx="5303520" cy="548640"/>
          </a:xfrm>
          <a:prstGeom prst="roundRect">
            <a:avLst>
              <a:gd fmla="val 10000" name="adj"/>
            </a:avLst>
          </a:prstGeom>
          <a:solidFill>
            <a:srgbClr val="1B2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8"/>
          <p:cNvSpPr/>
          <p:nvPr/>
        </p:nvSpPr>
        <p:spPr>
          <a:xfrm>
            <a:off x="749808" y="1773936"/>
            <a:ext cx="4901184" cy="329184"/>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E8EEF5"/>
              </a:buClr>
              <a:buSzPts val="1200"/>
              <a:buFont typeface="Consolas"/>
              <a:buNone/>
            </a:pPr>
            <a:r>
              <a:rPr lang="en-US" sz="1200">
                <a:solidFill>
                  <a:srgbClr val="E8EEF5"/>
                </a:solidFill>
                <a:latin typeface="Consolas"/>
                <a:ea typeface="Consolas"/>
                <a:cs typeface="Consolas"/>
                <a:sym typeface="Consolas"/>
              </a:rPr>
              <a:t>df.duplicated()</a:t>
            </a:r>
            <a:endParaRPr sz="1200">
              <a:solidFill>
                <a:schemeClr val="dk1"/>
              </a:solidFill>
              <a:latin typeface="Calibri"/>
              <a:ea typeface="Calibri"/>
              <a:cs typeface="Calibri"/>
              <a:sym typeface="Calibri"/>
            </a:endParaRPr>
          </a:p>
        </p:txBody>
      </p:sp>
      <p:sp>
        <p:nvSpPr>
          <p:cNvPr id="430" name="Google Shape;430;p18"/>
          <p:cNvSpPr/>
          <p:nvPr/>
        </p:nvSpPr>
        <p:spPr>
          <a:xfrm>
            <a:off x="6126480" y="1664208"/>
            <a:ext cx="5303520" cy="548640"/>
          </a:xfrm>
          <a:prstGeom prst="roundRect">
            <a:avLst>
              <a:gd fmla="val 10000" name="adj"/>
            </a:avLst>
          </a:prstGeom>
          <a:solidFill>
            <a:srgbClr val="1B2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8"/>
          <p:cNvSpPr/>
          <p:nvPr/>
        </p:nvSpPr>
        <p:spPr>
          <a:xfrm>
            <a:off x="6327648" y="1773936"/>
            <a:ext cx="4901184" cy="329184"/>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E8EEF5"/>
              </a:buClr>
              <a:buSzPts val="1200"/>
              <a:buFont typeface="Consolas"/>
              <a:buNone/>
            </a:pPr>
            <a:r>
              <a:rPr lang="en-US" sz="1200">
                <a:solidFill>
                  <a:srgbClr val="E8EEF5"/>
                </a:solidFill>
                <a:latin typeface="Consolas"/>
                <a:ea typeface="Consolas"/>
                <a:cs typeface="Consolas"/>
                <a:sym typeface="Consolas"/>
              </a:rPr>
              <a:t>df = df.drop_duplicates()</a:t>
            </a:r>
            <a:endParaRPr sz="1200">
              <a:solidFill>
                <a:schemeClr val="dk1"/>
              </a:solidFill>
              <a:latin typeface="Calibri"/>
              <a:ea typeface="Calibri"/>
              <a:cs typeface="Calibri"/>
              <a:sym typeface="Calibri"/>
            </a:endParaRPr>
          </a:p>
        </p:txBody>
      </p:sp>
      <p:sp>
        <p:nvSpPr>
          <p:cNvPr id="432" name="Google Shape;432;p18"/>
          <p:cNvSpPr/>
          <p:nvPr/>
        </p:nvSpPr>
        <p:spPr>
          <a:xfrm>
            <a:off x="640080" y="2514600"/>
            <a:ext cx="5349240" cy="1737360"/>
          </a:xfrm>
          <a:prstGeom prst="roundRect">
            <a:avLst>
              <a:gd fmla="val 6316"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8"/>
          <p:cNvSpPr/>
          <p:nvPr/>
        </p:nvSpPr>
        <p:spPr>
          <a:xfrm>
            <a:off x="914400" y="2679192"/>
            <a:ext cx="4800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500"/>
              <a:buFont typeface="Arial"/>
              <a:buNone/>
            </a:pPr>
            <a:r>
              <a:rPr b="1" lang="en-US" sz="1500">
                <a:solidFill>
                  <a:srgbClr val="0F3F6F"/>
                </a:solidFill>
                <a:latin typeface="Arial"/>
                <a:ea typeface="Arial"/>
                <a:cs typeface="Arial"/>
                <a:sym typeface="Arial"/>
              </a:rPr>
              <a:t>Trùng thực sự</a:t>
            </a:r>
            <a:endParaRPr sz="1500">
              <a:solidFill>
                <a:schemeClr val="dk1"/>
              </a:solidFill>
              <a:latin typeface="Calibri"/>
              <a:ea typeface="Calibri"/>
              <a:cs typeface="Calibri"/>
              <a:sym typeface="Calibri"/>
            </a:endParaRPr>
          </a:p>
        </p:txBody>
      </p:sp>
      <p:sp>
        <p:nvSpPr>
          <p:cNvPr id="434" name="Google Shape;434;p18"/>
          <p:cNvSpPr/>
          <p:nvPr/>
        </p:nvSpPr>
        <p:spPr>
          <a:xfrm>
            <a:off x="914400" y="3108960"/>
            <a:ext cx="4800600" cy="100584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5000"/>
              </a:lnSpc>
              <a:spcBef>
                <a:spcPts val="0"/>
              </a:spcBef>
              <a:spcAft>
                <a:spcPts val="0"/>
              </a:spcAft>
              <a:buClr>
                <a:srgbClr val="435266"/>
              </a:buClr>
              <a:buSzPts val="1150"/>
              <a:buFont typeface="Arial"/>
              <a:buChar char="•"/>
            </a:pPr>
            <a:r>
              <a:rPr lang="en-US" sz="1150">
                <a:solidFill>
                  <a:srgbClr val="435266"/>
                </a:solidFill>
                <a:latin typeface="Arial"/>
                <a:ea typeface="Arial"/>
                <a:cs typeface="Arial"/>
                <a:sym typeface="Arial"/>
              </a:rPr>
              <a:t>Cùng một bản ghi bị nhập/lưu lặp lại do lỗi hệ thống</a:t>
            </a:r>
            <a:endParaRPr sz="1150">
              <a:solidFill>
                <a:schemeClr val="dk1"/>
              </a:solidFill>
              <a:latin typeface="Calibri"/>
              <a:ea typeface="Calibri"/>
              <a:cs typeface="Calibri"/>
              <a:sym typeface="Calibri"/>
            </a:endParaRPr>
          </a:p>
          <a:p>
            <a:pPr indent="-342900" lvl="0" marL="342900" marR="0" rtl="0" algn="l">
              <a:lnSpc>
                <a:spcPct val="125000"/>
              </a:lnSpc>
              <a:spcBef>
                <a:spcPts val="0"/>
              </a:spcBef>
              <a:spcAft>
                <a:spcPts val="0"/>
              </a:spcAft>
              <a:buClr>
                <a:srgbClr val="435266"/>
              </a:buClr>
              <a:buSzPts val="1150"/>
              <a:buFont typeface="Arial"/>
              <a:buChar char="•"/>
            </a:pPr>
            <a:r>
              <a:rPr lang="en-US" sz="1150">
                <a:solidFill>
                  <a:srgbClr val="435266"/>
                </a:solidFill>
                <a:latin typeface="Arial"/>
                <a:ea typeface="Arial"/>
                <a:cs typeface="Arial"/>
                <a:sym typeface="Arial"/>
              </a:rPr>
              <a:t>Nên xóa bớt để tránh sai lệch khi tổng hợp</a:t>
            </a:r>
            <a:endParaRPr sz="1150">
              <a:solidFill>
                <a:schemeClr val="dk1"/>
              </a:solidFill>
              <a:latin typeface="Calibri"/>
              <a:ea typeface="Calibri"/>
              <a:cs typeface="Calibri"/>
              <a:sym typeface="Calibri"/>
            </a:endParaRPr>
          </a:p>
        </p:txBody>
      </p:sp>
      <p:sp>
        <p:nvSpPr>
          <p:cNvPr id="435" name="Google Shape;435;p18"/>
          <p:cNvSpPr/>
          <p:nvPr/>
        </p:nvSpPr>
        <p:spPr>
          <a:xfrm>
            <a:off x="6492240" y="2514600"/>
            <a:ext cx="5349240" cy="1737360"/>
          </a:xfrm>
          <a:prstGeom prst="roundRect">
            <a:avLst>
              <a:gd fmla="val 6316" name="adj"/>
            </a:avLst>
          </a:prstGeom>
          <a:solidFill>
            <a:srgbClr val="E9F3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8"/>
          <p:cNvSpPr/>
          <p:nvPr/>
        </p:nvSpPr>
        <p:spPr>
          <a:xfrm>
            <a:off x="6766560" y="2679192"/>
            <a:ext cx="4800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500"/>
              <a:buFont typeface="Arial"/>
              <a:buNone/>
            </a:pPr>
            <a:r>
              <a:rPr b="1" lang="en-US" sz="1500">
                <a:solidFill>
                  <a:srgbClr val="0F3F6F"/>
                </a:solidFill>
                <a:latin typeface="Arial"/>
                <a:ea typeface="Arial"/>
                <a:cs typeface="Arial"/>
                <a:sym typeface="Arial"/>
              </a:rPr>
              <a:t>Trùng nhưng hợp lệ</a:t>
            </a:r>
            <a:endParaRPr sz="1500">
              <a:solidFill>
                <a:schemeClr val="dk1"/>
              </a:solidFill>
              <a:latin typeface="Calibri"/>
              <a:ea typeface="Calibri"/>
              <a:cs typeface="Calibri"/>
              <a:sym typeface="Calibri"/>
            </a:endParaRPr>
          </a:p>
        </p:txBody>
      </p:sp>
      <p:sp>
        <p:nvSpPr>
          <p:cNvPr id="437" name="Google Shape;437;p18"/>
          <p:cNvSpPr/>
          <p:nvPr/>
        </p:nvSpPr>
        <p:spPr>
          <a:xfrm>
            <a:off x="6766560" y="3108960"/>
            <a:ext cx="4800600" cy="100584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5000"/>
              </a:lnSpc>
              <a:spcBef>
                <a:spcPts val="0"/>
              </a:spcBef>
              <a:spcAft>
                <a:spcPts val="0"/>
              </a:spcAft>
              <a:buClr>
                <a:srgbClr val="435266"/>
              </a:buClr>
              <a:buSzPts val="1150"/>
              <a:buFont typeface="Arial"/>
              <a:buChar char="•"/>
            </a:pPr>
            <a:r>
              <a:rPr lang="en-US" sz="1150">
                <a:solidFill>
                  <a:srgbClr val="435266"/>
                </a:solidFill>
                <a:latin typeface="Arial"/>
                <a:ea typeface="Arial"/>
                <a:cs typeface="Arial"/>
                <a:sym typeface="Arial"/>
              </a:rPr>
              <a:t>Một khách hàng có 2 giao dịch giống hệt thông tin nhưng là 2 lần mua khác nhau</a:t>
            </a:r>
            <a:endParaRPr sz="1150">
              <a:solidFill>
                <a:schemeClr val="dk1"/>
              </a:solidFill>
              <a:latin typeface="Calibri"/>
              <a:ea typeface="Calibri"/>
              <a:cs typeface="Calibri"/>
              <a:sym typeface="Calibri"/>
            </a:endParaRPr>
          </a:p>
          <a:p>
            <a:pPr indent="-342900" lvl="0" marL="342900" marR="0" rtl="0" algn="l">
              <a:lnSpc>
                <a:spcPct val="125000"/>
              </a:lnSpc>
              <a:spcBef>
                <a:spcPts val="0"/>
              </a:spcBef>
              <a:spcAft>
                <a:spcPts val="0"/>
              </a:spcAft>
              <a:buClr>
                <a:srgbClr val="435266"/>
              </a:buClr>
              <a:buSzPts val="1150"/>
              <a:buFont typeface="Arial"/>
              <a:buChar char="•"/>
            </a:pPr>
            <a:r>
              <a:rPr lang="en-US" sz="1150">
                <a:solidFill>
                  <a:srgbClr val="435266"/>
                </a:solidFill>
                <a:latin typeface="Arial"/>
                <a:ea typeface="Arial"/>
                <a:cs typeface="Arial"/>
                <a:sym typeface="Arial"/>
              </a:rPr>
              <a:t>Không nên xóa — sẽ làm mất dữ liệu thật</a:t>
            </a:r>
            <a:endParaRPr sz="1150">
              <a:solidFill>
                <a:schemeClr val="dk1"/>
              </a:solidFill>
              <a:latin typeface="Calibri"/>
              <a:ea typeface="Calibri"/>
              <a:cs typeface="Calibri"/>
              <a:sym typeface="Calibri"/>
            </a:endParaRPr>
          </a:p>
        </p:txBody>
      </p:sp>
      <p:sp>
        <p:nvSpPr>
          <p:cNvPr id="438" name="Google Shape;438;p18"/>
          <p:cNvSpPr/>
          <p:nvPr/>
        </p:nvSpPr>
        <p:spPr>
          <a:xfrm>
            <a:off x="548640" y="4526280"/>
            <a:ext cx="11109960" cy="777240"/>
          </a:xfrm>
          <a:prstGeom prst="roundRect">
            <a:avLst>
              <a:gd fmla="val 7059" name="adj"/>
            </a:avLst>
          </a:prstGeom>
          <a:solidFill>
            <a:srgbClr val="F0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8"/>
          <p:cNvSpPr/>
          <p:nvPr/>
        </p:nvSpPr>
        <p:spPr>
          <a:xfrm>
            <a:off x="777240" y="4526280"/>
            <a:ext cx="1065276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150"/>
              <a:buFont typeface="Arial"/>
              <a:buNone/>
            </a:pPr>
            <a:r>
              <a:rPr b="1" i="1" lang="en-US" sz="1150">
                <a:solidFill>
                  <a:srgbClr val="0F3F6F"/>
                </a:solidFill>
                <a:latin typeface="Arial"/>
                <a:ea typeface="Arial"/>
                <a:cs typeface="Arial"/>
                <a:sym typeface="Arial"/>
              </a:rPr>
              <a:t>Bài học: cần hiểu ngữ cảnh nghiệp vụ trước khi quyết định xóa duplicate — không xóa "cho chắc".</a:t>
            </a:r>
            <a:endParaRPr sz="1150">
              <a:solidFill>
                <a:schemeClr val="dk1"/>
              </a:solidFill>
              <a:latin typeface="Calibri"/>
              <a:ea typeface="Calibri"/>
              <a:cs typeface="Calibri"/>
              <a:sym typeface="Calibri"/>
            </a:endParaRPr>
          </a:p>
        </p:txBody>
      </p:sp>
      <p:sp>
        <p:nvSpPr>
          <p:cNvPr id="440" name="Google Shape;440;p18"/>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Bài 6. Data Wrangling và làm sạch dữ liệu</a:t>
            </a:r>
            <a:endParaRPr sz="1000">
              <a:solidFill>
                <a:schemeClr val="dk1"/>
              </a:solidFill>
              <a:latin typeface="Calibri"/>
              <a:ea typeface="Calibri"/>
              <a:cs typeface="Calibri"/>
              <a:sym typeface="Calibri"/>
            </a:endParaRPr>
          </a:p>
        </p:txBody>
      </p:sp>
      <p:sp>
        <p:nvSpPr>
          <p:cNvPr id="441" name="Google Shape;441;p18"/>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18</a:t>
            </a:r>
            <a:endParaRPr sz="10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6" name="Shape 446"/>
        <p:cNvGrpSpPr/>
        <p:nvPr/>
      </p:nvGrpSpPr>
      <p:grpSpPr>
        <a:xfrm>
          <a:off x="0" y="0"/>
          <a:ext cx="0" cy="0"/>
          <a:chOff x="0" y="0"/>
          <a:chExt cx="0" cy="0"/>
        </a:xfrm>
      </p:grpSpPr>
      <p:sp>
        <p:nvSpPr>
          <p:cNvPr id="447" name="Google Shape;447;p19"/>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9"/>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9"/>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9"/>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9"/>
          <p:cNvSpPr/>
          <p:nvPr/>
        </p:nvSpPr>
        <p:spPr>
          <a:xfrm>
            <a:off x="658368" y="1371600"/>
            <a:ext cx="32004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5B518"/>
              </a:buClr>
              <a:buSzPts val="1900"/>
              <a:buFont typeface="Arial"/>
              <a:buNone/>
            </a:pPr>
            <a:r>
              <a:rPr b="1" lang="en-US" sz="1900">
                <a:solidFill>
                  <a:srgbClr val="85B518"/>
                </a:solidFill>
                <a:latin typeface="Arial"/>
                <a:ea typeface="Arial"/>
                <a:cs typeface="Arial"/>
                <a:sym typeface="Arial"/>
              </a:rPr>
              <a:t>PHẦN 6.7</a:t>
            </a:r>
            <a:endParaRPr sz="1900">
              <a:solidFill>
                <a:schemeClr val="dk1"/>
              </a:solidFill>
              <a:latin typeface="Calibri"/>
              <a:ea typeface="Calibri"/>
              <a:cs typeface="Calibri"/>
              <a:sym typeface="Calibri"/>
            </a:endParaRPr>
          </a:p>
        </p:txBody>
      </p:sp>
      <p:sp>
        <p:nvSpPr>
          <p:cNvPr id="452" name="Google Shape;452;p19"/>
          <p:cNvSpPr/>
          <p:nvPr/>
        </p:nvSpPr>
        <p:spPr>
          <a:xfrm>
            <a:off x="658368" y="1965960"/>
            <a:ext cx="10241280" cy="11887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3400"/>
              <a:buFont typeface="Arial"/>
              <a:buNone/>
            </a:pPr>
            <a:r>
              <a:rPr b="1" lang="en-US" sz="3400">
                <a:solidFill>
                  <a:srgbClr val="0F3F6F"/>
                </a:solidFill>
                <a:latin typeface="Arial"/>
                <a:ea typeface="Arial"/>
                <a:cs typeface="Arial"/>
                <a:sym typeface="Arial"/>
              </a:rPr>
              <a:t>Chuẩn hóa kiểu dữ liệu</a:t>
            </a:r>
            <a:endParaRPr sz="3400">
              <a:solidFill>
                <a:schemeClr val="dk1"/>
              </a:solidFill>
              <a:latin typeface="Calibri"/>
              <a:ea typeface="Calibri"/>
              <a:cs typeface="Calibri"/>
              <a:sym typeface="Calibri"/>
            </a:endParaRPr>
          </a:p>
        </p:txBody>
      </p:sp>
      <p:sp>
        <p:nvSpPr>
          <p:cNvPr id="453" name="Google Shape;453;p19"/>
          <p:cNvSpPr/>
          <p:nvPr/>
        </p:nvSpPr>
        <p:spPr>
          <a:xfrm>
            <a:off x="685800" y="3246120"/>
            <a:ext cx="100126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35266"/>
              </a:buClr>
              <a:buSzPts val="1500"/>
              <a:buFont typeface="Arial"/>
              <a:buNone/>
            </a:pPr>
            <a:r>
              <a:rPr lang="en-US" sz="1500">
                <a:solidFill>
                  <a:srgbClr val="435266"/>
                </a:solidFill>
                <a:latin typeface="Arial"/>
                <a:ea typeface="Arial"/>
                <a:cs typeface="Arial"/>
                <a:sym typeface="Arial"/>
              </a:rPr>
              <a:t>Đưa từng cột về đúng kiểu dữ liệu trước khi phân tích</a:t>
            </a:r>
            <a:endParaRPr sz="1500">
              <a:solidFill>
                <a:schemeClr val="dk1"/>
              </a:solidFill>
              <a:latin typeface="Calibri"/>
              <a:ea typeface="Calibri"/>
              <a:cs typeface="Calibri"/>
              <a:sym typeface="Calibri"/>
            </a:endParaRPr>
          </a:p>
        </p:txBody>
      </p:sp>
      <p:sp>
        <p:nvSpPr>
          <p:cNvPr id="454" name="Google Shape;454;p19"/>
          <p:cNvSpPr/>
          <p:nvPr/>
        </p:nvSpPr>
        <p:spPr>
          <a:xfrm>
            <a:off x="685800" y="4937760"/>
            <a:ext cx="5212080" cy="5029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9"/>
          <p:cNvSpPr/>
          <p:nvPr/>
        </p:nvSpPr>
        <p:spPr>
          <a:xfrm>
            <a:off x="6016752" y="4937760"/>
            <a:ext cx="1143000" cy="50292"/>
          </a:xfrm>
          <a:prstGeom prst="rect">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9"/>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19</a:t>
            </a:r>
            <a:endParaRPr sz="10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1" name="Shape 461"/>
        <p:cNvGrpSpPr/>
        <p:nvPr/>
      </p:nvGrpSpPr>
      <p:grpSpPr>
        <a:xfrm>
          <a:off x="0" y="0"/>
          <a:ext cx="0" cy="0"/>
          <a:chOff x="0" y="0"/>
          <a:chExt cx="0" cy="0"/>
        </a:xfrm>
      </p:grpSpPr>
      <p:sp>
        <p:nvSpPr>
          <p:cNvPr id="462" name="Google Shape;462;p20"/>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0"/>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0"/>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0"/>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0"/>
          <p:cNvSpPr/>
          <p:nvPr/>
        </p:nvSpPr>
        <p:spPr>
          <a:xfrm>
            <a:off x="530352" y="237744"/>
            <a:ext cx="978408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2100"/>
              <a:buFont typeface="Arial"/>
              <a:buNone/>
            </a:pPr>
            <a:r>
              <a:rPr b="1" lang="en-US" sz="2100">
                <a:solidFill>
                  <a:srgbClr val="0F3F6F"/>
                </a:solidFill>
                <a:latin typeface="Arial"/>
                <a:ea typeface="Arial"/>
                <a:cs typeface="Arial"/>
                <a:sym typeface="Arial"/>
              </a:rPr>
              <a:t>Chuẩn hóa kiểu dữ liệu (Data Types)</a:t>
            </a:r>
            <a:endParaRPr sz="2100">
              <a:solidFill>
                <a:schemeClr val="dk1"/>
              </a:solidFill>
              <a:latin typeface="Calibri"/>
              <a:ea typeface="Calibri"/>
              <a:cs typeface="Calibri"/>
              <a:sym typeface="Calibri"/>
            </a:endParaRPr>
          </a:p>
        </p:txBody>
      </p:sp>
      <p:sp>
        <p:nvSpPr>
          <p:cNvPr id="467" name="Google Shape;467;p20"/>
          <p:cNvSpPr/>
          <p:nvPr/>
        </p:nvSpPr>
        <p:spPr>
          <a:xfrm>
            <a:off x="548640" y="969264"/>
            <a:ext cx="9144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i="1" lang="en-US" sz="1100">
                <a:solidFill>
                  <a:srgbClr val="8497A5"/>
                </a:solidFill>
                <a:latin typeface="Arial"/>
                <a:ea typeface="Arial"/>
                <a:cs typeface="Arial"/>
                <a:sym typeface="Arial"/>
              </a:rPr>
              <a:t>6.7. Chuẩn hóa kiểu dữ liệu · Bài 06</a:t>
            </a:r>
            <a:endParaRPr sz="1100">
              <a:solidFill>
                <a:schemeClr val="dk1"/>
              </a:solidFill>
              <a:latin typeface="Calibri"/>
              <a:ea typeface="Calibri"/>
              <a:cs typeface="Calibri"/>
              <a:sym typeface="Calibri"/>
            </a:endParaRPr>
          </a:p>
        </p:txBody>
      </p:sp>
      <p:sp>
        <p:nvSpPr>
          <p:cNvPr id="468" name="Google Shape;468;p20"/>
          <p:cNvSpPr/>
          <p:nvPr/>
        </p:nvSpPr>
        <p:spPr>
          <a:xfrm>
            <a:off x="548640" y="1325880"/>
            <a:ext cx="53035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250"/>
              <a:buFont typeface="Arial"/>
              <a:buNone/>
            </a:pPr>
            <a:r>
              <a:rPr b="1" lang="en-US" sz="1250">
                <a:solidFill>
                  <a:srgbClr val="0F3F6F"/>
                </a:solidFill>
                <a:latin typeface="Arial"/>
                <a:ea typeface="Arial"/>
                <a:cs typeface="Arial"/>
                <a:sym typeface="Arial"/>
              </a:rPr>
              <a:t>Chuẩn hóa số</a:t>
            </a:r>
            <a:endParaRPr sz="1250">
              <a:solidFill>
                <a:schemeClr val="dk1"/>
              </a:solidFill>
              <a:latin typeface="Calibri"/>
              <a:ea typeface="Calibri"/>
              <a:cs typeface="Calibri"/>
              <a:sym typeface="Calibri"/>
            </a:endParaRPr>
          </a:p>
        </p:txBody>
      </p:sp>
      <p:sp>
        <p:nvSpPr>
          <p:cNvPr id="469" name="Google Shape;469;p20"/>
          <p:cNvSpPr/>
          <p:nvPr/>
        </p:nvSpPr>
        <p:spPr>
          <a:xfrm>
            <a:off x="6126480" y="1325880"/>
            <a:ext cx="53035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250"/>
              <a:buFont typeface="Arial"/>
              <a:buNone/>
            </a:pPr>
            <a:r>
              <a:rPr b="1" lang="en-US" sz="1250">
                <a:solidFill>
                  <a:srgbClr val="0F3F6F"/>
                </a:solidFill>
                <a:latin typeface="Arial"/>
                <a:ea typeface="Arial"/>
                <a:cs typeface="Arial"/>
                <a:sym typeface="Arial"/>
              </a:rPr>
              <a:t>Chuẩn hóa ngày tháng</a:t>
            </a:r>
            <a:endParaRPr sz="1250">
              <a:solidFill>
                <a:schemeClr val="dk1"/>
              </a:solidFill>
              <a:latin typeface="Calibri"/>
              <a:ea typeface="Calibri"/>
              <a:cs typeface="Calibri"/>
              <a:sym typeface="Calibri"/>
            </a:endParaRPr>
          </a:p>
        </p:txBody>
      </p:sp>
      <p:sp>
        <p:nvSpPr>
          <p:cNvPr id="470" name="Google Shape;470;p20"/>
          <p:cNvSpPr/>
          <p:nvPr/>
        </p:nvSpPr>
        <p:spPr>
          <a:xfrm>
            <a:off x="548640" y="1664208"/>
            <a:ext cx="5303520" cy="1188720"/>
          </a:xfrm>
          <a:prstGeom prst="roundRect">
            <a:avLst>
              <a:gd fmla="val 4615" name="adj"/>
            </a:avLst>
          </a:prstGeom>
          <a:solidFill>
            <a:srgbClr val="1B2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0"/>
          <p:cNvSpPr/>
          <p:nvPr/>
        </p:nvSpPr>
        <p:spPr>
          <a:xfrm>
            <a:off x="749808" y="1773936"/>
            <a:ext cx="4901184" cy="969264"/>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E8EEF5"/>
              </a:buClr>
              <a:buSzPts val="1100"/>
              <a:buFont typeface="Consolas"/>
              <a:buNone/>
            </a:pPr>
            <a:r>
              <a:rPr lang="en-US" sz="1100">
                <a:solidFill>
                  <a:srgbClr val="E8EEF5"/>
                </a:solidFill>
                <a:latin typeface="Consolas"/>
                <a:ea typeface="Consolas"/>
                <a:cs typeface="Consolas"/>
                <a:sym typeface="Consolas"/>
              </a:rPr>
              <a:t>df["amount"] = pd.to_numeric(</a:t>
            </a:r>
            <a:endParaRPr sz="1100">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E8EEF5"/>
              </a:buClr>
              <a:buSzPts val="1100"/>
              <a:buFont typeface="Consolas"/>
              <a:buNone/>
            </a:pPr>
            <a:r>
              <a:rPr lang="en-US" sz="1100">
                <a:solidFill>
                  <a:srgbClr val="E8EEF5"/>
                </a:solidFill>
                <a:latin typeface="Consolas"/>
                <a:ea typeface="Consolas"/>
                <a:cs typeface="Consolas"/>
                <a:sym typeface="Consolas"/>
              </a:rPr>
              <a:t>    df["amount"],</a:t>
            </a:r>
            <a:endParaRPr sz="1100">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E8EEF5"/>
              </a:buClr>
              <a:buSzPts val="1100"/>
              <a:buFont typeface="Consolas"/>
              <a:buNone/>
            </a:pPr>
            <a:r>
              <a:rPr lang="en-US" sz="1100">
                <a:solidFill>
                  <a:srgbClr val="E8EEF5"/>
                </a:solidFill>
                <a:latin typeface="Consolas"/>
                <a:ea typeface="Consolas"/>
                <a:cs typeface="Consolas"/>
                <a:sym typeface="Consolas"/>
              </a:rPr>
              <a:t>    errors="coerce"</a:t>
            </a:r>
            <a:endParaRPr sz="1100">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E8EEF5"/>
              </a:buClr>
              <a:buSzPts val="1100"/>
              <a:buFont typeface="Consolas"/>
              <a:buNone/>
            </a:pPr>
            <a:r>
              <a:rPr lang="en-US" sz="1100">
                <a:solidFill>
                  <a:srgbClr val="E8EEF5"/>
                </a:solidFill>
                <a:latin typeface="Consolas"/>
                <a:ea typeface="Consolas"/>
                <a:cs typeface="Consolas"/>
                <a:sym typeface="Consolas"/>
              </a:rPr>
              <a:t>)</a:t>
            </a:r>
            <a:endParaRPr sz="1100">
              <a:solidFill>
                <a:schemeClr val="dk1"/>
              </a:solidFill>
              <a:latin typeface="Calibri"/>
              <a:ea typeface="Calibri"/>
              <a:cs typeface="Calibri"/>
              <a:sym typeface="Calibri"/>
            </a:endParaRPr>
          </a:p>
        </p:txBody>
      </p:sp>
      <p:sp>
        <p:nvSpPr>
          <p:cNvPr id="472" name="Google Shape;472;p20"/>
          <p:cNvSpPr/>
          <p:nvPr/>
        </p:nvSpPr>
        <p:spPr>
          <a:xfrm>
            <a:off x="6126480" y="1664208"/>
            <a:ext cx="5303520" cy="1188720"/>
          </a:xfrm>
          <a:prstGeom prst="roundRect">
            <a:avLst>
              <a:gd fmla="val 4615" name="adj"/>
            </a:avLst>
          </a:prstGeom>
          <a:solidFill>
            <a:srgbClr val="1B2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0"/>
          <p:cNvSpPr/>
          <p:nvPr/>
        </p:nvSpPr>
        <p:spPr>
          <a:xfrm>
            <a:off x="6327648" y="1773936"/>
            <a:ext cx="4901184" cy="969264"/>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E8EEF5"/>
              </a:buClr>
              <a:buSzPts val="1100"/>
              <a:buFont typeface="Consolas"/>
              <a:buNone/>
            </a:pPr>
            <a:r>
              <a:rPr lang="en-US" sz="1100">
                <a:solidFill>
                  <a:srgbClr val="E8EEF5"/>
                </a:solidFill>
                <a:latin typeface="Consolas"/>
                <a:ea typeface="Consolas"/>
                <a:cs typeface="Consolas"/>
                <a:sym typeface="Consolas"/>
              </a:rPr>
              <a:t>df["date"] = pd.to_datetime(</a:t>
            </a:r>
            <a:endParaRPr sz="1100">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E8EEF5"/>
              </a:buClr>
              <a:buSzPts val="1100"/>
              <a:buFont typeface="Consolas"/>
              <a:buNone/>
            </a:pPr>
            <a:r>
              <a:rPr lang="en-US" sz="1100">
                <a:solidFill>
                  <a:srgbClr val="E8EEF5"/>
                </a:solidFill>
                <a:latin typeface="Consolas"/>
                <a:ea typeface="Consolas"/>
                <a:cs typeface="Consolas"/>
                <a:sym typeface="Consolas"/>
              </a:rPr>
              <a:t>    df["date"],</a:t>
            </a:r>
            <a:endParaRPr sz="1100">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E8EEF5"/>
              </a:buClr>
              <a:buSzPts val="1100"/>
              <a:buFont typeface="Consolas"/>
              <a:buNone/>
            </a:pPr>
            <a:r>
              <a:rPr lang="en-US" sz="1100">
                <a:solidFill>
                  <a:srgbClr val="E8EEF5"/>
                </a:solidFill>
                <a:latin typeface="Consolas"/>
                <a:ea typeface="Consolas"/>
                <a:cs typeface="Consolas"/>
                <a:sym typeface="Consolas"/>
              </a:rPr>
              <a:t>    errors="coerce"</a:t>
            </a:r>
            <a:endParaRPr sz="1100">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E8EEF5"/>
              </a:buClr>
              <a:buSzPts val="1100"/>
              <a:buFont typeface="Consolas"/>
              <a:buNone/>
            </a:pPr>
            <a:r>
              <a:rPr lang="en-US" sz="1100">
                <a:solidFill>
                  <a:srgbClr val="E8EEF5"/>
                </a:solidFill>
                <a:latin typeface="Consolas"/>
                <a:ea typeface="Consolas"/>
                <a:cs typeface="Consolas"/>
                <a:sym typeface="Consolas"/>
              </a:rPr>
              <a:t>)</a:t>
            </a:r>
            <a:endParaRPr sz="1100">
              <a:solidFill>
                <a:schemeClr val="dk1"/>
              </a:solidFill>
              <a:latin typeface="Calibri"/>
              <a:ea typeface="Calibri"/>
              <a:cs typeface="Calibri"/>
              <a:sym typeface="Calibri"/>
            </a:endParaRPr>
          </a:p>
        </p:txBody>
      </p:sp>
      <p:sp>
        <p:nvSpPr>
          <p:cNvPr id="474" name="Google Shape;474;p20"/>
          <p:cNvSpPr/>
          <p:nvPr/>
        </p:nvSpPr>
        <p:spPr>
          <a:xfrm>
            <a:off x="548640" y="306324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250"/>
              <a:buFont typeface="Arial"/>
              <a:buNone/>
            </a:pPr>
            <a:r>
              <a:rPr b="1" lang="en-US" sz="1250">
                <a:solidFill>
                  <a:srgbClr val="0F3F6F"/>
                </a:solidFill>
                <a:latin typeface="Arial"/>
                <a:ea typeface="Arial"/>
                <a:cs typeface="Arial"/>
                <a:sym typeface="Arial"/>
              </a:rPr>
              <a:t>Các kiểu dữ liệu cần nắm rõ</a:t>
            </a:r>
            <a:endParaRPr sz="1250">
              <a:solidFill>
                <a:schemeClr val="dk1"/>
              </a:solidFill>
              <a:latin typeface="Calibri"/>
              <a:ea typeface="Calibri"/>
              <a:cs typeface="Calibri"/>
              <a:sym typeface="Calibri"/>
            </a:endParaRPr>
          </a:p>
        </p:txBody>
      </p:sp>
      <p:sp>
        <p:nvSpPr>
          <p:cNvPr id="475" name="Google Shape;475;p20"/>
          <p:cNvSpPr/>
          <p:nvPr/>
        </p:nvSpPr>
        <p:spPr>
          <a:xfrm>
            <a:off x="548640" y="3429000"/>
            <a:ext cx="1737360" cy="502920"/>
          </a:xfrm>
          <a:prstGeom prst="roundRect">
            <a:avLst>
              <a:gd fmla="val 14545"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0"/>
          <p:cNvSpPr/>
          <p:nvPr/>
        </p:nvSpPr>
        <p:spPr>
          <a:xfrm>
            <a:off x="548640" y="3429000"/>
            <a:ext cx="173736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50"/>
              <a:buFont typeface="Arial"/>
              <a:buNone/>
            </a:pPr>
            <a:r>
              <a:rPr b="1" lang="en-US" sz="1150">
                <a:solidFill>
                  <a:srgbClr val="0F3F6F"/>
                </a:solidFill>
                <a:latin typeface="Arial"/>
                <a:ea typeface="Arial"/>
                <a:cs typeface="Arial"/>
                <a:sym typeface="Arial"/>
              </a:rPr>
              <a:t>Integer</a:t>
            </a:r>
            <a:endParaRPr sz="1150">
              <a:solidFill>
                <a:schemeClr val="dk1"/>
              </a:solidFill>
              <a:latin typeface="Calibri"/>
              <a:ea typeface="Calibri"/>
              <a:cs typeface="Calibri"/>
              <a:sym typeface="Calibri"/>
            </a:endParaRPr>
          </a:p>
        </p:txBody>
      </p:sp>
      <p:sp>
        <p:nvSpPr>
          <p:cNvPr id="477" name="Google Shape;477;p20"/>
          <p:cNvSpPr/>
          <p:nvPr/>
        </p:nvSpPr>
        <p:spPr>
          <a:xfrm>
            <a:off x="2423160" y="3429000"/>
            <a:ext cx="1737360" cy="502920"/>
          </a:xfrm>
          <a:prstGeom prst="roundRect">
            <a:avLst>
              <a:gd fmla="val 14545"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0"/>
          <p:cNvSpPr/>
          <p:nvPr/>
        </p:nvSpPr>
        <p:spPr>
          <a:xfrm>
            <a:off x="2423160" y="3429000"/>
            <a:ext cx="173736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50"/>
              <a:buFont typeface="Arial"/>
              <a:buNone/>
            </a:pPr>
            <a:r>
              <a:rPr b="1" lang="en-US" sz="1150">
                <a:solidFill>
                  <a:srgbClr val="0F3F6F"/>
                </a:solidFill>
                <a:latin typeface="Arial"/>
                <a:ea typeface="Arial"/>
                <a:cs typeface="Arial"/>
                <a:sym typeface="Arial"/>
              </a:rPr>
              <a:t>Float</a:t>
            </a:r>
            <a:endParaRPr sz="1150">
              <a:solidFill>
                <a:schemeClr val="dk1"/>
              </a:solidFill>
              <a:latin typeface="Calibri"/>
              <a:ea typeface="Calibri"/>
              <a:cs typeface="Calibri"/>
              <a:sym typeface="Calibri"/>
            </a:endParaRPr>
          </a:p>
        </p:txBody>
      </p:sp>
      <p:sp>
        <p:nvSpPr>
          <p:cNvPr id="479" name="Google Shape;479;p20"/>
          <p:cNvSpPr/>
          <p:nvPr/>
        </p:nvSpPr>
        <p:spPr>
          <a:xfrm>
            <a:off x="4297680" y="3429000"/>
            <a:ext cx="1737360" cy="502920"/>
          </a:xfrm>
          <a:prstGeom prst="roundRect">
            <a:avLst>
              <a:gd fmla="val 14545"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0"/>
          <p:cNvSpPr/>
          <p:nvPr/>
        </p:nvSpPr>
        <p:spPr>
          <a:xfrm>
            <a:off x="4297680" y="3429000"/>
            <a:ext cx="173736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50"/>
              <a:buFont typeface="Arial"/>
              <a:buNone/>
            </a:pPr>
            <a:r>
              <a:rPr b="1" lang="en-US" sz="1150">
                <a:solidFill>
                  <a:srgbClr val="0F3F6F"/>
                </a:solidFill>
                <a:latin typeface="Arial"/>
                <a:ea typeface="Arial"/>
                <a:cs typeface="Arial"/>
                <a:sym typeface="Arial"/>
              </a:rPr>
              <a:t>String</a:t>
            </a:r>
            <a:endParaRPr sz="1150">
              <a:solidFill>
                <a:schemeClr val="dk1"/>
              </a:solidFill>
              <a:latin typeface="Calibri"/>
              <a:ea typeface="Calibri"/>
              <a:cs typeface="Calibri"/>
              <a:sym typeface="Calibri"/>
            </a:endParaRPr>
          </a:p>
        </p:txBody>
      </p:sp>
      <p:sp>
        <p:nvSpPr>
          <p:cNvPr id="481" name="Google Shape;481;p20"/>
          <p:cNvSpPr/>
          <p:nvPr/>
        </p:nvSpPr>
        <p:spPr>
          <a:xfrm>
            <a:off x="6172200" y="3429000"/>
            <a:ext cx="1737360" cy="502920"/>
          </a:xfrm>
          <a:prstGeom prst="roundRect">
            <a:avLst>
              <a:gd fmla="val 14545"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0"/>
          <p:cNvSpPr/>
          <p:nvPr/>
        </p:nvSpPr>
        <p:spPr>
          <a:xfrm>
            <a:off x="6172200" y="3429000"/>
            <a:ext cx="173736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50"/>
              <a:buFont typeface="Arial"/>
              <a:buNone/>
            </a:pPr>
            <a:r>
              <a:rPr b="1" lang="en-US" sz="1150">
                <a:solidFill>
                  <a:srgbClr val="0F3F6F"/>
                </a:solidFill>
                <a:latin typeface="Arial"/>
                <a:ea typeface="Arial"/>
                <a:cs typeface="Arial"/>
                <a:sym typeface="Arial"/>
              </a:rPr>
              <a:t>Boolean</a:t>
            </a:r>
            <a:endParaRPr sz="1150">
              <a:solidFill>
                <a:schemeClr val="dk1"/>
              </a:solidFill>
              <a:latin typeface="Calibri"/>
              <a:ea typeface="Calibri"/>
              <a:cs typeface="Calibri"/>
              <a:sym typeface="Calibri"/>
            </a:endParaRPr>
          </a:p>
        </p:txBody>
      </p:sp>
      <p:sp>
        <p:nvSpPr>
          <p:cNvPr id="483" name="Google Shape;483;p20"/>
          <p:cNvSpPr/>
          <p:nvPr/>
        </p:nvSpPr>
        <p:spPr>
          <a:xfrm>
            <a:off x="8046720" y="3429000"/>
            <a:ext cx="1737360" cy="502920"/>
          </a:xfrm>
          <a:prstGeom prst="roundRect">
            <a:avLst>
              <a:gd fmla="val 14545"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0"/>
          <p:cNvSpPr/>
          <p:nvPr/>
        </p:nvSpPr>
        <p:spPr>
          <a:xfrm>
            <a:off x="8046720" y="3429000"/>
            <a:ext cx="173736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50"/>
              <a:buFont typeface="Arial"/>
              <a:buNone/>
            </a:pPr>
            <a:r>
              <a:rPr b="1" lang="en-US" sz="1150">
                <a:solidFill>
                  <a:srgbClr val="0F3F6F"/>
                </a:solidFill>
                <a:latin typeface="Arial"/>
                <a:ea typeface="Arial"/>
                <a:cs typeface="Arial"/>
                <a:sym typeface="Arial"/>
              </a:rPr>
              <a:t>Datetime</a:t>
            </a:r>
            <a:endParaRPr sz="1150">
              <a:solidFill>
                <a:schemeClr val="dk1"/>
              </a:solidFill>
              <a:latin typeface="Calibri"/>
              <a:ea typeface="Calibri"/>
              <a:cs typeface="Calibri"/>
              <a:sym typeface="Calibri"/>
            </a:endParaRPr>
          </a:p>
        </p:txBody>
      </p:sp>
      <p:sp>
        <p:nvSpPr>
          <p:cNvPr id="485" name="Google Shape;485;p20"/>
          <p:cNvSpPr/>
          <p:nvPr/>
        </p:nvSpPr>
        <p:spPr>
          <a:xfrm>
            <a:off x="9921240" y="3429000"/>
            <a:ext cx="1737360" cy="502920"/>
          </a:xfrm>
          <a:prstGeom prst="roundRect">
            <a:avLst>
              <a:gd fmla="val 14545"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0"/>
          <p:cNvSpPr/>
          <p:nvPr/>
        </p:nvSpPr>
        <p:spPr>
          <a:xfrm>
            <a:off x="9921240" y="3429000"/>
            <a:ext cx="173736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50"/>
              <a:buFont typeface="Arial"/>
              <a:buNone/>
            </a:pPr>
            <a:r>
              <a:rPr b="1" lang="en-US" sz="1150">
                <a:solidFill>
                  <a:srgbClr val="0F3F6F"/>
                </a:solidFill>
                <a:latin typeface="Arial"/>
                <a:ea typeface="Arial"/>
                <a:cs typeface="Arial"/>
                <a:sym typeface="Arial"/>
              </a:rPr>
              <a:t>Category</a:t>
            </a:r>
            <a:endParaRPr sz="1150">
              <a:solidFill>
                <a:schemeClr val="dk1"/>
              </a:solidFill>
              <a:latin typeface="Calibri"/>
              <a:ea typeface="Calibri"/>
              <a:cs typeface="Calibri"/>
              <a:sym typeface="Calibri"/>
            </a:endParaRPr>
          </a:p>
        </p:txBody>
      </p:sp>
      <p:sp>
        <p:nvSpPr>
          <p:cNvPr id="487" name="Google Shape;487;p20"/>
          <p:cNvSpPr/>
          <p:nvPr/>
        </p:nvSpPr>
        <p:spPr>
          <a:xfrm>
            <a:off x="548640" y="4206240"/>
            <a:ext cx="11109960" cy="1005840"/>
          </a:xfrm>
          <a:prstGeom prst="roundRect">
            <a:avLst>
              <a:gd fmla="val 5455" name="adj"/>
            </a:avLst>
          </a:prstGeom>
          <a:solidFill>
            <a:srgbClr val="F0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0"/>
          <p:cNvSpPr/>
          <p:nvPr/>
        </p:nvSpPr>
        <p:spPr>
          <a:xfrm>
            <a:off x="777240" y="4206240"/>
            <a:ext cx="1065276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35266"/>
              </a:buClr>
              <a:buSzPts val="1150"/>
              <a:buFont typeface="Arial"/>
              <a:buNone/>
            </a:pPr>
            <a:r>
              <a:rPr lang="en-US" sz="1150">
                <a:solidFill>
                  <a:srgbClr val="435266"/>
                </a:solidFill>
                <a:latin typeface="Arial"/>
                <a:ea typeface="Arial"/>
                <a:cs typeface="Arial"/>
                <a:sym typeface="Arial"/>
              </a:rPr>
              <a:t>errors="coerce": giá trị không thể chuyển đổi sẽ trở thành NaN thay vì làm chương trình lỗi — rất hữu ích khi dữ liệu có nhiều định dạng lộn xộn.</a:t>
            </a:r>
            <a:endParaRPr sz="1150">
              <a:solidFill>
                <a:schemeClr val="dk1"/>
              </a:solidFill>
              <a:latin typeface="Calibri"/>
              <a:ea typeface="Calibri"/>
              <a:cs typeface="Calibri"/>
              <a:sym typeface="Calibri"/>
            </a:endParaRPr>
          </a:p>
        </p:txBody>
      </p:sp>
      <p:sp>
        <p:nvSpPr>
          <p:cNvPr id="489" name="Google Shape;489;p20"/>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Bài 6. Data Wrangling và làm sạch dữ liệu</a:t>
            </a:r>
            <a:endParaRPr sz="1000">
              <a:solidFill>
                <a:schemeClr val="dk1"/>
              </a:solidFill>
              <a:latin typeface="Calibri"/>
              <a:ea typeface="Calibri"/>
              <a:cs typeface="Calibri"/>
              <a:sym typeface="Calibri"/>
            </a:endParaRPr>
          </a:p>
        </p:txBody>
      </p:sp>
      <p:sp>
        <p:nvSpPr>
          <p:cNvPr id="490" name="Google Shape;490;p20"/>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20</a:t>
            </a:r>
            <a:endParaRPr sz="10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5" name="Shape 495"/>
        <p:cNvGrpSpPr/>
        <p:nvPr/>
      </p:nvGrpSpPr>
      <p:grpSpPr>
        <a:xfrm>
          <a:off x="0" y="0"/>
          <a:ext cx="0" cy="0"/>
          <a:chOff x="0" y="0"/>
          <a:chExt cx="0" cy="0"/>
        </a:xfrm>
      </p:grpSpPr>
      <p:sp>
        <p:nvSpPr>
          <p:cNvPr id="496" name="Google Shape;496;p21"/>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1"/>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1"/>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1"/>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1"/>
          <p:cNvSpPr/>
          <p:nvPr/>
        </p:nvSpPr>
        <p:spPr>
          <a:xfrm>
            <a:off x="658368" y="1371600"/>
            <a:ext cx="32004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5B518"/>
              </a:buClr>
              <a:buSzPts val="1900"/>
              <a:buFont typeface="Arial"/>
              <a:buNone/>
            </a:pPr>
            <a:r>
              <a:rPr b="1" lang="en-US" sz="1900">
                <a:solidFill>
                  <a:srgbClr val="85B518"/>
                </a:solidFill>
                <a:latin typeface="Arial"/>
                <a:ea typeface="Arial"/>
                <a:cs typeface="Arial"/>
                <a:sym typeface="Arial"/>
              </a:rPr>
              <a:t>PHẦN 6.8</a:t>
            </a:r>
            <a:endParaRPr sz="1900">
              <a:solidFill>
                <a:schemeClr val="dk1"/>
              </a:solidFill>
              <a:latin typeface="Calibri"/>
              <a:ea typeface="Calibri"/>
              <a:cs typeface="Calibri"/>
              <a:sym typeface="Calibri"/>
            </a:endParaRPr>
          </a:p>
        </p:txBody>
      </p:sp>
      <p:sp>
        <p:nvSpPr>
          <p:cNvPr id="501" name="Google Shape;501;p21"/>
          <p:cNvSpPr/>
          <p:nvPr/>
        </p:nvSpPr>
        <p:spPr>
          <a:xfrm>
            <a:off x="658368" y="1965960"/>
            <a:ext cx="10241280" cy="11887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3400"/>
              <a:buFont typeface="Arial"/>
              <a:buNone/>
            </a:pPr>
            <a:r>
              <a:rPr b="1" lang="en-US" sz="3400">
                <a:solidFill>
                  <a:srgbClr val="0F3F6F"/>
                </a:solidFill>
                <a:latin typeface="Arial"/>
                <a:ea typeface="Arial"/>
                <a:cs typeface="Arial"/>
                <a:sym typeface="Arial"/>
              </a:rPr>
              <a:t>Chuẩn hóa dữ liệu dạng text</a:t>
            </a:r>
            <a:endParaRPr sz="3400">
              <a:solidFill>
                <a:schemeClr val="dk1"/>
              </a:solidFill>
              <a:latin typeface="Calibri"/>
              <a:ea typeface="Calibri"/>
              <a:cs typeface="Calibri"/>
              <a:sym typeface="Calibri"/>
            </a:endParaRPr>
          </a:p>
        </p:txBody>
      </p:sp>
      <p:sp>
        <p:nvSpPr>
          <p:cNvPr id="502" name="Google Shape;502;p21"/>
          <p:cNvSpPr/>
          <p:nvPr/>
        </p:nvSpPr>
        <p:spPr>
          <a:xfrm>
            <a:off x="685800" y="3246120"/>
            <a:ext cx="100126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35266"/>
              </a:buClr>
              <a:buSzPts val="1500"/>
              <a:buFont typeface="Arial"/>
              <a:buNone/>
            </a:pPr>
            <a:r>
              <a:rPr lang="en-US" sz="1500">
                <a:solidFill>
                  <a:srgbClr val="435266"/>
                </a:solidFill>
                <a:latin typeface="Arial"/>
                <a:ea typeface="Arial"/>
                <a:cs typeface="Arial"/>
                <a:sym typeface="Arial"/>
              </a:rPr>
              <a:t>Cùng một giá trị nhưng viết theo nhiều cách khác nhau</a:t>
            </a:r>
            <a:endParaRPr sz="1500">
              <a:solidFill>
                <a:schemeClr val="dk1"/>
              </a:solidFill>
              <a:latin typeface="Calibri"/>
              <a:ea typeface="Calibri"/>
              <a:cs typeface="Calibri"/>
              <a:sym typeface="Calibri"/>
            </a:endParaRPr>
          </a:p>
        </p:txBody>
      </p:sp>
      <p:sp>
        <p:nvSpPr>
          <p:cNvPr id="503" name="Google Shape;503;p21"/>
          <p:cNvSpPr/>
          <p:nvPr/>
        </p:nvSpPr>
        <p:spPr>
          <a:xfrm>
            <a:off x="685800" y="4937760"/>
            <a:ext cx="5212080" cy="5029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1"/>
          <p:cNvSpPr/>
          <p:nvPr/>
        </p:nvSpPr>
        <p:spPr>
          <a:xfrm>
            <a:off x="6016752" y="4937760"/>
            <a:ext cx="1143000" cy="50292"/>
          </a:xfrm>
          <a:prstGeom prst="rect">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1"/>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21</a:t>
            </a:r>
            <a:endParaRPr sz="10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0" name="Shape 510"/>
        <p:cNvGrpSpPr/>
        <p:nvPr/>
      </p:nvGrpSpPr>
      <p:grpSpPr>
        <a:xfrm>
          <a:off x="0" y="0"/>
          <a:ext cx="0" cy="0"/>
          <a:chOff x="0" y="0"/>
          <a:chExt cx="0" cy="0"/>
        </a:xfrm>
      </p:grpSpPr>
      <p:sp>
        <p:nvSpPr>
          <p:cNvPr id="511" name="Google Shape;511;p22"/>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2"/>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2"/>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2"/>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2"/>
          <p:cNvSpPr/>
          <p:nvPr/>
        </p:nvSpPr>
        <p:spPr>
          <a:xfrm>
            <a:off x="530352" y="237744"/>
            <a:ext cx="978408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2100"/>
              <a:buFont typeface="Arial"/>
              <a:buNone/>
            </a:pPr>
            <a:r>
              <a:rPr b="1" lang="en-US" sz="2100">
                <a:solidFill>
                  <a:srgbClr val="0F3F6F"/>
                </a:solidFill>
                <a:latin typeface="Arial"/>
                <a:ea typeface="Arial"/>
                <a:cs typeface="Arial"/>
                <a:sym typeface="Arial"/>
              </a:rPr>
              <a:t>Chuẩn hóa dữ liệu dạng text</a:t>
            </a:r>
            <a:endParaRPr sz="2100">
              <a:solidFill>
                <a:schemeClr val="dk1"/>
              </a:solidFill>
              <a:latin typeface="Calibri"/>
              <a:ea typeface="Calibri"/>
              <a:cs typeface="Calibri"/>
              <a:sym typeface="Calibri"/>
            </a:endParaRPr>
          </a:p>
        </p:txBody>
      </p:sp>
      <p:sp>
        <p:nvSpPr>
          <p:cNvPr id="516" name="Google Shape;516;p22"/>
          <p:cNvSpPr/>
          <p:nvPr/>
        </p:nvSpPr>
        <p:spPr>
          <a:xfrm>
            <a:off x="548640" y="969264"/>
            <a:ext cx="9144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i="1" lang="en-US" sz="1100">
                <a:solidFill>
                  <a:srgbClr val="8497A5"/>
                </a:solidFill>
                <a:latin typeface="Arial"/>
                <a:ea typeface="Arial"/>
                <a:cs typeface="Arial"/>
                <a:sym typeface="Arial"/>
              </a:rPr>
              <a:t>6.8. Chuẩn hóa dữ liệu dạng text · Bài 06</a:t>
            </a:r>
            <a:endParaRPr sz="1100">
              <a:solidFill>
                <a:schemeClr val="dk1"/>
              </a:solidFill>
              <a:latin typeface="Calibri"/>
              <a:ea typeface="Calibri"/>
              <a:cs typeface="Calibri"/>
              <a:sym typeface="Calibri"/>
            </a:endParaRPr>
          </a:p>
        </p:txBody>
      </p:sp>
      <p:sp>
        <p:nvSpPr>
          <p:cNvPr id="517" name="Google Shape;517;p22"/>
          <p:cNvSpPr/>
          <p:nvPr/>
        </p:nvSpPr>
        <p:spPr>
          <a:xfrm>
            <a:off x="548640" y="1298448"/>
            <a:ext cx="111556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150"/>
              <a:buFont typeface="Arial"/>
              <a:buNone/>
            </a:pPr>
            <a:r>
              <a:rPr lang="en-US" sz="1150">
                <a:solidFill>
                  <a:srgbClr val="000000"/>
                </a:solidFill>
                <a:latin typeface="Arial"/>
                <a:ea typeface="Arial"/>
                <a:cs typeface="Arial"/>
                <a:sym typeface="Arial"/>
              </a:rPr>
              <a:t>Cùng một thành phố, cùng một giới tính, nhưng dữ liệu thô lại ghi theo nhiều cách:</a:t>
            </a:r>
            <a:endParaRPr sz="1150">
              <a:solidFill>
                <a:schemeClr val="dk1"/>
              </a:solidFill>
              <a:latin typeface="Calibri"/>
              <a:ea typeface="Calibri"/>
              <a:cs typeface="Calibri"/>
              <a:sym typeface="Calibri"/>
            </a:endParaRPr>
          </a:p>
        </p:txBody>
      </p:sp>
      <p:sp>
        <p:nvSpPr>
          <p:cNvPr id="518" name="Google Shape;518;p22"/>
          <p:cNvSpPr/>
          <p:nvPr/>
        </p:nvSpPr>
        <p:spPr>
          <a:xfrm>
            <a:off x="548640" y="1691640"/>
            <a:ext cx="1417320" cy="438912"/>
          </a:xfrm>
          <a:prstGeom prst="roundRect">
            <a:avLst>
              <a:gd fmla="val 50000" name="adj"/>
            </a:avLst>
          </a:prstGeom>
          <a:solidFill>
            <a:srgbClr val="E9F3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2"/>
          <p:cNvSpPr/>
          <p:nvPr/>
        </p:nvSpPr>
        <p:spPr>
          <a:xfrm>
            <a:off x="548640" y="1691640"/>
            <a:ext cx="141732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00"/>
              <a:buFont typeface="Arial"/>
              <a:buNone/>
            </a:pPr>
            <a:r>
              <a:rPr b="1" lang="en-US" sz="1100">
                <a:solidFill>
                  <a:srgbClr val="0F3F6F"/>
                </a:solidFill>
                <a:latin typeface="Arial"/>
                <a:ea typeface="Arial"/>
                <a:cs typeface="Arial"/>
                <a:sym typeface="Arial"/>
              </a:rPr>
              <a:t>Hà Nội</a:t>
            </a:r>
            <a:endParaRPr sz="1100">
              <a:solidFill>
                <a:schemeClr val="dk1"/>
              </a:solidFill>
              <a:latin typeface="Calibri"/>
              <a:ea typeface="Calibri"/>
              <a:cs typeface="Calibri"/>
              <a:sym typeface="Calibri"/>
            </a:endParaRPr>
          </a:p>
        </p:txBody>
      </p:sp>
      <p:sp>
        <p:nvSpPr>
          <p:cNvPr id="520" name="Google Shape;520;p22"/>
          <p:cNvSpPr/>
          <p:nvPr/>
        </p:nvSpPr>
        <p:spPr>
          <a:xfrm>
            <a:off x="2103120" y="1691640"/>
            <a:ext cx="1417320" cy="438912"/>
          </a:xfrm>
          <a:prstGeom prst="roundRect">
            <a:avLst>
              <a:gd fmla="val 50000" name="adj"/>
            </a:avLst>
          </a:prstGeom>
          <a:solidFill>
            <a:srgbClr val="E9F3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2"/>
          <p:cNvSpPr/>
          <p:nvPr/>
        </p:nvSpPr>
        <p:spPr>
          <a:xfrm>
            <a:off x="2103120" y="1691640"/>
            <a:ext cx="141732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00"/>
              <a:buFont typeface="Arial"/>
              <a:buNone/>
            </a:pPr>
            <a:r>
              <a:rPr b="1" lang="en-US" sz="1100">
                <a:solidFill>
                  <a:srgbClr val="0F3F6F"/>
                </a:solidFill>
                <a:latin typeface="Arial"/>
                <a:ea typeface="Arial"/>
                <a:cs typeface="Arial"/>
                <a:sym typeface="Arial"/>
              </a:rPr>
              <a:t>ha noi</a:t>
            </a:r>
            <a:endParaRPr sz="1100">
              <a:solidFill>
                <a:schemeClr val="dk1"/>
              </a:solidFill>
              <a:latin typeface="Calibri"/>
              <a:ea typeface="Calibri"/>
              <a:cs typeface="Calibri"/>
              <a:sym typeface="Calibri"/>
            </a:endParaRPr>
          </a:p>
        </p:txBody>
      </p:sp>
      <p:sp>
        <p:nvSpPr>
          <p:cNvPr id="522" name="Google Shape;522;p22"/>
          <p:cNvSpPr/>
          <p:nvPr/>
        </p:nvSpPr>
        <p:spPr>
          <a:xfrm>
            <a:off x="3657600" y="1691640"/>
            <a:ext cx="1417320" cy="438912"/>
          </a:xfrm>
          <a:prstGeom prst="roundRect">
            <a:avLst>
              <a:gd fmla="val 50000" name="adj"/>
            </a:avLst>
          </a:prstGeom>
          <a:solidFill>
            <a:srgbClr val="E9F3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2"/>
          <p:cNvSpPr/>
          <p:nvPr/>
        </p:nvSpPr>
        <p:spPr>
          <a:xfrm>
            <a:off x="3657600" y="1691640"/>
            <a:ext cx="141732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00"/>
              <a:buFont typeface="Arial"/>
              <a:buNone/>
            </a:pPr>
            <a:r>
              <a:rPr b="1" lang="en-US" sz="1100">
                <a:solidFill>
                  <a:srgbClr val="0F3F6F"/>
                </a:solidFill>
                <a:latin typeface="Arial"/>
                <a:ea typeface="Arial"/>
                <a:cs typeface="Arial"/>
                <a:sym typeface="Arial"/>
              </a:rPr>
              <a:t>HÀ NỘI</a:t>
            </a:r>
            <a:endParaRPr sz="1100">
              <a:solidFill>
                <a:schemeClr val="dk1"/>
              </a:solidFill>
              <a:latin typeface="Calibri"/>
              <a:ea typeface="Calibri"/>
              <a:cs typeface="Calibri"/>
              <a:sym typeface="Calibri"/>
            </a:endParaRPr>
          </a:p>
        </p:txBody>
      </p:sp>
      <p:sp>
        <p:nvSpPr>
          <p:cNvPr id="524" name="Google Shape;524;p22"/>
          <p:cNvSpPr/>
          <p:nvPr/>
        </p:nvSpPr>
        <p:spPr>
          <a:xfrm>
            <a:off x="5212080" y="1691640"/>
            <a:ext cx="1417320" cy="438912"/>
          </a:xfrm>
          <a:prstGeom prst="roundRect">
            <a:avLst>
              <a:gd fmla="val 50000" name="adj"/>
            </a:avLst>
          </a:prstGeom>
          <a:solidFill>
            <a:srgbClr val="E9F3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2"/>
          <p:cNvSpPr/>
          <p:nvPr/>
        </p:nvSpPr>
        <p:spPr>
          <a:xfrm>
            <a:off x="5212080" y="1691640"/>
            <a:ext cx="141732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00"/>
              <a:buFont typeface="Arial"/>
              <a:buNone/>
            </a:pPr>
            <a:r>
              <a:rPr b="1" lang="en-US" sz="1100">
                <a:solidFill>
                  <a:srgbClr val="0F3F6F"/>
                </a:solidFill>
                <a:latin typeface="Arial"/>
                <a:ea typeface="Arial"/>
                <a:cs typeface="Arial"/>
                <a:sym typeface="Arial"/>
              </a:rPr>
              <a:t>Hà Nội</a:t>
            </a:r>
            <a:endParaRPr sz="1100">
              <a:solidFill>
                <a:schemeClr val="dk1"/>
              </a:solidFill>
              <a:latin typeface="Calibri"/>
              <a:ea typeface="Calibri"/>
              <a:cs typeface="Calibri"/>
              <a:sym typeface="Calibri"/>
            </a:endParaRPr>
          </a:p>
        </p:txBody>
      </p:sp>
      <p:sp>
        <p:nvSpPr>
          <p:cNvPr id="526" name="Google Shape;526;p22"/>
          <p:cNvSpPr/>
          <p:nvPr/>
        </p:nvSpPr>
        <p:spPr>
          <a:xfrm>
            <a:off x="548640" y="2240280"/>
            <a:ext cx="1417320" cy="438912"/>
          </a:xfrm>
          <a:prstGeom prst="roundRect">
            <a:avLst>
              <a:gd fmla="val 50000" name="adj"/>
            </a:avLst>
          </a:prstGeom>
          <a:solidFill>
            <a:srgbClr val="E9F3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2"/>
          <p:cNvSpPr/>
          <p:nvPr/>
        </p:nvSpPr>
        <p:spPr>
          <a:xfrm>
            <a:off x="548640" y="2240280"/>
            <a:ext cx="141732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00"/>
              <a:buFont typeface="Arial"/>
              <a:buNone/>
            </a:pPr>
            <a:r>
              <a:rPr b="1" lang="en-US" sz="1100">
                <a:solidFill>
                  <a:srgbClr val="0F3F6F"/>
                </a:solidFill>
                <a:latin typeface="Arial"/>
                <a:ea typeface="Arial"/>
                <a:cs typeface="Arial"/>
                <a:sym typeface="Arial"/>
              </a:rPr>
              <a:t>Male</a:t>
            </a:r>
            <a:endParaRPr sz="1100">
              <a:solidFill>
                <a:schemeClr val="dk1"/>
              </a:solidFill>
              <a:latin typeface="Calibri"/>
              <a:ea typeface="Calibri"/>
              <a:cs typeface="Calibri"/>
              <a:sym typeface="Calibri"/>
            </a:endParaRPr>
          </a:p>
        </p:txBody>
      </p:sp>
      <p:sp>
        <p:nvSpPr>
          <p:cNvPr id="528" name="Google Shape;528;p22"/>
          <p:cNvSpPr/>
          <p:nvPr/>
        </p:nvSpPr>
        <p:spPr>
          <a:xfrm>
            <a:off x="2103120" y="2240280"/>
            <a:ext cx="1417320" cy="438912"/>
          </a:xfrm>
          <a:prstGeom prst="roundRect">
            <a:avLst>
              <a:gd fmla="val 50000" name="adj"/>
            </a:avLst>
          </a:prstGeom>
          <a:solidFill>
            <a:srgbClr val="E9F3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2"/>
          <p:cNvSpPr/>
          <p:nvPr/>
        </p:nvSpPr>
        <p:spPr>
          <a:xfrm>
            <a:off x="2103120" y="2240280"/>
            <a:ext cx="141732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00"/>
              <a:buFont typeface="Arial"/>
              <a:buNone/>
            </a:pPr>
            <a:r>
              <a:rPr b="1" lang="en-US" sz="1100">
                <a:solidFill>
                  <a:srgbClr val="0F3F6F"/>
                </a:solidFill>
                <a:latin typeface="Arial"/>
                <a:ea typeface="Arial"/>
                <a:cs typeface="Arial"/>
                <a:sym typeface="Arial"/>
              </a:rPr>
              <a:t>MALE</a:t>
            </a:r>
            <a:endParaRPr sz="1100">
              <a:solidFill>
                <a:schemeClr val="dk1"/>
              </a:solidFill>
              <a:latin typeface="Calibri"/>
              <a:ea typeface="Calibri"/>
              <a:cs typeface="Calibri"/>
              <a:sym typeface="Calibri"/>
            </a:endParaRPr>
          </a:p>
        </p:txBody>
      </p:sp>
      <p:sp>
        <p:nvSpPr>
          <p:cNvPr id="530" name="Google Shape;530;p22"/>
          <p:cNvSpPr/>
          <p:nvPr/>
        </p:nvSpPr>
        <p:spPr>
          <a:xfrm>
            <a:off x="3657600" y="2240280"/>
            <a:ext cx="1417320" cy="438912"/>
          </a:xfrm>
          <a:prstGeom prst="roundRect">
            <a:avLst>
              <a:gd fmla="val 50000" name="adj"/>
            </a:avLst>
          </a:prstGeom>
          <a:solidFill>
            <a:srgbClr val="E9F3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2"/>
          <p:cNvSpPr/>
          <p:nvPr/>
        </p:nvSpPr>
        <p:spPr>
          <a:xfrm>
            <a:off x="3657600" y="2240280"/>
            <a:ext cx="141732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00"/>
              <a:buFont typeface="Arial"/>
              <a:buNone/>
            </a:pPr>
            <a:r>
              <a:rPr b="1" lang="en-US" sz="1100">
                <a:solidFill>
                  <a:srgbClr val="0F3F6F"/>
                </a:solidFill>
                <a:latin typeface="Arial"/>
                <a:ea typeface="Arial"/>
                <a:cs typeface="Arial"/>
                <a:sym typeface="Arial"/>
              </a:rPr>
              <a:t>M</a:t>
            </a:r>
            <a:endParaRPr sz="1100">
              <a:solidFill>
                <a:schemeClr val="dk1"/>
              </a:solidFill>
              <a:latin typeface="Calibri"/>
              <a:ea typeface="Calibri"/>
              <a:cs typeface="Calibri"/>
              <a:sym typeface="Calibri"/>
            </a:endParaRPr>
          </a:p>
        </p:txBody>
      </p:sp>
      <p:sp>
        <p:nvSpPr>
          <p:cNvPr id="532" name="Google Shape;532;p22"/>
          <p:cNvSpPr/>
          <p:nvPr/>
        </p:nvSpPr>
        <p:spPr>
          <a:xfrm>
            <a:off x="5212080" y="2240280"/>
            <a:ext cx="1417320" cy="438912"/>
          </a:xfrm>
          <a:prstGeom prst="roundRect">
            <a:avLst>
              <a:gd fmla="val 50000" name="adj"/>
            </a:avLst>
          </a:prstGeom>
          <a:solidFill>
            <a:srgbClr val="E9F3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2"/>
          <p:cNvSpPr/>
          <p:nvPr/>
        </p:nvSpPr>
        <p:spPr>
          <a:xfrm>
            <a:off x="5212080" y="2240280"/>
            <a:ext cx="141732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00"/>
              <a:buFont typeface="Arial"/>
              <a:buNone/>
            </a:pPr>
            <a:r>
              <a:rPr b="1" lang="en-US" sz="1100">
                <a:solidFill>
                  <a:srgbClr val="0F3F6F"/>
                </a:solidFill>
                <a:latin typeface="Arial"/>
                <a:ea typeface="Arial"/>
                <a:cs typeface="Arial"/>
                <a:sym typeface="Arial"/>
              </a:rPr>
              <a:t>Nam</a:t>
            </a:r>
            <a:endParaRPr sz="1100">
              <a:solidFill>
                <a:schemeClr val="dk1"/>
              </a:solidFill>
              <a:latin typeface="Calibri"/>
              <a:ea typeface="Calibri"/>
              <a:cs typeface="Calibri"/>
              <a:sym typeface="Calibri"/>
            </a:endParaRPr>
          </a:p>
        </p:txBody>
      </p:sp>
      <p:sp>
        <p:nvSpPr>
          <p:cNvPr id="534" name="Google Shape;534;p22"/>
          <p:cNvSpPr/>
          <p:nvPr/>
        </p:nvSpPr>
        <p:spPr>
          <a:xfrm>
            <a:off x="6766560" y="2240280"/>
            <a:ext cx="1417320" cy="438912"/>
          </a:xfrm>
          <a:prstGeom prst="roundRect">
            <a:avLst>
              <a:gd fmla="val 50000" name="adj"/>
            </a:avLst>
          </a:prstGeom>
          <a:solidFill>
            <a:srgbClr val="E9F3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2"/>
          <p:cNvSpPr/>
          <p:nvPr/>
        </p:nvSpPr>
        <p:spPr>
          <a:xfrm>
            <a:off x="6766560" y="2240280"/>
            <a:ext cx="141732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100"/>
              <a:buFont typeface="Arial"/>
              <a:buNone/>
            </a:pPr>
            <a:r>
              <a:rPr b="1" lang="en-US" sz="1100">
                <a:solidFill>
                  <a:srgbClr val="0F3F6F"/>
                </a:solidFill>
                <a:latin typeface="Arial"/>
                <a:ea typeface="Arial"/>
                <a:cs typeface="Arial"/>
                <a:sym typeface="Arial"/>
              </a:rPr>
              <a:t>nam</a:t>
            </a:r>
            <a:endParaRPr sz="1100">
              <a:solidFill>
                <a:schemeClr val="dk1"/>
              </a:solidFill>
              <a:latin typeface="Calibri"/>
              <a:ea typeface="Calibri"/>
              <a:cs typeface="Calibri"/>
              <a:sym typeface="Calibri"/>
            </a:endParaRPr>
          </a:p>
        </p:txBody>
      </p:sp>
      <p:sp>
        <p:nvSpPr>
          <p:cNvPr id="536" name="Google Shape;536;p22"/>
          <p:cNvSpPr/>
          <p:nvPr/>
        </p:nvSpPr>
        <p:spPr>
          <a:xfrm>
            <a:off x="548640" y="2834640"/>
            <a:ext cx="1110996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35266"/>
              </a:buClr>
              <a:buSzPts val="1150"/>
              <a:buFont typeface="Arial"/>
              <a:buNone/>
            </a:pPr>
            <a:r>
              <a:rPr i="1" lang="en-US" sz="1150">
                <a:solidFill>
                  <a:srgbClr val="435266"/>
                </a:solidFill>
                <a:latin typeface="Arial"/>
                <a:ea typeface="Arial"/>
                <a:cs typeface="Arial"/>
                <a:sym typeface="Arial"/>
              </a:rPr>
              <a:t>Với gender, cần thêm bước ánh xạ giá trị (mapping): "M", "MALE", "Nam", "nam" đều nên được quy về một giá trị chuẩn duy nhất, ví dụ "Male".</a:t>
            </a:r>
            <a:endParaRPr sz="1150">
              <a:solidFill>
                <a:schemeClr val="dk1"/>
              </a:solidFill>
              <a:latin typeface="Calibri"/>
              <a:ea typeface="Calibri"/>
              <a:cs typeface="Calibri"/>
              <a:sym typeface="Calibri"/>
            </a:endParaRPr>
          </a:p>
        </p:txBody>
      </p:sp>
      <p:sp>
        <p:nvSpPr>
          <p:cNvPr id="537" name="Google Shape;537;p22"/>
          <p:cNvSpPr/>
          <p:nvPr/>
        </p:nvSpPr>
        <p:spPr>
          <a:xfrm>
            <a:off x="548640" y="347472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250"/>
              <a:buFont typeface="Arial"/>
              <a:buNone/>
            </a:pPr>
            <a:r>
              <a:rPr b="1" lang="en-US" sz="1250">
                <a:solidFill>
                  <a:srgbClr val="0F3F6F"/>
                </a:solidFill>
                <a:latin typeface="Arial"/>
                <a:ea typeface="Arial"/>
                <a:cs typeface="Arial"/>
                <a:sym typeface="Arial"/>
              </a:rPr>
              <a:t>Xử lý (ví dụ với city)</a:t>
            </a:r>
            <a:endParaRPr sz="1250">
              <a:solidFill>
                <a:schemeClr val="dk1"/>
              </a:solidFill>
              <a:latin typeface="Calibri"/>
              <a:ea typeface="Calibri"/>
              <a:cs typeface="Calibri"/>
              <a:sym typeface="Calibri"/>
            </a:endParaRPr>
          </a:p>
        </p:txBody>
      </p:sp>
      <p:sp>
        <p:nvSpPr>
          <p:cNvPr id="538" name="Google Shape;538;p22"/>
          <p:cNvSpPr/>
          <p:nvPr/>
        </p:nvSpPr>
        <p:spPr>
          <a:xfrm>
            <a:off x="548640" y="3840480"/>
            <a:ext cx="5303520" cy="1280160"/>
          </a:xfrm>
          <a:prstGeom prst="roundRect">
            <a:avLst>
              <a:gd fmla="val 4286" name="adj"/>
            </a:avLst>
          </a:prstGeom>
          <a:solidFill>
            <a:srgbClr val="1B2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2"/>
          <p:cNvSpPr/>
          <p:nvPr/>
        </p:nvSpPr>
        <p:spPr>
          <a:xfrm>
            <a:off x="749808" y="3950208"/>
            <a:ext cx="4901184" cy="1060704"/>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E8EEF5"/>
              </a:buClr>
              <a:buSzPts val="1100"/>
              <a:buFont typeface="Consolas"/>
              <a:buNone/>
            </a:pPr>
            <a:r>
              <a:rPr lang="en-US" sz="1100">
                <a:solidFill>
                  <a:srgbClr val="E8EEF5"/>
                </a:solidFill>
                <a:latin typeface="Consolas"/>
                <a:ea typeface="Consolas"/>
                <a:cs typeface="Consolas"/>
                <a:sym typeface="Consolas"/>
              </a:rPr>
              <a:t>df["city"] = (</a:t>
            </a:r>
            <a:endParaRPr sz="1100">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E8EEF5"/>
              </a:buClr>
              <a:buSzPts val="1100"/>
              <a:buFont typeface="Consolas"/>
              <a:buNone/>
            </a:pPr>
            <a:r>
              <a:rPr lang="en-US" sz="1100">
                <a:solidFill>
                  <a:srgbClr val="E8EEF5"/>
                </a:solidFill>
                <a:latin typeface="Consolas"/>
                <a:ea typeface="Consolas"/>
                <a:cs typeface="Consolas"/>
                <a:sym typeface="Consolas"/>
              </a:rPr>
              <a:t>    df["city"]</a:t>
            </a:r>
            <a:endParaRPr sz="1100">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E8EEF5"/>
              </a:buClr>
              <a:buSzPts val="1100"/>
              <a:buFont typeface="Consolas"/>
              <a:buNone/>
            </a:pPr>
            <a:r>
              <a:rPr lang="en-US" sz="1100">
                <a:solidFill>
                  <a:srgbClr val="E8EEF5"/>
                </a:solidFill>
                <a:latin typeface="Consolas"/>
                <a:ea typeface="Consolas"/>
                <a:cs typeface="Consolas"/>
                <a:sym typeface="Consolas"/>
              </a:rPr>
              <a:t>    .str.strip()</a:t>
            </a:r>
            <a:endParaRPr sz="1100">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E8EEF5"/>
              </a:buClr>
              <a:buSzPts val="1100"/>
              <a:buFont typeface="Consolas"/>
              <a:buNone/>
            </a:pPr>
            <a:r>
              <a:rPr lang="en-US" sz="1100">
                <a:solidFill>
                  <a:srgbClr val="E8EEF5"/>
                </a:solidFill>
                <a:latin typeface="Consolas"/>
                <a:ea typeface="Consolas"/>
                <a:cs typeface="Consolas"/>
                <a:sym typeface="Consolas"/>
              </a:rPr>
              <a:t>    .str.lower()</a:t>
            </a:r>
            <a:endParaRPr sz="1100">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E8EEF5"/>
              </a:buClr>
              <a:buSzPts val="1100"/>
              <a:buFont typeface="Consolas"/>
              <a:buNone/>
            </a:pPr>
            <a:r>
              <a:rPr lang="en-US" sz="1100">
                <a:solidFill>
                  <a:srgbClr val="E8EEF5"/>
                </a:solidFill>
                <a:latin typeface="Consolas"/>
                <a:ea typeface="Consolas"/>
                <a:cs typeface="Consolas"/>
                <a:sym typeface="Consolas"/>
              </a:rPr>
              <a:t>)</a:t>
            </a:r>
            <a:endParaRPr sz="1100">
              <a:solidFill>
                <a:schemeClr val="dk1"/>
              </a:solidFill>
              <a:latin typeface="Calibri"/>
              <a:ea typeface="Calibri"/>
              <a:cs typeface="Calibri"/>
              <a:sym typeface="Calibri"/>
            </a:endParaRPr>
          </a:p>
        </p:txBody>
      </p:sp>
      <p:sp>
        <p:nvSpPr>
          <p:cNvPr id="540" name="Google Shape;540;p22"/>
          <p:cNvSpPr/>
          <p:nvPr/>
        </p:nvSpPr>
        <p:spPr>
          <a:xfrm>
            <a:off x="6126480" y="3840480"/>
            <a:ext cx="5303520" cy="1280160"/>
          </a:xfrm>
          <a:prstGeom prst="roundRect">
            <a:avLst>
              <a:gd fmla="val 5714" name="adj"/>
            </a:avLst>
          </a:prstGeom>
          <a:solidFill>
            <a:srgbClr val="F0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2"/>
          <p:cNvSpPr/>
          <p:nvPr/>
        </p:nvSpPr>
        <p:spPr>
          <a:xfrm>
            <a:off x="6355080" y="3840480"/>
            <a:ext cx="4846320" cy="12801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35266"/>
              </a:buClr>
              <a:buSzPts val="1150"/>
              <a:buFont typeface="Arial"/>
              <a:buNone/>
            </a:pPr>
            <a:r>
              <a:rPr i="1" lang="en-US" sz="1150">
                <a:solidFill>
                  <a:srgbClr val="435266"/>
                </a:solidFill>
                <a:latin typeface="Arial"/>
                <a:ea typeface="Arial"/>
                <a:cs typeface="Arial"/>
                <a:sym typeface="Arial"/>
              </a:rPr>
              <a:t>Đây là bước rất thực tế — dữ liệu văn bản do con người nhập luôn tồn tại nhiều biến thể như vậy.</a:t>
            </a:r>
            <a:endParaRPr sz="1150">
              <a:solidFill>
                <a:schemeClr val="dk1"/>
              </a:solidFill>
              <a:latin typeface="Calibri"/>
              <a:ea typeface="Calibri"/>
              <a:cs typeface="Calibri"/>
              <a:sym typeface="Calibri"/>
            </a:endParaRPr>
          </a:p>
        </p:txBody>
      </p:sp>
      <p:sp>
        <p:nvSpPr>
          <p:cNvPr id="542" name="Google Shape;542;p22"/>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Bài 6. Data Wrangling và làm sạch dữ liệu</a:t>
            </a:r>
            <a:endParaRPr sz="1000">
              <a:solidFill>
                <a:schemeClr val="dk1"/>
              </a:solidFill>
              <a:latin typeface="Calibri"/>
              <a:ea typeface="Calibri"/>
              <a:cs typeface="Calibri"/>
              <a:sym typeface="Calibri"/>
            </a:endParaRPr>
          </a:p>
        </p:txBody>
      </p:sp>
      <p:sp>
        <p:nvSpPr>
          <p:cNvPr id="543" name="Google Shape;543;p22"/>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22</a:t>
            </a:r>
            <a:endParaRPr sz="10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8" name="Shape 548"/>
        <p:cNvGrpSpPr/>
        <p:nvPr/>
      </p:nvGrpSpPr>
      <p:grpSpPr>
        <a:xfrm>
          <a:off x="0" y="0"/>
          <a:ext cx="0" cy="0"/>
          <a:chOff x="0" y="0"/>
          <a:chExt cx="0" cy="0"/>
        </a:xfrm>
      </p:grpSpPr>
      <p:sp>
        <p:nvSpPr>
          <p:cNvPr id="549" name="Google Shape;549;p23"/>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3"/>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3"/>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3"/>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3"/>
          <p:cNvSpPr/>
          <p:nvPr/>
        </p:nvSpPr>
        <p:spPr>
          <a:xfrm>
            <a:off x="658368" y="1371600"/>
            <a:ext cx="32004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5B518"/>
              </a:buClr>
              <a:buSzPts val="1900"/>
              <a:buFont typeface="Arial"/>
              <a:buNone/>
            </a:pPr>
            <a:r>
              <a:rPr b="1" lang="en-US" sz="1900">
                <a:solidFill>
                  <a:srgbClr val="85B518"/>
                </a:solidFill>
                <a:latin typeface="Arial"/>
                <a:ea typeface="Arial"/>
                <a:cs typeface="Arial"/>
                <a:sym typeface="Arial"/>
              </a:rPr>
              <a:t>PHẦN 6.9</a:t>
            </a:r>
            <a:endParaRPr sz="1900">
              <a:solidFill>
                <a:schemeClr val="dk1"/>
              </a:solidFill>
              <a:latin typeface="Calibri"/>
              <a:ea typeface="Calibri"/>
              <a:cs typeface="Calibri"/>
              <a:sym typeface="Calibri"/>
            </a:endParaRPr>
          </a:p>
        </p:txBody>
      </p:sp>
      <p:sp>
        <p:nvSpPr>
          <p:cNvPr id="554" name="Google Shape;554;p23"/>
          <p:cNvSpPr/>
          <p:nvPr/>
        </p:nvSpPr>
        <p:spPr>
          <a:xfrm>
            <a:off x="658368" y="1965960"/>
            <a:ext cx="10241280" cy="11887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3400"/>
              <a:buFont typeface="Arial"/>
              <a:buNone/>
            </a:pPr>
            <a:r>
              <a:rPr b="1" lang="en-US" sz="3400">
                <a:solidFill>
                  <a:srgbClr val="0F3F6F"/>
                </a:solidFill>
                <a:latin typeface="Arial"/>
                <a:ea typeface="Arial"/>
                <a:cs typeface="Arial"/>
                <a:sym typeface="Arial"/>
              </a:rPr>
              <a:t>Phát hiện giá trị bất thường</a:t>
            </a:r>
            <a:endParaRPr sz="3400">
              <a:solidFill>
                <a:schemeClr val="dk1"/>
              </a:solidFill>
              <a:latin typeface="Calibri"/>
              <a:ea typeface="Calibri"/>
              <a:cs typeface="Calibri"/>
              <a:sym typeface="Calibri"/>
            </a:endParaRPr>
          </a:p>
        </p:txBody>
      </p:sp>
      <p:sp>
        <p:nvSpPr>
          <p:cNvPr id="555" name="Google Shape;555;p23"/>
          <p:cNvSpPr/>
          <p:nvPr/>
        </p:nvSpPr>
        <p:spPr>
          <a:xfrm>
            <a:off x="685800" y="3246120"/>
            <a:ext cx="100126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35266"/>
              </a:buClr>
              <a:buSzPts val="1500"/>
              <a:buFont typeface="Arial"/>
              <a:buNone/>
            </a:pPr>
            <a:r>
              <a:rPr lang="en-US" sz="1500">
                <a:solidFill>
                  <a:srgbClr val="435266"/>
                </a:solidFill>
                <a:latin typeface="Arial"/>
                <a:ea typeface="Arial"/>
                <a:cs typeface="Arial"/>
                <a:sym typeface="Arial"/>
              </a:rPr>
              <a:t>Rule-based, Min/Max, IQR và Z-score ở mức khái niệm</a:t>
            </a:r>
            <a:endParaRPr sz="1500">
              <a:solidFill>
                <a:schemeClr val="dk1"/>
              </a:solidFill>
              <a:latin typeface="Calibri"/>
              <a:ea typeface="Calibri"/>
              <a:cs typeface="Calibri"/>
              <a:sym typeface="Calibri"/>
            </a:endParaRPr>
          </a:p>
        </p:txBody>
      </p:sp>
      <p:sp>
        <p:nvSpPr>
          <p:cNvPr id="556" name="Google Shape;556;p23"/>
          <p:cNvSpPr/>
          <p:nvPr/>
        </p:nvSpPr>
        <p:spPr>
          <a:xfrm>
            <a:off x="685800" y="4937760"/>
            <a:ext cx="5212080" cy="5029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3"/>
          <p:cNvSpPr/>
          <p:nvPr/>
        </p:nvSpPr>
        <p:spPr>
          <a:xfrm>
            <a:off x="6016752" y="4937760"/>
            <a:ext cx="1143000" cy="50292"/>
          </a:xfrm>
          <a:prstGeom prst="rect">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3"/>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23</a:t>
            </a:r>
            <a:endParaRPr sz="10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3" name="Shape 563"/>
        <p:cNvGrpSpPr/>
        <p:nvPr/>
      </p:nvGrpSpPr>
      <p:grpSpPr>
        <a:xfrm>
          <a:off x="0" y="0"/>
          <a:ext cx="0" cy="0"/>
          <a:chOff x="0" y="0"/>
          <a:chExt cx="0" cy="0"/>
        </a:xfrm>
      </p:grpSpPr>
      <p:sp>
        <p:nvSpPr>
          <p:cNvPr id="564" name="Google Shape;564;p24"/>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4"/>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4"/>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4"/>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4"/>
          <p:cNvSpPr/>
          <p:nvPr/>
        </p:nvSpPr>
        <p:spPr>
          <a:xfrm>
            <a:off x="530352" y="237744"/>
            <a:ext cx="978408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2100"/>
              <a:buFont typeface="Arial"/>
              <a:buNone/>
            </a:pPr>
            <a:r>
              <a:rPr b="1" lang="en-US" sz="2100">
                <a:solidFill>
                  <a:srgbClr val="0F3F6F"/>
                </a:solidFill>
                <a:latin typeface="Arial"/>
                <a:ea typeface="Arial"/>
                <a:cs typeface="Arial"/>
                <a:sym typeface="Arial"/>
              </a:rPr>
              <a:t>Phát hiện giá trị bất thường (Outlier)</a:t>
            </a:r>
            <a:endParaRPr sz="2100">
              <a:solidFill>
                <a:schemeClr val="dk1"/>
              </a:solidFill>
              <a:latin typeface="Calibri"/>
              <a:ea typeface="Calibri"/>
              <a:cs typeface="Calibri"/>
              <a:sym typeface="Calibri"/>
            </a:endParaRPr>
          </a:p>
        </p:txBody>
      </p:sp>
      <p:sp>
        <p:nvSpPr>
          <p:cNvPr id="569" name="Google Shape;569;p24"/>
          <p:cNvSpPr/>
          <p:nvPr/>
        </p:nvSpPr>
        <p:spPr>
          <a:xfrm>
            <a:off x="548640" y="969264"/>
            <a:ext cx="9144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i="1" lang="en-US" sz="1100">
                <a:solidFill>
                  <a:srgbClr val="8497A5"/>
                </a:solidFill>
                <a:latin typeface="Arial"/>
                <a:ea typeface="Arial"/>
                <a:cs typeface="Arial"/>
                <a:sym typeface="Arial"/>
              </a:rPr>
              <a:t>6.9. Phát hiện giá trị bất thường · Bài 06</a:t>
            </a:r>
            <a:endParaRPr sz="1100">
              <a:solidFill>
                <a:schemeClr val="dk1"/>
              </a:solidFill>
              <a:latin typeface="Calibri"/>
              <a:ea typeface="Calibri"/>
              <a:cs typeface="Calibri"/>
              <a:sym typeface="Calibri"/>
            </a:endParaRPr>
          </a:p>
        </p:txBody>
      </p:sp>
      <p:sp>
        <p:nvSpPr>
          <p:cNvPr id="570" name="Google Shape;570;p24"/>
          <p:cNvSpPr/>
          <p:nvPr/>
        </p:nvSpPr>
        <p:spPr>
          <a:xfrm>
            <a:off x="548640" y="12801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250"/>
              <a:buFont typeface="Arial"/>
              <a:buNone/>
            </a:pPr>
            <a:r>
              <a:rPr b="1" lang="en-US" sz="1250">
                <a:solidFill>
                  <a:srgbClr val="0F3F6F"/>
                </a:solidFill>
                <a:latin typeface="Arial"/>
                <a:ea typeface="Arial"/>
                <a:cs typeface="Arial"/>
                <a:sym typeface="Arial"/>
              </a:rPr>
              <a:t>Ví dụ giá trị bất thường</a:t>
            </a:r>
            <a:endParaRPr sz="1250">
              <a:solidFill>
                <a:schemeClr val="dk1"/>
              </a:solidFill>
              <a:latin typeface="Calibri"/>
              <a:ea typeface="Calibri"/>
              <a:cs typeface="Calibri"/>
              <a:sym typeface="Calibri"/>
            </a:endParaRPr>
          </a:p>
        </p:txBody>
      </p:sp>
      <p:sp>
        <p:nvSpPr>
          <p:cNvPr id="571" name="Google Shape;571;p24"/>
          <p:cNvSpPr/>
          <p:nvPr/>
        </p:nvSpPr>
        <p:spPr>
          <a:xfrm>
            <a:off x="548640" y="1627632"/>
            <a:ext cx="11109960" cy="777240"/>
          </a:xfrm>
          <a:prstGeom prst="roundRect">
            <a:avLst>
              <a:gd fmla="val 7059" name="adj"/>
            </a:avLst>
          </a:prstGeom>
          <a:solidFill>
            <a:srgbClr val="1B2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4"/>
          <p:cNvSpPr/>
          <p:nvPr/>
        </p:nvSpPr>
        <p:spPr>
          <a:xfrm>
            <a:off x="749808" y="1737360"/>
            <a:ext cx="10707624" cy="557784"/>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E8EEF5"/>
              </a:buClr>
              <a:buSzPts val="1200"/>
              <a:buFont typeface="Consolas"/>
              <a:buNone/>
            </a:pPr>
            <a:r>
              <a:rPr lang="en-US" sz="1200">
                <a:solidFill>
                  <a:srgbClr val="E8EEF5"/>
                </a:solidFill>
                <a:latin typeface="Consolas"/>
                <a:ea typeface="Consolas"/>
                <a:cs typeface="Consolas"/>
                <a:sym typeface="Consolas"/>
              </a:rPr>
              <a:t>Age = -5      Age = 250      Amount = -999999999</a:t>
            </a:r>
            <a:endParaRPr sz="1200">
              <a:solidFill>
                <a:schemeClr val="dk1"/>
              </a:solidFill>
              <a:latin typeface="Calibri"/>
              <a:ea typeface="Calibri"/>
              <a:cs typeface="Calibri"/>
              <a:sym typeface="Calibri"/>
            </a:endParaRPr>
          </a:p>
        </p:txBody>
      </p:sp>
      <p:sp>
        <p:nvSpPr>
          <p:cNvPr id="573" name="Google Shape;573;p24"/>
          <p:cNvSpPr/>
          <p:nvPr/>
        </p:nvSpPr>
        <p:spPr>
          <a:xfrm>
            <a:off x="548640" y="2606040"/>
            <a:ext cx="2606040" cy="1508760"/>
          </a:xfrm>
          <a:prstGeom prst="roundRect">
            <a:avLst>
              <a:gd fmla="val 4848"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4"/>
          <p:cNvSpPr/>
          <p:nvPr/>
        </p:nvSpPr>
        <p:spPr>
          <a:xfrm>
            <a:off x="685800" y="2724912"/>
            <a:ext cx="233172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1200"/>
              <a:buFont typeface="Arial"/>
              <a:buNone/>
            </a:pPr>
            <a:r>
              <a:rPr b="1" lang="en-US" sz="1200">
                <a:solidFill>
                  <a:srgbClr val="0F3F6F"/>
                </a:solidFill>
                <a:latin typeface="Arial"/>
                <a:ea typeface="Arial"/>
                <a:cs typeface="Arial"/>
                <a:sym typeface="Arial"/>
              </a:rPr>
              <a:t>Rule-based validation</a:t>
            </a:r>
            <a:endParaRPr sz="1200">
              <a:solidFill>
                <a:schemeClr val="dk1"/>
              </a:solidFill>
              <a:latin typeface="Calibri"/>
              <a:ea typeface="Calibri"/>
              <a:cs typeface="Calibri"/>
              <a:sym typeface="Calibri"/>
            </a:endParaRPr>
          </a:p>
        </p:txBody>
      </p:sp>
      <p:sp>
        <p:nvSpPr>
          <p:cNvPr id="575" name="Google Shape;575;p24"/>
          <p:cNvSpPr/>
          <p:nvPr/>
        </p:nvSpPr>
        <p:spPr>
          <a:xfrm>
            <a:off x="685800" y="3246120"/>
            <a:ext cx="2331720"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35266"/>
              </a:buClr>
              <a:buSzPts val="950"/>
              <a:buFont typeface="Arial"/>
              <a:buNone/>
            </a:pPr>
            <a:r>
              <a:rPr lang="en-US" sz="950">
                <a:solidFill>
                  <a:srgbClr val="435266"/>
                </a:solidFill>
                <a:latin typeface="Arial"/>
                <a:ea typeface="Arial"/>
                <a:cs typeface="Arial"/>
                <a:sym typeface="Arial"/>
              </a:rPr>
              <a:t>Đặt quy tắc nghiệp vụ cụ thể, ví dụ tuổi phải trong khoảng 0–120</a:t>
            </a:r>
            <a:endParaRPr sz="950">
              <a:solidFill>
                <a:schemeClr val="dk1"/>
              </a:solidFill>
              <a:latin typeface="Calibri"/>
              <a:ea typeface="Calibri"/>
              <a:cs typeface="Calibri"/>
              <a:sym typeface="Calibri"/>
            </a:endParaRPr>
          </a:p>
        </p:txBody>
      </p:sp>
      <p:sp>
        <p:nvSpPr>
          <p:cNvPr id="576" name="Google Shape;576;p24"/>
          <p:cNvSpPr/>
          <p:nvPr/>
        </p:nvSpPr>
        <p:spPr>
          <a:xfrm>
            <a:off x="3337560" y="2606040"/>
            <a:ext cx="2606040" cy="1508760"/>
          </a:xfrm>
          <a:prstGeom prst="roundRect">
            <a:avLst>
              <a:gd fmla="val 4848"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4"/>
          <p:cNvSpPr/>
          <p:nvPr/>
        </p:nvSpPr>
        <p:spPr>
          <a:xfrm>
            <a:off x="3474720" y="2724912"/>
            <a:ext cx="233172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1200"/>
              <a:buFont typeface="Arial"/>
              <a:buNone/>
            </a:pPr>
            <a:r>
              <a:rPr b="1" lang="en-US" sz="1200">
                <a:solidFill>
                  <a:srgbClr val="0F3F6F"/>
                </a:solidFill>
                <a:latin typeface="Arial"/>
                <a:ea typeface="Arial"/>
                <a:cs typeface="Arial"/>
                <a:sym typeface="Arial"/>
              </a:rPr>
              <a:t>Min / Max</a:t>
            </a:r>
            <a:endParaRPr sz="1200">
              <a:solidFill>
                <a:schemeClr val="dk1"/>
              </a:solidFill>
              <a:latin typeface="Calibri"/>
              <a:ea typeface="Calibri"/>
              <a:cs typeface="Calibri"/>
              <a:sym typeface="Calibri"/>
            </a:endParaRPr>
          </a:p>
        </p:txBody>
      </p:sp>
      <p:sp>
        <p:nvSpPr>
          <p:cNvPr id="578" name="Google Shape;578;p24"/>
          <p:cNvSpPr/>
          <p:nvPr/>
        </p:nvSpPr>
        <p:spPr>
          <a:xfrm>
            <a:off x="3474720" y="3246120"/>
            <a:ext cx="2331720"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35266"/>
              </a:buClr>
              <a:buSzPts val="950"/>
              <a:buFont typeface="Arial"/>
              <a:buNone/>
            </a:pPr>
            <a:r>
              <a:rPr lang="en-US" sz="950">
                <a:solidFill>
                  <a:srgbClr val="435266"/>
                </a:solidFill>
                <a:latin typeface="Arial"/>
                <a:ea typeface="Arial"/>
                <a:cs typeface="Arial"/>
                <a:sym typeface="Arial"/>
              </a:rPr>
              <a:t>Xác định ngưỡng hợp lý thấp nhất và cao nhất cho một cột dữ liệu</a:t>
            </a:r>
            <a:endParaRPr sz="950">
              <a:solidFill>
                <a:schemeClr val="dk1"/>
              </a:solidFill>
              <a:latin typeface="Calibri"/>
              <a:ea typeface="Calibri"/>
              <a:cs typeface="Calibri"/>
              <a:sym typeface="Calibri"/>
            </a:endParaRPr>
          </a:p>
        </p:txBody>
      </p:sp>
      <p:sp>
        <p:nvSpPr>
          <p:cNvPr id="579" name="Google Shape;579;p24"/>
          <p:cNvSpPr/>
          <p:nvPr/>
        </p:nvSpPr>
        <p:spPr>
          <a:xfrm>
            <a:off x="6126480" y="2606040"/>
            <a:ext cx="2606040" cy="1508760"/>
          </a:xfrm>
          <a:prstGeom prst="roundRect">
            <a:avLst>
              <a:gd fmla="val 4848"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4"/>
          <p:cNvSpPr/>
          <p:nvPr/>
        </p:nvSpPr>
        <p:spPr>
          <a:xfrm>
            <a:off x="6263640" y="2724912"/>
            <a:ext cx="233172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1200"/>
              <a:buFont typeface="Arial"/>
              <a:buNone/>
            </a:pPr>
            <a:r>
              <a:rPr b="1" lang="en-US" sz="1200">
                <a:solidFill>
                  <a:srgbClr val="0F3F6F"/>
                </a:solidFill>
                <a:latin typeface="Arial"/>
                <a:ea typeface="Arial"/>
                <a:cs typeface="Arial"/>
                <a:sym typeface="Arial"/>
              </a:rPr>
              <a:t>IQR (khoảng tứ phân vị)</a:t>
            </a:r>
            <a:endParaRPr sz="1200">
              <a:solidFill>
                <a:schemeClr val="dk1"/>
              </a:solidFill>
              <a:latin typeface="Calibri"/>
              <a:ea typeface="Calibri"/>
              <a:cs typeface="Calibri"/>
              <a:sym typeface="Calibri"/>
            </a:endParaRPr>
          </a:p>
        </p:txBody>
      </p:sp>
      <p:sp>
        <p:nvSpPr>
          <p:cNvPr id="581" name="Google Shape;581;p24"/>
          <p:cNvSpPr/>
          <p:nvPr/>
        </p:nvSpPr>
        <p:spPr>
          <a:xfrm>
            <a:off x="6263640" y="3246120"/>
            <a:ext cx="2331720"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35266"/>
              </a:buClr>
              <a:buSzPts val="950"/>
              <a:buFont typeface="Arial"/>
              <a:buNone/>
            </a:pPr>
            <a:r>
              <a:rPr lang="en-US" sz="950">
                <a:solidFill>
                  <a:srgbClr val="435266"/>
                </a:solidFill>
                <a:latin typeface="Arial"/>
                <a:ea typeface="Arial"/>
                <a:cs typeface="Arial"/>
                <a:sym typeface="Arial"/>
              </a:rPr>
              <a:t>Giá trị nằm ngoài khoảng [Q1 − 1.5×IQR, Q3 + 1.5×IQR] được coi là outlier</a:t>
            </a:r>
            <a:endParaRPr sz="950">
              <a:solidFill>
                <a:schemeClr val="dk1"/>
              </a:solidFill>
              <a:latin typeface="Calibri"/>
              <a:ea typeface="Calibri"/>
              <a:cs typeface="Calibri"/>
              <a:sym typeface="Calibri"/>
            </a:endParaRPr>
          </a:p>
        </p:txBody>
      </p:sp>
      <p:sp>
        <p:nvSpPr>
          <p:cNvPr id="582" name="Google Shape;582;p24"/>
          <p:cNvSpPr/>
          <p:nvPr/>
        </p:nvSpPr>
        <p:spPr>
          <a:xfrm>
            <a:off x="8915400" y="2606040"/>
            <a:ext cx="2606040" cy="1508760"/>
          </a:xfrm>
          <a:prstGeom prst="roundRect">
            <a:avLst>
              <a:gd fmla="val 4848"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4"/>
          <p:cNvSpPr/>
          <p:nvPr/>
        </p:nvSpPr>
        <p:spPr>
          <a:xfrm>
            <a:off x="9052560" y="2724912"/>
            <a:ext cx="233172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1200"/>
              <a:buFont typeface="Arial"/>
              <a:buNone/>
            </a:pPr>
            <a:r>
              <a:rPr b="1" lang="en-US" sz="1200">
                <a:solidFill>
                  <a:srgbClr val="0F3F6F"/>
                </a:solidFill>
                <a:latin typeface="Arial"/>
                <a:ea typeface="Arial"/>
                <a:cs typeface="Arial"/>
                <a:sym typeface="Arial"/>
              </a:rPr>
              <a:t>Z-score (mức khái niệm)</a:t>
            </a:r>
            <a:endParaRPr sz="1200">
              <a:solidFill>
                <a:schemeClr val="dk1"/>
              </a:solidFill>
              <a:latin typeface="Calibri"/>
              <a:ea typeface="Calibri"/>
              <a:cs typeface="Calibri"/>
              <a:sym typeface="Calibri"/>
            </a:endParaRPr>
          </a:p>
        </p:txBody>
      </p:sp>
      <p:sp>
        <p:nvSpPr>
          <p:cNvPr id="584" name="Google Shape;584;p24"/>
          <p:cNvSpPr/>
          <p:nvPr/>
        </p:nvSpPr>
        <p:spPr>
          <a:xfrm>
            <a:off x="9052560" y="3246120"/>
            <a:ext cx="2331720"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35266"/>
              </a:buClr>
              <a:buSzPts val="950"/>
              <a:buFont typeface="Arial"/>
              <a:buNone/>
            </a:pPr>
            <a:r>
              <a:rPr lang="en-US" sz="950">
                <a:solidFill>
                  <a:srgbClr val="435266"/>
                </a:solidFill>
                <a:latin typeface="Arial"/>
                <a:ea typeface="Arial"/>
                <a:cs typeface="Arial"/>
                <a:sym typeface="Arial"/>
              </a:rPr>
              <a:t>Đo độ lệch của một giá trị so với trung bình theo đơn vị độ lệch chuẩn</a:t>
            </a:r>
            <a:endParaRPr sz="950">
              <a:solidFill>
                <a:schemeClr val="dk1"/>
              </a:solidFill>
              <a:latin typeface="Calibri"/>
              <a:ea typeface="Calibri"/>
              <a:cs typeface="Calibri"/>
              <a:sym typeface="Calibri"/>
            </a:endParaRPr>
          </a:p>
        </p:txBody>
      </p:sp>
      <p:sp>
        <p:nvSpPr>
          <p:cNvPr id="585" name="Google Shape;585;p24"/>
          <p:cNvSpPr/>
          <p:nvPr/>
        </p:nvSpPr>
        <p:spPr>
          <a:xfrm>
            <a:off x="548640" y="4343400"/>
            <a:ext cx="111099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35266"/>
              </a:buClr>
              <a:buSzPts val="1150"/>
              <a:buFont typeface="Arial"/>
              <a:buNone/>
            </a:pPr>
            <a:r>
              <a:rPr i="1" lang="en-US" sz="1150">
                <a:solidFill>
                  <a:srgbClr val="435266"/>
                </a:solidFill>
                <a:latin typeface="Arial"/>
                <a:ea typeface="Arial"/>
                <a:cs typeface="Arial"/>
                <a:sym typeface="Arial"/>
              </a:rPr>
              <a:t>Không cần biến bài học này thành một bài thống kê — chỉ cần hiểu ý tưởng để áp dụng vào thực hành.</a:t>
            </a:r>
            <a:endParaRPr sz="1150">
              <a:solidFill>
                <a:schemeClr val="dk1"/>
              </a:solidFill>
              <a:latin typeface="Calibri"/>
              <a:ea typeface="Calibri"/>
              <a:cs typeface="Calibri"/>
              <a:sym typeface="Calibri"/>
            </a:endParaRPr>
          </a:p>
        </p:txBody>
      </p:sp>
      <p:sp>
        <p:nvSpPr>
          <p:cNvPr id="586" name="Google Shape;586;p24"/>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Bài 6. Data Wrangling và làm sạch dữ liệu</a:t>
            </a:r>
            <a:endParaRPr sz="1000">
              <a:solidFill>
                <a:schemeClr val="dk1"/>
              </a:solidFill>
              <a:latin typeface="Calibri"/>
              <a:ea typeface="Calibri"/>
              <a:cs typeface="Calibri"/>
              <a:sym typeface="Calibri"/>
            </a:endParaRPr>
          </a:p>
        </p:txBody>
      </p:sp>
      <p:sp>
        <p:nvSpPr>
          <p:cNvPr id="587" name="Google Shape;587;p24"/>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24</a:t>
            </a:r>
            <a:endParaRPr sz="10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2" name="Shape 592"/>
        <p:cNvGrpSpPr/>
        <p:nvPr/>
      </p:nvGrpSpPr>
      <p:grpSpPr>
        <a:xfrm>
          <a:off x="0" y="0"/>
          <a:ext cx="0" cy="0"/>
          <a:chOff x="0" y="0"/>
          <a:chExt cx="0" cy="0"/>
        </a:xfrm>
      </p:grpSpPr>
      <p:sp>
        <p:nvSpPr>
          <p:cNvPr id="593" name="Google Shape;593;p25"/>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5"/>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5"/>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5"/>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5"/>
          <p:cNvSpPr/>
          <p:nvPr/>
        </p:nvSpPr>
        <p:spPr>
          <a:xfrm>
            <a:off x="658368" y="1371600"/>
            <a:ext cx="32004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5B518"/>
              </a:buClr>
              <a:buSzPts val="1900"/>
              <a:buFont typeface="Arial"/>
              <a:buNone/>
            </a:pPr>
            <a:r>
              <a:rPr b="1" lang="en-US" sz="1900">
                <a:solidFill>
                  <a:srgbClr val="85B518"/>
                </a:solidFill>
                <a:latin typeface="Arial"/>
                <a:ea typeface="Arial"/>
                <a:cs typeface="Arial"/>
                <a:sym typeface="Arial"/>
              </a:rPr>
              <a:t>PHẦN 6.10</a:t>
            </a:r>
            <a:endParaRPr sz="1900">
              <a:solidFill>
                <a:schemeClr val="dk1"/>
              </a:solidFill>
              <a:latin typeface="Calibri"/>
              <a:ea typeface="Calibri"/>
              <a:cs typeface="Calibri"/>
              <a:sym typeface="Calibri"/>
            </a:endParaRPr>
          </a:p>
        </p:txBody>
      </p:sp>
      <p:sp>
        <p:nvSpPr>
          <p:cNvPr id="598" name="Google Shape;598;p25"/>
          <p:cNvSpPr/>
          <p:nvPr/>
        </p:nvSpPr>
        <p:spPr>
          <a:xfrm>
            <a:off x="658368" y="1965960"/>
            <a:ext cx="10241280" cy="11887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3400"/>
              <a:buFont typeface="Arial"/>
              <a:buNone/>
            </a:pPr>
            <a:r>
              <a:rPr b="1" lang="en-US" sz="3400">
                <a:solidFill>
                  <a:srgbClr val="0F3F6F"/>
                </a:solidFill>
                <a:latin typeface="Arial"/>
                <a:ea typeface="Arial"/>
                <a:cs typeface="Arial"/>
                <a:sym typeface="Arial"/>
              </a:rPr>
              <a:t>Chuẩn hóa giá trị số</a:t>
            </a:r>
            <a:endParaRPr sz="3400">
              <a:solidFill>
                <a:schemeClr val="dk1"/>
              </a:solidFill>
              <a:latin typeface="Calibri"/>
              <a:ea typeface="Calibri"/>
              <a:cs typeface="Calibri"/>
              <a:sym typeface="Calibri"/>
            </a:endParaRPr>
          </a:p>
        </p:txBody>
      </p:sp>
      <p:sp>
        <p:nvSpPr>
          <p:cNvPr id="599" name="Google Shape;599;p25"/>
          <p:cNvSpPr/>
          <p:nvPr/>
        </p:nvSpPr>
        <p:spPr>
          <a:xfrm>
            <a:off x="685800" y="3246120"/>
            <a:ext cx="100126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35266"/>
              </a:buClr>
              <a:buSzPts val="1500"/>
              <a:buFont typeface="Arial"/>
              <a:buNone/>
            </a:pPr>
            <a:r>
              <a:rPr lang="en-US" sz="1500">
                <a:solidFill>
                  <a:srgbClr val="435266"/>
                </a:solidFill>
                <a:latin typeface="Arial"/>
                <a:ea typeface="Arial"/>
                <a:cs typeface="Arial"/>
                <a:sym typeface="Arial"/>
              </a:rPr>
              <a:t>Hai nghĩa khác nhau của từ "chuẩn hóa": định dạng và Scaling</a:t>
            </a:r>
            <a:endParaRPr sz="1500">
              <a:solidFill>
                <a:schemeClr val="dk1"/>
              </a:solidFill>
              <a:latin typeface="Calibri"/>
              <a:ea typeface="Calibri"/>
              <a:cs typeface="Calibri"/>
              <a:sym typeface="Calibri"/>
            </a:endParaRPr>
          </a:p>
        </p:txBody>
      </p:sp>
      <p:sp>
        <p:nvSpPr>
          <p:cNvPr id="600" name="Google Shape;600;p25"/>
          <p:cNvSpPr/>
          <p:nvPr/>
        </p:nvSpPr>
        <p:spPr>
          <a:xfrm>
            <a:off x="685800" y="4937760"/>
            <a:ext cx="5212080" cy="5029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5"/>
          <p:cNvSpPr/>
          <p:nvPr/>
        </p:nvSpPr>
        <p:spPr>
          <a:xfrm>
            <a:off x="6016752" y="4937760"/>
            <a:ext cx="1143000" cy="50292"/>
          </a:xfrm>
          <a:prstGeom prst="rect">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5"/>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25</a:t>
            </a:r>
            <a:endParaRPr sz="10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7" name="Shape 607"/>
        <p:cNvGrpSpPr/>
        <p:nvPr/>
      </p:nvGrpSpPr>
      <p:grpSpPr>
        <a:xfrm>
          <a:off x="0" y="0"/>
          <a:ext cx="0" cy="0"/>
          <a:chOff x="0" y="0"/>
          <a:chExt cx="0" cy="0"/>
        </a:xfrm>
      </p:grpSpPr>
      <p:sp>
        <p:nvSpPr>
          <p:cNvPr id="608" name="Google Shape;608;p26"/>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6"/>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6"/>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6"/>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6"/>
          <p:cNvSpPr/>
          <p:nvPr/>
        </p:nvSpPr>
        <p:spPr>
          <a:xfrm>
            <a:off x="530352" y="237744"/>
            <a:ext cx="978408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2100"/>
              <a:buFont typeface="Arial"/>
              <a:buNone/>
            </a:pPr>
            <a:r>
              <a:rPr b="1" lang="en-US" sz="2100">
                <a:solidFill>
                  <a:srgbClr val="0F3F6F"/>
                </a:solidFill>
                <a:latin typeface="Arial"/>
                <a:ea typeface="Arial"/>
                <a:cs typeface="Arial"/>
                <a:sym typeface="Arial"/>
              </a:rPr>
              <a:t>Hai nghĩa của "chuẩn hóa" giá trị số</a:t>
            </a:r>
            <a:endParaRPr sz="2100">
              <a:solidFill>
                <a:schemeClr val="dk1"/>
              </a:solidFill>
              <a:latin typeface="Calibri"/>
              <a:ea typeface="Calibri"/>
              <a:cs typeface="Calibri"/>
              <a:sym typeface="Calibri"/>
            </a:endParaRPr>
          </a:p>
        </p:txBody>
      </p:sp>
      <p:sp>
        <p:nvSpPr>
          <p:cNvPr id="613" name="Google Shape;613;p26"/>
          <p:cNvSpPr/>
          <p:nvPr/>
        </p:nvSpPr>
        <p:spPr>
          <a:xfrm>
            <a:off x="548640" y="969264"/>
            <a:ext cx="9144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i="1" lang="en-US" sz="1100">
                <a:solidFill>
                  <a:srgbClr val="8497A5"/>
                </a:solidFill>
                <a:latin typeface="Arial"/>
                <a:ea typeface="Arial"/>
                <a:cs typeface="Arial"/>
                <a:sym typeface="Arial"/>
              </a:rPr>
              <a:t>6.10. Chuẩn hóa giá trị số · Bài 06</a:t>
            </a:r>
            <a:endParaRPr sz="1100">
              <a:solidFill>
                <a:schemeClr val="dk1"/>
              </a:solidFill>
              <a:latin typeface="Calibri"/>
              <a:ea typeface="Calibri"/>
              <a:cs typeface="Calibri"/>
              <a:sym typeface="Calibri"/>
            </a:endParaRPr>
          </a:p>
        </p:txBody>
      </p:sp>
      <p:sp>
        <p:nvSpPr>
          <p:cNvPr id="614" name="Google Shape;614;p26"/>
          <p:cNvSpPr/>
          <p:nvPr/>
        </p:nvSpPr>
        <p:spPr>
          <a:xfrm>
            <a:off x="548640" y="1280160"/>
            <a:ext cx="11109960" cy="1234440"/>
          </a:xfrm>
          <a:prstGeom prst="roundRect">
            <a:avLst>
              <a:gd fmla="val 5926"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6"/>
          <p:cNvSpPr/>
          <p:nvPr/>
        </p:nvSpPr>
        <p:spPr>
          <a:xfrm>
            <a:off x="777240" y="137160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300"/>
              <a:buFont typeface="Arial"/>
              <a:buNone/>
            </a:pPr>
            <a:r>
              <a:rPr b="1" lang="en-US" sz="1300">
                <a:solidFill>
                  <a:srgbClr val="0F3F6F"/>
                </a:solidFill>
                <a:latin typeface="Arial"/>
                <a:ea typeface="Arial"/>
                <a:cs typeface="Arial"/>
                <a:sym typeface="Arial"/>
              </a:rPr>
              <a:t>Chuẩn hóa định dạng</a:t>
            </a:r>
            <a:endParaRPr sz="1300">
              <a:solidFill>
                <a:schemeClr val="dk1"/>
              </a:solidFill>
              <a:latin typeface="Calibri"/>
              <a:ea typeface="Calibri"/>
              <a:cs typeface="Calibri"/>
              <a:sym typeface="Calibri"/>
            </a:endParaRPr>
          </a:p>
        </p:txBody>
      </p:sp>
      <p:sp>
        <p:nvSpPr>
          <p:cNvPr id="616" name="Google Shape;616;p26"/>
          <p:cNvSpPr/>
          <p:nvPr/>
        </p:nvSpPr>
        <p:spPr>
          <a:xfrm>
            <a:off x="777240" y="1691640"/>
            <a:ext cx="10607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35266"/>
              </a:buClr>
              <a:buSzPts val="1050"/>
              <a:buFont typeface="Arial"/>
              <a:buNone/>
            </a:pPr>
            <a:r>
              <a:rPr lang="en-US" sz="1050">
                <a:solidFill>
                  <a:srgbClr val="435266"/>
                </a:solidFill>
                <a:latin typeface="Arial"/>
                <a:ea typeface="Arial"/>
                <a:cs typeface="Arial"/>
                <a:sym typeface="Arial"/>
              </a:rPr>
              <a:t>Đưa các cách viết khác nhau của cùng một giá trị về một định dạng thống nhất:</a:t>
            </a:r>
            <a:endParaRPr sz="1050">
              <a:solidFill>
                <a:schemeClr val="dk1"/>
              </a:solidFill>
              <a:latin typeface="Calibri"/>
              <a:ea typeface="Calibri"/>
              <a:cs typeface="Calibri"/>
              <a:sym typeface="Calibri"/>
            </a:endParaRPr>
          </a:p>
        </p:txBody>
      </p:sp>
      <p:sp>
        <p:nvSpPr>
          <p:cNvPr id="617" name="Google Shape;617;p26"/>
          <p:cNvSpPr/>
          <p:nvPr/>
        </p:nvSpPr>
        <p:spPr>
          <a:xfrm>
            <a:off x="777240" y="2084832"/>
            <a:ext cx="1463040" cy="384048"/>
          </a:xfrm>
          <a:prstGeom prst="roundRect">
            <a:avLst>
              <a:gd fmla="val 50000" name="adj"/>
            </a:avLst>
          </a:prstGeom>
          <a:solidFill>
            <a:srgbClr val="FFFFFF"/>
          </a:solidFill>
          <a:ln cap="flat" cmpd="sng" w="9525">
            <a:solidFill>
              <a:srgbClr val="0F3F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6"/>
          <p:cNvSpPr/>
          <p:nvPr/>
        </p:nvSpPr>
        <p:spPr>
          <a:xfrm>
            <a:off x="777240" y="2084832"/>
            <a:ext cx="146304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050"/>
              <a:buFont typeface="Consolas"/>
              <a:buNone/>
            </a:pPr>
            <a:r>
              <a:rPr b="1" lang="en-US" sz="1050">
                <a:solidFill>
                  <a:srgbClr val="0F3F6F"/>
                </a:solidFill>
                <a:latin typeface="Consolas"/>
                <a:ea typeface="Consolas"/>
                <a:cs typeface="Consolas"/>
                <a:sym typeface="Consolas"/>
              </a:rPr>
              <a:t>1 triệu</a:t>
            </a:r>
            <a:endParaRPr sz="1050">
              <a:solidFill>
                <a:schemeClr val="dk1"/>
              </a:solidFill>
              <a:latin typeface="Calibri"/>
              <a:ea typeface="Calibri"/>
              <a:cs typeface="Calibri"/>
              <a:sym typeface="Calibri"/>
            </a:endParaRPr>
          </a:p>
        </p:txBody>
      </p:sp>
      <p:sp>
        <p:nvSpPr>
          <p:cNvPr id="619" name="Google Shape;619;p26"/>
          <p:cNvSpPr/>
          <p:nvPr/>
        </p:nvSpPr>
        <p:spPr>
          <a:xfrm>
            <a:off x="2377440" y="2084832"/>
            <a:ext cx="1463040" cy="384048"/>
          </a:xfrm>
          <a:prstGeom prst="roundRect">
            <a:avLst>
              <a:gd fmla="val 50000" name="adj"/>
            </a:avLst>
          </a:prstGeom>
          <a:solidFill>
            <a:srgbClr val="FFFFFF"/>
          </a:solidFill>
          <a:ln cap="flat" cmpd="sng" w="9525">
            <a:solidFill>
              <a:srgbClr val="0F3F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6"/>
          <p:cNvSpPr/>
          <p:nvPr/>
        </p:nvSpPr>
        <p:spPr>
          <a:xfrm>
            <a:off x="2377440" y="2084832"/>
            <a:ext cx="146304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050"/>
              <a:buFont typeface="Consolas"/>
              <a:buNone/>
            </a:pPr>
            <a:r>
              <a:rPr b="1" lang="en-US" sz="1050">
                <a:solidFill>
                  <a:srgbClr val="0F3F6F"/>
                </a:solidFill>
                <a:latin typeface="Consolas"/>
                <a:ea typeface="Consolas"/>
                <a:cs typeface="Consolas"/>
                <a:sym typeface="Consolas"/>
              </a:rPr>
              <a:t>1,000,000</a:t>
            </a:r>
            <a:endParaRPr sz="1050">
              <a:solidFill>
                <a:schemeClr val="dk1"/>
              </a:solidFill>
              <a:latin typeface="Calibri"/>
              <a:ea typeface="Calibri"/>
              <a:cs typeface="Calibri"/>
              <a:sym typeface="Calibri"/>
            </a:endParaRPr>
          </a:p>
        </p:txBody>
      </p:sp>
      <p:sp>
        <p:nvSpPr>
          <p:cNvPr id="621" name="Google Shape;621;p26"/>
          <p:cNvSpPr/>
          <p:nvPr/>
        </p:nvSpPr>
        <p:spPr>
          <a:xfrm>
            <a:off x="3977640" y="2084832"/>
            <a:ext cx="1463040" cy="384048"/>
          </a:xfrm>
          <a:prstGeom prst="roundRect">
            <a:avLst>
              <a:gd fmla="val 50000" name="adj"/>
            </a:avLst>
          </a:prstGeom>
          <a:solidFill>
            <a:srgbClr val="FFFFFF"/>
          </a:solidFill>
          <a:ln cap="flat" cmpd="sng" w="9525">
            <a:solidFill>
              <a:srgbClr val="0F3F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6"/>
          <p:cNvSpPr/>
          <p:nvPr/>
        </p:nvSpPr>
        <p:spPr>
          <a:xfrm>
            <a:off x="3977640" y="2084832"/>
            <a:ext cx="146304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050"/>
              <a:buFont typeface="Consolas"/>
              <a:buNone/>
            </a:pPr>
            <a:r>
              <a:rPr b="1" lang="en-US" sz="1050">
                <a:solidFill>
                  <a:srgbClr val="0F3F6F"/>
                </a:solidFill>
                <a:latin typeface="Consolas"/>
                <a:ea typeface="Consolas"/>
                <a:cs typeface="Consolas"/>
                <a:sym typeface="Consolas"/>
              </a:rPr>
              <a:t>1000000</a:t>
            </a:r>
            <a:endParaRPr sz="1050">
              <a:solidFill>
                <a:schemeClr val="dk1"/>
              </a:solidFill>
              <a:latin typeface="Calibri"/>
              <a:ea typeface="Calibri"/>
              <a:cs typeface="Calibri"/>
              <a:sym typeface="Calibri"/>
            </a:endParaRPr>
          </a:p>
        </p:txBody>
      </p:sp>
      <p:sp>
        <p:nvSpPr>
          <p:cNvPr id="623" name="Google Shape;623;p26"/>
          <p:cNvSpPr/>
          <p:nvPr/>
        </p:nvSpPr>
        <p:spPr>
          <a:xfrm>
            <a:off x="5577840" y="2084832"/>
            <a:ext cx="36576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4EAD"/>
              </a:buClr>
              <a:buSzPts val="1600"/>
              <a:buFont typeface="Arial"/>
              <a:buNone/>
            </a:pPr>
            <a:r>
              <a:rPr b="1" lang="en-US" sz="1600">
                <a:solidFill>
                  <a:srgbClr val="1F4EAD"/>
                </a:solidFill>
                <a:latin typeface="Arial"/>
                <a:ea typeface="Arial"/>
                <a:cs typeface="Arial"/>
                <a:sym typeface="Arial"/>
              </a:rPr>
              <a:t>→</a:t>
            </a:r>
            <a:endParaRPr sz="1600">
              <a:solidFill>
                <a:schemeClr val="dk1"/>
              </a:solidFill>
              <a:latin typeface="Calibri"/>
              <a:ea typeface="Calibri"/>
              <a:cs typeface="Calibri"/>
              <a:sym typeface="Calibri"/>
            </a:endParaRPr>
          </a:p>
        </p:txBody>
      </p:sp>
      <p:sp>
        <p:nvSpPr>
          <p:cNvPr id="624" name="Google Shape;624;p26"/>
          <p:cNvSpPr/>
          <p:nvPr/>
        </p:nvSpPr>
        <p:spPr>
          <a:xfrm>
            <a:off x="5989320" y="2084832"/>
            <a:ext cx="1463040" cy="384048"/>
          </a:xfrm>
          <a:prstGeom prst="roundRect">
            <a:avLst>
              <a:gd fmla="val 50000" name="adj"/>
            </a:avLst>
          </a:prstGeom>
          <a:solidFill>
            <a:srgbClr val="1F4E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6"/>
          <p:cNvSpPr/>
          <p:nvPr/>
        </p:nvSpPr>
        <p:spPr>
          <a:xfrm>
            <a:off x="5989320" y="2084832"/>
            <a:ext cx="146304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onsolas"/>
              <a:buNone/>
            </a:pPr>
            <a:r>
              <a:rPr b="1" lang="en-US" sz="1050">
                <a:solidFill>
                  <a:srgbClr val="FFFFFF"/>
                </a:solidFill>
                <a:latin typeface="Consolas"/>
                <a:ea typeface="Consolas"/>
                <a:cs typeface="Consolas"/>
                <a:sym typeface="Consolas"/>
              </a:rPr>
              <a:t>1000000</a:t>
            </a:r>
            <a:endParaRPr sz="1050">
              <a:solidFill>
                <a:schemeClr val="dk1"/>
              </a:solidFill>
              <a:latin typeface="Calibri"/>
              <a:ea typeface="Calibri"/>
              <a:cs typeface="Calibri"/>
              <a:sym typeface="Calibri"/>
            </a:endParaRPr>
          </a:p>
        </p:txBody>
      </p:sp>
      <p:sp>
        <p:nvSpPr>
          <p:cNvPr id="626" name="Google Shape;626;p26"/>
          <p:cNvSpPr/>
          <p:nvPr/>
        </p:nvSpPr>
        <p:spPr>
          <a:xfrm>
            <a:off x="548640" y="274320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400"/>
              <a:buFont typeface="Arial"/>
              <a:buNone/>
            </a:pPr>
            <a:r>
              <a:rPr b="1" lang="en-US" sz="1400">
                <a:solidFill>
                  <a:srgbClr val="0F3F6F"/>
                </a:solidFill>
                <a:latin typeface="Arial"/>
                <a:ea typeface="Arial"/>
                <a:cs typeface="Arial"/>
                <a:sym typeface="Arial"/>
              </a:rPr>
              <a:t>Scaling</a:t>
            </a:r>
            <a:endParaRPr sz="1400">
              <a:solidFill>
                <a:schemeClr val="dk1"/>
              </a:solidFill>
              <a:latin typeface="Calibri"/>
              <a:ea typeface="Calibri"/>
              <a:cs typeface="Calibri"/>
              <a:sym typeface="Calibri"/>
            </a:endParaRPr>
          </a:p>
        </p:txBody>
      </p:sp>
      <p:sp>
        <p:nvSpPr>
          <p:cNvPr id="627" name="Google Shape;627;p26"/>
          <p:cNvSpPr/>
          <p:nvPr/>
        </p:nvSpPr>
        <p:spPr>
          <a:xfrm>
            <a:off x="640080" y="3154680"/>
            <a:ext cx="5349240" cy="1417320"/>
          </a:xfrm>
          <a:prstGeom prst="roundRect">
            <a:avLst>
              <a:gd fmla="val 7742"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6"/>
          <p:cNvSpPr/>
          <p:nvPr/>
        </p:nvSpPr>
        <p:spPr>
          <a:xfrm>
            <a:off x="914400" y="3319272"/>
            <a:ext cx="4800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500"/>
              <a:buFont typeface="Arial"/>
              <a:buNone/>
            </a:pPr>
            <a:r>
              <a:rPr b="1" lang="en-US" sz="1500">
                <a:solidFill>
                  <a:srgbClr val="0F3F6F"/>
                </a:solidFill>
                <a:latin typeface="Arial"/>
                <a:ea typeface="Arial"/>
                <a:cs typeface="Arial"/>
                <a:sym typeface="Arial"/>
              </a:rPr>
              <a:t>Min-Max Scaling</a:t>
            </a:r>
            <a:endParaRPr sz="1500">
              <a:solidFill>
                <a:schemeClr val="dk1"/>
              </a:solidFill>
              <a:latin typeface="Calibri"/>
              <a:ea typeface="Calibri"/>
              <a:cs typeface="Calibri"/>
              <a:sym typeface="Calibri"/>
            </a:endParaRPr>
          </a:p>
        </p:txBody>
      </p:sp>
      <p:sp>
        <p:nvSpPr>
          <p:cNvPr id="629" name="Google Shape;629;p26"/>
          <p:cNvSpPr/>
          <p:nvPr/>
        </p:nvSpPr>
        <p:spPr>
          <a:xfrm>
            <a:off x="914400" y="3749040"/>
            <a:ext cx="4800600" cy="68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5000"/>
              </a:lnSpc>
              <a:spcBef>
                <a:spcPts val="0"/>
              </a:spcBef>
              <a:spcAft>
                <a:spcPts val="0"/>
              </a:spcAft>
              <a:buClr>
                <a:srgbClr val="435266"/>
              </a:buClr>
              <a:buSzPts val="1150"/>
              <a:buFont typeface="Arial"/>
              <a:buChar char="•"/>
            </a:pPr>
            <a:r>
              <a:rPr lang="en-US" sz="1150">
                <a:solidFill>
                  <a:srgbClr val="435266"/>
                </a:solidFill>
                <a:latin typeface="Arial"/>
                <a:ea typeface="Arial"/>
                <a:cs typeface="Arial"/>
                <a:sym typeface="Arial"/>
              </a:rPr>
              <a:t>Co giãn giá trị về khoảng [0, 1]</a:t>
            </a:r>
            <a:endParaRPr sz="1150">
              <a:solidFill>
                <a:schemeClr val="dk1"/>
              </a:solidFill>
              <a:latin typeface="Calibri"/>
              <a:ea typeface="Calibri"/>
              <a:cs typeface="Calibri"/>
              <a:sym typeface="Calibri"/>
            </a:endParaRPr>
          </a:p>
          <a:p>
            <a:pPr indent="-342900" lvl="0" marL="342900" marR="0" rtl="0" algn="l">
              <a:lnSpc>
                <a:spcPct val="125000"/>
              </a:lnSpc>
              <a:spcBef>
                <a:spcPts val="0"/>
              </a:spcBef>
              <a:spcAft>
                <a:spcPts val="0"/>
              </a:spcAft>
              <a:buClr>
                <a:srgbClr val="435266"/>
              </a:buClr>
              <a:buSzPts val="1150"/>
              <a:buFont typeface="Arial"/>
              <a:buChar char="•"/>
            </a:pPr>
            <a:r>
              <a:rPr lang="en-US" sz="1150">
                <a:solidFill>
                  <a:srgbClr val="435266"/>
                </a:solidFill>
                <a:latin typeface="Arial"/>
                <a:ea typeface="Arial"/>
                <a:cs typeface="Arial"/>
                <a:sym typeface="Arial"/>
              </a:rPr>
              <a:t>Giữ nguyên phân bố tương đối giữa các giá trị</a:t>
            </a:r>
            <a:endParaRPr sz="1150">
              <a:solidFill>
                <a:schemeClr val="dk1"/>
              </a:solidFill>
              <a:latin typeface="Calibri"/>
              <a:ea typeface="Calibri"/>
              <a:cs typeface="Calibri"/>
              <a:sym typeface="Calibri"/>
            </a:endParaRPr>
          </a:p>
        </p:txBody>
      </p:sp>
      <p:sp>
        <p:nvSpPr>
          <p:cNvPr id="630" name="Google Shape;630;p26"/>
          <p:cNvSpPr/>
          <p:nvPr/>
        </p:nvSpPr>
        <p:spPr>
          <a:xfrm>
            <a:off x="6492240" y="3154680"/>
            <a:ext cx="5349240" cy="1417320"/>
          </a:xfrm>
          <a:prstGeom prst="roundRect">
            <a:avLst>
              <a:gd fmla="val 7742" name="adj"/>
            </a:avLst>
          </a:prstGeom>
          <a:solidFill>
            <a:srgbClr val="E9F3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6"/>
          <p:cNvSpPr/>
          <p:nvPr/>
        </p:nvSpPr>
        <p:spPr>
          <a:xfrm>
            <a:off x="6766560" y="3319272"/>
            <a:ext cx="4800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500"/>
              <a:buFont typeface="Arial"/>
              <a:buNone/>
            </a:pPr>
            <a:r>
              <a:rPr b="1" lang="en-US" sz="1500">
                <a:solidFill>
                  <a:srgbClr val="0F3F6F"/>
                </a:solidFill>
                <a:latin typeface="Arial"/>
                <a:ea typeface="Arial"/>
                <a:cs typeface="Arial"/>
                <a:sym typeface="Arial"/>
              </a:rPr>
              <a:t>Standardization</a:t>
            </a:r>
            <a:endParaRPr sz="1500">
              <a:solidFill>
                <a:schemeClr val="dk1"/>
              </a:solidFill>
              <a:latin typeface="Calibri"/>
              <a:ea typeface="Calibri"/>
              <a:cs typeface="Calibri"/>
              <a:sym typeface="Calibri"/>
            </a:endParaRPr>
          </a:p>
        </p:txBody>
      </p:sp>
      <p:sp>
        <p:nvSpPr>
          <p:cNvPr id="632" name="Google Shape;632;p26"/>
          <p:cNvSpPr/>
          <p:nvPr/>
        </p:nvSpPr>
        <p:spPr>
          <a:xfrm>
            <a:off x="6766560" y="3749040"/>
            <a:ext cx="4800600" cy="68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5000"/>
              </a:lnSpc>
              <a:spcBef>
                <a:spcPts val="0"/>
              </a:spcBef>
              <a:spcAft>
                <a:spcPts val="0"/>
              </a:spcAft>
              <a:buClr>
                <a:srgbClr val="435266"/>
              </a:buClr>
              <a:buSzPts val="1150"/>
              <a:buFont typeface="Arial"/>
              <a:buChar char="•"/>
            </a:pPr>
            <a:r>
              <a:rPr lang="en-US" sz="1150">
                <a:solidFill>
                  <a:srgbClr val="435266"/>
                </a:solidFill>
                <a:latin typeface="Arial"/>
                <a:ea typeface="Arial"/>
                <a:cs typeface="Arial"/>
                <a:sym typeface="Arial"/>
              </a:rPr>
              <a:t>Đưa dữ liệu về trung bình 0, độ lệch chuẩn 1</a:t>
            </a:r>
            <a:endParaRPr sz="1150">
              <a:solidFill>
                <a:schemeClr val="dk1"/>
              </a:solidFill>
              <a:latin typeface="Calibri"/>
              <a:ea typeface="Calibri"/>
              <a:cs typeface="Calibri"/>
              <a:sym typeface="Calibri"/>
            </a:endParaRPr>
          </a:p>
          <a:p>
            <a:pPr indent="-342900" lvl="0" marL="342900" marR="0" rtl="0" algn="l">
              <a:lnSpc>
                <a:spcPct val="125000"/>
              </a:lnSpc>
              <a:spcBef>
                <a:spcPts val="0"/>
              </a:spcBef>
              <a:spcAft>
                <a:spcPts val="0"/>
              </a:spcAft>
              <a:buClr>
                <a:srgbClr val="435266"/>
              </a:buClr>
              <a:buSzPts val="1150"/>
              <a:buFont typeface="Arial"/>
              <a:buChar char="•"/>
            </a:pPr>
            <a:r>
              <a:rPr lang="en-US" sz="1150">
                <a:solidFill>
                  <a:srgbClr val="435266"/>
                </a:solidFill>
                <a:latin typeface="Arial"/>
                <a:ea typeface="Arial"/>
                <a:cs typeface="Arial"/>
                <a:sym typeface="Arial"/>
              </a:rPr>
              <a:t>Phù hợp khi dữ liệu có phân phối gần chuẩn</a:t>
            </a:r>
            <a:endParaRPr sz="1150">
              <a:solidFill>
                <a:schemeClr val="dk1"/>
              </a:solidFill>
              <a:latin typeface="Calibri"/>
              <a:ea typeface="Calibri"/>
              <a:cs typeface="Calibri"/>
              <a:sym typeface="Calibri"/>
            </a:endParaRPr>
          </a:p>
        </p:txBody>
      </p:sp>
      <p:sp>
        <p:nvSpPr>
          <p:cNvPr id="633" name="Google Shape;633;p26"/>
          <p:cNvSpPr/>
          <p:nvPr/>
        </p:nvSpPr>
        <p:spPr>
          <a:xfrm>
            <a:off x="548640" y="4709160"/>
            <a:ext cx="1110996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35266"/>
              </a:buClr>
              <a:buSzPts val="1100"/>
              <a:buFont typeface="Arial"/>
              <a:buNone/>
            </a:pPr>
            <a:r>
              <a:rPr i="1" lang="en-US" sz="1100">
                <a:solidFill>
                  <a:srgbClr val="435266"/>
                </a:solidFill>
                <a:latin typeface="Arial"/>
                <a:ea typeface="Arial"/>
                <a:cs typeface="Arial"/>
                <a:sym typeface="Arial"/>
              </a:rPr>
              <a:t>Scaling phục vụ cho Machine Learning — ở bài này chỉ giới thiệu khái niệm, sẽ đào sâu hơn ở các bài về ML.</a:t>
            </a:r>
            <a:endParaRPr sz="1100">
              <a:solidFill>
                <a:schemeClr val="dk1"/>
              </a:solidFill>
              <a:latin typeface="Calibri"/>
              <a:ea typeface="Calibri"/>
              <a:cs typeface="Calibri"/>
              <a:sym typeface="Calibri"/>
            </a:endParaRPr>
          </a:p>
        </p:txBody>
      </p:sp>
      <p:sp>
        <p:nvSpPr>
          <p:cNvPr id="634" name="Google Shape;634;p26"/>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Bài 6. Data Wrangling và làm sạch dữ liệu</a:t>
            </a:r>
            <a:endParaRPr sz="1000">
              <a:solidFill>
                <a:schemeClr val="dk1"/>
              </a:solidFill>
              <a:latin typeface="Calibri"/>
              <a:ea typeface="Calibri"/>
              <a:cs typeface="Calibri"/>
              <a:sym typeface="Calibri"/>
            </a:endParaRPr>
          </a:p>
        </p:txBody>
      </p:sp>
      <p:sp>
        <p:nvSpPr>
          <p:cNvPr id="635" name="Google Shape;635;p26"/>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26</a:t>
            </a:r>
            <a:endParaRPr sz="10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0" name="Shape 640"/>
        <p:cNvGrpSpPr/>
        <p:nvPr/>
      </p:nvGrpSpPr>
      <p:grpSpPr>
        <a:xfrm>
          <a:off x="0" y="0"/>
          <a:ext cx="0" cy="0"/>
          <a:chOff x="0" y="0"/>
          <a:chExt cx="0" cy="0"/>
        </a:xfrm>
      </p:grpSpPr>
      <p:sp>
        <p:nvSpPr>
          <p:cNvPr id="641" name="Google Shape;641;p27"/>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7"/>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7"/>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7"/>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7"/>
          <p:cNvSpPr/>
          <p:nvPr/>
        </p:nvSpPr>
        <p:spPr>
          <a:xfrm>
            <a:off x="658368" y="1371600"/>
            <a:ext cx="32004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5B518"/>
              </a:buClr>
              <a:buSzPts val="1900"/>
              <a:buFont typeface="Arial"/>
              <a:buNone/>
            </a:pPr>
            <a:r>
              <a:rPr b="1" lang="en-US" sz="1900">
                <a:solidFill>
                  <a:srgbClr val="85B518"/>
                </a:solidFill>
                <a:latin typeface="Arial"/>
                <a:ea typeface="Arial"/>
                <a:cs typeface="Arial"/>
                <a:sym typeface="Arial"/>
              </a:rPr>
              <a:t>PHẦN TH</a:t>
            </a:r>
            <a:endParaRPr sz="1900">
              <a:solidFill>
                <a:schemeClr val="dk1"/>
              </a:solidFill>
              <a:latin typeface="Calibri"/>
              <a:ea typeface="Calibri"/>
              <a:cs typeface="Calibri"/>
              <a:sym typeface="Calibri"/>
            </a:endParaRPr>
          </a:p>
        </p:txBody>
      </p:sp>
      <p:sp>
        <p:nvSpPr>
          <p:cNvPr id="646" name="Google Shape;646;p27"/>
          <p:cNvSpPr/>
          <p:nvPr/>
        </p:nvSpPr>
        <p:spPr>
          <a:xfrm>
            <a:off x="658368" y="1965960"/>
            <a:ext cx="10241280" cy="11887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3400"/>
              <a:buFont typeface="Arial"/>
              <a:buNone/>
            </a:pPr>
            <a:r>
              <a:rPr b="1" lang="en-US" sz="3400">
                <a:solidFill>
                  <a:srgbClr val="0F3F6F"/>
                </a:solidFill>
                <a:latin typeface="Arial"/>
                <a:ea typeface="Arial"/>
                <a:cs typeface="Arial"/>
                <a:sym typeface="Arial"/>
              </a:rPr>
              <a:t>Thực hành Bài 6</a:t>
            </a:r>
            <a:endParaRPr sz="3400">
              <a:solidFill>
                <a:schemeClr val="dk1"/>
              </a:solidFill>
              <a:latin typeface="Calibri"/>
              <a:ea typeface="Calibri"/>
              <a:cs typeface="Calibri"/>
              <a:sym typeface="Calibri"/>
            </a:endParaRPr>
          </a:p>
        </p:txBody>
      </p:sp>
      <p:sp>
        <p:nvSpPr>
          <p:cNvPr id="647" name="Google Shape;647;p27"/>
          <p:cNvSpPr/>
          <p:nvPr/>
        </p:nvSpPr>
        <p:spPr>
          <a:xfrm>
            <a:off x="685800" y="3246120"/>
            <a:ext cx="100126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35266"/>
              </a:buClr>
              <a:buSzPts val="1500"/>
              <a:buFont typeface="Arial"/>
              <a:buNone/>
            </a:pPr>
            <a:r>
              <a:rPr lang="en-US" sz="1500">
                <a:solidFill>
                  <a:srgbClr val="435266"/>
                </a:solidFill>
                <a:latin typeface="Arial"/>
                <a:ea typeface="Arial"/>
                <a:cs typeface="Arial"/>
                <a:sym typeface="Arial"/>
              </a:rPr>
              <a:t>Làm sạch một dataset giao dịch cố tình chứa lỗi</a:t>
            </a:r>
            <a:endParaRPr sz="1500">
              <a:solidFill>
                <a:schemeClr val="dk1"/>
              </a:solidFill>
              <a:latin typeface="Calibri"/>
              <a:ea typeface="Calibri"/>
              <a:cs typeface="Calibri"/>
              <a:sym typeface="Calibri"/>
            </a:endParaRPr>
          </a:p>
        </p:txBody>
      </p:sp>
      <p:sp>
        <p:nvSpPr>
          <p:cNvPr id="648" name="Google Shape;648;p27"/>
          <p:cNvSpPr/>
          <p:nvPr/>
        </p:nvSpPr>
        <p:spPr>
          <a:xfrm>
            <a:off x="685800" y="4937760"/>
            <a:ext cx="5212080" cy="5029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7"/>
          <p:cNvSpPr/>
          <p:nvPr/>
        </p:nvSpPr>
        <p:spPr>
          <a:xfrm>
            <a:off x="6016752" y="4937760"/>
            <a:ext cx="1143000" cy="50292"/>
          </a:xfrm>
          <a:prstGeom prst="rect">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7"/>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27</a:t>
            </a:r>
            <a:endParaRPr sz="10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5" name="Shape 655"/>
        <p:cNvGrpSpPr/>
        <p:nvPr/>
      </p:nvGrpSpPr>
      <p:grpSpPr>
        <a:xfrm>
          <a:off x="0" y="0"/>
          <a:ext cx="0" cy="0"/>
          <a:chOff x="0" y="0"/>
          <a:chExt cx="0" cy="0"/>
        </a:xfrm>
      </p:grpSpPr>
      <p:sp>
        <p:nvSpPr>
          <p:cNvPr id="656" name="Google Shape;656;p28"/>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8"/>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8"/>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8"/>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8"/>
          <p:cNvSpPr/>
          <p:nvPr/>
        </p:nvSpPr>
        <p:spPr>
          <a:xfrm>
            <a:off x="530352" y="237744"/>
            <a:ext cx="978408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2100"/>
              <a:buFont typeface="Arial"/>
              <a:buNone/>
            </a:pPr>
            <a:r>
              <a:rPr b="1" lang="en-US" sz="2100">
                <a:solidFill>
                  <a:srgbClr val="0F3F6F"/>
                </a:solidFill>
                <a:latin typeface="Arial"/>
                <a:ea typeface="Arial"/>
                <a:cs typeface="Arial"/>
                <a:sym typeface="Arial"/>
              </a:rPr>
              <a:t>Dataset thực hành: customer_transactions_dirty.csv</a:t>
            </a:r>
            <a:endParaRPr sz="2100">
              <a:solidFill>
                <a:schemeClr val="dk1"/>
              </a:solidFill>
              <a:latin typeface="Calibri"/>
              <a:ea typeface="Calibri"/>
              <a:cs typeface="Calibri"/>
              <a:sym typeface="Calibri"/>
            </a:endParaRPr>
          </a:p>
        </p:txBody>
      </p:sp>
      <p:sp>
        <p:nvSpPr>
          <p:cNvPr id="661" name="Google Shape;661;p28"/>
          <p:cNvSpPr/>
          <p:nvPr/>
        </p:nvSpPr>
        <p:spPr>
          <a:xfrm>
            <a:off x="548640" y="969264"/>
            <a:ext cx="9144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i="1" lang="en-US" sz="1100">
                <a:solidFill>
                  <a:srgbClr val="8497A5"/>
                </a:solidFill>
                <a:latin typeface="Arial"/>
                <a:ea typeface="Arial"/>
                <a:cs typeface="Arial"/>
                <a:sym typeface="Arial"/>
              </a:rPr>
              <a:t>Thực hành Bài 6 · Bài 06</a:t>
            </a:r>
            <a:endParaRPr sz="1100">
              <a:solidFill>
                <a:schemeClr val="dk1"/>
              </a:solidFill>
              <a:latin typeface="Calibri"/>
              <a:ea typeface="Calibri"/>
              <a:cs typeface="Calibri"/>
              <a:sym typeface="Calibri"/>
            </a:endParaRPr>
          </a:p>
        </p:txBody>
      </p:sp>
      <p:sp>
        <p:nvSpPr>
          <p:cNvPr id="662" name="Google Shape;662;p28"/>
          <p:cNvSpPr/>
          <p:nvPr/>
        </p:nvSpPr>
        <p:spPr>
          <a:xfrm>
            <a:off x="548640" y="1325880"/>
            <a:ext cx="111556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35266"/>
              </a:buClr>
              <a:buSzPts val="1200"/>
              <a:buFont typeface="Arial"/>
              <a:buNone/>
            </a:pPr>
            <a:r>
              <a:rPr i="1" lang="en-US" sz="1200">
                <a:solidFill>
                  <a:srgbClr val="435266"/>
                </a:solidFill>
                <a:latin typeface="Arial"/>
                <a:ea typeface="Arial"/>
                <a:cs typeface="Arial"/>
                <a:sym typeface="Arial"/>
              </a:rPr>
              <a:t>Học viên làm việc trên một dataset giao dịch được cố tình đưa vào nhiều lỗi thường gặp.</a:t>
            </a:r>
            <a:endParaRPr sz="1200">
              <a:solidFill>
                <a:schemeClr val="dk1"/>
              </a:solidFill>
              <a:latin typeface="Calibri"/>
              <a:ea typeface="Calibri"/>
              <a:cs typeface="Calibri"/>
              <a:sym typeface="Calibri"/>
            </a:endParaRPr>
          </a:p>
        </p:txBody>
      </p:sp>
      <p:sp>
        <p:nvSpPr>
          <p:cNvPr id="663" name="Google Shape;663;p28"/>
          <p:cNvSpPr/>
          <p:nvPr/>
        </p:nvSpPr>
        <p:spPr>
          <a:xfrm>
            <a:off x="548640" y="1874520"/>
            <a:ext cx="3566160" cy="822960"/>
          </a:xfrm>
          <a:prstGeom prst="roundRect">
            <a:avLst>
              <a:gd fmla="val 8889"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8"/>
          <p:cNvSpPr/>
          <p:nvPr/>
        </p:nvSpPr>
        <p:spPr>
          <a:xfrm>
            <a:off x="548640" y="1874520"/>
            <a:ext cx="54864" cy="822960"/>
          </a:xfrm>
          <a:prstGeom prst="rect">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8"/>
          <p:cNvSpPr/>
          <p:nvPr/>
        </p:nvSpPr>
        <p:spPr>
          <a:xfrm>
            <a:off x="777240" y="1874520"/>
            <a:ext cx="32004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300"/>
              <a:buFont typeface="Arial"/>
              <a:buNone/>
            </a:pPr>
            <a:r>
              <a:rPr b="1" lang="en-US" sz="1300">
                <a:solidFill>
                  <a:srgbClr val="0F3F6F"/>
                </a:solidFill>
                <a:latin typeface="Arial"/>
                <a:ea typeface="Arial"/>
                <a:cs typeface="Arial"/>
                <a:sym typeface="Arial"/>
              </a:rPr>
              <a:t>Missing values</a:t>
            </a:r>
            <a:endParaRPr sz="1300">
              <a:solidFill>
                <a:schemeClr val="dk1"/>
              </a:solidFill>
              <a:latin typeface="Calibri"/>
              <a:ea typeface="Calibri"/>
              <a:cs typeface="Calibri"/>
              <a:sym typeface="Calibri"/>
            </a:endParaRPr>
          </a:p>
        </p:txBody>
      </p:sp>
      <p:sp>
        <p:nvSpPr>
          <p:cNvPr id="666" name="Google Shape;666;p28"/>
          <p:cNvSpPr/>
          <p:nvPr/>
        </p:nvSpPr>
        <p:spPr>
          <a:xfrm>
            <a:off x="4343400" y="1874520"/>
            <a:ext cx="3566160" cy="822960"/>
          </a:xfrm>
          <a:prstGeom prst="roundRect">
            <a:avLst>
              <a:gd fmla="val 8889"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8"/>
          <p:cNvSpPr/>
          <p:nvPr/>
        </p:nvSpPr>
        <p:spPr>
          <a:xfrm>
            <a:off x="4343400" y="1874520"/>
            <a:ext cx="54864" cy="822960"/>
          </a:xfrm>
          <a:prstGeom prst="rect">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8"/>
          <p:cNvSpPr/>
          <p:nvPr/>
        </p:nvSpPr>
        <p:spPr>
          <a:xfrm>
            <a:off x="4572000" y="1874520"/>
            <a:ext cx="32004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300"/>
              <a:buFont typeface="Arial"/>
              <a:buNone/>
            </a:pPr>
            <a:r>
              <a:rPr b="1" lang="en-US" sz="1300">
                <a:solidFill>
                  <a:srgbClr val="0F3F6F"/>
                </a:solidFill>
                <a:latin typeface="Arial"/>
                <a:ea typeface="Arial"/>
                <a:cs typeface="Arial"/>
                <a:sym typeface="Arial"/>
              </a:rPr>
              <a:t>Duplicate</a:t>
            </a:r>
            <a:endParaRPr sz="1300">
              <a:solidFill>
                <a:schemeClr val="dk1"/>
              </a:solidFill>
              <a:latin typeface="Calibri"/>
              <a:ea typeface="Calibri"/>
              <a:cs typeface="Calibri"/>
              <a:sym typeface="Calibri"/>
            </a:endParaRPr>
          </a:p>
        </p:txBody>
      </p:sp>
      <p:sp>
        <p:nvSpPr>
          <p:cNvPr id="669" name="Google Shape;669;p28"/>
          <p:cNvSpPr/>
          <p:nvPr/>
        </p:nvSpPr>
        <p:spPr>
          <a:xfrm>
            <a:off x="8138160" y="1874520"/>
            <a:ext cx="3566160" cy="822960"/>
          </a:xfrm>
          <a:prstGeom prst="roundRect">
            <a:avLst>
              <a:gd fmla="val 8889"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8"/>
          <p:cNvSpPr/>
          <p:nvPr/>
        </p:nvSpPr>
        <p:spPr>
          <a:xfrm>
            <a:off x="8138160" y="1874520"/>
            <a:ext cx="54864" cy="822960"/>
          </a:xfrm>
          <a:prstGeom prst="rect">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8"/>
          <p:cNvSpPr/>
          <p:nvPr/>
        </p:nvSpPr>
        <p:spPr>
          <a:xfrm>
            <a:off x="8366760" y="1874520"/>
            <a:ext cx="32004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300"/>
              <a:buFont typeface="Arial"/>
              <a:buNone/>
            </a:pPr>
            <a:r>
              <a:rPr b="1" lang="en-US" sz="1300">
                <a:solidFill>
                  <a:srgbClr val="0F3F6F"/>
                </a:solidFill>
                <a:latin typeface="Arial"/>
                <a:ea typeface="Arial"/>
                <a:cs typeface="Arial"/>
                <a:sym typeface="Arial"/>
              </a:rPr>
              <a:t>Sai định dạng ngày (date)</a:t>
            </a:r>
            <a:endParaRPr sz="1300">
              <a:solidFill>
                <a:schemeClr val="dk1"/>
              </a:solidFill>
              <a:latin typeface="Calibri"/>
              <a:ea typeface="Calibri"/>
              <a:cs typeface="Calibri"/>
              <a:sym typeface="Calibri"/>
            </a:endParaRPr>
          </a:p>
        </p:txBody>
      </p:sp>
      <p:sp>
        <p:nvSpPr>
          <p:cNvPr id="672" name="Google Shape;672;p28"/>
          <p:cNvSpPr/>
          <p:nvPr/>
        </p:nvSpPr>
        <p:spPr>
          <a:xfrm>
            <a:off x="548640" y="2926080"/>
            <a:ext cx="3566160" cy="822960"/>
          </a:xfrm>
          <a:prstGeom prst="roundRect">
            <a:avLst>
              <a:gd fmla="val 8889"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8"/>
          <p:cNvSpPr/>
          <p:nvPr/>
        </p:nvSpPr>
        <p:spPr>
          <a:xfrm>
            <a:off x="548640" y="2926080"/>
            <a:ext cx="54864" cy="822960"/>
          </a:xfrm>
          <a:prstGeom prst="rect">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8"/>
          <p:cNvSpPr/>
          <p:nvPr/>
        </p:nvSpPr>
        <p:spPr>
          <a:xfrm>
            <a:off x="777240" y="2926080"/>
            <a:ext cx="32004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300"/>
              <a:buFont typeface="Arial"/>
              <a:buNone/>
            </a:pPr>
            <a:r>
              <a:rPr b="1" lang="en-US" sz="1300">
                <a:solidFill>
                  <a:srgbClr val="0F3F6F"/>
                </a:solidFill>
                <a:latin typeface="Arial"/>
                <a:ea typeface="Arial"/>
                <a:cs typeface="Arial"/>
                <a:sym typeface="Arial"/>
              </a:rPr>
              <a:t>Sai định dạng số tiền (amount)</a:t>
            </a:r>
            <a:endParaRPr sz="1300">
              <a:solidFill>
                <a:schemeClr val="dk1"/>
              </a:solidFill>
              <a:latin typeface="Calibri"/>
              <a:ea typeface="Calibri"/>
              <a:cs typeface="Calibri"/>
              <a:sym typeface="Calibri"/>
            </a:endParaRPr>
          </a:p>
        </p:txBody>
      </p:sp>
      <p:sp>
        <p:nvSpPr>
          <p:cNvPr id="675" name="Google Shape;675;p28"/>
          <p:cNvSpPr/>
          <p:nvPr/>
        </p:nvSpPr>
        <p:spPr>
          <a:xfrm>
            <a:off x="4343400" y="2926080"/>
            <a:ext cx="3566160" cy="822960"/>
          </a:xfrm>
          <a:prstGeom prst="roundRect">
            <a:avLst>
              <a:gd fmla="val 8889"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8"/>
          <p:cNvSpPr/>
          <p:nvPr/>
        </p:nvSpPr>
        <p:spPr>
          <a:xfrm>
            <a:off x="4343400" y="2926080"/>
            <a:ext cx="54864" cy="822960"/>
          </a:xfrm>
          <a:prstGeom prst="rect">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8"/>
          <p:cNvSpPr/>
          <p:nvPr/>
        </p:nvSpPr>
        <p:spPr>
          <a:xfrm>
            <a:off x="4572000" y="2926080"/>
            <a:ext cx="32004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300"/>
              <a:buFont typeface="Arial"/>
              <a:buNone/>
            </a:pPr>
            <a:r>
              <a:rPr b="1" lang="en-US" sz="1300">
                <a:solidFill>
                  <a:srgbClr val="0F3F6F"/>
                </a:solidFill>
                <a:latin typeface="Arial"/>
                <a:ea typeface="Arial"/>
                <a:cs typeface="Arial"/>
                <a:sym typeface="Arial"/>
              </a:rPr>
              <a:t>Gender không thống nhất</a:t>
            </a:r>
            <a:endParaRPr sz="1300">
              <a:solidFill>
                <a:schemeClr val="dk1"/>
              </a:solidFill>
              <a:latin typeface="Calibri"/>
              <a:ea typeface="Calibri"/>
              <a:cs typeface="Calibri"/>
              <a:sym typeface="Calibri"/>
            </a:endParaRPr>
          </a:p>
        </p:txBody>
      </p:sp>
      <p:sp>
        <p:nvSpPr>
          <p:cNvPr id="678" name="Google Shape;678;p28"/>
          <p:cNvSpPr/>
          <p:nvPr/>
        </p:nvSpPr>
        <p:spPr>
          <a:xfrm>
            <a:off x="8138160" y="2926080"/>
            <a:ext cx="3566160" cy="822960"/>
          </a:xfrm>
          <a:prstGeom prst="roundRect">
            <a:avLst>
              <a:gd fmla="val 8889"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8"/>
          <p:cNvSpPr/>
          <p:nvPr/>
        </p:nvSpPr>
        <p:spPr>
          <a:xfrm>
            <a:off x="8138160" y="2926080"/>
            <a:ext cx="54864" cy="822960"/>
          </a:xfrm>
          <a:prstGeom prst="rect">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8"/>
          <p:cNvSpPr/>
          <p:nvPr/>
        </p:nvSpPr>
        <p:spPr>
          <a:xfrm>
            <a:off x="8366760" y="2926080"/>
            <a:ext cx="32004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300"/>
              <a:buFont typeface="Arial"/>
              <a:buNone/>
            </a:pPr>
            <a:r>
              <a:rPr b="1" lang="en-US" sz="1300">
                <a:solidFill>
                  <a:srgbClr val="0F3F6F"/>
                </a:solidFill>
                <a:latin typeface="Arial"/>
                <a:ea typeface="Arial"/>
                <a:cs typeface="Arial"/>
                <a:sym typeface="Arial"/>
              </a:rPr>
              <a:t>City không thống nhất</a:t>
            </a:r>
            <a:endParaRPr sz="1300">
              <a:solidFill>
                <a:schemeClr val="dk1"/>
              </a:solidFill>
              <a:latin typeface="Calibri"/>
              <a:ea typeface="Calibri"/>
              <a:cs typeface="Calibri"/>
              <a:sym typeface="Calibri"/>
            </a:endParaRPr>
          </a:p>
        </p:txBody>
      </p:sp>
      <p:sp>
        <p:nvSpPr>
          <p:cNvPr id="681" name="Google Shape;681;p28"/>
          <p:cNvSpPr/>
          <p:nvPr/>
        </p:nvSpPr>
        <p:spPr>
          <a:xfrm>
            <a:off x="548640" y="3977640"/>
            <a:ext cx="3566160" cy="822960"/>
          </a:xfrm>
          <a:prstGeom prst="roundRect">
            <a:avLst>
              <a:gd fmla="val 8889"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8"/>
          <p:cNvSpPr/>
          <p:nvPr/>
        </p:nvSpPr>
        <p:spPr>
          <a:xfrm>
            <a:off x="548640" y="3977640"/>
            <a:ext cx="54864" cy="822960"/>
          </a:xfrm>
          <a:prstGeom prst="rect">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8"/>
          <p:cNvSpPr/>
          <p:nvPr/>
        </p:nvSpPr>
        <p:spPr>
          <a:xfrm>
            <a:off x="777240" y="3977640"/>
            <a:ext cx="32004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3F6F"/>
              </a:buClr>
              <a:buSzPts val="1300"/>
              <a:buFont typeface="Arial"/>
              <a:buNone/>
            </a:pPr>
            <a:r>
              <a:rPr b="1" lang="en-US" sz="1300">
                <a:solidFill>
                  <a:srgbClr val="0F3F6F"/>
                </a:solidFill>
                <a:latin typeface="Arial"/>
                <a:ea typeface="Arial"/>
                <a:cs typeface="Arial"/>
                <a:sym typeface="Arial"/>
              </a:rPr>
              <a:t>Outlier</a:t>
            </a:r>
            <a:endParaRPr sz="1300">
              <a:solidFill>
                <a:schemeClr val="dk1"/>
              </a:solidFill>
              <a:latin typeface="Calibri"/>
              <a:ea typeface="Calibri"/>
              <a:cs typeface="Calibri"/>
              <a:sym typeface="Calibri"/>
            </a:endParaRPr>
          </a:p>
        </p:txBody>
      </p:sp>
      <p:sp>
        <p:nvSpPr>
          <p:cNvPr id="684" name="Google Shape;684;p28"/>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Bài 6. Data Wrangling và làm sạch dữ liệu</a:t>
            </a:r>
            <a:endParaRPr sz="1000">
              <a:solidFill>
                <a:schemeClr val="dk1"/>
              </a:solidFill>
              <a:latin typeface="Calibri"/>
              <a:ea typeface="Calibri"/>
              <a:cs typeface="Calibri"/>
              <a:sym typeface="Calibri"/>
            </a:endParaRPr>
          </a:p>
        </p:txBody>
      </p:sp>
      <p:sp>
        <p:nvSpPr>
          <p:cNvPr id="685" name="Google Shape;685;p28"/>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28</a:t>
            </a:r>
            <a:endParaRPr sz="10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0" name="Shape 690"/>
        <p:cNvGrpSpPr/>
        <p:nvPr/>
      </p:nvGrpSpPr>
      <p:grpSpPr>
        <a:xfrm>
          <a:off x="0" y="0"/>
          <a:ext cx="0" cy="0"/>
          <a:chOff x="0" y="0"/>
          <a:chExt cx="0" cy="0"/>
        </a:xfrm>
      </p:grpSpPr>
      <p:sp>
        <p:nvSpPr>
          <p:cNvPr id="691" name="Google Shape;691;p29"/>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9"/>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9"/>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9"/>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9"/>
          <p:cNvSpPr/>
          <p:nvPr/>
        </p:nvSpPr>
        <p:spPr>
          <a:xfrm>
            <a:off x="530352" y="237744"/>
            <a:ext cx="978408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2100"/>
              <a:buFont typeface="Arial"/>
              <a:buNone/>
            </a:pPr>
            <a:r>
              <a:rPr b="1" lang="en-US" sz="2100">
                <a:solidFill>
                  <a:srgbClr val="0F3F6F"/>
                </a:solidFill>
                <a:latin typeface="Arial"/>
                <a:ea typeface="Arial"/>
                <a:cs typeface="Arial"/>
                <a:sym typeface="Arial"/>
              </a:rPr>
              <a:t>Các bước thực hành</a:t>
            </a:r>
            <a:endParaRPr sz="2100">
              <a:solidFill>
                <a:schemeClr val="dk1"/>
              </a:solidFill>
              <a:latin typeface="Calibri"/>
              <a:ea typeface="Calibri"/>
              <a:cs typeface="Calibri"/>
              <a:sym typeface="Calibri"/>
            </a:endParaRPr>
          </a:p>
        </p:txBody>
      </p:sp>
      <p:sp>
        <p:nvSpPr>
          <p:cNvPr id="696" name="Google Shape;696;p29"/>
          <p:cNvSpPr/>
          <p:nvPr/>
        </p:nvSpPr>
        <p:spPr>
          <a:xfrm>
            <a:off x="548640" y="969264"/>
            <a:ext cx="9144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i="1" lang="en-US" sz="1100">
                <a:solidFill>
                  <a:srgbClr val="8497A5"/>
                </a:solidFill>
                <a:latin typeface="Arial"/>
                <a:ea typeface="Arial"/>
                <a:cs typeface="Arial"/>
                <a:sym typeface="Arial"/>
              </a:rPr>
              <a:t>Thực hành Bài 6 · Bài 06</a:t>
            </a:r>
            <a:endParaRPr sz="1100">
              <a:solidFill>
                <a:schemeClr val="dk1"/>
              </a:solidFill>
              <a:latin typeface="Calibri"/>
              <a:ea typeface="Calibri"/>
              <a:cs typeface="Calibri"/>
              <a:sym typeface="Calibri"/>
            </a:endParaRPr>
          </a:p>
        </p:txBody>
      </p:sp>
      <p:sp>
        <p:nvSpPr>
          <p:cNvPr id="697" name="Google Shape;697;p29"/>
          <p:cNvSpPr/>
          <p:nvPr/>
        </p:nvSpPr>
        <p:spPr>
          <a:xfrm>
            <a:off x="640080" y="1417320"/>
            <a:ext cx="365760" cy="365760"/>
          </a:xfrm>
          <a:prstGeom prst="ellipse">
            <a:avLst/>
          </a:prstGeom>
          <a:solidFill>
            <a:srgbClr val="1F4E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9"/>
          <p:cNvSpPr/>
          <p:nvPr/>
        </p:nvSpPr>
        <p:spPr>
          <a:xfrm>
            <a:off x="640080" y="14173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1</a:t>
            </a:r>
            <a:endParaRPr sz="1200">
              <a:solidFill>
                <a:schemeClr val="dk1"/>
              </a:solidFill>
              <a:latin typeface="Calibri"/>
              <a:ea typeface="Calibri"/>
              <a:cs typeface="Calibri"/>
              <a:sym typeface="Calibri"/>
            </a:endParaRPr>
          </a:p>
        </p:txBody>
      </p:sp>
      <p:sp>
        <p:nvSpPr>
          <p:cNvPr id="699" name="Google Shape;699;p29"/>
          <p:cNvSpPr/>
          <p:nvPr/>
        </p:nvSpPr>
        <p:spPr>
          <a:xfrm>
            <a:off x="1170432" y="1371600"/>
            <a:ext cx="1033272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A2A2A"/>
              </a:buClr>
              <a:buSzPts val="1250"/>
              <a:buFont typeface="Arial"/>
              <a:buNone/>
            </a:pPr>
            <a:r>
              <a:rPr lang="en-US" sz="1250">
                <a:solidFill>
                  <a:srgbClr val="2A2A2A"/>
                </a:solidFill>
                <a:latin typeface="Arial"/>
                <a:ea typeface="Arial"/>
                <a:cs typeface="Arial"/>
                <a:sym typeface="Arial"/>
              </a:rPr>
              <a:t>Đọc dataset bẩn bằng Pandas</a:t>
            </a:r>
            <a:endParaRPr sz="1250">
              <a:solidFill>
                <a:schemeClr val="dk1"/>
              </a:solidFill>
              <a:latin typeface="Calibri"/>
              <a:ea typeface="Calibri"/>
              <a:cs typeface="Calibri"/>
              <a:sym typeface="Calibri"/>
            </a:endParaRPr>
          </a:p>
        </p:txBody>
      </p:sp>
      <p:sp>
        <p:nvSpPr>
          <p:cNvPr id="700" name="Google Shape;700;p29"/>
          <p:cNvSpPr/>
          <p:nvPr/>
        </p:nvSpPr>
        <p:spPr>
          <a:xfrm>
            <a:off x="640080" y="2011680"/>
            <a:ext cx="365760" cy="365760"/>
          </a:xfrm>
          <a:prstGeom prst="ellipse">
            <a:avLst/>
          </a:prstGeom>
          <a:solidFill>
            <a:srgbClr val="1F4E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9"/>
          <p:cNvSpPr/>
          <p:nvPr/>
        </p:nvSpPr>
        <p:spPr>
          <a:xfrm>
            <a:off x="640080" y="201168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2</a:t>
            </a:r>
            <a:endParaRPr sz="1200">
              <a:solidFill>
                <a:schemeClr val="dk1"/>
              </a:solidFill>
              <a:latin typeface="Calibri"/>
              <a:ea typeface="Calibri"/>
              <a:cs typeface="Calibri"/>
              <a:sym typeface="Calibri"/>
            </a:endParaRPr>
          </a:p>
        </p:txBody>
      </p:sp>
      <p:sp>
        <p:nvSpPr>
          <p:cNvPr id="702" name="Google Shape;702;p29"/>
          <p:cNvSpPr/>
          <p:nvPr/>
        </p:nvSpPr>
        <p:spPr>
          <a:xfrm>
            <a:off x="1170432" y="1965960"/>
            <a:ext cx="1033272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A2A2A"/>
              </a:buClr>
              <a:buSzPts val="1250"/>
              <a:buFont typeface="Arial"/>
              <a:buNone/>
            </a:pPr>
            <a:r>
              <a:rPr lang="en-US" sz="1250">
                <a:solidFill>
                  <a:srgbClr val="2A2A2A"/>
                </a:solidFill>
                <a:latin typeface="Arial"/>
                <a:ea typeface="Arial"/>
                <a:cs typeface="Arial"/>
                <a:sym typeface="Arial"/>
              </a:rPr>
              <a:t>Khám phá dữ liệu: head(), info(), describe()</a:t>
            </a:r>
            <a:endParaRPr sz="1250">
              <a:solidFill>
                <a:schemeClr val="dk1"/>
              </a:solidFill>
              <a:latin typeface="Calibri"/>
              <a:ea typeface="Calibri"/>
              <a:cs typeface="Calibri"/>
              <a:sym typeface="Calibri"/>
            </a:endParaRPr>
          </a:p>
        </p:txBody>
      </p:sp>
      <p:sp>
        <p:nvSpPr>
          <p:cNvPr id="703" name="Google Shape;703;p29"/>
          <p:cNvSpPr/>
          <p:nvPr/>
        </p:nvSpPr>
        <p:spPr>
          <a:xfrm>
            <a:off x="640080" y="2606040"/>
            <a:ext cx="365760" cy="365760"/>
          </a:xfrm>
          <a:prstGeom prst="ellipse">
            <a:avLst/>
          </a:prstGeom>
          <a:solidFill>
            <a:srgbClr val="1F4E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9"/>
          <p:cNvSpPr/>
          <p:nvPr/>
        </p:nvSpPr>
        <p:spPr>
          <a:xfrm>
            <a:off x="640080" y="260604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3</a:t>
            </a:r>
            <a:endParaRPr sz="1200">
              <a:solidFill>
                <a:schemeClr val="dk1"/>
              </a:solidFill>
              <a:latin typeface="Calibri"/>
              <a:ea typeface="Calibri"/>
              <a:cs typeface="Calibri"/>
              <a:sym typeface="Calibri"/>
            </a:endParaRPr>
          </a:p>
        </p:txBody>
      </p:sp>
      <p:sp>
        <p:nvSpPr>
          <p:cNvPr id="705" name="Google Shape;705;p29"/>
          <p:cNvSpPr/>
          <p:nvPr/>
        </p:nvSpPr>
        <p:spPr>
          <a:xfrm>
            <a:off x="1170432" y="2560320"/>
            <a:ext cx="1033272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A2A2A"/>
              </a:buClr>
              <a:buSzPts val="1250"/>
              <a:buFont typeface="Arial"/>
              <a:buNone/>
            </a:pPr>
            <a:r>
              <a:rPr lang="en-US" sz="1250">
                <a:solidFill>
                  <a:srgbClr val="2A2A2A"/>
                </a:solidFill>
                <a:latin typeface="Arial"/>
                <a:ea typeface="Arial"/>
                <a:cs typeface="Arial"/>
                <a:sym typeface="Arial"/>
              </a:rPr>
              <a:t>Phát hiện lỗi: missing, duplicate, sai kiểu, outlier</a:t>
            </a:r>
            <a:endParaRPr sz="1250">
              <a:solidFill>
                <a:schemeClr val="dk1"/>
              </a:solidFill>
              <a:latin typeface="Calibri"/>
              <a:ea typeface="Calibri"/>
              <a:cs typeface="Calibri"/>
              <a:sym typeface="Calibri"/>
            </a:endParaRPr>
          </a:p>
        </p:txBody>
      </p:sp>
      <p:sp>
        <p:nvSpPr>
          <p:cNvPr id="706" name="Google Shape;706;p29"/>
          <p:cNvSpPr/>
          <p:nvPr/>
        </p:nvSpPr>
        <p:spPr>
          <a:xfrm>
            <a:off x="640080" y="3200400"/>
            <a:ext cx="365760" cy="365760"/>
          </a:xfrm>
          <a:prstGeom prst="ellipse">
            <a:avLst/>
          </a:prstGeom>
          <a:solidFill>
            <a:srgbClr val="1F4E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9"/>
          <p:cNvSpPr/>
          <p:nvPr/>
        </p:nvSpPr>
        <p:spPr>
          <a:xfrm>
            <a:off x="640080" y="320040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4</a:t>
            </a:r>
            <a:endParaRPr sz="1200">
              <a:solidFill>
                <a:schemeClr val="dk1"/>
              </a:solidFill>
              <a:latin typeface="Calibri"/>
              <a:ea typeface="Calibri"/>
              <a:cs typeface="Calibri"/>
              <a:sym typeface="Calibri"/>
            </a:endParaRPr>
          </a:p>
        </p:txBody>
      </p:sp>
      <p:sp>
        <p:nvSpPr>
          <p:cNvPr id="708" name="Google Shape;708;p29"/>
          <p:cNvSpPr/>
          <p:nvPr/>
        </p:nvSpPr>
        <p:spPr>
          <a:xfrm>
            <a:off x="1170432" y="3154680"/>
            <a:ext cx="1033272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A2A2A"/>
              </a:buClr>
              <a:buSzPts val="1250"/>
              <a:buFont typeface="Arial"/>
              <a:buNone/>
            </a:pPr>
            <a:r>
              <a:rPr lang="en-US" sz="1250">
                <a:solidFill>
                  <a:srgbClr val="2A2A2A"/>
                </a:solidFill>
                <a:latin typeface="Arial"/>
                <a:ea typeface="Arial"/>
                <a:cs typeface="Arial"/>
                <a:sym typeface="Arial"/>
              </a:rPr>
              <a:t>Xử lý dữ liệu thiếu (missing values)</a:t>
            </a:r>
            <a:endParaRPr sz="1250">
              <a:solidFill>
                <a:schemeClr val="dk1"/>
              </a:solidFill>
              <a:latin typeface="Calibri"/>
              <a:ea typeface="Calibri"/>
              <a:cs typeface="Calibri"/>
              <a:sym typeface="Calibri"/>
            </a:endParaRPr>
          </a:p>
        </p:txBody>
      </p:sp>
      <p:sp>
        <p:nvSpPr>
          <p:cNvPr id="709" name="Google Shape;709;p29"/>
          <p:cNvSpPr/>
          <p:nvPr/>
        </p:nvSpPr>
        <p:spPr>
          <a:xfrm>
            <a:off x="640080" y="3794760"/>
            <a:ext cx="365760" cy="365760"/>
          </a:xfrm>
          <a:prstGeom prst="ellipse">
            <a:avLst/>
          </a:prstGeom>
          <a:solidFill>
            <a:srgbClr val="1F4E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9"/>
          <p:cNvSpPr/>
          <p:nvPr/>
        </p:nvSpPr>
        <p:spPr>
          <a:xfrm>
            <a:off x="640080" y="379476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5</a:t>
            </a:r>
            <a:endParaRPr sz="1200">
              <a:solidFill>
                <a:schemeClr val="dk1"/>
              </a:solidFill>
              <a:latin typeface="Calibri"/>
              <a:ea typeface="Calibri"/>
              <a:cs typeface="Calibri"/>
              <a:sym typeface="Calibri"/>
            </a:endParaRPr>
          </a:p>
        </p:txBody>
      </p:sp>
      <p:sp>
        <p:nvSpPr>
          <p:cNvPr id="711" name="Google Shape;711;p29"/>
          <p:cNvSpPr/>
          <p:nvPr/>
        </p:nvSpPr>
        <p:spPr>
          <a:xfrm>
            <a:off x="1170432" y="3749040"/>
            <a:ext cx="1033272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A2A2A"/>
              </a:buClr>
              <a:buSzPts val="1250"/>
              <a:buFont typeface="Arial"/>
              <a:buNone/>
            </a:pPr>
            <a:r>
              <a:rPr lang="en-US" sz="1250">
                <a:solidFill>
                  <a:srgbClr val="2A2A2A"/>
                </a:solidFill>
                <a:latin typeface="Arial"/>
                <a:ea typeface="Arial"/>
                <a:cs typeface="Arial"/>
                <a:sym typeface="Arial"/>
              </a:rPr>
              <a:t>Xử lý dữ liệu trùng lặp (duplicate)</a:t>
            </a:r>
            <a:endParaRPr sz="1250">
              <a:solidFill>
                <a:schemeClr val="dk1"/>
              </a:solidFill>
              <a:latin typeface="Calibri"/>
              <a:ea typeface="Calibri"/>
              <a:cs typeface="Calibri"/>
              <a:sym typeface="Calibri"/>
            </a:endParaRPr>
          </a:p>
        </p:txBody>
      </p:sp>
      <p:sp>
        <p:nvSpPr>
          <p:cNvPr id="712" name="Google Shape;712;p29"/>
          <p:cNvSpPr/>
          <p:nvPr/>
        </p:nvSpPr>
        <p:spPr>
          <a:xfrm>
            <a:off x="640080" y="4389120"/>
            <a:ext cx="365760" cy="365760"/>
          </a:xfrm>
          <a:prstGeom prst="ellipse">
            <a:avLst/>
          </a:prstGeom>
          <a:solidFill>
            <a:srgbClr val="1F4E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9"/>
          <p:cNvSpPr/>
          <p:nvPr/>
        </p:nvSpPr>
        <p:spPr>
          <a:xfrm>
            <a:off x="640080"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6</a:t>
            </a:r>
            <a:endParaRPr sz="1200">
              <a:solidFill>
                <a:schemeClr val="dk1"/>
              </a:solidFill>
              <a:latin typeface="Calibri"/>
              <a:ea typeface="Calibri"/>
              <a:cs typeface="Calibri"/>
              <a:sym typeface="Calibri"/>
            </a:endParaRPr>
          </a:p>
        </p:txBody>
      </p:sp>
      <p:sp>
        <p:nvSpPr>
          <p:cNvPr id="714" name="Google Shape;714;p29"/>
          <p:cNvSpPr/>
          <p:nvPr/>
        </p:nvSpPr>
        <p:spPr>
          <a:xfrm>
            <a:off x="1170432" y="4343400"/>
            <a:ext cx="1033272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A2A2A"/>
              </a:buClr>
              <a:buSzPts val="1250"/>
              <a:buFont typeface="Arial"/>
              <a:buNone/>
            </a:pPr>
            <a:r>
              <a:rPr lang="en-US" sz="1250">
                <a:solidFill>
                  <a:srgbClr val="2A2A2A"/>
                </a:solidFill>
                <a:latin typeface="Arial"/>
                <a:ea typeface="Arial"/>
                <a:cs typeface="Arial"/>
                <a:sym typeface="Arial"/>
              </a:rPr>
              <a:t>Chuẩn hóa kiểu dữ liệu (data types)</a:t>
            </a:r>
            <a:endParaRPr sz="1250">
              <a:solidFill>
                <a:schemeClr val="dk1"/>
              </a:solidFill>
              <a:latin typeface="Calibri"/>
              <a:ea typeface="Calibri"/>
              <a:cs typeface="Calibri"/>
              <a:sym typeface="Calibri"/>
            </a:endParaRPr>
          </a:p>
        </p:txBody>
      </p:sp>
      <p:sp>
        <p:nvSpPr>
          <p:cNvPr id="715" name="Google Shape;715;p29"/>
          <p:cNvSpPr/>
          <p:nvPr/>
        </p:nvSpPr>
        <p:spPr>
          <a:xfrm>
            <a:off x="640080" y="4983480"/>
            <a:ext cx="365760" cy="365760"/>
          </a:xfrm>
          <a:prstGeom prst="ellipse">
            <a:avLst/>
          </a:prstGeom>
          <a:solidFill>
            <a:srgbClr val="1F4E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9"/>
          <p:cNvSpPr/>
          <p:nvPr/>
        </p:nvSpPr>
        <p:spPr>
          <a:xfrm>
            <a:off x="640080" y="498348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7</a:t>
            </a:r>
            <a:endParaRPr sz="1200">
              <a:solidFill>
                <a:schemeClr val="dk1"/>
              </a:solidFill>
              <a:latin typeface="Calibri"/>
              <a:ea typeface="Calibri"/>
              <a:cs typeface="Calibri"/>
              <a:sym typeface="Calibri"/>
            </a:endParaRPr>
          </a:p>
        </p:txBody>
      </p:sp>
      <p:sp>
        <p:nvSpPr>
          <p:cNvPr id="717" name="Google Shape;717;p29"/>
          <p:cNvSpPr/>
          <p:nvPr/>
        </p:nvSpPr>
        <p:spPr>
          <a:xfrm>
            <a:off x="1170432" y="4937760"/>
            <a:ext cx="1033272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A2A2A"/>
              </a:buClr>
              <a:buSzPts val="1250"/>
              <a:buFont typeface="Arial"/>
              <a:buNone/>
            </a:pPr>
            <a:r>
              <a:rPr lang="en-US" sz="1250">
                <a:solidFill>
                  <a:srgbClr val="2A2A2A"/>
                </a:solidFill>
                <a:latin typeface="Arial"/>
                <a:ea typeface="Arial"/>
                <a:cs typeface="Arial"/>
                <a:sym typeface="Arial"/>
              </a:rPr>
              <a:t>Chuẩn hóa định dạng (standardization)</a:t>
            </a:r>
            <a:endParaRPr sz="1250">
              <a:solidFill>
                <a:schemeClr val="dk1"/>
              </a:solidFill>
              <a:latin typeface="Calibri"/>
              <a:ea typeface="Calibri"/>
              <a:cs typeface="Calibri"/>
              <a:sym typeface="Calibri"/>
            </a:endParaRPr>
          </a:p>
        </p:txBody>
      </p:sp>
      <p:sp>
        <p:nvSpPr>
          <p:cNvPr id="718" name="Google Shape;718;p29"/>
          <p:cNvSpPr/>
          <p:nvPr/>
        </p:nvSpPr>
        <p:spPr>
          <a:xfrm>
            <a:off x="640080" y="5577840"/>
            <a:ext cx="365760" cy="365760"/>
          </a:xfrm>
          <a:prstGeom prst="ellipse">
            <a:avLst/>
          </a:prstGeom>
          <a:solidFill>
            <a:srgbClr val="1F4E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9"/>
          <p:cNvSpPr/>
          <p:nvPr/>
        </p:nvSpPr>
        <p:spPr>
          <a:xfrm>
            <a:off x="640080" y="557784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8</a:t>
            </a:r>
            <a:endParaRPr sz="1200">
              <a:solidFill>
                <a:schemeClr val="dk1"/>
              </a:solidFill>
              <a:latin typeface="Calibri"/>
              <a:ea typeface="Calibri"/>
              <a:cs typeface="Calibri"/>
              <a:sym typeface="Calibri"/>
            </a:endParaRPr>
          </a:p>
        </p:txBody>
      </p:sp>
      <p:sp>
        <p:nvSpPr>
          <p:cNvPr id="720" name="Google Shape;720;p29"/>
          <p:cNvSpPr/>
          <p:nvPr/>
        </p:nvSpPr>
        <p:spPr>
          <a:xfrm>
            <a:off x="1170432" y="5532120"/>
            <a:ext cx="1033272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A2A2A"/>
              </a:buClr>
              <a:buSzPts val="1250"/>
              <a:buFont typeface="Arial"/>
              <a:buNone/>
            </a:pPr>
            <a:r>
              <a:rPr lang="en-US" sz="1250">
                <a:solidFill>
                  <a:srgbClr val="2A2A2A"/>
                </a:solidFill>
                <a:latin typeface="Arial"/>
                <a:ea typeface="Arial"/>
                <a:cs typeface="Arial"/>
                <a:sym typeface="Arial"/>
              </a:rPr>
              <a:t>Kiểm tra lại tính hợp lệ (validation)</a:t>
            </a:r>
            <a:endParaRPr sz="1250">
              <a:solidFill>
                <a:schemeClr val="dk1"/>
              </a:solidFill>
              <a:latin typeface="Calibri"/>
              <a:ea typeface="Calibri"/>
              <a:cs typeface="Calibri"/>
              <a:sym typeface="Calibri"/>
            </a:endParaRPr>
          </a:p>
        </p:txBody>
      </p:sp>
      <p:sp>
        <p:nvSpPr>
          <p:cNvPr id="721" name="Google Shape;721;p29"/>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Bài 6. Data Wrangling và làm sạch dữ liệu</a:t>
            </a:r>
            <a:endParaRPr sz="1000">
              <a:solidFill>
                <a:schemeClr val="dk1"/>
              </a:solidFill>
              <a:latin typeface="Calibri"/>
              <a:ea typeface="Calibri"/>
              <a:cs typeface="Calibri"/>
              <a:sym typeface="Calibri"/>
            </a:endParaRPr>
          </a:p>
        </p:txBody>
      </p:sp>
      <p:sp>
        <p:nvSpPr>
          <p:cNvPr id="722" name="Google Shape;722;p29"/>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29</a:t>
            </a:r>
            <a:endParaRPr sz="10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7" name="Shape 727"/>
        <p:cNvGrpSpPr/>
        <p:nvPr/>
      </p:nvGrpSpPr>
      <p:grpSpPr>
        <a:xfrm>
          <a:off x="0" y="0"/>
          <a:ext cx="0" cy="0"/>
          <a:chOff x="0" y="0"/>
          <a:chExt cx="0" cy="0"/>
        </a:xfrm>
      </p:grpSpPr>
      <p:sp>
        <p:nvSpPr>
          <p:cNvPr id="728" name="Google Shape;728;p30"/>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30"/>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30"/>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30"/>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30"/>
          <p:cNvSpPr/>
          <p:nvPr/>
        </p:nvSpPr>
        <p:spPr>
          <a:xfrm>
            <a:off x="530352" y="237744"/>
            <a:ext cx="978408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2100"/>
              <a:buFont typeface="Arial"/>
              <a:buNone/>
            </a:pPr>
            <a:r>
              <a:rPr b="1" lang="en-US" sz="2100">
                <a:solidFill>
                  <a:srgbClr val="0F3F6F"/>
                </a:solidFill>
                <a:latin typeface="Arial"/>
                <a:ea typeface="Arial"/>
                <a:cs typeface="Arial"/>
                <a:sym typeface="Arial"/>
              </a:rPr>
              <a:t>Sản phẩm cuối cùng</a:t>
            </a:r>
            <a:endParaRPr sz="2100">
              <a:solidFill>
                <a:schemeClr val="dk1"/>
              </a:solidFill>
              <a:latin typeface="Calibri"/>
              <a:ea typeface="Calibri"/>
              <a:cs typeface="Calibri"/>
              <a:sym typeface="Calibri"/>
            </a:endParaRPr>
          </a:p>
        </p:txBody>
      </p:sp>
      <p:sp>
        <p:nvSpPr>
          <p:cNvPr id="733" name="Google Shape;733;p30"/>
          <p:cNvSpPr/>
          <p:nvPr/>
        </p:nvSpPr>
        <p:spPr>
          <a:xfrm>
            <a:off x="548640" y="969264"/>
            <a:ext cx="9144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i="1" lang="en-US" sz="1100">
                <a:solidFill>
                  <a:srgbClr val="8497A5"/>
                </a:solidFill>
                <a:latin typeface="Arial"/>
                <a:ea typeface="Arial"/>
                <a:cs typeface="Arial"/>
                <a:sym typeface="Arial"/>
              </a:rPr>
              <a:t>Thực hành Bài 6 · Bài 06</a:t>
            </a:r>
            <a:endParaRPr sz="1100">
              <a:solidFill>
                <a:schemeClr val="dk1"/>
              </a:solidFill>
              <a:latin typeface="Calibri"/>
              <a:ea typeface="Calibri"/>
              <a:cs typeface="Calibri"/>
              <a:sym typeface="Calibri"/>
            </a:endParaRPr>
          </a:p>
        </p:txBody>
      </p:sp>
      <p:sp>
        <p:nvSpPr>
          <p:cNvPr id="734" name="Google Shape;734;p30"/>
          <p:cNvSpPr/>
          <p:nvPr/>
        </p:nvSpPr>
        <p:spPr>
          <a:xfrm>
            <a:off x="640080" y="1463040"/>
            <a:ext cx="5349240" cy="1737360"/>
          </a:xfrm>
          <a:prstGeom prst="roundRect">
            <a:avLst>
              <a:gd fmla="val 6316" name="adj"/>
            </a:avLst>
          </a:prstGeom>
          <a:solidFill>
            <a:srgbClr val="E7EE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0"/>
          <p:cNvSpPr/>
          <p:nvPr/>
        </p:nvSpPr>
        <p:spPr>
          <a:xfrm>
            <a:off x="914400" y="1627632"/>
            <a:ext cx="4800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500"/>
              <a:buFont typeface="Arial"/>
              <a:buNone/>
            </a:pPr>
            <a:r>
              <a:rPr b="1" lang="en-US" sz="1500">
                <a:solidFill>
                  <a:srgbClr val="0F3F6F"/>
                </a:solidFill>
                <a:latin typeface="Arial"/>
                <a:ea typeface="Arial"/>
                <a:cs typeface="Arial"/>
                <a:sym typeface="Arial"/>
              </a:rPr>
              <a:t>Đầu vào</a:t>
            </a:r>
            <a:endParaRPr sz="1500">
              <a:solidFill>
                <a:schemeClr val="dk1"/>
              </a:solidFill>
              <a:latin typeface="Calibri"/>
              <a:ea typeface="Calibri"/>
              <a:cs typeface="Calibri"/>
              <a:sym typeface="Calibri"/>
            </a:endParaRPr>
          </a:p>
        </p:txBody>
      </p:sp>
      <p:sp>
        <p:nvSpPr>
          <p:cNvPr id="736" name="Google Shape;736;p30"/>
          <p:cNvSpPr/>
          <p:nvPr/>
        </p:nvSpPr>
        <p:spPr>
          <a:xfrm>
            <a:off x="914400" y="2057400"/>
            <a:ext cx="4800600" cy="100584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5000"/>
              </a:lnSpc>
              <a:spcBef>
                <a:spcPts val="0"/>
              </a:spcBef>
              <a:spcAft>
                <a:spcPts val="0"/>
              </a:spcAft>
              <a:buClr>
                <a:srgbClr val="435266"/>
              </a:buClr>
              <a:buSzPts val="1150"/>
              <a:buFont typeface="Arial"/>
              <a:buChar char="•"/>
            </a:pPr>
            <a:r>
              <a:rPr lang="en-US" sz="1150">
                <a:solidFill>
                  <a:srgbClr val="435266"/>
                </a:solidFill>
                <a:latin typeface="Arial"/>
                <a:ea typeface="Arial"/>
                <a:cs typeface="Arial"/>
                <a:sym typeface="Arial"/>
              </a:rPr>
              <a:t>customer_transactions_dirty.csv</a:t>
            </a:r>
            <a:endParaRPr sz="1150">
              <a:solidFill>
                <a:schemeClr val="dk1"/>
              </a:solidFill>
              <a:latin typeface="Calibri"/>
              <a:ea typeface="Calibri"/>
              <a:cs typeface="Calibri"/>
              <a:sym typeface="Calibri"/>
            </a:endParaRPr>
          </a:p>
          <a:p>
            <a:pPr indent="-342900" lvl="0" marL="342900" marR="0" rtl="0" algn="l">
              <a:lnSpc>
                <a:spcPct val="125000"/>
              </a:lnSpc>
              <a:spcBef>
                <a:spcPts val="0"/>
              </a:spcBef>
              <a:spcAft>
                <a:spcPts val="0"/>
              </a:spcAft>
              <a:buClr>
                <a:srgbClr val="435266"/>
              </a:buClr>
              <a:buSzPts val="1150"/>
              <a:buFont typeface="Arial"/>
              <a:buChar char="•"/>
            </a:pPr>
            <a:r>
              <a:rPr lang="en-US" sz="1150">
                <a:solidFill>
                  <a:srgbClr val="435266"/>
                </a:solidFill>
                <a:latin typeface="Arial"/>
                <a:ea typeface="Arial"/>
                <a:cs typeface="Arial"/>
                <a:sym typeface="Arial"/>
              </a:rPr>
              <a:t>Missing, duplicate, sai kiểu, outlier...</a:t>
            </a:r>
            <a:endParaRPr sz="1150">
              <a:solidFill>
                <a:schemeClr val="dk1"/>
              </a:solidFill>
              <a:latin typeface="Calibri"/>
              <a:ea typeface="Calibri"/>
              <a:cs typeface="Calibri"/>
              <a:sym typeface="Calibri"/>
            </a:endParaRPr>
          </a:p>
        </p:txBody>
      </p:sp>
      <p:sp>
        <p:nvSpPr>
          <p:cNvPr id="737" name="Google Shape;737;p30"/>
          <p:cNvSpPr/>
          <p:nvPr/>
        </p:nvSpPr>
        <p:spPr>
          <a:xfrm>
            <a:off x="6492240" y="1463040"/>
            <a:ext cx="5349240" cy="1737360"/>
          </a:xfrm>
          <a:prstGeom prst="roundRect">
            <a:avLst>
              <a:gd fmla="val 6316" name="adj"/>
            </a:avLst>
          </a:prstGeom>
          <a:solidFill>
            <a:srgbClr val="E9F3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30"/>
          <p:cNvSpPr/>
          <p:nvPr/>
        </p:nvSpPr>
        <p:spPr>
          <a:xfrm>
            <a:off x="6766560" y="1627632"/>
            <a:ext cx="4800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1500"/>
              <a:buFont typeface="Arial"/>
              <a:buNone/>
            </a:pPr>
            <a:r>
              <a:rPr b="1" lang="en-US" sz="1500">
                <a:solidFill>
                  <a:srgbClr val="0F3F6F"/>
                </a:solidFill>
                <a:latin typeface="Arial"/>
                <a:ea typeface="Arial"/>
                <a:cs typeface="Arial"/>
                <a:sym typeface="Arial"/>
              </a:rPr>
              <a:t>Đầu ra</a:t>
            </a:r>
            <a:endParaRPr sz="1500">
              <a:solidFill>
                <a:schemeClr val="dk1"/>
              </a:solidFill>
              <a:latin typeface="Calibri"/>
              <a:ea typeface="Calibri"/>
              <a:cs typeface="Calibri"/>
              <a:sym typeface="Calibri"/>
            </a:endParaRPr>
          </a:p>
        </p:txBody>
      </p:sp>
      <p:sp>
        <p:nvSpPr>
          <p:cNvPr id="739" name="Google Shape;739;p30"/>
          <p:cNvSpPr/>
          <p:nvPr/>
        </p:nvSpPr>
        <p:spPr>
          <a:xfrm>
            <a:off x="6766560" y="2057400"/>
            <a:ext cx="4800600" cy="100584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5000"/>
              </a:lnSpc>
              <a:spcBef>
                <a:spcPts val="0"/>
              </a:spcBef>
              <a:spcAft>
                <a:spcPts val="0"/>
              </a:spcAft>
              <a:buClr>
                <a:srgbClr val="435266"/>
              </a:buClr>
              <a:buSzPts val="1150"/>
              <a:buFont typeface="Arial"/>
              <a:buChar char="•"/>
            </a:pPr>
            <a:r>
              <a:rPr lang="en-US" sz="1150">
                <a:solidFill>
                  <a:srgbClr val="435266"/>
                </a:solidFill>
                <a:latin typeface="Arial"/>
                <a:ea typeface="Arial"/>
                <a:cs typeface="Arial"/>
                <a:sym typeface="Arial"/>
              </a:rPr>
              <a:t>customer_transactions_clean.csv</a:t>
            </a:r>
            <a:endParaRPr sz="1150">
              <a:solidFill>
                <a:schemeClr val="dk1"/>
              </a:solidFill>
              <a:latin typeface="Calibri"/>
              <a:ea typeface="Calibri"/>
              <a:cs typeface="Calibri"/>
              <a:sym typeface="Calibri"/>
            </a:endParaRPr>
          </a:p>
          <a:p>
            <a:pPr indent="-342900" lvl="0" marL="342900" marR="0" rtl="0" algn="l">
              <a:lnSpc>
                <a:spcPct val="125000"/>
              </a:lnSpc>
              <a:spcBef>
                <a:spcPts val="0"/>
              </a:spcBef>
              <a:spcAft>
                <a:spcPts val="0"/>
              </a:spcAft>
              <a:buClr>
                <a:srgbClr val="435266"/>
              </a:buClr>
              <a:buSzPts val="1150"/>
              <a:buFont typeface="Arial"/>
              <a:buChar char="•"/>
            </a:pPr>
            <a:r>
              <a:rPr lang="en-US" sz="1150">
                <a:solidFill>
                  <a:srgbClr val="435266"/>
                </a:solidFill>
                <a:latin typeface="Arial"/>
                <a:ea typeface="Arial"/>
                <a:cs typeface="Arial"/>
                <a:sym typeface="Arial"/>
              </a:rPr>
              <a:t>Dữ liệu sạch, đúng kiểu, sẵn sàng phân tích</a:t>
            </a:r>
            <a:endParaRPr sz="1150">
              <a:solidFill>
                <a:schemeClr val="dk1"/>
              </a:solidFill>
              <a:latin typeface="Calibri"/>
              <a:ea typeface="Calibri"/>
              <a:cs typeface="Calibri"/>
              <a:sym typeface="Calibri"/>
            </a:endParaRPr>
          </a:p>
        </p:txBody>
      </p:sp>
      <p:sp>
        <p:nvSpPr>
          <p:cNvPr id="740" name="Google Shape;740;p30"/>
          <p:cNvSpPr/>
          <p:nvPr/>
        </p:nvSpPr>
        <p:spPr>
          <a:xfrm>
            <a:off x="548640" y="3520440"/>
            <a:ext cx="11109960" cy="1371600"/>
          </a:xfrm>
          <a:prstGeom prst="roundRect">
            <a:avLst>
              <a:gd fmla="val 5333"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30"/>
          <p:cNvSpPr/>
          <p:nvPr/>
        </p:nvSpPr>
        <p:spPr>
          <a:xfrm>
            <a:off x="822960" y="3520440"/>
            <a:ext cx="1056132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Arial"/>
              <a:buNone/>
            </a:pPr>
            <a:r>
              <a:rPr i="1" lang="en-US" sz="1300">
                <a:solidFill>
                  <a:srgbClr val="FFFFFF"/>
                </a:solidFill>
                <a:latin typeface="Arial"/>
                <a:ea typeface="Arial"/>
                <a:cs typeface="Arial"/>
                <a:sym typeface="Arial"/>
              </a:rPr>
              <a:t>customer_transactions_clean.csv là một đầu ra rất rõ ràng cho Bài 6: minh chứng cụ thể rằng dữ liệu thô đã được biến thành dataset đủ chất lượng để phân tích.</a:t>
            </a:r>
            <a:endParaRPr sz="1300">
              <a:solidFill>
                <a:schemeClr val="dk1"/>
              </a:solidFill>
              <a:latin typeface="Calibri"/>
              <a:ea typeface="Calibri"/>
              <a:cs typeface="Calibri"/>
              <a:sym typeface="Calibri"/>
            </a:endParaRPr>
          </a:p>
        </p:txBody>
      </p:sp>
      <p:sp>
        <p:nvSpPr>
          <p:cNvPr id="742" name="Google Shape;742;p30"/>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Bài 6. Data Wrangling và làm sạch dữ liệu</a:t>
            </a:r>
            <a:endParaRPr sz="1000">
              <a:solidFill>
                <a:schemeClr val="dk1"/>
              </a:solidFill>
              <a:latin typeface="Calibri"/>
              <a:ea typeface="Calibri"/>
              <a:cs typeface="Calibri"/>
              <a:sym typeface="Calibri"/>
            </a:endParaRPr>
          </a:p>
        </p:txBody>
      </p:sp>
      <p:sp>
        <p:nvSpPr>
          <p:cNvPr id="743" name="Google Shape;743;p30"/>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30</a:t>
            </a:r>
            <a:endParaRPr sz="10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8" name="Shape 748"/>
        <p:cNvGrpSpPr/>
        <p:nvPr/>
      </p:nvGrpSpPr>
      <p:grpSpPr>
        <a:xfrm>
          <a:off x="0" y="0"/>
          <a:ext cx="0" cy="0"/>
          <a:chOff x="0" y="0"/>
          <a:chExt cx="0" cy="0"/>
        </a:xfrm>
      </p:grpSpPr>
      <p:sp>
        <p:nvSpPr>
          <p:cNvPr id="749" name="Google Shape;749;p31"/>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31"/>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31"/>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31"/>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31"/>
          <p:cNvSpPr/>
          <p:nvPr/>
        </p:nvSpPr>
        <p:spPr>
          <a:xfrm>
            <a:off x="530352" y="237744"/>
            <a:ext cx="978408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2100"/>
              <a:buFont typeface="Arial"/>
              <a:buNone/>
            </a:pPr>
            <a:r>
              <a:rPr b="1" lang="en-US" sz="2100">
                <a:solidFill>
                  <a:srgbClr val="0F3F6F"/>
                </a:solidFill>
                <a:latin typeface="Arial"/>
                <a:ea typeface="Arial"/>
                <a:cs typeface="Arial"/>
                <a:sym typeface="Arial"/>
              </a:rPr>
              <a:t>Tóm tắt bài học</a:t>
            </a:r>
            <a:endParaRPr sz="2100">
              <a:solidFill>
                <a:schemeClr val="dk1"/>
              </a:solidFill>
              <a:latin typeface="Calibri"/>
              <a:ea typeface="Calibri"/>
              <a:cs typeface="Calibri"/>
              <a:sym typeface="Calibri"/>
            </a:endParaRPr>
          </a:p>
        </p:txBody>
      </p:sp>
      <p:sp>
        <p:nvSpPr>
          <p:cNvPr id="754" name="Google Shape;754;p31"/>
          <p:cNvSpPr/>
          <p:nvPr/>
        </p:nvSpPr>
        <p:spPr>
          <a:xfrm>
            <a:off x="548640" y="969264"/>
            <a:ext cx="9144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i="1" lang="en-US" sz="1100">
                <a:solidFill>
                  <a:srgbClr val="8497A5"/>
                </a:solidFill>
                <a:latin typeface="Arial"/>
                <a:ea typeface="Arial"/>
                <a:cs typeface="Arial"/>
                <a:sym typeface="Arial"/>
              </a:rPr>
              <a:t>Tóm tắt · Bài 06</a:t>
            </a:r>
            <a:endParaRPr sz="1100">
              <a:solidFill>
                <a:schemeClr val="dk1"/>
              </a:solidFill>
              <a:latin typeface="Calibri"/>
              <a:ea typeface="Calibri"/>
              <a:cs typeface="Calibri"/>
              <a:sym typeface="Calibri"/>
            </a:endParaRPr>
          </a:p>
        </p:txBody>
      </p:sp>
      <p:sp>
        <p:nvSpPr>
          <p:cNvPr id="755" name="Google Shape;755;p31"/>
          <p:cNvSpPr/>
          <p:nvPr/>
        </p:nvSpPr>
        <p:spPr>
          <a:xfrm>
            <a:off x="548640" y="1472184"/>
            <a:ext cx="118872" cy="118872"/>
          </a:xfrm>
          <a:prstGeom prst="ellipse">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31"/>
          <p:cNvSpPr/>
          <p:nvPr/>
        </p:nvSpPr>
        <p:spPr>
          <a:xfrm>
            <a:off x="841248" y="1417320"/>
            <a:ext cx="10789920" cy="6217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250"/>
              <a:buFont typeface="Arial"/>
              <a:buNone/>
            </a:pPr>
            <a:r>
              <a:rPr lang="en-US" sz="1250">
                <a:solidFill>
                  <a:srgbClr val="000000"/>
                </a:solidFill>
                <a:latin typeface="Arial"/>
                <a:ea typeface="Arial"/>
                <a:cs typeface="Arial"/>
                <a:sym typeface="Arial"/>
              </a:rPr>
              <a:t>Data Wrangling là toàn bộ quy trình từ dữ liệu thô đến dữ liệu sẵn sàng phân tích; Data Cleaning chỉ là một phần trong đó</a:t>
            </a:r>
            <a:endParaRPr sz="1250">
              <a:solidFill>
                <a:schemeClr val="dk1"/>
              </a:solidFill>
              <a:latin typeface="Calibri"/>
              <a:ea typeface="Calibri"/>
              <a:cs typeface="Calibri"/>
              <a:sym typeface="Calibri"/>
            </a:endParaRPr>
          </a:p>
        </p:txBody>
      </p:sp>
      <p:sp>
        <p:nvSpPr>
          <p:cNvPr id="757" name="Google Shape;757;p31"/>
          <p:cNvSpPr/>
          <p:nvPr/>
        </p:nvSpPr>
        <p:spPr>
          <a:xfrm>
            <a:off x="548640" y="2130552"/>
            <a:ext cx="118872" cy="118872"/>
          </a:xfrm>
          <a:prstGeom prst="ellipse">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31"/>
          <p:cNvSpPr/>
          <p:nvPr/>
        </p:nvSpPr>
        <p:spPr>
          <a:xfrm>
            <a:off x="841248" y="2075688"/>
            <a:ext cx="10789920" cy="6217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250"/>
              <a:buFont typeface="Arial"/>
              <a:buNone/>
            </a:pPr>
            <a:r>
              <a:rPr lang="en-US" sz="1250">
                <a:solidFill>
                  <a:srgbClr val="000000"/>
                </a:solidFill>
                <a:latin typeface="Arial"/>
                <a:ea typeface="Arial"/>
                <a:cs typeface="Arial"/>
                <a:sym typeface="Arial"/>
              </a:rPr>
              <a:t>Dữ liệu thực tế thường gặp 9 loại vấn đề: missing, duplicate, sai kiểu, outlier, không thống nhất định dạng/đơn vị/category...</a:t>
            </a:r>
            <a:endParaRPr sz="1250">
              <a:solidFill>
                <a:schemeClr val="dk1"/>
              </a:solidFill>
              <a:latin typeface="Calibri"/>
              <a:ea typeface="Calibri"/>
              <a:cs typeface="Calibri"/>
              <a:sym typeface="Calibri"/>
            </a:endParaRPr>
          </a:p>
        </p:txBody>
      </p:sp>
      <p:sp>
        <p:nvSpPr>
          <p:cNvPr id="759" name="Google Shape;759;p31"/>
          <p:cNvSpPr/>
          <p:nvPr/>
        </p:nvSpPr>
        <p:spPr>
          <a:xfrm>
            <a:off x="548640" y="2788920"/>
            <a:ext cx="118872" cy="118872"/>
          </a:xfrm>
          <a:prstGeom prst="ellipse">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31"/>
          <p:cNvSpPr/>
          <p:nvPr/>
        </p:nvSpPr>
        <p:spPr>
          <a:xfrm>
            <a:off x="841248" y="2734056"/>
            <a:ext cx="10789920" cy="6217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250"/>
              <a:buFont typeface="Arial"/>
              <a:buNone/>
            </a:pPr>
            <a:r>
              <a:rPr lang="en-US" sz="1250">
                <a:solidFill>
                  <a:srgbClr val="000000"/>
                </a:solidFill>
                <a:latin typeface="Arial"/>
                <a:ea typeface="Arial"/>
                <a:cs typeface="Arial"/>
                <a:sym typeface="Arial"/>
              </a:rPr>
              <a:t>Luôn khám phá dữ liệu (head, info, describe, isnull, duplicated) trước khi sửa</a:t>
            </a:r>
            <a:endParaRPr sz="1250">
              <a:solidFill>
                <a:schemeClr val="dk1"/>
              </a:solidFill>
              <a:latin typeface="Calibri"/>
              <a:ea typeface="Calibri"/>
              <a:cs typeface="Calibri"/>
              <a:sym typeface="Calibri"/>
            </a:endParaRPr>
          </a:p>
        </p:txBody>
      </p:sp>
      <p:sp>
        <p:nvSpPr>
          <p:cNvPr id="761" name="Google Shape;761;p31"/>
          <p:cNvSpPr/>
          <p:nvPr/>
        </p:nvSpPr>
        <p:spPr>
          <a:xfrm>
            <a:off x="548640" y="3447288"/>
            <a:ext cx="118872" cy="118872"/>
          </a:xfrm>
          <a:prstGeom prst="ellipse">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31"/>
          <p:cNvSpPr/>
          <p:nvPr/>
        </p:nvSpPr>
        <p:spPr>
          <a:xfrm>
            <a:off x="841248" y="3392424"/>
            <a:ext cx="10789920" cy="6217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250"/>
              <a:buFont typeface="Arial"/>
              <a:buNone/>
            </a:pPr>
            <a:r>
              <a:rPr lang="en-US" sz="1250">
                <a:solidFill>
                  <a:srgbClr val="000000"/>
                </a:solidFill>
                <a:latin typeface="Arial"/>
                <a:ea typeface="Arial"/>
                <a:cs typeface="Arial"/>
                <a:sym typeface="Arial"/>
              </a:rPr>
              <a:t>Xử lý missing values và duplicate cần dựa trên ý nghĩa nghiệp vụ, không áp dụng máy móc</a:t>
            </a:r>
            <a:endParaRPr sz="1250">
              <a:solidFill>
                <a:schemeClr val="dk1"/>
              </a:solidFill>
              <a:latin typeface="Calibri"/>
              <a:ea typeface="Calibri"/>
              <a:cs typeface="Calibri"/>
              <a:sym typeface="Calibri"/>
            </a:endParaRPr>
          </a:p>
        </p:txBody>
      </p:sp>
      <p:sp>
        <p:nvSpPr>
          <p:cNvPr id="763" name="Google Shape;763;p31"/>
          <p:cNvSpPr/>
          <p:nvPr/>
        </p:nvSpPr>
        <p:spPr>
          <a:xfrm>
            <a:off x="548640" y="4105656"/>
            <a:ext cx="118872" cy="118872"/>
          </a:xfrm>
          <a:prstGeom prst="ellipse">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31"/>
          <p:cNvSpPr/>
          <p:nvPr/>
        </p:nvSpPr>
        <p:spPr>
          <a:xfrm>
            <a:off x="841248" y="4050792"/>
            <a:ext cx="10789920" cy="6217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250"/>
              <a:buFont typeface="Arial"/>
              <a:buNone/>
            </a:pPr>
            <a:r>
              <a:rPr lang="en-US" sz="1250">
                <a:solidFill>
                  <a:srgbClr val="000000"/>
                </a:solidFill>
                <a:latin typeface="Arial"/>
                <a:ea typeface="Arial"/>
                <a:cs typeface="Arial"/>
                <a:sym typeface="Arial"/>
              </a:rPr>
              <a:t>Cần chuẩn hóa kiểu dữ liệu, định dạng text và giá trị số về một chuẩn thống nhất</a:t>
            </a:r>
            <a:endParaRPr sz="1250">
              <a:solidFill>
                <a:schemeClr val="dk1"/>
              </a:solidFill>
              <a:latin typeface="Calibri"/>
              <a:ea typeface="Calibri"/>
              <a:cs typeface="Calibri"/>
              <a:sym typeface="Calibri"/>
            </a:endParaRPr>
          </a:p>
        </p:txBody>
      </p:sp>
      <p:sp>
        <p:nvSpPr>
          <p:cNvPr id="765" name="Google Shape;765;p31"/>
          <p:cNvSpPr/>
          <p:nvPr/>
        </p:nvSpPr>
        <p:spPr>
          <a:xfrm>
            <a:off x="548640" y="4764024"/>
            <a:ext cx="118872" cy="118872"/>
          </a:xfrm>
          <a:prstGeom prst="ellipse">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31"/>
          <p:cNvSpPr/>
          <p:nvPr/>
        </p:nvSpPr>
        <p:spPr>
          <a:xfrm>
            <a:off x="841248" y="4709160"/>
            <a:ext cx="10789920" cy="6217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250"/>
              <a:buFont typeface="Arial"/>
              <a:buNone/>
            </a:pPr>
            <a:r>
              <a:rPr lang="en-US" sz="1250">
                <a:solidFill>
                  <a:srgbClr val="000000"/>
                </a:solidFill>
                <a:latin typeface="Arial"/>
                <a:ea typeface="Arial"/>
                <a:cs typeface="Arial"/>
                <a:sym typeface="Arial"/>
              </a:rPr>
              <a:t>Phát hiện outlier bằng Rule-based, Min/Max, IQR hoặc Z-score ở mức khái niệm</a:t>
            </a:r>
            <a:endParaRPr sz="1250">
              <a:solidFill>
                <a:schemeClr val="dk1"/>
              </a:solidFill>
              <a:latin typeface="Calibri"/>
              <a:ea typeface="Calibri"/>
              <a:cs typeface="Calibri"/>
              <a:sym typeface="Calibri"/>
            </a:endParaRPr>
          </a:p>
        </p:txBody>
      </p:sp>
      <p:sp>
        <p:nvSpPr>
          <p:cNvPr id="767" name="Google Shape;767;p31"/>
          <p:cNvSpPr/>
          <p:nvPr/>
        </p:nvSpPr>
        <p:spPr>
          <a:xfrm>
            <a:off x="548640" y="5422392"/>
            <a:ext cx="118872" cy="118872"/>
          </a:xfrm>
          <a:prstGeom prst="ellipse">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31"/>
          <p:cNvSpPr/>
          <p:nvPr/>
        </p:nvSpPr>
        <p:spPr>
          <a:xfrm>
            <a:off x="841248" y="5367528"/>
            <a:ext cx="10789920" cy="6217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250"/>
              <a:buFont typeface="Arial"/>
              <a:buNone/>
            </a:pPr>
            <a:r>
              <a:rPr lang="en-US" sz="1250">
                <a:solidFill>
                  <a:srgbClr val="000000"/>
                </a:solidFill>
                <a:latin typeface="Arial"/>
                <a:ea typeface="Arial"/>
                <a:cs typeface="Arial"/>
                <a:sym typeface="Arial"/>
              </a:rPr>
              <a:t>Kết quả cuối cùng của Data Wrangling là một dataset sạch, đáng tin cậy để phân tích hoặc xây dựng mô hình</a:t>
            </a:r>
            <a:endParaRPr sz="1250">
              <a:solidFill>
                <a:schemeClr val="dk1"/>
              </a:solidFill>
              <a:latin typeface="Calibri"/>
              <a:ea typeface="Calibri"/>
              <a:cs typeface="Calibri"/>
              <a:sym typeface="Calibri"/>
            </a:endParaRPr>
          </a:p>
        </p:txBody>
      </p:sp>
      <p:sp>
        <p:nvSpPr>
          <p:cNvPr id="769" name="Google Shape;769;p31"/>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Bài 6. Data Wrangling và làm sạch dữ liệu</a:t>
            </a:r>
            <a:endParaRPr sz="1000">
              <a:solidFill>
                <a:schemeClr val="dk1"/>
              </a:solidFill>
              <a:latin typeface="Calibri"/>
              <a:ea typeface="Calibri"/>
              <a:cs typeface="Calibri"/>
              <a:sym typeface="Calibri"/>
            </a:endParaRPr>
          </a:p>
        </p:txBody>
      </p:sp>
      <p:sp>
        <p:nvSpPr>
          <p:cNvPr id="770" name="Google Shape;770;p31"/>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31</a:t>
            </a:r>
            <a:endParaRPr sz="10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5" name="Shape 775"/>
        <p:cNvGrpSpPr/>
        <p:nvPr/>
      </p:nvGrpSpPr>
      <p:grpSpPr>
        <a:xfrm>
          <a:off x="0" y="0"/>
          <a:ext cx="0" cy="0"/>
          <a:chOff x="0" y="0"/>
          <a:chExt cx="0" cy="0"/>
        </a:xfrm>
      </p:grpSpPr>
      <p:sp>
        <p:nvSpPr>
          <p:cNvPr id="776" name="Google Shape;776;p32"/>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32"/>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32"/>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32"/>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32"/>
          <p:cNvSpPr/>
          <p:nvPr/>
        </p:nvSpPr>
        <p:spPr>
          <a:xfrm>
            <a:off x="530352" y="237744"/>
            <a:ext cx="978408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2100"/>
              <a:buFont typeface="Arial"/>
              <a:buNone/>
            </a:pPr>
            <a:r>
              <a:rPr b="1" lang="en-US" sz="2100">
                <a:solidFill>
                  <a:srgbClr val="0F3F6F"/>
                </a:solidFill>
                <a:latin typeface="Arial"/>
                <a:ea typeface="Arial"/>
                <a:cs typeface="Arial"/>
                <a:sym typeface="Arial"/>
              </a:rPr>
              <a:t>Câu hỏi kiểm tra nhanh</a:t>
            </a:r>
            <a:endParaRPr sz="2100">
              <a:solidFill>
                <a:schemeClr val="dk1"/>
              </a:solidFill>
              <a:latin typeface="Calibri"/>
              <a:ea typeface="Calibri"/>
              <a:cs typeface="Calibri"/>
              <a:sym typeface="Calibri"/>
            </a:endParaRPr>
          </a:p>
        </p:txBody>
      </p:sp>
      <p:sp>
        <p:nvSpPr>
          <p:cNvPr id="781" name="Google Shape;781;p32"/>
          <p:cNvSpPr/>
          <p:nvPr/>
        </p:nvSpPr>
        <p:spPr>
          <a:xfrm>
            <a:off x="548640" y="969264"/>
            <a:ext cx="9144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7A5"/>
              </a:buClr>
              <a:buSzPts val="1100"/>
              <a:buFont typeface="Arial"/>
              <a:buNone/>
            </a:pPr>
            <a:r>
              <a:rPr i="1" lang="en-US" sz="1100">
                <a:solidFill>
                  <a:srgbClr val="8497A5"/>
                </a:solidFill>
                <a:latin typeface="Arial"/>
                <a:ea typeface="Arial"/>
                <a:cs typeface="Arial"/>
                <a:sym typeface="Arial"/>
              </a:rPr>
              <a:t>Đánh giá nhanh · Bài 06</a:t>
            </a:r>
            <a:endParaRPr sz="1100">
              <a:solidFill>
                <a:schemeClr val="dk1"/>
              </a:solidFill>
              <a:latin typeface="Calibri"/>
              <a:ea typeface="Calibri"/>
              <a:cs typeface="Calibri"/>
              <a:sym typeface="Calibri"/>
            </a:endParaRPr>
          </a:p>
        </p:txBody>
      </p:sp>
      <p:sp>
        <p:nvSpPr>
          <p:cNvPr id="782" name="Google Shape;782;p32"/>
          <p:cNvSpPr/>
          <p:nvPr/>
        </p:nvSpPr>
        <p:spPr>
          <a:xfrm>
            <a:off x="548640" y="1325880"/>
            <a:ext cx="11109960" cy="4892040"/>
          </a:xfrm>
          <a:prstGeom prst="roundRect">
            <a:avLst>
              <a:gd fmla="val 1869" name="adj"/>
            </a:avLst>
          </a:prstGeom>
          <a:solidFill>
            <a:srgbClr val="F0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32"/>
          <p:cNvSpPr/>
          <p:nvPr/>
        </p:nvSpPr>
        <p:spPr>
          <a:xfrm>
            <a:off x="868680" y="1600200"/>
            <a:ext cx="1051560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35266"/>
              </a:buClr>
              <a:buSzPts val="1350"/>
              <a:buFont typeface="Arial"/>
              <a:buNone/>
            </a:pPr>
            <a:r>
              <a:rPr b="1" lang="en-US" sz="1350">
                <a:solidFill>
                  <a:srgbClr val="435266"/>
                </a:solidFill>
                <a:latin typeface="Arial"/>
                <a:ea typeface="Arial"/>
                <a:cs typeface="Arial"/>
                <a:sym typeface="Arial"/>
              </a:rPr>
              <a:t>1. Data Cleaning là một bước trong quy trình nào?</a:t>
            </a:r>
            <a:endParaRPr sz="1350">
              <a:solidFill>
                <a:schemeClr val="dk1"/>
              </a:solidFill>
              <a:latin typeface="Calibri"/>
              <a:ea typeface="Calibri"/>
              <a:cs typeface="Calibri"/>
              <a:sym typeface="Calibri"/>
            </a:endParaRPr>
          </a:p>
        </p:txBody>
      </p:sp>
      <p:sp>
        <p:nvSpPr>
          <p:cNvPr id="784" name="Google Shape;784;p32"/>
          <p:cNvSpPr/>
          <p:nvPr/>
        </p:nvSpPr>
        <p:spPr>
          <a:xfrm>
            <a:off x="868680" y="2167128"/>
            <a:ext cx="1051560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1200"/>
              <a:buFont typeface="Arial"/>
              <a:buNone/>
            </a:pPr>
            <a:r>
              <a:rPr b="1" lang="en-US" sz="1200">
                <a:solidFill>
                  <a:srgbClr val="0F3F6F"/>
                </a:solidFill>
                <a:latin typeface="Arial"/>
                <a:ea typeface="Arial"/>
                <a:cs typeface="Arial"/>
                <a:sym typeface="Arial"/>
              </a:rPr>
              <a:t>Đáp án: </a:t>
            </a:r>
            <a:r>
              <a:rPr lang="en-US" sz="1200">
                <a:solidFill>
                  <a:srgbClr val="0F3F6F"/>
                </a:solidFill>
                <a:latin typeface="Arial"/>
                <a:ea typeface="Arial"/>
                <a:cs typeface="Arial"/>
                <a:sym typeface="Arial"/>
              </a:rPr>
              <a:t>Data Wrangling</a:t>
            </a:r>
            <a:endParaRPr sz="1200">
              <a:solidFill>
                <a:schemeClr val="dk1"/>
              </a:solidFill>
              <a:latin typeface="Calibri"/>
              <a:ea typeface="Calibri"/>
              <a:cs typeface="Calibri"/>
              <a:sym typeface="Calibri"/>
            </a:endParaRPr>
          </a:p>
        </p:txBody>
      </p:sp>
      <p:sp>
        <p:nvSpPr>
          <p:cNvPr id="785" name="Google Shape;785;p32"/>
          <p:cNvSpPr/>
          <p:nvPr/>
        </p:nvSpPr>
        <p:spPr>
          <a:xfrm>
            <a:off x="868680" y="2971800"/>
            <a:ext cx="1051560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35266"/>
              </a:buClr>
              <a:buSzPts val="1350"/>
              <a:buFont typeface="Arial"/>
              <a:buNone/>
            </a:pPr>
            <a:r>
              <a:rPr b="1" lang="en-US" sz="1350">
                <a:solidFill>
                  <a:srgbClr val="435266"/>
                </a:solidFill>
                <a:latin typeface="Arial"/>
                <a:ea typeface="Arial"/>
                <a:cs typeface="Arial"/>
                <a:sym typeface="Arial"/>
              </a:rPr>
              <a:t>2. Phương pháp nào dùng khoảng [Q1 − 1.5×IQR, Q3 + 1.5×IQR] để phát hiện outlier?</a:t>
            </a:r>
            <a:endParaRPr sz="1350">
              <a:solidFill>
                <a:schemeClr val="dk1"/>
              </a:solidFill>
              <a:latin typeface="Calibri"/>
              <a:ea typeface="Calibri"/>
              <a:cs typeface="Calibri"/>
              <a:sym typeface="Calibri"/>
            </a:endParaRPr>
          </a:p>
        </p:txBody>
      </p:sp>
      <p:sp>
        <p:nvSpPr>
          <p:cNvPr id="786" name="Google Shape;786;p32"/>
          <p:cNvSpPr/>
          <p:nvPr/>
        </p:nvSpPr>
        <p:spPr>
          <a:xfrm>
            <a:off x="868680" y="3538728"/>
            <a:ext cx="1051560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1200"/>
              <a:buFont typeface="Arial"/>
              <a:buNone/>
            </a:pPr>
            <a:r>
              <a:rPr b="1" lang="en-US" sz="1200">
                <a:solidFill>
                  <a:srgbClr val="0F3F6F"/>
                </a:solidFill>
                <a:latin typeface="Arial"/>
                <a:ea typeface="Arial"/>
                <a:cs typeface="Arial"/>
                <a:sym typeface="Arial"/>
              </a:rPr>
              <a:t>Đáp án: </a:t>
            </a:r>
            <a:r>
              <a:rPr lang="en-US" sz="1200">
                <a:solidFill>
                  <a:srgbClr val="0F3F6F"/>
                </a:solidFill>
                <a:latin typeface="Arial"/>
                <a:ea typeface="Arial"/>
                <a:cs typeface="Arial"/>
                <a:sym typeface="Arial"/>
              </a:rPr>
              <a:t>IQR (khoảng tứ phân vị)</a:t>
            </a:r>
            <a:endParaRPr sz="1200">
              <a:solidFill>
                <a:schemeClr val="dk1"/>
              </a:solidFill>
              <a:latin typeface="Calibri"/>
              <a:ea typeface="Calibri"/>
              <a:cs typeface="Calibri"/>
              <a:sym typeface="Calibri"/>
            </a:endParaRPr>
          </a:p>
        </p:txBody>
      </p:sp>
      <p:sp>
        <p:nvSpPr>
          <p:cNvPr id="787" name="Google Shape;787;p32"/>
          <p:cNvSpPr/>
          <p:nvPr/>
        </p:nvSpPr>
        <p:spPr>
          <a:xfrm>
            <a:off x="868680" y="4343400"/>
            <a:ext cx="1051560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35266"/>
              </a:buClr>
              <a:buSzPts val="1350"/>
              <a:buFont typeface="Arial"/>
              <a:buNone/>
            </a:pPr>
            <a:r>
              <a:rPr b="1" lang="en-US" sz="1350">
                <a:solidFill>
                  <a:srgbClr val="435266"/>
                </a:solidFill>
                <a:latin typeface="Arial"/>
                <a:ea typeface="Arial"/>
                <a:cs typeface="Arial"/>
                <a:sym typeface="Arial"/>
              </a:rPr>
              <a:t>3. Khi gặp missing value, điều gì quyết định nên xóa hay điền giá trị?</a:t>
            </a:r>
            <a:endParaRPr sz="1350">
              <a:solidFill>
                <a:schemeClr val="dk1"/>
              </a:solidFill>
              <a:latin typeface="Calibri"/>
              <a:ea typeface="Calibri"/>
              <a:cs typeface="Calibri"/>
              <a:sym typeface="Calibri"/>
            </a:endParaRPr>
          </a:p>
        </p:txBody>
      </p:sp>
      <p:sp>
        <p:nvSpPr>
          <p:cNvPr id="788" name="Google Shape;788;p32"/>
          <p:cNvSpPr/>
          <p:nvPr/>
        </p:nvSpPr>
        <p:spPr>
          <a:xfrm>
            <a:off x="868680" y="4910328"/>
            <a:ext cx="1051560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3F6F"/>
              </a:buClr>
              <a:buSzPts val="1200"/>
              <a:buFont typeface="Arial"/>
              <a:buNone/>
            </a:pPr>
            <a:r>
              <a:rPr b="1" lang="en-US" sz="1200">
                <a:solidFill>
                  <a:srgbClr val="0F3F6F"/>
                </a:solidFill>
                <a:latin typeface="Arial"/>
                <a:ea typeface="Arial"/>
                <a:cs typeface="Arial"/>
                <a:sym typeface="Arial"/>
              </a:rPr>
              <a:t>Đáp án: </a:t>
            </a:r>
            <a:r>
              <a:rPr lang="en-US" sz="1200">
                <a:solidFill>
                  <a:srgbClr val="0F3F6F"/>
                </a:solidFill>
                <a:latin typeface="Arial"/>
                <a:ea typeface="Arial"/>
                <a:cs typeface="Arial"/>
                <a:sym typeface="Arial"/>
              </a:rPr>
              <a:t>Ý nghĩa nghiệp vụ của dữ liệu, không có quy tắc cố định</a:t>
            </a:r>
            <a:endParaRPr sz="1200">
              <a:solidFill>
                <a:schemeClr val="dk1"/>
              </a:solidFill>
              <a:latin typeface="Calibri"/>
              <a:ea typeface="Calibri"/>
              <a:cs typeface="Calibri"/>
              <a:sym typeface="Calibri"/>
            </a:endParaRPr>
          </a:p>
        </p:txBody>
      </p:sp>
      <p:sp>
        <p:nvSpPr>
          <p:cNvPr id="789" name="Google Shape;789;p32"/>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Bài 6. Data Wrangling và làm sạch dữ liệu</a:t>
            </a:r>
            <a:endParaRPr sz="1000">
              <a:solidFill>
                <a:schemeClr val="dk1"/>
              </a:solidFill>
              <a:latin typeface="Calibri"/>
              <a:ea typeface="Calibri"/>
              <a:cs typeface="Calibri"/>
              <a:sym typeface="Calibri"/>
            </a:endParaRPr>
          </a:p>
        </p:txBody>
      </p:sp>
      <p:sp>
        <p:nvSpPr>
          <p:cNvPr id="790" name="Google Shape;790;p32"/>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32</a:t>
            </a:r>
            <a:endParaRPr sz="10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5" name="Shape 795"/>
        <p:cNvGrpSpPr/>
        <p:nvPr/>
      </p:nvGrpSpPr>
      <p:grpSpPr>
        <a:xfrm>
          <a:off x="0" y="0"/>
          <a:ext cx="0" cy="0"/>
          <a:chOff x="0" y="0"/>
          <a:chExt cx="0" cy="0"/>
        </a:xfrm>
      </p:grpSpPr>
      <p:sp>
        <p:nvSpPr>
          <p:cNvPr id="796" name="Google Shape;796;p33"/>
          <p:cNvSpPr/>
          <p:nvPr/>
        </p:nvSpPr>
        <p:spPr>
          <a:xfrm>
            <a:off x="0" y="0"/>
            <a:ext cx="12191695" cy="210312"/>
          </a:xfrm>
          <a:prstGeom prst="rect">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33"/>
          <p:cNvSpPr/>
          <p:nvPr/>
        </p:nvSpPr>
        <p:spPr>
          <a:xfrm flipH="1">
            <a:off x="8339328" y="0"/>
            <a:ext cx="640080" cy="210312"/>
          </a:xfrm>
          <a:prstGeom prst="parallelogram">
            <a:avLst>
              <a:gd fmla="val 25000" name="adj"/>
            </a:avLst>
          </a:prstGeom>
          <a:solidFill>
            <a:srgbClr val="849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33"/>
          <p:cNvSpPr/>
          <p:nvPr/>
        </p:nvSpPr>
        <p:spPr>
          <a:xfrm flipH="1">
            <a:off x="8732520" y="0"/>
            <a:ext cx="969264" cy="1005840"/>
          </a:xfrm>
          <a:prstGeom prst="parallelogram">
            <a:avLst>
              <a:gd fmla="val 25000" name="adj"/>
            </a:avLst>
          </a:prstGeom>
          <a:solidFill>
            <a:srgbClr val="85B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33"/>
          <p:cNvSpPr/>
          <p:nvPr/>
        </p:nvSpPr>
        <p:spPr>
          <a:xfrm flipH="1">
            <a:off x="9747504" y="0"/>
            <a:ext cx="1005840" cy="1005840"/>
          </a:xfrm>
          <a:prstGeom prst="parallelogram">
            <a:avLst>
              <a:gd fmla="val 25000" name="adj"/>
            </a:avLst>
          </a:prstGeom>
          <a:solidFill>
            <a:srgbClr val="0F3F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33"/>
          <p:cNvSpPr/>
          <p:nvPr/>
        </p:nvSpPr>
        <p:spPr>
          <a:xfrm>
            <a:off x="914400" y="1828800"/>
            <a:ext cx="10332720"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3F6F"/>
              </a:buClr>
              <a:buSzPts val="3800"/>
              <a:buFont typeface="Arial"/>
              <a:buNone/>
            </a:pPr>
            <a:r>
              <a:rPr b="1" lang="en-US" sz="3800">
                <a:solidFill>
                  <a:srgbClr val="0F3F6F"/>
                </a:solidFill>
                <a:latin typeface="Arial"/>
                <a:ea typeface="Arial"/>
                <a:cs typeface="Arial"/>
                <a:sym typeface="Arial"/>
              </a:rPr>
              <a:t>Cảm ơn đã theo dõi</a:t>
            </a:r>
            <a:endParaRPr sz="3800">
              <a:solidFill>
                <a:schemeClr val="dk1"/>
              </a:solidFill>
              <a:latin typeface="Calibri"/>
              <a:ea typeface="Calibri"/>
              <a:cs typeface="Calibri"/>
              <a:sym typeface="Calibri"/>
            </a:endParaRPr>
          </a:p>
        </p:txBody>
      </p:sp>
      <p:sp>
        <p:nvSpPr>
          <p:cNvPr id="801" name="Google Shape;801;p33"/>
          <p:cNvSpPr/>
          <p:nvPr/>
        </p:nvSpPr>
        <p:spPr>
          <a:xfrm>
            <a:off x="1371600" y="2788920"/>
            <a:ext cx="9418320" cy="8229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0F3F6F"/>
              </a:buClr>
              <a:buSzPts val="1600"/>
              <a:buFont typeface="Arial"/>
              <a:buNone/>
            </a:pPr>
            <a:r>
              <a:rPr b="1" lang="en-US" sz="1600">
                <a:solidFill>
                  <a:srgbClr val="0F3F6F"/>
                </a:solidFill>
                <a:latin typeface="Arial"/>
                <a:ea typeface="Arial"/>
                <a:cs typeface="Arial"/>
                <a:sym typeface="Arial"/>
              </a:rPr>
              <a:t>Bài tiếp theo:</a:t>
            </a:r>
            <a:endParaRPr sz="1600">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0F3F6F"/>
              </a:buClr>
              <a:buSzPts val="1600"/>
              <a:buFont typeface="Arial"/>
              <a:buNone/>
            </a:pPr>
            <a:r>
              <a:rPr b="1" lang="en-US" sz="1600">
                <a:solidFill>
                  <a:srgbClr val="0F3F6F"/>
                </a:solidFill>
                <a:latin typeface="Arial"/>
                <a:ea typeface="Arial"/>
                <a:cs typeface="Arial"/>
                <a:sym typeface="Arial"/>
              </a:rPr>
              <a:t>Feature Engineering &amp; chuẩn bị dữ liệu cho Machine Learning</a:t>
            </a:r>
            <a:endParaRPr sz="1600">
              <a:solidFill>
                <a:schemeClr val="dk1"/>
              </a:solidFill>
              <a:latin typeface="Calibri"/>
              <a:ea typeface="Calibri"/>
              <a:cs typeface="Calibri"/>
              <a:sym typeface="Calibri"/>
            </a:endParaRPr>
          </a:p>
        </p:txBody>
      </p:sp>
      <p:sp>
        <p:nvSpPr>
          <p:cNvPr id="802" name="Google Shape;802;p33"/>
          <p:cNvSpPr/>
          <p:nvPr/>
        </p:nvSpPr>
        <p:spPr>
          <a:xfrm>
            <a:off x="1645920" y="3977640"/>
            <a:ext cx="8869680" cy="1005840"/>
          </a:xfrm>
          <a:prstGeom prst="rect">
            <a:avLst/>
          </a:prstGeom>
          <a:noFill/>
          <a:ln>
            <a:noFill/>
          </a:ln>
        </p:spPr>
        <p:txBody>
          <a:bodyPr anchorCtr="0" anchor="ctr" bIns="45700" lIns="91425" spcFirstLastPara="1" rIns="91425" wrap="square" tIns="45700">
            <a:noAutofit/>
          </a:bodyPr>
          <a:lstStyle/>
          <a:p>
            <a:pPr indent="0" lvl="0" marL="0" marR="0" rtl="0" algn="ctr">
              <a:lnSpc>
                <a:spcPct val="135000"/>
              </a:lnSpc>
              <a:spcBef>
                <a:spcPts val="0"/>
              </a:spcBef>
              <a:spcAft>
                <a:spcPts val="0"/>
              </a:spcAft>
              <a:buClr>
                <a:srgbClr val="435266"/>
              </a:buClr>
              <a:buSzPts val="1200"/>
              <a:buFont typeface="Arial"/>
              <a:buNone/>
            </a:pPr>
            <a:r>
              <a:rPr lang="en-US" sz="1200">
                <a:solidFill>
                  <a:srgbClr val="435266"/>
                </a:solidFill>
                <a:latin typeface="Arial"/>
                <a:ea typeface="Arial"/>
                <a:cs typeface="Arial"/>
                <a:sym typeface="Arial"/>
              </a:rPr>
              <a:t>Tài liệu tham khảo: dataset customer_transactions_dirty.csv sẽ được chia sẻ trên LMS</a:t>
            </a:r>
            <a:endParaRPr sz="1200">
              <a:solidFill>
                <a:schemeClr val="dk1"/>
              </a:solidFill>
              <a:latin typeface="Calibri"/>
              <a:ea typeface="Calibri"/>
              <a:cs typeface="Calibri"/>
              <a:sym typeface="Calibri"/>
            </a:endParaRPr>
          </a:p>
          <a:p>
            <a:pPr indent="0" lvl="0" marL="0" marR="0" rtl="0" algn="ctr">
              <a:lnSpc>
                <a:spcPct val="135000"/>
              </a:lnSpc>
              <a:spcBef>
                <a:spcPts val="0"/>
              </a:spcBef>
              <a:spcAft>
                <a:spcPts val="0"/>
              </a:spcAft>
              <a:buClr>
                <a:srgbClr val="435266"/>
              </a:buClr>
              <a:buSzPts val="1200"/>
              <a:buFont typeface="Arial"/>
              <a:buNone/>
            </a:pPr>
            <a:r>
              <a:rPr lang="en-US" sz="1200">
                <a:solidFill>
                  <a:srgbClr val="435266"/>
                </a:solidFill>
                <a:latin typeface="Arial"/>
                <a:ea typeface="Arial"/>
                <a:cs typeface="Arial"/>
                <a:sym typeface="Arial"/>
              </a:rPr>
              <a:t>Liên hệ giảng viên/trợ giảng nếu gặp khó khăn khi xử lý dữ liệu thiếu/trùng lặp</a:t>
            </a:r>
            <a:endParaRPr sz="1200">
              <a:solidFill>
                <a:schemeClr val="dk1"/>
              </a:solidFill>
              <a:latin typeface="Calibri"/>
              <a:ea typeface="Calibri"/>
              <a:cs typeface="Calibri"/>
              <a:sym typeface="Calibri"/>
            </a:endParaRPr>
          </a:p>
          <a:p>
            <a:pPr indent="0" lvl="0" marL="0" marR="0" rtl="0" algn="ctr">
              <a:lnSpc>
                <a:spcPct val="135000"/>
              </a:lnSpc>
              <a:spcBef>
                <a:spcPts val="0"/>
              </a:spcBef>
              <a:spcAft>
                <a:spcPts val="0"/>
              </a:spcAft>
              <a:buClr>
                <a:srgbClr val="435266"/>
              </a:buClr>
              <a:buSzPts val="1200"/>
              <a:buFont typeface="Arial"/>
              <a:buNone/>
            </a:pPr>
            <a:r>
              <a:rPr lang="en-US" sz="1200">
                <a:solidFill>
                  <a:srgbClr val="435266"/>
                </a:solidFill>
                <a:latin typeface="Arial"/>
                <a:ea typeface="Arial"/>
                <a:cs typeface="Arial"/>
                <a:sym typeface="Arial"/>
              </a:rPr>
              <a:t>Lưu lại customer_transactions_clean.csv để sử dụng cho các bài học tiếp theo</a:t>
            </a:r>
            <a:endParaRPr sz="1200">
              <a:solidFill>
                <a:schemeClr val="dk1"/>
              </a:solidFill>
              <a:latin typeface="Calibri"/>
              <a:ea typeface="Calibri"/>
              <a:cs typeface="Calibri"/>
              <a:sym typeface="Calibri"/>
            </a:endParaRPr>
          </a:p>
        </p:txBody>
      </p:sp>
      <p:sp>
        <p:nvSpPr>
          <p:cNvPr id="803" name="Google Shape;803;p33"/>
          <p:cNvSpPr/>
          <p:nvPr/>
        </p:nvSpPr>
        <p:spPr>
          <a:xfrm>
            <a:off x="11414455"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F5F5F"/>
              </a:buClr>
              <a:buSzPts val="1000"/>
              <a:buFont typeface="Arial"/>
              <a:buNone/>
            </a:pPr>
            <a:r>
              <a:rPr lang="en-US" sz="1000">
                <a:solidFill>
                  <a:srgbClr val="5F5F5F"/>
                </a:solidFill>
                <a:latin typeface="Arial"/>
                <a:ea typeface="Arial"/>
                <a:cs typeface="Arial"/>
                <a:sym typeface="Arial"/>
              </a:rPr>
              <a:t>33</a:t>
            </a:r>
            <a:endParaRPr sz="10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2026-08-23T15:52:29Z</dcterms:created>
  <dc:creator>PptxGenJS</dc:creator>
</cp:coreProperties>
</file>
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42" roundtripDataSignature="AMtx7mjawMQs1skDxlALmOo/GvCXvLzzA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2174CEC-855B-439B-8DDD-C348F5A92A09}">
  <a:tblStyle styleId="{82174CEC-855B-439B-8DDD-C348F5A92A09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20" Type="http://schemas.openxmlformats.org/officeDocument/2006/relationships/slide" Target="slides/slide15.xml"/><Relationship Id="rId42" Type="http://customschemas.google.com/relationships/presentationmetadata" Target="metadata"/><Relationship Id="rId41" Type="http://schemas.openxmlformats.org/officeDocument/2006/relationships/slide" Target="slides/slide36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" name="Google Shape;23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" name="Google Shape;37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4" name="Google Shape;74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6" name="Google Shape;116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1" name="Google Shape;131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6" name="Google Shape;166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1" name="Google Shape;181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3" name="Google Shape;213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8" name="Google Shape;228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7" name="Google Shape;257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2" name="Google Shape;272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9" name="Google Shape;289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6" name="Google Shape;326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1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1" name="Google Shape;341;p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1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4" name="Google Shape;374;p1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1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9" name="Google Shape;389;p1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1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2" name="Google Shape;422;p1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1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37" name="Google Shape;437;p1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2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57" name="Google Shape;457;p2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2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2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72" name="Google Shape;472;p2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2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2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05" name="Google Shape;505;p2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2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2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20" name="Google Shape;520;p2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2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2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42" name="Google Shape;542;p2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2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2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57" name="Google Shape;557;p2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2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2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82" name="Google Shape;582;p2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2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2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97" name="Google Shape;597;p2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2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2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28" name="Google Shape;628;p2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" name="Google Shape;629;p2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p2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43" name="Google Shape;643;p2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4" name="Google Shape;644;p2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3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71" name="Google Shape;671;p3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2" name="Google Shape;672;p3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p3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86" name="Google Shape;686;p3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7" name="Google Shape;687;p3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3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21" name="Google Shape;721;p3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2" name="Google Shape;722;p3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p3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40" name="Google Shape;740;p3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1" name="Google Shape;741;p3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3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63" name="Google Shape;763;p3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4" name="Google Shape;764;p3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8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p3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90" name="Google Shape;790;p3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1" name="Google Shape;791;p3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p3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10" name="Google Shape;810;p3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1" name="Google Shape;811;p3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"/>
          <p:cNvSpPr/>
          <p:nvPr/>
        </p:nvSpPr>
        <p:spPr>
          <a:xfrm>
            <a:off x="0" y="0"/>
            <a:ext cx="12191695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1"/>
          <p:cNvSpPr/>
          <p:nvPr/>
        </p:nvSpPr>
        <p:spPr>
          <a:xfrm flipH="1">
            <a:off x="8339328" y="0"/>
            <a:ext cx="640080" cy="210312"/>
          </a:xfrm>
          <a:prstGeom prst="parallelogram">
            <a:avLst>
              <a:gd fmla="val 25000" name="adj"/>
            </a:avLst>
          </a:prstGeom>
          <a:solidFill>
            <a:srgbClr val="8497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"/>
          <p:cNvSpPr/>
          <p:nvPr/>
        </p:nvSpPr>
        <p:spPr>
          <a:xfrm flipH="1">
            <a:off x="8732520" y="0"/>
            <a:ext cx="969264" cy="1005840"/>
          </a:xfrm>
          <a:prstGeom prst="parallelogram">
            <a:avLst>
              <a:gd fmla="val 25000" name="adj"/>
            </a:avLst>
          </a:prstGeom>
          <a:solidFill>
            <a:srgbClr val="85B51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1"/>
          <p:cNvSpPr/>
          <p:nvPr/>
        </p:nvSpPr>
        <p:spPr>
          <a:xfrm flipH="1">
            <a:off x="9747504" y="0"/>
            <a:ext cx="1005840" cy="1005840"/>
          </a:xfrm>
          <a:prstGeom prst="parallelogram">
            <a:avLst>
              <a:gd fmla="val 25000" name="adj"/>
            </a:avLst>
          </a:prstGeom>
          <a:solidFill>
            <a:srgbClr val="0F3F6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work/assets2/ss2026_logo.png" id="16" name="Google Shape;1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46920" y="320040"/>
            <a:ext cx="1737360" cy="877824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1"/>
          <p:cNvSpPr/>
          <p:nvPr/>
        </p:nvSpPr>
        <p:spPr>
          <a:xfrm>
            <a:off x="914400" y="2194560"/>
            <a:ext cx="1033272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F3F6F"/>
              </a:buClr>
              <a:buSzPts val="5700"/>
              <a:buFont typeface="Arial"/>
              <a:buNone/>
            </a:pPr>
            <a:r>
              <a:rPr b="1" i="0" lang="en-US" sz="4800" u="none" cap="none" strike="noStrike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Bài 7: Tích hợp dữ liệu và</a:t>
            </a:r>
            <a:endParaRPr b="0" i="0" sz="4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F3F6F"/>
              </a:buClr>
              <a:buSzPts val="5700"/>
              <a:buFont typeface="Arial"/>
              <a:buNone/>
            </a:pPr>
            <a:r>
              <a:rPr b="1" i="0" lang="en-US" sz="4800" u="none" cap="none" strike="noStrike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Feature Engineering</a:t>
            </a:r>
            <a:endParaRPr b="0" i="0" sz="4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960120" y="3794760"/>
            <a:ext cx="512064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435266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7.1  Từ dữ liệu sạch đến dữ liệu có giá trị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435266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7.2  Tích hợp dữ liệu là gì?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435266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7.3  Khái niệm khóa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435266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7.4  Merge và Join với Pandas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435266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7.5  Concatenate dữ liệu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435266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7.6  Data Transformation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6217920" y="3794760"/>
            <a:ext cx="512064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435266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7.7  Feature Engineering là gì?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435266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7.8  Tạo Feature từ ngày tháng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435266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7.9  Tạo Feature từ dữ liệu số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435266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7.10  Tạo Feature từ dữ liệu phân loại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435266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7.11  Aggregation Feature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435266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7.12  Feature Engineering phục vụ bài toán thực tế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435266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Thực hành Bài 7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11414455" y="651052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F5F5F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"/>
          <p:cNvSpPr/>
          <p:nvPr/>
        </p:nvSpPr>
        <p:spPr>
          <a:xfrm>
            <a:off x="0" y="0"/>
            <a:ext cx="12191695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2"/>
          <p:cNvSpPr/>
          <p:nvPr/>
        </p:nvSpPr>
        <p:spPr>
          <a:xfrm flipH="1">
            <a:off x="8339328" y="0"/>
            <a:ext cx="640080" cy="210312"/>
          </a:xfrm>
          <a:prstGeom prst="parallelogram">
            <a:avLst>
              <a:gd fmla="val 25000" name="adj"/>
            </a:avLst>
          </a:prstGeom>
          <a:solidFill>
            <a:srgbClr val="8497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2"/>
          <p:cNvSpPr/>
          <p:nvPr/>
        </p:nvSpPr>
        <p:spPr>
          <a:xfrm flipH="1">
            <a:off x="8732520" y="0"/>
            <a:ext cx="969264" cy="1005840"/>
          </a:xfrm>
          <a:prstGeom prst="parallelogram">
            <a:avLst>
              <a:gd fmla="val 25000" name="adj"/>
            </a:avLst>
          </a:prstGeom>
          <a:solidFill>
            <a:srgbClr val="85B51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2"/>
          <p:cNvSpPr/>
          <p:nvPr/>
        </p:nvSpPr>
        <p:spPr>
          <a:xfrm flipH="1">
            <a:off x="9747504" y="0"/>
            <a:ext cx="1005840" cy="1005840"/>
          </a:xfrm>
          <a:prstGeom prst="parallelogram">
            <a:avLst>
              <a:gd fmla="val 25000" name="adj"/>
            </a:avLst>
          </a:prstGeom>
          <a:solidFill>
            <a:srgbClr val="0F3F6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2"/>
          <p:cNvSpPr/>
          <p:nvPr/>
        </p:nvSpPr>
        <p:spPr>
          <a:xfrm>
            <a:off x="530352" y="237744"/>
            <a:ext cx="97840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3F6F"/>
              </a:buClr>
              <a:buSzPts val="2100"/>
              <a:buFont typeface="Arial"/>
              <a:buNone/>
            </a:pPr>
            <a:r>
              <a:rPr b="1" lang="en-US" sz="21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Chương trình buổi học (4 giờ)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548640" y="969264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497A5"/>
              </a:buClr>
              <a:buSzPts val="1100"/>
              <a:buFont typeface="Arial"/>
              <a:buNone/>
            </a:pPr>
            <a:r>
              <a:rPr i="1" lang="en-US" sz="1100">
                <a:solidFill>
                  <a:srgbClr val="8497A5"/>
                </a:solidFill>
                <a:latin typeface="Arial"/>
                <a:ea typeface="Arial"/>
                <a:cs typeface="Arial"/>
                <a:sym typeface="Arial"/>
              </a:rPr>
              <a:t>Giới thiệu tổng quan bài học · Bài 07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2" name="Google Shape;32;p2"/>
          <p:cNvGraphicFramePr/>
          <p:nvPr/>
        </p:nvGraphicFramePr>
        <p:xfrm>
          <a:off x="457200" y="13258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{82174CEC-855B-439B-8DDD-C348F5A92A09}</a:tableStyleId>
              </a:tblPr>
              <a:tblGrid>
                <a:gridCol w="1600200"/>
                <a:gridCol w="640075"/>
                <a:gridCol w="7406650"/>
                <a:gridCol w="1645925"/>
              </a:tblGrid>
              <a:tr h="466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Thời gian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6DC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C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C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C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3F6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TG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6DC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C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C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C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3F6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Nội dung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6DC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C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C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C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3F6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Loại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6DC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C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C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C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3F6F"/>
                    </a:solidFill>
                  </a:tcPr>
                </a:tc>
              </a:tr>
              <a:tr h="466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08:00 – 08:15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6DC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C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C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C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15p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6DC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C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C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C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Khởi động, giới thiệu mục tiêu học tập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6DC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C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C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C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Lý thuyết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6DC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C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C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C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66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08:15 – 09:00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6DC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C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C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C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45p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6DC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C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C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C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7.1 Dữ liệu có giá trị · 7.2 Tích hợp dữ liệu · 7.3 Khái niệm khóa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6DC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C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C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C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Lý thuyết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6DC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C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C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C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7"/>
                    </a:solidFill>
                  </a:tcPr>
                </a:tc>
              </a:tr>
              <a:tr h="466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09:00 – 09:45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6DC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C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C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C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45p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6DC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C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C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C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7.4 Merge &amp; Join · 7.5 Concatenate · 7.6 Data Transformation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6DC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C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C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C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Lý thuyết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6DC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C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C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C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66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09:45 – 10:00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6DC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C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C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C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15p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6DC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C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C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C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Giải lao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6DC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C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C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C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Nghỉ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6DC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C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C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C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7"/>
                    </a:solidFill>
                  </a:tcPr>
                </a:tc>
              </a:tr>
              <a:tr h="466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10:00 – 10:45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6DC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C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C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C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45p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6DC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C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C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C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7.7 Feature Engineering (trọng tâm) · 7.8–7.10 Tạo Feature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6DC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C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C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C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Lý thuyết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6DC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C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C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C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66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10:45 – 11:15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6DC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C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C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C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30p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6DC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C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C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C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7.11 Aggregation Feature · 7.12 Ứng dụng thực tế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6DC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C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C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C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Lý thuyết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6DC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C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C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C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7"/>
                    </a:solidFill>
                  </a:tcPr>
                </a:tc>
              </a:tr>
              <a:tr h="466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11:15 – 11:45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6DC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C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C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C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30p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6DC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C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C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C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Thực hành: Merge dữ liệu, tạo customer_features.csv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6DC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C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C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C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Thực hành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6DC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C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C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C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66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11:45 – 12:00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6DC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C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C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C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15p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6DC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C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C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C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Tóm tắt, hỏi đáp, đánh giá nhanh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6DC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C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C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C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Tổng kết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6DC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C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C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C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7"/>
                    </a:solidFill>
                  </a:tcPr>
                </a:tc>
              </a:tr>
            </a:tbl>
          </a:graphicData>
        </a:graphic>
      </p:graphicFrame>
      <p:sp>
        <p:nvSpPr>
          <p:cNvPr id="33" name="Google Shape;33;p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F5F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Bài 7. Tích hợp dữ liệu và Feature Engineering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11414455" y="651052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F5F5F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3"/>
          <p:cNvSpPr/>
          <p:nvPr/>
        </p:nvSpPr>
        <p:spPr>
          <a:xfrm>
            <a:off x="0" y="0"/>
            <a:ext cx="12191695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3"/>
          <p:cNvSpPr/>
          <p:nvPr/>
        </p:nvSpPr>
        <p:spPr>
          <a:xfrm flipH="1">
            <a:off x="8339328" y="0"/>
            <a:ext cx="640080" cy="210312"/>
          </a:xfrm>
          <a:prstGeom prst="parallelogram">
            <a:avLst>
              <a:gd fmla="val 25000" name="adj"/>
            </a:avLst>
          </a:prstGeom>
          <a:solidFill>
            <a:srgbClr val="8497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3"/>
          <p:cNvSpPr/>
          <p:nvPr/>
        </p:nvSpPr>
        <p:spPr>
          <a:xfrm flipH="1">
            <a:off x="8732520" y="0"/>
            <a:ext cx="969264" cy="1005840"/>
          </a:xfrm>
          <a:prstGeom prst="parallelogram">
            <a:avLst>
              <a:gd fmla="val 25000" name="adj"/>
            </a:avLst>
          </a:prstGeom>
          <a:solidFill>
            <a:srgbClr val="85B51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3"/>
          <p:cNvSpPr/>
          <p:nvPr/>
        </p:nvSpPr>
        <p:spPr>
          <a:xfrm flipH="1">
            <a:off x="9747504" y="0"/>
            <a:ext cx="1005840" cy="1005840"/>
          </a:xfrm>
          <a:prstGeom prst="parallelogram">
            <a:avLst>
              <a:gd fmla="val 25000" name="adj"/>
            </a:avLst>
          </a:prstGeom>
          <a:solidFill>
            <a:srgbClr val="0F3F6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3"/>
          <p:cNvSpPr/>
          <p:nvPr/>
        </p:nvSpPr>
        <p:spPr>
          <a:xfrm>
            <a:off x="530352" y="237744"/>
            <a:ext cx="97840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3F6F"/>
              </a:buClr>
              <a:buSzPts val="2100"/>
              <a:buFont typeface="Arial"/>
              <a:buNone/>
            </a:pPr>
            <a:r>
              <a:rPr b="1" lang="en-US" sz="21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Mục tiêu học tập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3"/>
          <p:cNvSpPr/>
          <p:nvPr/>
        </p:nvSpPr>
        <p:spPr>
          <a:xfrm>
            <a:off x="548640" y="969264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497A5"/>
              </a:buClr>
              <a:buSzPts val="1100"/>
              <a:buFont typeface="Arial"/>
              <a:buNone/>
            </a:pPr>
            <a:r>
              <a:rPr i="1" lang="en-US" sz="1100">
                <a:solidFill>
                  <a:srgbClr val="8497A5"/>
                </a:solidFill>
                <a:latin typeface="Arial"/>
                <a:ea typeface="Arial"/>
                <a:cs typeface="Arial"/>
                <a:sym typeface="Arial"/>
              </a:rPr>
              <a:t>Giới thiệu tổng quan bài học · Bài 07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3"/>
          <p:cNvSpPr/>
          <p:nvPr/>
        </p:nvSpPr>
        <p:spPr>
          <a:xfrm>
            <a:off x="640080" y="1371600"/>
            <a:ext cx="365760" cy="365760"/>
          </a:xfrm>
          <a:prstGeom prst="ellipse">
            <a:avLst/>
          </a:prstGeom>
          <a:solidFill>
            <a:srgbClr val="0F3F6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3"/>
          <p:cNvSpPr/>
          <p:nvPr/>
        </p:nvSpPr>
        <p:spPr>
          <a:xfrm>
            <a:off x="640080" y="137160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3"/>
          <p:cNvSpPr/>
          <p:nvPr/>
        </p:nvSpPr>
        <p:spPr>
          <a:xfrm>
            <a:off x="1170432" y="1325880"/>
            <a:ext cx="10332720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2A2A2A"/>
                </a:solidFill>
                <a:latin typeface="Arial"/>
                <a:ea typeface="Arial"/>
                <a:cs typeface="Arial"/>
                <a:sym typeface="Arial"/>
              </a:rPr>
              <a:t>Phân biệt được Data Cleaning và Feature Engineering trong pipeline dữ liệu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3"/>
          <p:cNvSpPr/>
          <p:nvPr/>
        </p:nvSpPr>
        <p:spPr>
          <a:xfrm>
            <a:off x="640080" y="1993392"/>
            <a:ext cx="365760" cy="365760"/>
          </a:xfrm>
          <a:prstGeom prst="ellipse">
            <a:avLst/>
          </a:prstGeom>
          <a:solidFill>
            <a:srgbClr val="0F3F6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3"/>
          <p:cNvSpPr/>
          <p:nvPr/>
        </p:nvSpPr>
        <p:spPr>
          <a:xfrm>
            <a:off x="640080" y="1993392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3"/>
          <p:cNvSpPr/>
          <p:nvPr/>
        </p:nvSpPr>
        <p:spPr>
          <a:xfrm>
            <a:off x="1170432" y="1947672"/>
            <a:ext cx="10332720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2A2A2A"/>
                </a:solidFill>
                <a:latin typeface="Arial"/>
                <a:ea typeface="Arial"/>
                <a:cs typeface="Arial"/>
                <a:sym typeface="Arial"/>
              </a:rPr>
              <a:t>Hiểu được khái niệm Primary Key, Foreign Key và vai trò trong tích hợp dữ liệu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3"/>
          <p:cNvSpPr/>
          <p:nvPr/>
        </p:nvSpPr>
        <p:spPr>
          <a:xfrm>
            <a:off x="640080" y="2615184"/>
            <a:ext cx="365760" cy="365760"/>
          </a:xfrm>
          <a:prstGeom prst="ellipse">
            <a:avLst/>
          </a:prstGeom>
          <a:solidFill>
            <a:srgbClr val="0F3F6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3"/>
          <p:cNvSpPr/>
          <p:nvPr/>
        </p:nvSpPr>
        <p:spPr>
          <a:xfrm>
            <a:off x="640080" y="2615184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3"/>
          <p:cNvSpPr/>
          <p:nvPr/>
        </p:nvSpPr>
        <p:spPr>
          <a:xfrm>
            <a:off x="1170432" y="2569464"/>
            <a:ext cx="10332720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2A2A2A"/>
                </a:solidFill>
                <a:latin typeface="Arial"/>
                <a:ea typeface="Arial"/>
                <a:cs typeface="Arial"/>
                <a:sym typeface="Arial"/>
              </a:rPr>
              <a:t>Sử dụng Merge/Join và Concatenate để kết hợp dữ liệu từ nhiều nguồn bằng Pandas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3"/>
          <p:cNvSpPr/>
          <p:nvPr/>
        </p:nvSpPr>
        <p:spPr>
          <a:xfrm>
            <a:off x="640080" y="3236976"/>
            <a:ext cx="365760" cy="365760"/>
          </a:xfrm>
          <a:prstGeom prst="ellipse">
            <a:avLst/>
          </a:prstGeom>
          <a:solidFill>
            <a:srgbClr val="0F3F6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3"/>
          <p:cNvSpPr/>
          <p:nvPr/>
        </p:nvSpPr>
        <p:spPr>
          <a:xfrm>
            <a:off x="640080" y="3236976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1170432" y="3191256"/>
            <a:ext cx="10332720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2A2A2A"/>
                </a:solidFill>
                <a:latin typeface="Arial"/>
                <a:ea typeface="Arial"/>
                <a:cs typeface="Arial"/>
                <a:sym typeface="Arial"/>
              </a:rPr>
              <a:t>Thực hiện các phép Data Transformation: Filter, GroupBy, Aggregate, Pivot, Apply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640080" y="3858768"/>
            <a:ext cx="365760" cy="365760"/>
          </a:xfrm>
          <a:prstGeom prst="ellipse">
            <a:avLst/>
          </a:prstGeom>
          <a:solidFill>
            <a:srgbClr val="0F3F6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3"/>
          <p:cNvSpPr/>
          <p:nvPr/>
        </p:nvSpPr>
        <p:spPr>
          <a:xfrm>
            <a:off x="640080" y="3858768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1170432" y="3813048"/>
            <a:ext cx="10332720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2A2A2A"/>
                </a:solidFill>
                <a:latin typeface="Arial"/>
                <a:ea typeface="Arial"/>
                <a:cs typeface="Arial"/>
                <a:sym typeface="Arial"/>
              </a:rPr>
              <a:t>Giải thích được Feature Engineering là gì và vì sao feature cần có ý nghĩa nghiệp vụ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640080" y="4480560"/>
            <a:ext cx="365760" cy="365760"/>
          </a:xfrm>
          <a:prstGeom prst="ellipse">
            <a:avLst/>
          </a:prstGeom>
          <a:solidFill>
            <a:srgbClr val="0F3F6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3"/>
          <p:cNvSpPr/>
          <p:nvPr/>
        </p:nvSpPr>
        <p:spPr>
          <a:xfrm>
            <a:off x="640080" y="448056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1170432" y="4434840"/>
            <a:ext cx="10332720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2A2A2A"/>
                </a:solidFill>
                <a:latin typeface="Arial"/>
                <a:ea typeface="Arial"/>
                <a:cs typeface="Arial"/>
                <a:sym typeface="Arial"/>
              </a:rPr>
              <a:t>Tạo được feature mới từ dữ liệu ngày tháng, dữ liệu số và dữ liệu phân loại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640080" y="5102352"/>
            <a:ext cx="365760" cy="365760"/>
          </a:xfrm>
          <a:prstGeom prst="ellipse">
            <a:avLst/>
          </a:prstGeom>
          <a:solidFill>
            <a:srgbClr val="0F3F6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3"/>
          <p:cNvSpPr/>
          <p:nvPr/>
        </p:nvSpPr>
        <p:spPr>
          <a:xfrm>
            <a:off x="640080" y="5102352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1170432" y="5056632"/>
            <a:ext cx="10332720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2A2A2A"/>
                </a:solidFill>
                <a:latin typeface="Arial"/>
                <a:ea typeface="Arial"/>
                <a:cs typeface="Arial"/>
                <a:sym typeface="Arial"/>
              </a:rPr>
              <a:t>Xây dựng được Aggregation Feature — biến dữ liệu giao dịch thành hồ sơ khách hàng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640080" y="5724144"/>
            <a:ext cx="365760" cy="365760"/>
          </a:xfrm>
          <a:prstGeom prst="ellipse">
            <a:avLst/>
          </a:prstGeom>
          <a:solidFill>
            <a:srgbClr val="0F3F6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3"/>
          <p:cNvSpPr/>
          <p:nvPr/>
        </p:nvSpPr>
        <p:spPr>
          <a:xfrm>
            <a:off x="640080" y="5724144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1170432" y="5678424"/>
            <a:ext cx="10332720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2A2A2A"/>
                </a:solidFill>
                <a:latin typeface="Arial"/>
                <a:ea typeface="Arial"/>
                <a:cs typeface="Arial"/>
                <a:sym typeface="Arial"/>
              </a:rPr>
              <a:t>Thực hành pipeline tích hợp và tạo đặc trưng hoàn chỉnh, xuất ra customer_features.csv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F5F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Bài 7. Tích hợp dữ liệu và Feature Engineering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11414455" y="651052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F5F5F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"/>
          <p:cNvSpPr/>
          <p:nvPr/>
        </p:nvSpPr>
        <p:spPr>
          <a:xfrm>
            <a:off x="0" y="0"/>
            <a:ext cx="12191695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4"/>
          <p:cNvSpPr/>
          <p:nvPr/>
        </p:nvSpPr>
        <p:spPr>
          <a:xfrm flipH="1">
            <a:off x="8339328" y="0"/>
            <a:ext cx="640080" cy="210312"/>
          </a:xfrm>
          <a:prstGeom prst="parallelogram">
            <a:avLst>
              <a:gd fmla="val 25000" name="adj"/>
            </a:avLst>
          </a:prstGeom>
          <a:solidFill>
            <a:srgbClr val="8497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4"/>
          <p:cNvSpPr/>
          <p:nvPr/>
        </p:nvSpPr>
        <p:spPr>
          <a:xfrm flipH="1">
            <a:off x="8732520" y="0"/>
            <a:ext cx="969264" cy="1005840"/>
          </a:xfrm>
          <a:prstGeom prst="parallelogram">
            <a:avLst>
              <a:gd fmla="val 25000" name="adj"/>
            </a:avLst>
          </a:prstGeom>
          <a:solidFill>
            <a:srgbClr val="85B51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4"/>
          <p:cNvSpPr/>
          <p:nvPr/>
        </p:nvSpPr>
        <p:spPr>
          <a:xfrm flipH="1">
            <a:off x="9747504" y="0"/>
            <a:ext cx="1005840" cy="1005840"/>
          </a:xfrm>
          <a:prstGeom prst="parallelogram">
            <a:avLst>
              <a:gd fmla="val 25000" name="adj"/>
            </a:avLst>
          </a:prstGeom>
          <a:solidFill>
            <a:srgbClr val="0F3F6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4"/>
          <p:cNvSpPr/>
          <p:nvPr/>
        </p:nvSpPr>
        <p:spPr>
          <a:xfrm>
            <a:off x="530352" y="237744"/>
            <a:ext cx="97840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3F6F"/>
              </a:buClr>
              <a:buSzPts val="2100"/>
              <a:buFont typeface="Arial"/>
              <a:buNone/>
            </a:pPr>
            <a:r>
              <a:rPr b="1" lang="en-US" sz="21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Lộ trình khóa học Big Data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548640" y="969264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497A5"/>
              </a:buClr>
              <a:buSzPts val="1100"/>
              <a:buFont typeface="Arial"/>
              <a:buNone/>
            </a:pPr>
            <a:r>
              <a:rPr i="1" lang="en-US" sz="1100">
                <a:solidFill>
                  <a:srgbClr val="8497A5"/>
                </a:solidFill>
                <a:latin typeface="Arial"/>
                <a:ea typeface="Arial"/>
                <a:cs typeface="Arial"/>
                <a:sym typeface="Arial"/>
              </a:rPr>
              <a:t>Giới thiệu tổng quan bài học · Bài 07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4"/>
          <p:cNvSpPr/>
          <p:nvPr/>
        </p:nvSpPr>
        <p:spPr>
          <a:xfrm>
            <a:off x="548640" y="1325880"/>
            <a:ext cx="11155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35266"/>
              </a:buClr>
              <a:buSzPts val="1150"/>
              <a:buFont typeface="Arial"/>
              <a:buNone/>
            </a:pPr>
            <a:r>
              <a:rPr i="1" lang="en-US" sz="115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Bài 7 phát triển tiếp trên chính customer_transactions_clean.csv đã tạo ra ở Bài 6.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548640" y="1783080"/>
            <a:ext cx="11155680" cy="566928"/>
          </a:xfrm>
          <a:prstGeom prst="roundRect">
            <a:avLst>
              <a:gd fmla="val 9677" name="adj"/>
            </a:avLst>
          </a:prstGeom>
          <a:solidFill>
            <a:srgbClr val="F0F4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4"/>
          <p:cNvSpPr/>
          <p:nvPr/>
        </p:nvSpPr>
        <p:spPr>
          <a:xfrm>
            <a:off x="777240" y="1783080"/>
            <a:ext cx="10058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3F6F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Bài 1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4"/>
          <p:cNvSpPr/>
          <p:nvPr/>
        </p:nvSpPr>
        <p:spPr>
          <a:xfrm>
            <a:off x="1828800" y="1783080"/>
            <a:ext cx="76809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Kiến trúc và Ứng dụng Big Data trong Công nghiệp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4"/>
          <p:cNvSpPr/>
          <p:nvPr/>
        </p:nvSpPr>
        <p:spPr>
          <a:xfrm>
            <a:off x="9601200" y="1783080"/>
            <a:ext cx="19202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F5F5F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Đã học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4"/>
          <p:cNvSpPr/>
          <p:nvPr/>
        </p:nvSpPr>
        <p:spPr>
          <a:xfrm>
            <a:off x="548640" y="2423160"/>
            <a:ext cx="11155680" cy="566928"/>
          </a:xfrm>
          <a:prstGeom prst="roundRect">
            <a:avLst>
              <a:gd fmla="val 9677" name="adj"/>
            </a:avLst>
          </a:prstGeom>
          <a:solidFill>
            <a:srgbClr val="F0F4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4"/>
          <p:cNvSpPr/>
          <p:nvPr/>
        </p:nvSpPr>
        <p:spPr>
          <a:xfrm>
            <a:off x="777240" y="2423160"/>
            <a:ext cx="10058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3F6F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Bài 2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4"/>
          <p:cNvSpPr/>
          <p:nvPr/>
        </p:nvSpPr>
        <p:spPr>
          <a:xfrm>
            <a:off x="1828800" y="2423160"/>
            <a:ext cx="76809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Kiến trúc hệ sinh thái Big Data và công nghệ lưu trữ dữ liệu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4"/>
          <p:cNvSpPr/>
          <p:nvPr/>
        </p:nvSpPr>
        <p:spPr>
          <a:xfrm>
            <a:off x="9601200" y="2423160"/>
            <a:ext cx="19202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F5F5F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Đã học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4"/>
          <p:cNvSpPr/>
          <p:nvPr/>
        </p:nvSpPr>
        <p:spPr>
          <a:xfrm>
            <a:off x="548640" y="3063240"/>
            <a:ext cx="11155680" cy="566928"/>
          </a:xfrm>
          <a:prstGeom prst="roundRect">
            <a:avLst>
              <a:gd fmla="val 9677" name="adj"/>
            </a:avLst>
          </a:prstGeom>
          <a:solidFill>
            <a:srgbClr val="F0F4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4"/>
          <p:cNvSpPr/>
          <p:nvPr/>
        </p:nvSpPr>
        <p:spPr>
          <a:xfrm>
            <a:off x="777240" y="3063240"/>
            <a:ext cx="10058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3F6F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Bài 3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1828800" y="3063240"/>
            <a:ext cx="76809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Xử lý, truy vấn, phân tích và trực quan hóa dữ liệu lớn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9601200" y="3063240"/>
            <a:ext cx="19202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F5F5F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Đã học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548640" y="3703320"/>
            <a:ext cx="11155680" cy="566928"/>
          </a:xfrm>
          <a:prstGeom prst="roundRect">
            <a:avLst>
              <a:gd fmla="val 9677" name="adj"/>
            </a:avLst>
          </a:prstGeom>
          <a:solidFill>
            <a:srgbClr val="F0F4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4"/>
          <p:cNvSpPr/>
          <p:nvPr/>
        </p:nvSpPr>
        <p:spPr>
          <a:xfrm>
            <a:off x="777240" y="3703320"/>
            <a:ext cx="10058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3F6F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Bài 4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1828800" y="3703320"/>
            <a:ext cx="76809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Cơ chế thực thi Hadoop và mô hình MapReduce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9601200" y="3703320"/>
            <a:ext cx="19202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F5F5F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Đã học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548640" y="4343400"/>
            <a:ext cx="11155680" cy="566928"/>
          </a:xfrm>
          <a:prstGeom prst="roundRect">
            <a:avLst>
              <a:gd fmla="val 9677" name="adj"/>
            </a:avLst>
          </a:prstGeom>
          <a:solidFill>
            <a:srgbClr val="F0F4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4"/>
          <p:cNvSpPr/>
          <p:nvPr/>
        </p:nvSpPr>
        <p:spPr>
          <a:xfrm>
            <a:off x="777240" y="4343400"/>
            <a:ext cx="10058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3F6F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Bài 5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4"/>
          <p:cNvSpPr/>
          <p:nvPr/>
        </p:nvSpPr>
        <p:spPr>
          <a:xfrm>
            <a:off x="1828800" y="4343400"/>
            <a:ext cx="76809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Apache Spark và xử lý dữ liệu phân tán với PySpark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9601200" y="4343400"/>
            <a:ext cx="19202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F5F5F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Đã học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548640" y="4983480"/>
            <a:ext cx="11155680" cy="566928"/>
          </a:xfrm>
          <a:prstGeom prst="roundRect">
            <a:avLst>
              <a:gd fmla="val 9677" name="adj"/>
            </a:avLst>
          </a:prstGeom>
          <a:solidFill>
            <a:srgbClr val="F0F4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4"/>
          <p:cNvSpPr/>
          <p:nvPr/>
        </p:nvSpPr>
        <p:spPr>
          <a:xfrm>
            <a:off x="777240" y="4983480"/>
            <a:ext cx="10058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3F6F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Bài 6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1828800" y="4983480"/>
            <a:ext cx="76809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 Wrangling và làm sạch dữ liệu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9601200" y="4983480"/>
            <a:ext cx="19202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F5F5F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Đã học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548640" y="5623560"/>
            <a:ext cx="11155680" cy="566928"/>
          </a:xfrm>
          <a:prstGeom prst="roundRect">
            <a:avLst>
              <a:gd fmla="val 9677" name="adj"/>
            </a:avLst>
          </a:prstGeom>
          <a:solidFill>
            <a:srgbClr val="0F3F6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4"/>
          <p:cNvSpPr/>
          <p:nvPr/>
        </p:nvSpPr>
        <p:spPr>
          <a:xfrm>
            <a:off x="777240" y="5623560"/>
            <a:ext cx="10058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Bài 7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1828800" y="5623560"/>
            <a:ext cx="76809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Tích hợp dữ liệu và Feature Engineering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4"/>
          <p:cNvSpPr/>
          <p:nvPr/>
        </p:nvSpPr>
        <p:spPr>
          <a:xfrm>
            <a:off x="9601200" y="5623560"/>
            <a:ext cx="19202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Hôm nay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F5F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Bài 7. Tích hợp dữ liệu và Feature Engineering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11414455" y="651052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F5F5F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"/>
          <p:cNvSpPr/>
          <p:nvPr/>
        </p:nvSpPr>
        <p:spPr>
          <a:xfrm>
            <a:off x="0" y="0"/>
            <a:ext cx="12191695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5"/>
          <p:cNvSpPr/>
          <p:nvPr/>
        </p:nvSpPr>
        <p:spPr>
          <a:xfrm flipH="1">
            <a:off x="8339328" y="0"/>
            <a:ext cx="640080" cy="210312"/>
          </a:xfrm>
          <a:prstGeom prst="parallelogram">
            <a:avLst>
              <a:gd fmla="val 25000" name="adj"/>
            </a:avLst>
          </a:prstGeom>
          <a:solidFill>
            <a:srgbClr val="8497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5"/>
          <p:cNvSpPr/>
          <p:nvPr/>
        </p:nvSpPr>
        <p:spPr>
          <a:xfrm flipH="1">
            <a:off x="8732520" y="0"/>
            <a:ext cx="969264" cy="1005840"/>
          </a:xfrm>
          <a:prstGeom prst="parallelogram">
            <a:avLst>
              <a:gd fmla="val 25000" name="adj"/>
            </a:avLst>
          </a:prstGeom>
          <a:solidFill>
            <a:srgbClr val="85B51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5"/>
          <p:cNvSpPr/>
          <p:nvPr/>
        </p:nvSpPr>
        <p:spPr>
          <a:xfrm flipH="1">
            <a:off x="9747504" y="0"/>
            <a:ext cx="1005840" cy="1005840"/>
          </a:xfrm>
          <a:prstGeom prst="parallelogram">
            <a:avLst>
              <a:gd fmla="val 25000" name="adj"/>
            </a:avLst>
          </a:prstGeom>
          <a:solidFill>
            <a:srgbClr val="0F3F6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5"/>
          <p:cNvSpPr/>
          <p:nvPr/>
        </p:nvSpPr>
        <p:spPr>
          <a:xfrm>
            <a:off x="658368" y="1371600"/>
            <a:ext cx="3200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5B518"/>
              </a:buClr>
              <a:buSzPts val="1900"/>
              <a:buFont typeface="Arial"/>
              <a:buNone/>
            </a:pPr>
            <a:r>
              <a:rPr b="1" lang="en-US" sz="1900">
                <a:solidFill>
                  <a:srgbClr val="85B518"/>
                </a:solidFill>
                <a:latin typeface="Arial"/>
                <a:ea typeface="Arial"/>
                <a:cs typeface="Arial"/>
                <a:sym typeface="Arial"/>
              </a:rPr>
              <a:t>PHẦN 7.1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5"/>
          <p:cNvSpPr/>
          <p:nvPr/>
        </p:nvSpPr>
        <p:spPr>
          <a:xfrm>
            <a:off x="658368" y="1965960"/>
            <a:ext cx="102412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3F6F"/>
              </a:buClr>
              <a:buSzPts val="3400"/>
              <a:buFont typeface="Arial"/>
              <a:buNone/>
            </a:pPr>
            <a:r>
              <a:rPr b="1" lang="en-US" sz="34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Từ dữ liệu sạch đến dữ liệu có giá trị</a:t>
            </a:r>
            <a:endParaRPr sz="3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5"/>
          <p:cNvSpPr/>
          <p:nvPr/>
        </p:nvSpPr>
        <p:spPr>
          <a:xfrm>
            <a:off x="685800" y="3246120"/>
            <a:ext cx="10012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35266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Data Cleaning làm dữ liệu đúng; Feature Engineering làm dữ liệu hữu ích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5"/>
          <p:cNvSpPr/>
          <p:nvPr/>
        </p:nvSpPr>
        <p:spPr>
          <a:xfrm>
            <a:off x="685800" y="4937760"/>
            <a:ext cx="5212080" cy="5029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5"/>
          <p:cNvSpPr/>
          <p:nvPr/>
        </p:nvSpPr>
        <p:spPr>
          <a:xfrm>
            <a:off x="6016752" y="4937760"/>
            <a:ext cx="1143000" cy="50292"/>
          </a:xfrm>
          <a:prstGeom prst="rect">
            <a:avLst/>
          </a:prstGeom>
          <a:solidFill>
            <a:srgbClr val="85B51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5"/>
          <p:cNvSpPr/>
          <p:nvPr/>
        </p:nvSpPr>
        <p:spPr>
          <a:xfrm>
            <a:off x="11414455" y="651052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F5F5F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"/>
          <p:cNvSpPr/>
          <p:nvPr/>
        </p:nvSpPr>
        <p:spPr>
          <a:xfrm>
            <a:off x="0" y="0"/>
            <a:ext cx="12191695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6"/>
          <p:cNvSpPr/>
          <p:nvPr/>
        </p:nvSpPr>
        <p:spPr>
          <a:xfrm flipH="1">
            <a:off x="8339328" y="0"/>
            <a:ext cx="640080" cy="210312"/>
          </a:xfrm>
          <a:prstGeom prst="parallelogram">
            <a:avLst>
              <a:gd fmla="val 25000" name="adj"/>
            </a:avLst>
          </a:prstGeom>
          <a:solidFill>
            <a:srgbClr val="8497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6"/>
          <p:cNvSpPr/>
          <p:nvPr/>
        </p:nvSpPr>
        <p:spPr>
          <a:xfrm flipH="1">
            <a:off x="8732520" y="0"/>
            <a:ext cx="969264" cy="1005840"/>
          </a:xfrm>
          <a:prstGeom prst="parallelogram">
            <a:avLst>
              <a:gd fmla="val 25000" name="adj"/>
            </a:avLst>
          </a:prstGeom>
          <a:solidFill>
            <a:srgbClr val="85B51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6"/>
          <p:cNvSpPr/>
          <p:nvPr/>
        </p:nvSpPr>
        <p:spPr>
          <a:xfrm flipH="1">
            <a:off x="9747504" y="0"/>
            <a:ext cx="1005840" cy="1005840"/>
          </a:xfrm>
          <a:prstGeom prst="parallelogram">
            <a:avLst>
              <a:gd fmla="val 25000" name="adj"/>
            </a:avLst>
          </a:prstGeom>
          <a:solidFill>
            <a:srgbClr val="0F3F6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6"/>
          <p:cNvSpPr/>
          <p:nvPr/>
        </p:nvSpPr>
        <p:spPr>
          <a:xfrm>
            <a:off x="530352" y="237744"/>
            <a:ext cx="97840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3F6F"/>
              </a:buClr>
              <a:buSzPts val="2100"/>
              <a:buFont typeface="Arial"/>
              <a:buNone/>
            </a:pPr>
            <a:r>
              <a:rPr b="1" lang="en-US" sz="21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Dữ liệu sạch — chưa đủ để phân tích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6"/>
          <p:cNvSpPr/>
          <p:nvPr/>
        </p:nvSpPr>
        <p:spPr>
          <a:xfrm>
            <a:off x="548640" y="969264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497A5"/>
              </a:buClr>
              <a:buSzPts val="1100"/>
              <a:buFont typeface="Arial"/>
              <a:buNone/>
            </a:pPr>
            <a:r>
              <a:rPr i="1" lang="en-US" sz="1100">
                <a:solidFill>
                  <a:srgbClr val="8497A5"/>
                </a:solidFill>
                <a:latin typeface="Arial"/>
                <a:ea typeface="Arial"/>
                <a:cs typeface="Arial"/>
                <a:sym typeface="Arial"/>
              </a:rPr>
              <a:t>7.1. Từ dữ liệu sạch đến dữ liệu có giá trị · Bài 07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6"/>
          <p:cNvSpPr/>
          <p:nvPr/>
        </p:nvSpPr>
        <p:spPr>
          <a:xfrm>
            <a:off x="3535528" y="1325880"/>
            <a:ext cx="5120640" cy="438912"/>
          </a:xfrm>
          <a:prstGeom prst="roundRect">
            <a:avLst>
              <a:gd fmla="val 12500" name="adj"/>
            </a:avLst>
          </a:prstGeom>
          <a:solidFill>
            <a:srgbClr val="0F3F6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6"/>
          <p:cNvSpPr/>
          <p:nvPr/>
        </p:nvSpPr>
        <p:spPr>
          <a:xfrm>
            <a:off x="3535528" y="1325880"/>
            <a:ext cx="51206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Arial"/>
              <a:buNone/>
            </a:pPr>
            <a:r>
              <a:rPr b="1" lang="en-US" sz="1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Dữ liệu sạch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6"/>
          <p:cNvSpPr/>
          <p:nvPr/>
        </p:nvSpPr>
        <p:spPr>
          <a:xfrm>
            <a:off x="8793328" y="1307592"/>
            <a:ext cx="1005840" cy="320040"/>
          </a:xfrm>
          <a:prstGeom prst="roundRect">
            <a:avLst>
              <a:gd fmla="val 48571" name="adj"/>
            </a:avLst>
          </a:prstGeom>
          <a:solidFill>
            <a:srgbClr val="C039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6"/>
          <p:cNvSpPr/>
          <p:nvPr/>
        </p:nvSpPr>
        <p:spPr>
          <a:xfrm>
            <a:off x="8793328" y="1307592"/>
            <a:ext cx="1005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Arial"/>
              <a:buNone/>
            </a:pPr>
            <a:r>
              <a:rPr b="1" lang="en-US" sz="9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Chưa đủ!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4" name="Google Shape;144;p6"/>
          <p:cNvCxnSpPr/>
          <p:nvPr/>
        </p:nvCxnSpPr>
        <p:spPr>
          <a:xfrm>
            <a:off x="6095848" y="1764792"/>
            <a:ext cx="0" cy="91440"/>
          </a:xfrm>
          <a:prstGeom prst="straightConnector1">
            <a:avLst/>
          </a:prstGeom>
          <a:noFill/>
          <a:ln cap="flat" cmpd="sng" w="15875">
            <a:solidFill>
              <a:srgbClr val="5F5F5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45" name="Google Shape;145;p6"/>
          <p:cNvSpPr/>
          <p:nvPr/>
        </p:nvSpPr>
        <p:spPr>
          <a:xfrm>
            <a:off x="3535528" y="1856232"/>
            <a:ext cx="5120640" cy="438912"/>
          </a:xfrm>
          <a:prstGeom prst="roundRect">
            <a:avLst>
              <a:gd fmla="val 12500" name="adj"/>
            </a:avLst>
          </a:prstGeom>
          <a:solidFill>
            <a:srgbClr val="0F3F6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6"/>
          <p:cNvSpPr/>
          <p:nvPr/>
        </p:nvSpPr>
        <p:spPr>
          <a:xfrm>
            <a:off x="3535528" y="1856232"/>
            <a:ext cx="51206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Arial"/>
              <a:buNone/>
            </a:pPr>
            <a:r>
              <a:rPr b="1" lang="en-US" sz="1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Tích hợp nhiều nguồn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7" name="Google Shape;147;p6"/>
          <p:cNvCxnSpPr/>
          <p:nvPr/>
        </p:nvCxnSpPr>
        <p:spPr>
          <a:xfrm>
            <a:off x="6095848" y="2295144"/>
            <a:ext cx="0" cy="91440"/>
          </a:xfrm>
          <a:prstGeom prst="straightConnector1">
            <a:avLst/>
          </a:prstGeom>
          <a:noFill/>
          <a:ln cap="flat" cmpd="sng" w="15875">
            <a:solidFill>
              <a:srgbClr val="5F5F5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48" name="Google Shape;148;p6"/>
          <p:cNvSpPr/>
          <p:nvPr/>
        </p:nvSpPr>
        <p:spPr>
          <a:xfrm>
            <a:off x="3535528" y="2386584"/>
            <a:ext cx="5120640" cy="438912"/>
          </a:xfrm>
          <a:prstGeom prst="roundRect">
            <a:avLst>
              <a:gd fmla="val 12500" name="adj"/>
            </a:avLst>
          </a:prstGeom>
          <a:solidFill>
            <a:srgbClr val="0F3F6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6"/>
          <p:cNvSpPr/>
          <p:nvPr/>
        </p:nvSpPr>
        <p:spPr>
          <a:xfrm>
            <a:off x="3535528" y="2386584"/>
            <a:ext cx="51206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Arial"/>
              <a:buNone/>
            </a:pPr>
            <a:r>
              <a:rPr b="1" lang="en-US" sz="1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Biến đổi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0" name="Google Shape;150;p6"/>
          <p:cNvCxnSpPr/>
          <p:nvPr/>
        </p:nvCxnSpPr>
        <p:spPr>
          <a:xfrm>
            <a:off x="6095848" y="2825496"/>
            <a:ext cx="0" cy="91440"/>
          </a:xfrm>
          <a:prstGeom prst="straightConnector1">
            <a:avLst/>
          </a:prstGeom>
          <a:noFill/>
          <a:ln cap="flat" cmpd="sng" w="15875">
            <a:solidFill>
              <a:srgbClr val="5F5F5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51" name="Google Shape;151;p6"/>
          <p:cNvSpPr/>
          <p:nvPr/>
        </p:nvSpPr>
        <p:spPr>
          <a:xfrm>
            <a:off x="3535528" y="2916936"/>
            <a:ext cx="5120640" cy="438912"/>
          </a:xfrm>
          <a:prstGeom prst="roundRect">
            <a:avLst>
              <a:gd fmla="val 12500" name="adj"/>
            </a:avLst>
          </a:prstGeom>
          <a:solidFill>
            <a:srgbClr val="0F3F6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6"/>
          <p:cNvSpPr/>
          <p:nvPr/>
        </p:nvSpPr>
        <p:spPr>
          <a:xfrm>
            <a:off x="3535528" y="2916936"/>
            <a:ext cx="51206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Arial"/>
              <a:buNone/>
            </a:pPr>
            <a:r>
              <a:rPr b="1" lang="en-US" sz="1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Tạo đặc trưng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3" name="Google Shape;153;p6"/>
          <p:cNvCxnSpPr/>
          <p:nvPr/>
        </p:nvCxnSpPr>
        <p:spPr>
          <a:xfrm>
            <a:off x="6095848" y="3355848"/>
            <a:ext cx="0" cy="91440"/>
          </a:xfrm>
          <a:prstGeom prst="straightConnector1">
            <a:avLst/>
          </a:prstGeom>
          <a:noFill/>
          <a:ln cap="flat" cmpd="sng" w="15875">
            <a:solidFill>
              <a:srgbClr val="5F5F5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54" name="Google Shape;154;p6"/>
          <p:cNvSpPr/>
          <p:nvPr/>
        </p:nvSpPr>
        <p:spPr>
          <a:xfrm>
            <a:off x="3535528" y="3447288"/>
            <a:ext cx="5120640" cy="438912"/>
          </a:xfrm>
          <a:prstGeom prst="roundRect">
            <a:avLst>
              <a:gd fmla="val 12500" name="adj"/>
            </a:avLst>
          </a:prstGeom>
          <a:solidFill>
            <a:srgbClr val="1F4EA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6"/>
          <p:cNvSpPr/>
          <p:nvPr/>
        </p:nvSpPr>
        <p:spPr>
          <a:xfrm>
            <a:off x="3535528" y="3447288"/>
            <a:ext cx="51206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Arial"/>
              <a:buNone/>
            </a:pPr>
            <a:r>
              <a:rPr b="1" lang="en-US" sz="1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Dataset phục vụ phân tích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6"/>
          <p:cNvSpPr/>
          <p:nvPr/>
        </p:nvSpPr>
        <p:spPr>
          <a:xfrm>
            <a:off x="640080" y="4343400"/>
            <a:ext cx="5349240" cy="1737360"/>
          </a:xfrm>
          <a:prstGeom prst="roundRect">
            <a:avLst>
              <a:gd fmla="val 6316" name="adj"/>
            </a:avLst>
          </a:prstGeom>
          <a:solidFill>
            <a:srgbClr val="E7EE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6"/>
          <p:cNvSpPr/>
          <p:nvPr/>
        </p:nvSpPr>
        <p:spPr>
          <a:xfrm>
            <a:off x="914400" y="4507992"/>
            <a:ext cx="4800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3F6F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Data Cleaning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6"/>
          <p:cNvSpPr/>
          <p:nvPr/>
        </p:nvSpPr>
        <p:spPr>
          <a:xfrm>
            <a:off x="914400" y="4937760"/>
            <a:ext cx="48006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35266"/>
              </a:buClr>
              <a:buSzPts val="1150"/>
              <a:buFont typeface="Arial"/>
              <a:buChar char="•"/>
            </a:pPr>
            <a:r>
              <a:rPr lang="en-US" sz="115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Làm dữ liệu đúng và nhất quán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35266"/>
              </a:buClr>
              <a:buSzPts val="1150"/>
              <a:buFont typeface="Arial"/>
              <a:buChar char="•"/>
            </a:pPr>
            <a:r>
              <a:rPr lang="en-US" sz="115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Sửa lỗi: thiếu, trùng, sai kiểu, sai định dạng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6"/>
          <p:cNvSpPr/>
          <p:nvPr/>
        </p:nvSpPr>
        <p:spPr>
          <a:xfrm>
            <a:off x="6492240" y="4343400"/>
            <a:ext cx="5349240" cy="1737360"/>
          </a:xfrm>
          <a:prstGeom prst="roundRect">
            <a:avLst>
              <a:gd fmla="val 6316" name="adj"/>
            </a:avLst>
          </a:prstGeom>
          <a:solidFill>
            <a:srgbClr val="E9F3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6"/>
          <p:cNvSpPr/>
          <p:nvPr/>
        </p:nvSpPr>
        <p:spPr>
          <a:xfrm>
            <a:off x="6766560" y="4507992"/>
            <a:ext cx="4800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3F6F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Feature Engineering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6"/>
          <p:cNvSpPr/>
          <p:nvPr/>
        </p:nvSpPr>
        <p:spPr>
          <a:xfrm>
            <a:off x="6766560" y="4937760"/>
            <a:ext cx="48006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35266"/>
              </a:buClr>
              <a:buSzPts val="1150"/>
              <a:buFont typeface="Arial"/>
              <a:buChar char="•"/>
            </a:pPr>
            <a:r>
              <a:rPr lang="en-US" sz="115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Làm dữ liệu hữu ích hơn cho phân tích/mô hình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35266"/>
              </a:buClr>
              <a:buSzPts val="1150"/>
              <a:buFont typeface="Arial"/>
              <a:buChar char="•"/>
            </a:pPr>
            <a:r>
              <a:rPr lang="en-US" sz="115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Tạo ra các biến mới mô tả tốt hơn đối tượng cần phân tích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F5F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Bài 7. Tích hợp dữ liệu và Feature Engineering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6"/>
          <p:cNvSpPr/>
          <p:nvPr/>
        </p:nvSpPr>
        <p:spPr>
          <a:xfrm>
            <a:off x="11414455" y="651052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F5F5F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7"/>
          <p:cNvSpPr/>
          <p:nvPr/>
        </p:nvSpPr>
        <p:spPr>
          <a:xfrm>
            <a:off x="0" y="0"/>
            <a:ext cx="12191695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7"/>
          <p:cNvSpPr/>
          <p:nvPr/>
        </p:nvSpPr>
        <p:spPr>
          <a:xfrm flipH="1">
            <a:off x="8339328" y="0"/>
            <a:ext cx="640080" cy="210312"/>
          </a:xfrm>
          <a:prstGeom prst="parallelogram">
            <a:avLst>
              <a:gd fmla="val 25000" name="adj"/>
            </a:avLst>
          </a:prstGeom>
          <a:solidFill>
            <a:srgbClr val="8497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7"/>
          <p:cNvSpPr/>
          <p:nvPr/>
        </p:nvSpPr>
        <p:spPr>
          <a:xfrm flipH="1">
            <a:off x="8732520" y="0"/>
            <a:ext cx="969264" cy="1005840"/>
          </a:xfrm>
          <a:prstGeom prst="parallelogram">
            <a:avLst>
              <a:gd fmla="val 25000" name="adj"/>
            </a:avLst>
          </a:prstGeom>
          <a:solidFill>
            <a:srgbClr val="85B51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7"/>
          <p:cNvSpPr/>
          <p:nvPr/>
        </p:nvSpPr>
        <p:spPr>
          <a:xfrm flipH="1">
            <a:off x="9747504" y="0"/>
            <a:ext cx="1005840" cy="1005840"/>
          </a:xfrm>
          <a:prstGeom prst="parallelogram">
            <a:avLst>
              <a:gd fmla="val 25000" name="adj"/>
            </a:avLst>
          </a:prstGeom>
          <a:solidFill>
            <a:srgbClr val="0F3F6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7"/>
          <p:cNvSpPr/>
          <p:nvPr/>
        </p:nvSpPr>
        <p:spPr>
          <a:xfrm>
            <a:off x="658368" y="1371600"/>
            <a:ext cx="3200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5B518"/>
              </a:buClr>
              <a:buSzPts val="1900"/>
              <a:buFont typeface="Arial"/>
              <a:buNone/>
            </a:pPr>
            <a:r>
              <a:rPr b="1" lang="en-US" sz="1900">
                <a:solidFill>
                  <a:srgbClr val="85B518"/>
                </a:solidFill>
                <a:latin typeface="Arial"/>
                <a:ea typeface="Arial"/>
                <a:cs typeface="Arial"/>
                <a:sym typeface="Arial"/>
              </a:rPr>
              <a:t>PHẦN 7.2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7"/>
          <p:cNvSpPr/>
          <p:nvPr/>
        </p:nvSpPr>
        <p:spPr>
          <a:xfrm>
            <a:off x="658368" y="1965960"/>
            <a:ext cx="102412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3F6F"/>
              </a:buClr>
              <a:buSzPts val="3400"/>
              <a:buFont typeface="Arial"/>
              <a:buNone/>
            </a:pPr>
            <a:r>
              <a:rPr b="1" lang="en-US" sz="34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Tích hợp dữ liệu là gì?</a:t>
            </a:r>
            <a:endParaRPr sz="3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7"/>
          <p:cNvSpPr/>
          <p:nvPr/>
        </p:nvSpPr>
        <p:spPr>
          <a:xfrm>
            <a:off x="685800" y="3246120"/>
            <a:ext cx="10012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35266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Hệ thống thực tế thường không có mọi thứ trong một bảng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7"/>
          <p:cNvSpPr/>
          <p:nvPr/>
        </p:nvSpPr>
        <p:spPr>
          <a:xfrm>
            <a:off x="685800" y="4937760"/>
            <a:ext cx="5212080" cy="5029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7"/>
          <p:cNvSpPr/>
          <p:nvPr/>
        </p:nvSpPr>
        <p:spPr>
          <a:xfrm>
            <a:off x="6016752" y="4937760"/>
            <a:ext cx="1143000" cy="50292"/>
          </a:xfrm>
          <a:prstGeom prst="rect">
            <a:avLst/>
          </a:prstGeom>
          <a:solidFill>
            <a:srgbClr val="85B51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7"/>
          <p:cNvSpPr/>
          <p:nvPr/>
        </p:nvSpPr>
        <p:spPr>
          <a:xfrm>
            <a:off x="11414455" y="651052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F5F5F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8"/>
          <p:cNvSpPr/>
          <p:nvPr/>
        </p:nvSpPr>
        <p:spPr>
          <a:xfrm>
            <a:off x="0" y="0"/>
            <a:ext cx="12191695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8"/>
          <p:cNvSpPr/>
          <p:nvPr/>
        </p:nvSpPr>
        <p:spPr>
          <a:xfrm flipH="1">
            <a:off x="8339328" y="0"/>
            <a:ext cx="640080" cy="210312"/>
          </a:xfrm>
          <a:prstGeom prst="parallelogram">
            <a:avLst>
              <a:gd fmla="val 25000" name="adj"/>
            </a:avLst>
          </a:prstGeom>
          <a:solidFill>
            <a:srgbClr val="8497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8"/>
          <p:cNvSpPr/>
          <p:nvPr/>
        </p:nvSpPr>
        <p:spPr>
          <a:xfrm flipH="1">
            <a:off x="8732520" y="0"/>
            <a:ext cx="969264" cy="1005840"/>
          </a:xfrm>
          <a:prstGeom prst="parallelogram">
            <a:avLst>
              <a:gd fmla="val 25000" name="adj"/>
            </a:avLst>
          </a:prstGeom>
          <a:solidFill>
            <a:srgbClr val="85B51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8"/>
          <p:cNvSpPr/>
          <p:nvPr/>
        </p:nvSpPr>
        <p:spPr>
          <a:xfrm flipH="1">
            <a:off x="9747504" y="0"/>
            <a:ext cx="1005840" cy="1005840"/>
          </a:xfrm>
          <a:prstGeom prst="parallelogram">
            <a:avLst>
              <a:gd fmla="val 25000" name="adj"/>
            </a:avLst>
          </a:prstGeom>
          <a:solidFill>
            <a:srgbClr val="0F3F6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8"/>
          <p:cNvSpPr/>
          <p:nvPr/>
        </p:nvSpPr>
        <p:spPr>
          <a:xfrm>
            <a:off x="530352" y="237744"/>
            <a:ext cx="97840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3F6F"/>
              </a:buClr>
              <a:buSzPts val="2100"/>
              <a:buFont typeface="Arial"/>
              <a:buNone/>
            </a:pPr>
            <a:r>
              <a:rPr b="1" lang="en-US" sz="21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Ví dụ: dữ liệu nằm rải rác trên nhiều bảng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8"/>
          <p:cNvSpPr/>
          <p:nvPr/>
        </p:nvSpPr>
        <p:spPr>
          <a:xfrm>
            <a:off x="548640" y="969264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497A5"/>
              </a:buClr>
              <a:buSzPts val="1100"/>
              <a:buFont typeface="Arial"/>
              <a:buNone/>
            </a:pPr>
            <a:r>
              <a:rPr i="1" lang="en-US" sz="1100">
                <a:solidFill>
                  <a:srgbClr val="8497A5"/>
                </a:solidFill>
                <a:latin typeface="Arial"/>
                <a:ea typeface="Arial"/>
                <a:cs typeface="Arial"/>
                <a:sym typeface="Arial"/>
              </a:rPr>
              <a:t>7.2. Tích hợp dữ liệu là gì? · Bài 07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8"/>
          <p:cNvSpPr/>
          <p:nvPr/>
        </p:nvSpPr>
        <p:spPr>
          <a:xfrm>
            <a:off x="548640" y="1325880"/>
            <a:ext cx="11155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35266"/>
              </a:buClr>
              <a:buSzPts val="1200"/>
              <a:buFont typeface="Arial"/>
              <a:buNone/>
            </a:pPr>
            <a:r>
              <a:rPr i="1" lang="en-US" sz="12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Hệ thống thực tế thường lưu dữ liệu tách rời theo từng nghiệp vụ — cần tích hợp lại để phân tích.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8"/>
          <p:cNvSpPr/>
          <p:nvPr/>
        </p:nvSpPr>
        <p:spPr>
          <a:xfrm>
            <a:off x="548640" y="1920240"/>
            <a:ext cx="3566160" cy="2221992"/>
          </a:xfrm>
          <a:prstGeom prst="roundRect">
            <a:avLst>
              <a:gd fmla="val 3292" name="adj"/>
            </a:avLst>
          </a:prstGeom>
          <a:solidFill>
            <a:srgbClr val="F0F4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8"/>
          <p:cNvSpPr/>
          <p:nvPr/>
        </p:nvSpPr>
        <p:spPr>
          <a:xfrm>
            <a:off x="548640" y="1920240"/>
            <a:ext cx="3566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3F6F"/>
              </a:buClr>
              <a:buSzPts val="1300"/>
              <a:buFont typeface="Consolas"/>
              <a:buNone/>
            </a:pPr>
            <a:r>
              <a:rPr b="1" lang="en-US" sz="1300">
                <a:solidFill>
                  <a:srgbClr val="0F3F6F"/>
                </a:solidFill>
                <a:latin typeface="Consolas"/>
                <a:ea typeface="Consolas"/>
                <a:cs typeface="Consolas"/>
                <a:sym typeface="Consolas"/>
              </a:rPr>
              <a:t>customers.csv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8"/>
          <p:cNvSpPr/>
          <p:nvPr/>
        </p:nvSpPr>
        <p:spPr>
          <a:xfrm>
            <a:off x="777240" y="2423160"/>
            <a:ext cx="3108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Consolas"/>
              <a:buNone/>
            </a:pPr>
            <a:r>
              <a:rPr lang="en-US" sz="105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• customer_id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8"/>
          <p:cNvSpPr/>
          <p:nvPr/>
        </p:nvSpPr>
        <p:spPr>
          <a:xfrm>
            <a:off x="777240" y="2788920"/>
            <a:ext cx="3108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Consolas"/>
              <a:buNone/>
            </a:pPr>
            <a:r>
              <a:rPr lang="en-US" sz="105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• name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8"/>
          <p:cNvSpPr/>
          <p:nvPr/>
        </p:nvSpPr>
        <p:spPr>
          <a:xfrm>
            <a:off x="777240" y="3154680"/>
            <a:ext cx="3108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Consolas"/>
              <a:buNone/>
            </a:pPr>
            <a:r>
              <a:rPr lang="en-US" sz="105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• age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8"/>
          <p:cNvSpPr/>
          <p:nvPr/>
        </p:nvSpPr>
        <p:spPr>
          <a:xfrm>
            <a:off x="777240" y="3520440"/>
            <a:ext cx="3108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Consolas"/>
              <a:buNone/>
            </a:pPr>
            <a:r>
              <a:rPr lang="en-US" sz="105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• city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8"/>
          <p:cNvSpPr/>
          <p:nvPr/>
        </p:nvSpPr>
        <p:spPr>
          <a:xfrm>
            <a:off x="4343400" y="1920240"/>
            <a:ext cx="3566160" cy="2606040"/>
          </a:xfrm>
          <a:prstGeom prst="roundRect">
            <a:avLst>
              <a:gd fmla="val 2807" name="adj"/>
            </a:avLst>
          </a:prstGeom>
          <a:solidFill>
            <a:srgbClr val="1F4EA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8"/>
          <p:cNvSpPr/>
          <p:nvPr/>
        </p:nvSpPr>
        <p:spPr>
          <a:xfrm>
            <a:off x="4343400" y="1920240"/>
            <a:ext cx="3566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onsolas"/>
              <a:buNone/>
            </a:pPr>
            <a:r>
              <a:rPr b="1" lang="en-US" sz="13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transactions.csv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8"/>
          <p:cNvSpPr/>
          <p:nvPr/>
        </p:nvSpPr>
        <p:spPr>
          <a:xfrm>
            <a:off x="4572000" y="2423160"/>
            <a:ext cx="3108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nsolas"/>
              <a:buNone/>
            </a:pPr>
            <a:r>
              <a:rPr lang="en-US" sz="10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• transaction_id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8"/>
          <p:cNvSpPr/>
          <p:nvPr/>
        </p:nvSpPr>
        <p:spPr>
          <a:xfrm>
            <a:off x="4572000" y="2788920"/>
            <a:ext cx="3108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nsolas"/>
              <a:buNone/>
            </a:pPr>
            <a:r>
              <a:rPr lang="en-US" sz="10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• customer_id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8"/>
          <p:cNvSpPr/>
          <p:nvPr/>
        </p:nvSpPr>
        <p:spPr>
          <a:xfrm>
            <a:off x="4572000" y="3154680"/>
            <a:ext cx="3108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nsolas"/>
              <a:buNone/>
            </a:pPr>
            <a:r>
              <a:rPr lang="en-US" sz="10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• date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8"/>
          <p:cNvSpPr/>
          <p:nvPr/>
        </p:nvSpPr>
        <p:spPr>
          <a:xfrm>
            <a:off x="4572000" y="3520440"/>
            <a:ext cx="3108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nsolas"/>
              <a:buNone/>
            </a:pPr>
            <a:r>
              <a:rPr lang="en-US" sz="10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• amount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8"/>
          <p:cNvSpPr/>
          <p:nvPr/>
        </p:nvSpPr>
        <p:spPr>
          <a:xfrm>
            <a:off x="4572000" y="3886200"/>
            <a:ext cx="3108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onsolas"/>
              <a:buNone/>
            </a:pPr>
            <a:r>
              <a:rPr lang="en-US" sz="10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• category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8"/>
          <p:cNvSpPr/>
          <p:nvPr/>
        </p:nvSpPr>
        <p:spPr>
          <a:xfrm>
            <a:off x="8138160" y="1920240"/>
            <a:ext cx="3566160" cy="1837944"/>
          </a:xfrm>
          <a:prstGeom prst="roundRect">
            <a:avLst>
              <a:gd fmla="val 3980" name="adj"/>
            </a:avLst>
          </a:prstGeom>
          <a:solidFill>
            <a:srgbClr val="F0F4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8"/>
          <p:cNvSpPr/>
          <p:nvPr/>
        </p:nvSpPr>
        <p:spPr>
          <a:xfrm>
            <a:off x="8138160" y="1920240"/>
            <a:ext cx="3566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3F6F"/>
              </a:buClr>
              <a:buSzPts val="1300"/>
              <a:buFont typeface="Consolas"/>
              <a:buNone/>
            </a:pPr>
            <a:r>
              <a:rPr b="1" lang="en-US" sz="1300">
                <a:solidFill>
                  <a:srgbClr val="0F3F6F"/>
                </a:solidFill>
                <a:latin typeface="Consolas"/>
                <a:ea typeface="Consolas"/>
                <a:cs typeface="Consolas"/>
                <a:sym typeface="Consolas"/>
              </a:rPr>
              <a:t>branches.csv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8"/>
          <p:cNvSpPr/>
          <p:nvPr/>
        </p:nvSpPr>
        <p:spPr>
          <a:xfrm>
            <a:off x="8366760" y="2423160"/>
            <a:ext cx="3108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Consolas"/>
              <a:buNone/>
            </a:pPr>
            <a:r>
              <a:rPr lang="en-US" sz="105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• branch_id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8"/>
          <p:cNvSpPr/>
          <p:nvPr/>
        </p:nvSpPr>
        <p:spPr>
          <a:xfrm>
            <a:off x="8366760" y="2788920"/>
            <a:ext cx="3108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Consolas"/>
              <a:buNone/>
            </a:pPr>
            <a:r>
              <a:rPr lang="en-US" sz="105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• branch_name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8"/>
          <p:cNvSpPr/>
          <p:nvPr/>
        </p:nvSpPr>
        <p:spPr>
          <a:xfrm>
            <a:off x="8366760" y="3154680"/>
            <a:ext cx="3108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Consolas"/>
              <a:buNone/>
            </a:pPr>
            <a:r>
              <a:rPr lang="en-US" sz="105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• region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F5F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Bài 7. Tích hợp dữ liệu và Feature Engineering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8"/>
          <p:cNvSpPr/>
          <p:nvPr/>
        </p:nvSpPr>
        <p:spPr>
          <a:xfrm>
            <a:off x="11414455" y="651052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F5F5F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9"/>
          <p:cNvSpPr/>
          <p:nvPr/>
        </p:nvSpPr>
        <p:spPr>
          <a:xfrm>
            <a:off x="0" y="0"/>
            <a:ext cx="12191695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9"/>
          <p:cNvSpPr/>
          <p:nvPr/>
        </p:nvSpPr>
        <p:spPr>
          <a:xfrm flipH="1">
            <a:off x="8339328" y="0"/>
            <a:ext cx="640080" cy="210312"/>
          </a:xfrm>
          <a:prstGeom prst="parallelogram">
            <a:avLst>
              <a:gd fmla="val 25000" name="adj"/>
            </a:avLst>
          </a:prstGeom>
          <a:solidFill>
            <a:srgbClr val="8497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9"/>
          <p:cNvSpPr/>
          <p:nvPr/>
        </p:nvSpPr>
        <p:spPr>
          <a:xfrm flipH="1">
            <a:off x="8732520" y="0"/>
            <a:ext cx="969264" cy="1005840"/>
          </a:xfrm>
          <a:prstGeom prst="parallelogram">
            <a:avLst>
              <a:gd fmla="val 25000" name="adj"/>
            </a:avLst>
          </a:prstGeom>
          <a:solidFill>
            <a:srgbClr val="85B51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9"/>
          <p:cNvSpPr/>
          <p:nvPr/>
        </p:nvSpPr>
        <p:spPr>
          <a:xfrm flipH="1">
            <a:off x="9747504" y="0"/>
            <a:ext cx="1005840" cy="1005840"/>
          </a:xfrm>
          <a:prstGeom prst="parallelogram">
            <a:avLst>
              <a:gd fmla="val 25000" name="adj"/>
            </a:avLst>
          </a:prstGeom>
          <a:solidFill>
            <a:srgbClr val="0F3F6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9"/>
          <p:cNvSpPr/>
          <p:nvPr/>
        </p:nvSpPr>
        <p:spPr>
          <a:xfrm>
            <a:off x="658368" y="1371600"/>
            <a:ext cx="3200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5B518"/>
              </a:buClr>
              <a:buSzPts val="1900"/>
              <a:buFont typeface="Arial"/>
              <a:buNone/>
            </a:pPr>
            <a:r>
              <a:rPr b="1" lang="en-US" sz="1900">
                <a:solidFill>
                  <a:srgbClr val="85B518"/>
                </a:solidFill>
                <a:latin typeface="Arial"/>
                <a:ea typeface="Arial"/>
                <a:cs typeface="Arial"/>
                <a:sym typeface="Arial"/>
              </a:rPr>
              <a:t>PHẦN 7.3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9"/>
          <p:cNvSpPr/>
          <p:nvPr/>
        </p:nvSpPr>
        <p:spPr>
          <a:xfrm>
            <a:off x="658368" y="1965960"/>
            <a:ext cx="102412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3F6F"/>
              </a:buClr>
              <a:buSzPts val="3400"/>
              <a:buFont typeface="Arial"/>
              <a:buNone/>
            </a:pPr>
            <a:r>
              <a:rPr b="1" lang="en-US" sz="34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Khái niệm khóa</a:t>
            </a:r>
            <a:endParaRPr sz="3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9"/>
          <p:cNvSpPr/>
          <p:nvPr/>
        </p:nvSpPr>
        <p:spPr>
          <a:xfrm>
            <a:off x="685800" y="3246120"/>
            <a:ext cx="10012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35266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Primary Key, Foreign Key và Unique Key — nền tảng chuẩn bị cho SQL/database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9"/>
          <p:cNvSpPr/>
          <p:nvPr/>
        </p:nvSpPr>
        <p:spPr>
          <a:xfrm>
            <a:off x="685800" y="4937760"/>
            <a:ext cx="5212080" cy="5029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9"/>
          <p:cNvSpPr/>
          <p:nvPr/>
        </p:nvSpPr>
        <p:spPr>
          <a:xfrm>
            <a:off x="6016752" y="4937760"/>
            <a:ext cx="1143000" cy="50292"/>
          </a:xfrm>
          <a:prstGeom prst="rect">
            <a:avLst/>
          </a:prstGeom>
          <a:solidFill>
            <a:srgbClr val="85B51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9"/>
          <p:cNvSpPr/>
          <p:nvPr/>
        </p:nvSpPr>
        <p:spPr>
          <a:xfrm>
            <a:off x="11414455" y="651052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F5F5F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0"/>
          <p:cNvSpPr/>
          <p:nvPr/>
        </p:nvSpPr>
        <p:spPr>
          <a:xfrm>
            <a:off x="0" y="0"/>
            <a:ext cx="12191695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0"/>
          <p:cNvSpPr/>
          <p:nvPr/>
        </p:nvSpPr>
        <p:spPr>
          <a:xfrm flipH="1">
            <a:off x="8339328" y="0"/>
            <a:ext cx="640080" cy="210312"/>
          </a:xfrm>
          <a:prstGeom prst="parallelogram">
            <a:avLst>
              <a:gd fmla="val 25000" name="adj"/>
            </a:avLst>
          </a:prstGeom>
          <a:solidFill>
            <a:srgbClr val="8497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0"/>
          <p:cNvSpPr/>
          <p:nvPr/>
        </p:nvSpPr>
        <p:spPr>
          <a:xfrm flipH="1">
            <a:off x="8732520" y="0"/>
            <a:ext cx="969264" cy="1005840"/>
          </a:xfrm>
          <a:prstGeom prst="parallelogram">
            <a:avLst>
              <a:gd fmla="val 25000" name="adj"/>
            </a:avLst>
          </a:prstGeom>
          <a:solidFill>
            <a:srgbClr val="85B51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0"/>
          <p:cNvSpPr/>
          <p:nvPr/>
        </p:nvSpPr>
        <p:spPr>
          <a:xfrm flipH="1">
            <a:off x="9747504" y="0"/>
            <a:ext cx="1005840" cy="1005840"/>
          </a:xfrm>
          <a:prstGeom prst="parallelogram">
            <a:avLst>
              <a:gd fmla="val 25000" name="adj"/>
            </a:avLst>
          </a:prstGeom>
          <a:solidFill>
            <a:srgbClr val="0F3F6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0"/>
          <p:cNvSpPr/>
          <p:nvPr/>
        </p:nvSpPr>
        <p:spPr>
          <a:xfrm>
            <a:off x="530352" y="237744"/>
            <a:ext cx="97840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3F6F"/>
              </a:buClr>
              <a:buSzPts val="2100"/>
              <a:buFont typeface="Arial"/>
              <a:buNone/>
            </a:pPr>
            <a:r>
              <a:rPr b="1" lang="en-US" sz="21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Primary Key, Foreign Key và Unique Key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0"/>
          <p:cNvSpPr/>
          <p:nvPr/>
        </p:nvSpPr>
        <p:spPr>
          <a:xfrm>
            <a:off x="548640" y="969264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497A5"/>
              </a:buClr>
              <a:buSzPts val="1100"/>
              <a:buFont typeface="Arial"/>
              <a:buNone/>
            </a:pPr>
            <a:r>
              <a:rPr i="1" lang="en-US" sz="1100">
                <a:solidFill>
                  <a:srgbClr val="8497A5"/>
                </a:solidFill>
                <a:latin typeface="Arial"/>
                <a:ea typeface="Arial"/>
                <a:cs typeface="Arial"/>
                <a:sym typeface="Arial"/>
              </a:rPr>
              <a:t>7.3. Khái niệm khóa · Bài 07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0"/>
          <p:cNvSpPr/>
          <p:nvPr/>
        </p:nvSpPr>
        <p:spPr>
          <a:xfrm>
            <a:off x="548640" y="1371600"/>
            <a:ext cx="3566160" cy="1463040"/>
          </a:xfrm>
          <a:prstGeom prst="roundRect">
            <a:avLst>
              <a:gd fmla="val 5000" name="adj"/>
            </a:avLst>
          </a:prstGeom>
          <a:solidFill>
            <a:srgbClr val="E7EE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0"/>
          <p:cNvSpPr/>
          <p:nvPr/>
        </p:nvSpPr>
        <p:spPr>
          <a:xfrm>
            <a:off x="731520" y="1508760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3F6F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Primary Key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0"/>
          <p:cNvSpPr/>
          <p:nvPr/>
        </p:nvSpPr>
        <p:spPr>
          <a:xfrm>
            <a:off x="731520" y="1920240"/>
            <a:ext cx="32004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35266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Cột (hoặc tổ hợp cột) xác định duy nhất mỗi dòng trong bảng, ví dụ customer_id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0"/>
          <p:cNvSpPr/>
          <p:nvPr/>
        </p:nvSpPr>
        <p:spPr>
          <a:xfrm>
            <a:off x="4343400" y="1371600"/>
            <a:ext cx="3566160" cy="1463040"/>
          </a:xfrm>
          <a:prstGeom prst="roundRect">
            <a:avLst>
              <a:gd fmla="val 5000" name="adj"/>
            </a:avLst>
          </a:prstGeom>
          <a:solidFill>
            <a:srgbClr val="E7EE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0"/>
          <p:cNvSpPr/>
          <p:nvPr/>
        </p:nvSpPr>
        <p:spPr>
          <a:xfrm>
            <a:off x="4526280" y="1508760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3F6F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Foreign Key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0"/>
          <p:cNvSpPr/>
          <p:nvPr/>
        </p:nvSpPr>
        <p:spPr>
          <a:xfrm>
            <a:off x="4526280" y="1920240"/>
            <a:ext cx="32004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35266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Cột trong một bảng tham chiếu đến Primary Key của bảng khác, dùng để liên kết dữ liệu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0"/>
          <p:cNvSpPr/>
          <p:nvPr/>
        </p:nvSpPr>
        <p:spPr>
          <a:xfrm>
            <a:off x="8138160" y="1371600"/>
            <a:ext cx="3566160" cy="1463040"/>
          </a:xfrm>
          <a:prstGeom prst="roundRect">
            <a:avLst>
              <a:gd fmla="val 5000" name="adj"/>
            </a:avLst>
          </a:prstGeom>
          <a:solidFill>
            <a:srgbClr val="E7EE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0"/>
          <p:cNvSpPr/>
          <p:nvPr/>
        </p:nvSpPr>
        <p:spPr>
          <a:xfrm>
            <a:off x="8321040" y="1508760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3F6F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Unique Key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0"/>
          <p:cNvSpPr/>
          <p:nvPr/>
        </p:nvSpPr>
        <p:spPr>
          <a:xfrm>
            <a:off x="8321040" y="1920240"/>
            <a:ext cx="32004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35266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Đảm bảo giá trị trong cột không trùng lặp, nhưng không nhất thiết là khóa chính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0"/>
          <p:cNvSpPr/>
          <p:nvPr/>
        </p:nvSpPr>
        <p:spPr>
          <a:xfrm>
            <a:off x="2163928" y="3246120"/>
            <a:ext cx="3108960" cy="640080"/>
          </a:xfrm>
          <a:prstGeom prst="roundRect">
            <a:avLst>
              <a:gd fmla="val 8571" name="adj"/>
            </a:avLst>
          </a:prstGeom>
          <a:solidFill>
            <a:srgbClr val="0F3F6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0"/>
          <p:cNvSpPr/>
          <p:nvPr/>
        </p:nvSpPr>
        <p:spPr>
          <a:xfrm>
            <a:off x="2163928" y="3246120"/>
            <a:ext cx="3108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"/>
              <a:buNone/>
            </a:pPr>
            <a:r>
              <a:rPr b="1" lang="en-US" sz="11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CUSTOMER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"/>
              <a:buNone/>
            </a:pPr>
            <a:r>
              <a:rPr b="1" lang="en-US" sz="11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customer_id (PK)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0"/>
          <p:cNvSpPr/>
          <p:nvPr/>
        </p:nvSpPr>
        <p:spPr>
          <a:xfrm>
            <a:off x="6918808" y="3246120"/>
            <a:ext cx="3108960" cy="640080"/>
          </a:xfrm>
          <a:prstGeom prst="roundRect">
            <a:avLst>
              <a:gd fmla="val 8571" name="adj"/>
            </a:avLst>
          </a:prstGeom>
          <a:solidFill>
            <a:srgbClr val="1F4EA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0"/>
          <p:cNvSpPr/>
          <p:nvPr/>
        </p:nvSpPr>
        <p:spPr>
          <a:xfrm>
            <a:off x="6918808" y="3246120"/>
            <a:ext cx="3108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"/>
              <a:buNone/>
            </a:pPr>
            <a:r>
              <a:rPr b="1" lang="en-US" sz="11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TRANSACTION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"/>
              <a:buNone/>
            </a:pPr>
            <a:r>
              <a:rPr b="1" lang="en-US" sz="11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customer_id (FK)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0" name="Google Shape;250;p10"/>
          <p:cNvCxnSpPr/>
          <p:nvPr/>
        </p:nvCxnSpPr>
        <p:spPr>
          <a:xfrm>
            <a:off x="5272888" y="3566160"/>
            <a:ext cx="1645920" cy="0"/>
          </a:xfrm>
          <a:prstGeom prst="straightConnector1">
            <a:avLst/>
          </a:prstGeom>
          <a:noFill/>
          <a:ln cap="flat" cmpd="sng" w="19050">
            <a:solidFill>
              <a:srgbClr val="5F5F5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51" name="Google Shape;251;p10"/>
          <p:cNvSpPr/>
          <p:nvPr/>
        </p:nvSpPr>
        <p:spPr>
          <a:xfrm>
            <a:off x="5638648" y="2898648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3F6F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1 : 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0"/>
          <p:cNvSpPr/>
          <p:nvPr/>
        </p:nvSpPr>
        <p:spPr>
          <a:xfrm>
            <a:off x="914400" y="4160520"/>
            <a:ext cx="10332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35266"/>
              </a:buClr>
              <a:buSzPts val="1150"/>
              <a:buFont typeface="Arial"/>
              <a:buNone/>
            </a:pPr>
            <a:r>
              <a:rPr i="1" lang="en-US" sz="115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Một khách hàng (CUSTOMER) có thể có nhiều giao dịch (TRANSACTION) — quan hệ 1 : N thông qua customer_id.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0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F5F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Bài 7. Tích hợp dữ liệu và Feature Engineering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0"/>
          <p:cNvSpPr/>
          <p:nvPr/>
        </p:nvSpPr>
        <p:spPr>
          <a:xfrm>
            <a:off x="11414455" y="651052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F5F5F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1"/>
          <p:cNvSpPr/>
          <p:nvPr/>
        </p:nvSpPr>
        <p:spPr>
          <a:xfrm>
            <a:off x="0" y="0"/>
            <a:ext cx="12191695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1"/>
          <p:cNvSpPr/>
          <p:nvPr/>
        </p:nvSpPr>
        <p:spPr>
          <a:xfrm flipH="1">
            <a:off x="8339328" y="0"/>
            <a:ext cx="640080" cy="210312"/>
          </a:xfrm>
          <a:prstGeom prst="parallelogram">
            <a:avLst>
              <a:gd fmla="val 25000" name="adj"/>
            </a:avLst>
          </a:prstGeom>
          <a:solidFill>
            <a:srgbClr val="8497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1"/>
          <p:cNvSpPr/>
          <p:nvPr/>
        </p:nvSpPr>
        <p:spPr>
          <a:xfrm flipH="1">
            <a:off x="8732520" y="0"/>
            <a:ext cx="969264" cy="1005840"/>
          </a:xfrm>
          <a:prstGeom prst="parallelogram">
            <a:avLst>
              <a:gd fmla="val 25000" name="adj"/>
            </a:avLst>
          </a:prstGeom>
          <a:solidFill>
            <a:srgbClr val="85B51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1"/>
          <p:cNvSpPr/>
          <p:nvPr/>
        </p:nvSpPr>
        <p:spPr>
          <a:xfrm flipH="1">
            <a:off x="9747504" y="0"/>
            <a:ext cx="1005840" cy="1005840"/>
          </a:xfrm>
          <a:prstGeom prst="parallelogram">
            <a:avLst>
              <a:gd fmla="val 25000" name="adj"/>
            </a:avLst>
          </a:prstGeom>
          <a:solidFill>
            <a:srgbClr val="0F3F6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1"/>
          <p:cNvSpPr/>
          <p:nvPr/>
        </p:nvSpPr>
        <p:spPr>
          <a:xfrm>
            <a:off x="658368" y="1371600"/>
            <a:ext cx="3200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5B518"/>
              </a:buClr>
              <a:buSzPts val="1900"/>
              <a:buFont typeface="Arial"/>
              <a:buNone/>
            </a:pPr>
            <a:r>
              <a:rPr b="1" lang="en-US" sz="1900">
                <a:solidFill>
                  <a:srgbClr val="85B518"/>
                </a:solidFill>
                <a:latin typeface="Arial"/>
                <a:ea typeface="Arial"/>
                <a:cs typeface="Arial"/>
                <a:sym typeface="Arial"/>
              </a:rPr>
              <a:t>PHẦN 7.4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1"/>
          <p:cNvSpPr/>
          <p:nvPr/>
        </p:nvSpPr>
        <p:spPr>
          <a:xfrm>
            <a:off x="658368" y="1965960"/>
            <a:ext cx="102412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3F6F"/>
              </a:buClr>
              <a:buSzPts val="3400"/>
              <a:buFont typeface="Arial"/>
              <a:buNone/>
            </a:pPr>
            <a:r>
              <a:rPr b="1" lang="en-US" sz="34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Merge và Join với Pandas</a:t>
            </a:r>
            <a:endParaRPr sz="3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1"/>
          <p:cNvSpPr/>
          <p:nvPr/>
        </p:nvSpPr>
        <p:spPr>
          <a:xfrm>
            <a:off x="685800" y="3246120"/>
            <a:ext cx="10012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35266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Inner, Left, Right và Outer Join — minh họa bằng Venn diagram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1"/>
          <p:cNvSpPr/>
          <p:nvPr/>
        </p:nvSpPr>
        <p:spPr>
          <a:xfrm>
            <a:off x="685800" y="4937760"/>
            <a:ext cx="5212080" cy="5029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1"/>
          <p:cNvSpPr/>
          <p:nvPr/>
        </p:nvSpPr>
        <p:spPr>
          <a:xfrm>
            <a:off x="6016752" y="4937760"/>
            <a:ext cx="1143000" cy="50292"/>
          </a:xfrm>
          <a:prstGeom prst="rect">
            <a:avLst/>
          </a:prstGeom>
          <a:solidFill>
            <a:srgbClr val="85B51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1"/>
          <p:cNvSpPr/>
          <p:nvPr/>
        </p:nvSpPr>
        <p:spPr>
          <a:xfrm>
            <a:off x="11414455" y="651052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F5F5F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2"/>
          <p:cNvSpPr/>
          <p:nvPr/>
        </p:nvSpPr>
        <p:spPr>
          <a:xfrm>
            <a:off x="0" y="0"/>
            <a:ext cx="12191695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2"/>
          <p:cNvSpPr/>
          <p:nvPr/>
        </p:nvSpPr>
        <p:spPr>
          <a:xfrm flipH="1">
            <a:off x="8339328" y="0"/>
            <a:ext cx="640080" cy="210312"/>
          </a:xfrm>
          <a:prstGeom prst="parallelogram">
            <a:avLst>
              <a:gd fmla="val 25000" name="adj"/>
            </a:avLst>
          </a:prstGeom>
          <a:solidFill>
            <a:srgbClr val="8497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2"/>
          <p:cNvSpPr/>
          <p:nvPr/>
        </p:nvSpPr>
        <p:spPr>
          <a:xfrm flipH="1">
            <a:off x="8732520" y="0"/>
            <a:ext cx="969264" cy="1005840"/>
          </a:xfrm>
          <a:prstGeom prst="parallelogram">
            <a:avLst>
              <a:gd fmla="val 25000" name="adj"/>
            </a:avLst>
          </a:prstGeom>
          <a:solidFill>
            <a:srgbClr val="85B51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2"/>
          <p:cNvSpPr/>
          <p:nvPr/>
        </p:nvSpPr>
        <p:spPr>
          <a:xfrm flipH="1">
            <a:off x="9747504" y="0"/>
            <a:ext cx="1005840" cy="1005840"/>
          </a:xfrm>
          <a:prstGeom prst="parallelogram">
            <a:avLst>
              <a:gd fmla="val 25000" name="adj"/>
            </a:avLst>
          </a:prstGeom>
          <a:solidFill>
            <a:srgbClr val="0F3F6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2"/>
          <p:cNvSpPr/>
          <p:nvPr/>
        </p:nvSpPr>
        <p:spPr>
          <a:xfrm>
            <a:off x="530352" y="237744"/>
            <a:ext cx="97840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3F6F"/>
              </a:buClr>
              <a:buSzPts val="2100"/>
              <a:buFont typeface="Arial"/>
              <a:buNone/>
            </a:pPr>
            <a:r>
              <a:rPr b="1" lang="en-US" sz="21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Merge dữ liệu với Pandas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2"/>
          <p:cNvSpPr/>
          <p:nvPr/>
        </p:nvSpPr>
        <p:spPr>
          <a:xfrm>
            <a:off x="548640" y="969264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497A5"/>
              </a:buClr>
              <a:buSzPts val="1100"/>
              <a:buFont typeface="Arial"/>
              <a:buNone/>
            </a:pPr>
            <a:r>
              <a:rPr i="1" lang="en-US" sz="1100">
                <a:solidFill>
                  <a:srgbClr val="8497A5"/>
                </a:solidFill>
                <a:latin typeface="Arial"/>
                <a:ea typeface="Arial"/>
                <a:cs typeface="Arial"/>
                <a:sym typeface="Arial"/>
              </a:rPr>
              <a:t>7.4. Merge và Join với Pandas · Bài 07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2"/>
          <p:cNvSpPr/>
          <p:nvPr/>
        </p:nvSpPr>
        <p:spPr>
          <a:xfrm>
            <a:off x="548640" y="1298448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3F6F"/>
              </a:buClr>
              <a:buSzPts val="1250"/>
              <a:buFont typeface="Arial"/>
              <a:buNone/>
            </a:pPr>
            <a:r>
              <a:rPr b="1" lang="en-US" sz="125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Merge theo khóa chung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2"/>
          <p:cNvSpPr/>
          <p:nvPr/>
        </p:nvSpPr>
        <p:spPr>
          <a:xfrm>
            <a:off x="548640" y="1645920"/>
            <a:ext cx="11109960" cy="1051560"/>
          </a:xfrm>
          <a:prstGeom prst="roundRect">
            <a:avLst>
              <a:gd fmla="val 5217" name="adj"/>
            </a:avLst>
          </a:prstGeom>
          <a:solidFill>
            <a:srgbClr val="1B2A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2"/>
          <p:cNvSpPr/>
          <p:nvPr/>
        </p:nvSpPr>
        <p:spPr>
          <a:xfrm>
            <a:off x="749808" y="1755648"/>
            <a:ext cx="10707624" cy="8321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8EEF5"/>
              </a:buClr>
              <a:buSzPts val="1100"/>
              <a:buFont typeface="Consolas"/>
              <a:buNone/>
            </a:pPr>
            <a:r>
              <a:rPr lang="en-US" sz="1100">
                <a:solidFill>
                  <a:srgbClr val="E8EEF5"/>
                </a:solidFill>
                <a:latin typeface="Consolas"/>
                <a:ea typeface="Consolas"/>
                <a:cs typeface="Consolas"/>
                <a:sym typeface="Consolas"/>
              </a:rPr>
              <a:t>df = transactions.merge(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8EEF5"/>
              </a:buClr>
              <a:buSzPts val="1100"/>
              <a:buFont typeface="Consolas"/>
              <a:buNone/>
            </a:pPr>
            <a:r>
              <a:rPr lang="en-US" sz="1100">
                <a:solidFill>
                  <a:srgbClr val="E8EEF5"/>
                </a:solidFill>
                <a:latin typeface="Consolas"/>
                <a:ea typeface="Consolas"/>
                <a:cs typeface="Consolas"/>
                <a:sym typeface="Consolas"/>
              </a:rPr>
              <a:t>    customers,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8EEF5"/>
              </a:buClr>
              <a:buSzPts val="1100"/>
              <a:buFont typeface="Consolas"/>
              <a:buNone/>
            </a:pPr>
            <a:r>
              <a:rPr lang="en-US" sz="1100">
                <a:solidFill>
                  <a:srgbClr val="E8EEF5"/>
                </a:solidFill>
                <a:latin typeface="Consolas"/>
                <a:ea typeface="Consolas"/>
                <a:cs typeface="Consolas"/>
                <a:sym typeface="Consolas"/>
              </a:rPr>
              <a:t>    on="customer_id",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8EEF5"/>
              </a:buClr>
              <a:buSzPts val="1100"/>
              <a:buFont typeface="Consolas"/>
              <a:buNone/>
            </a:pPr>
            <a:r>
              <a:rPr lang="en-US" sz="1100">
                <a:solidFill>
                  <a:srgbClr val="E8EEF5"/>
                </a:solidFill>
                <a:latin typeface="Consolas"/>
                <a:ea typeface="Consolas"/>
                <a:cs typeface="Consolas"/>
                <a:sym typeface="Consolas"/>
              </a:rPr>
              <a:t>    how="left"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8EEF5"/>
              </a:buClr>
              <a:buSzPts val="1100"/>
              <a:buFont typeface="Consolas"/>
              <a:buNone/>
            </a:pPr>
            <a:r>
              <a:rPr lang="en-US" sz="1100">
                <a:solidFill>
                  <a:srgbClr val="E8EEF5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84" name="Google Shape;284;p12"/>
          <p:cNvGraphicFramePr/>
          <p:nvPr/>
        </p:nvGraphicFramePr>
        <p:xfrm>
          <a:off x="457200" y="29260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{82174CEC-855B-439B-8DDD-C348F5A92A09}</a:tableStyleId>
              </a:tblPr>
              <a:tblGrid>
                <a:gridCol w="2468875"/>
                <a:gridCol w="8641075"/>
              </a:tblGrid>
              <a:tr h="438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Loại Join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6DC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C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C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C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3F6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Kết quả trả về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6DC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C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C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C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3F6F"/>
                    </a:solidFill>
                  </a:tcPr>
                </a:tc>
              </a:tr>
              <a:tr h="438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Inner Join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6DC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C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C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C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Chỉ giữ lại các dòng có khóa khớp ở cả hai bảng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6DC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C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C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C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38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Left Join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6DC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C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C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C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Giữ toàn bộ bảng bên trái, ghép thêm dữ liệu khớp từ bảng phải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6DC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C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C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C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7"/>
                    </a:solidFill>
                  </a:tcPr>
                </a:tc>
              </a:tr>
              <a:tr h="438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Right Join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6DC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C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C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C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Giữ toàn bộ bảng bên phải, ghép thêm dữ liệu khớp từ bảng trái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6DC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C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C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C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38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Outer Join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6DC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C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C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C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Giữ toàn bộ dữ liệu từ cả hai bảng, điền NaN nếu không khớp</a:t>
                      </a:r>
                      <a:endParaRPr sz="11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6DCE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DCE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DCE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DCE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7"/>
                    </a:solidFill>
                  </a:tcPr>
                </a:tc>
              </a:tr>
            </a:tbl>
          </a:graphicData>
        </a:graphic>
      </p:graphicFrame>
      <p:sp>
        <p:nvSpPr>
          <p:cNvPr id="285" name="Google Shape;285;p1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F5F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Bài 7. Tích hợp dữ liệu và Feature Engineering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2"/>
          <p:cNvSpPr/>
          <p:nvPr/>
        </p:nvSpPr>
        <p:spPr>
          <a:xfrm>
            <a:off x="11414455" y="651052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F5F5F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3"/>
          <p:cNvSpPr/>
          <p:nvPr/>
        </p:nvSpPr>
        <p:spPr>
          <a:xfrm>
            <a:off x="0" y="0"/>
            <a:ext cx="12191695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3"/>
          <p:cNvSpPr/>
          <p:nvPr/>
        </p:nvSpPr>
        <p:spPr>
          <a:xfrm flipH="1">
            <a:off x="8339328" y="0"/>
            <a:ext cx="640080" cy="210312"/>
          </a:xfrm>
          <a:prstGeom prst="parallelogram">
            <a:avLst>
              <a:gd fmla="val 25000" name="adj"/>
            </a:avLst>
          </a:prstGeom>
          <a:solidFill>
            <a:srgbClr val="8497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3"/>
          <p:cNvSpPr/>
          <p:nvPr/>
        </p:nvSpPr>
        <p:spPr>
          <a:xfrm flipH="1">
            <a:off x="8732520" y="0"/>
            <a:ext cx="969264" cy="1005840"/>
          </a:xfrm>
          <a:prstGeom prst="parallelogram">
            <a:avLst>
              <a:gd fmla="val 25000" name="adj"/>
            </a:avLst>
          </a:prstGeom>
          <a:solidFill>
            <a:srgbClr val="85B51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3"/>
          <p:cNvSpPr/>
          <p:nvPr/>
        </p:nvSpPr>
        <p:spPr>
          <a:xfrm flipH="1">
            <a:off x="9747504" y="0"/>
            <a:ext cx="1005840" cy="1005840"/>
          </a:xfrm>
          <a:prstGeom prst="parallelogram">
            <a:avLst>
              <a:gd fmla="val 25000" name="adj"/>
            </a:avLst>
          </a:prstGeom>
          <a:solidFill>
            <a:srgbClr val="0F3F6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3"/>
          <p:cNvSpPr/>
          <p:nvPr/>
        </p:nvSpPr>
        <p:spPr>
          <a:xfrm>
            <a:off x="530352" y="237744"/>
            <a:ext cx="97840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3F6F"/>
              </a:buClr>
              <a:buSzPts val="2100"/>
              <a:buFont typeface="Arial"/>
              <a:buNone/>
            </a:pPr>
            <a:r>
              <a:rPr b="1" lang="en-US" sz="21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Minh họa trực quan các loại Join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3"/>
          <p:cNvSpPr/>
          <p:nvPr/>
        </p:nvSpPr>
        <p:spPr>
          <a:xfrm>
            <a:off x="548640" y="969264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497A5"/>
              </a:buClr>
              <a:buSzPts val="1100"/>
              <a:buFont typeface="Arial"/>
              <a:buNone/>
            </a:pPr>
            <a:r>
              <a:rPr i="1" lang="en-US" sz="1100">
                <a:solidFill>
                  <a:srgbClr val="8497A5"/>
                </a:solidFill>
                <a:latin typeface="Arial"/>
                <a:ea typeface="Arial"/>
                <a:cs typeface="Arial"/>
                <a:sym typeface="Arial"/>
              </a:rPr>
              <a:t>7.4. Merge và Join với Pandas · Bài 07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3"/>
          <p:cNvSpPr/>
          <p:nvPr/>
        </p:nvSpPr>
        <p:spPr>
          <a:xfrm>
            <a:off x="815188" y="1737360"/>
            <a:ext cx="1371600" cy="1371600"/>
          </a:xfrm>
          <a:prstGeom prst="ellipse">
            <a:avLst/>
          </a:prstGeom>
          <a:solidFill>
            <a:srgbClr val="D6E3F2"/>
          </a:solidFill>
          <a:ln cap="flat" cmpd="sng" w="12700">
            <a:solidFill>
              <a:srgbClr val="0F3F6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3"/>
          <p:cNvSpPr/>
          <p:nvPr/>
        </p:nvSpPr>
        <p:spPr>
          <a:xfrm>
            <a:off x="1638148" y="1737360"/>
            <a:ext cx="1371600" cy="1371600"/>
          </a:xfrm>
          <a:prstGeom prst="ellipse">
            <a:avLst/>
          </a:prstGeom>
          <a:solidFill>
            <a:srgbClr val="D6E3F2"/>
          </a:solidFill>
          <a:ln cap="flat" cmpd="sng" w="12700">
            <a:solidFill>
              <a:srgbClr val="0F3F6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13"/>
          <p:cNvSpPr/>
          <p:nvPr/>
        </p:nvSpPr>
        <p:spPr>
          <a:xfrm>
            <a:off x="1638148" y="1737360"/>
            <a:ext cx="788670" cy="1371600"/>
          </a:xfrm>
          <a:prstGeom prst="ellipse">
            <a:avLst/>
          </a:prstGeom>
          <a:solidFill>
            <a:srgbClr val="1F4EA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3"/>
          <p:cNvSpPr/>
          <p:nvPr/>
        </p:nvSpPr>
        <p:spPr>
          <a:xfrm>
            <a:off x="815188" y="228600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3F6F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3"/>
          <p:cNvSpPr/>
          <p:nvPr/>
        </p:nvSpPr>
        <p:spPr>
          <a:xfrm>
            <a:off x="2735428" y="228600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3F6F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3"/>
          <p:cNvSpPr/>
          <p:nvPr/>
        </p:nvSpPr>
        <p:spPr>
          <a:xfrm>
            <a:off x="678028" y="3200400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3F6F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Inner Join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3"/>
          <p:cNvSpPr/>
          <p:nvPr/>
        </p:nvSpPr>
        <p:spPr>
          <a:xfrm>
            <a:off x="3604108" y="1737360"/>
            <a:ext cx="1371600" cy="1371600"/>
          </a:xfrm>
          <a:prstGeom prst="ellipse">
            <a:avLst/>
          </a:prstGeom>
          <a:solidFill>
            <a:srgbClr val="1F4EAD"/>
          </a:solidFill>
          <a:ln cap="flat" cmpd="sng" w="12700">
            <a:solidFill>
              <a:srgbClr val="0F3F6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3"/>
          <p:cNvSpPr/>
          <p:nvPr/>
        </p:nvSpPr>
        <p:spPr>
          <a:xfrm>
            <a:off x="4427068" y="1737360"/>
            <a:ext cx="1371600" cy="1371600"/>
          </a:xfrm>
          <a:prstGeom prst="ellipse">
            <a:avLst/>
          </a:prstGeom>
          <a:solidFill>
            <a:srgbClr val="D6E3F2"/>
          </a:solidFill>
          <a:ln cap="flat" cmpd="sng" w="12700">
            <a:solidFill>
              <a:srgbClr val="0F3F6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13"/>
          <p:cNvSpPr/>
          <p:nvPr/>
        </p:nvSpPr>
        <p:spPr>
          <a:xfrm>
            <a:off x="3604108" y="228600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3F6F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3"/>
          <p:cNvSpPr/>
          <p:nvPr/>
        </p:nvSpPr>
        <p:spPr>
          <a:xfrm>
            <a:off x="5524348" y="228600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3F6F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3"/>
          <p:cNvSpPr/>
          <p:nvPr/>
        </p:nvSpPr>
        <p:spPr>
          <a:xfrm>
            <a:off x="3466948" y="3200400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3F6F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Left Join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3"/>
          <p:cNvSpPr/>
          <p:nvPr/>
        </p:nvSpPr>
        <p:spPr>
          <a:xfrm>
            <a:off x="6393028" y="1737360"/>
            <a:ext cx="1371600" cy="1371600"/>
          </a:xfrm>
          <a:prstGeom prst="ellipse">
            <a:avLst/>
          </a:prstGeom>
          <a:solidFill>
            <a:srgbClr val="D6E3F2"/>
          </a:solidFill>
          <a:ln cap="flat" cmpd="sng" w="12700">
            <a:solidFill>
              <a:srgbClr val="0F3F6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13"/>
          <p:cNvSpPr/>
          <p:nvPr/>
        </p:nvSpPr>
        <p:spPr>
          <a:xfrm>
            <a:off x="7215988" y="1737360"/>
            <a:ext cx="1371600" cy="1371600"/>
          </a:xfrm>
          <a:prstGeom prst="ellipse">
            <a:avLst/>
          </a:prstGeom>
          <a:solidFill>
            <a:srgbClr val="1F4EAD"/>
          </a:solidFill>
          <a:ln cap="flat" cmpd="sng" w="12700">
            <a:solidFill>
              <a:srgbClr val="0F3F6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13"/>
          <p:cNvSpPr/>
          <p:nvPr/>
        </p:nvSpPr>
        <p:spPr>
          <a:xfrm>
            <a:off x="6393028" y="228600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3F6F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3"/>
          <p:cNvSpPr/>
          <p:nvPr/>
        </p:nvSpPr>
        <p:spPr>
          <a:xfrm>
            <a:off x="8313268" y="228600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3F6F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3"/>
          <p:cNvSpPr/>
          <p:nvPr/>
        </p:nvSpPr>
        <p:spPr>
          <a:xfrm>
            <a:off x="6255868" y="3200400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3F6F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Right Join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3"/>
          <p:cNvSpPr/>
          <p:nvPr/>
        </p:nvSpPr>
        <p:spPr>
          <a:xfrm>
            <a:off x="9181948" y="1737360"/>
            <a:ext cx="1371600" cy="1371600"/>
          </a:xfrm>
          <a:prstGeom prst="ellipse">
            <a:avLst/>
          </a:prstGeom>
          <a:solidFill>
            <a:srgbClr val="1F4EAD"/>
          </a:solidFill>
          <a:ln cap="flat" cmpd="sng" w="12700">
            <a:solidFill>
              <a:srgbClr val="0F3F6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13"/>
          <p:cNvSpPr/>
          <p:nvPr/>
        </p:nvSpPr>
        <p:spPr>
          <a:xfrm>
            <a:off x="10004908" y="1737360"/>
            <a:ext cx="1371600" cy="1371600"/>
          </a:xfrm>
          <a:prstGeom prst="ellipse">
            <a:avLst/>
          </a:prstGeom>
          <a:solidFill>
            <a:srgbClr val="1F4EAD"/>
          </a:solidFill>
          <a:ln cap="flat" cmpd="sng" w="12700">
            <a:solidFill>
              <a:srgbClr val="0F3F6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13"/>
          <p:cNvSpPr/>
          <p:nvPr/>
        </p:nvSpPr>
        <p:spPr>
          <a:xfrm>
            <a:off x="9181948" y="228600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3F6F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3"/>
          <p:cNvSpPr/>
          <p:nvPr/>
        </p:nvSpPr>
        <p:spPr>
          <a:xfrm>
            <a:off x="11102188" y="228600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3F6F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3"/>
          <p:cNvSpPr/>
          <p:nvPr/>
        </p:nvSpPr>
        <p:spPr>
          <a:xfrm>
            <a:off x="9044788" y="3200400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3F6F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Outer Join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3"/>
          <p:cNvSpPr/>
          <p:nvPr/>
        </p:nvSpPr>
        <p:spPr>
          <a:xfrm>
            <a:off x="914400" y="3931920"/>
            <a:ext cx="10332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35266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Vùng tô đậm thể hiện phần dữ liệu được giữ lại sau khi Join. A = bảng trái, B = bảng phải.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3"/>
          <p:cNvSpPr/>
          <p:nvPr/>
        </p:nvSpPr>
        <p:spPr>
          <a:xfrm>
            <a:off x="548640" y="4434840"/>
            <a:ext cx="11109960" cy="777240"/>
          </a:xfrm>
          <a:prstGeom prst="roundRect">
            <a:avLst>
              <a:gd fmla="val 7059" name="adj"/>
            </a:avLst>
          </a:prstGeom>
          <a:solidFill>
            <a:srgbClr val="F0F4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3"/>
          <p:cNvSpPr/>
          <p:nvPr/>
        </p:nvSpPr>
        <p:spPr>
          <a:xfrm>
            <a:off x="777240" y="4434840"/>
            <a:ext cx="106527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35266"/>
              </a:buClr>
              <a:buSzPts val="1150"/>
              <a:buFont typeface="Arial"/>
              <a:buNone/>
            </a:pPr>
            <a:r>
              <a:rPr i="1" lang="en-US" sz="115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Việc chọn đúng loại Join quyết định dữ liệu nào bị giữ lại hay bị loại bỏ — chọn sai có thể làm mất dữ liệu quan trọng.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F5F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Bài 7. Tích hợp dữ liệu và Feature Engineering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3"/>
          <p:cNvSpPr/>
          <p:nvPr/>
        </p:nvSpPr>
        <p:spPr>
          <a:xfrm>
            <a:off x="11414455" y="651052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F5F5F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14"/>
          <p:cNvSpPr/>
          <p:nvPr/>
        </p:nvSpPr>
        <p:spPr>
          <a:xfrm>
            <a:off x="0" y="0"/>
            <a:ext cx="12191695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14"/>
          <p:cNvSpPr/>
          <p:nvPr/>
        </p:nvSpPr>
        <p:spPr>
          <a:xfrm flipH="1">
            <a:off x="8339328" y="0"/>
            <a:ext cx="640080" cy="210312"/>
          </a:xfrm>
          <a:prstGeom prst="parallelogram">
            <a:avLst>
              <a:gd fmla="val 25000" name="adj"/>
            </a:avLst>
          </a:prstGeom>
          <a:solidFill>
            <a:srgbClr val="8497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14"/>
          <p:cNvSpPr/>
          <p:nvPr/>
        </p:nvSpPr>
        <p:spPr>
          <a:xfrm flipH="1">
            <a:off x="8732520" y="0"/>
            <a:ext cx="969264" cy="1005840"/>
          </a:xfrm>
          <a:prstGeom prst="parallelogram">
            <a:avLst>
              <a:gd fmla="val 25000" name="adj"/>
            </a:avLst>
          </a:prstGeom>
          <a:solidFill>
            <a:srgbClr val="85B51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14"/>
          <p:cNvSpPr/>
          <p:nvPr/>
        </p:nvSpPr>
        <p:spPr>
          <a:xfrm flipH="1">
            <a:off x="9747504" y="0"/>
            <a:ext cx="1005840" cy="1005840"/>
          </a:xfrm>
          <a:prstGeom prst="parallelogram">
            <a:avLst>
              <a:gd fmla="val 25000" name="adj"/>
            </a:avLst>
          </a:prstGeom>
          <a:solidFill>
            <a:srgbClr val="0F3F6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14"/>
          <p:cNvSpPr/>
          <p:nvPr/>
        </p:nvSpPr>
        <p:spPr>
          <a:xfrm>
            <a:off x="658368" y="1371600"/>
            <a:ext cx="3200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5B518"/>
              </a:buClr>
              <a:buSzPts val="1900"/>
              <a:buFont typeface="Arial"/>
              <a:buNone/>
            </a:pPr>
            <a:r>
              <a:rPr b="1" lang="en-US" sz="1900">
                <a:solidFill>
                  <a:srgbClr val="85B518"/>
                </a:solidFill>
                <a:latin typeface="Arial"/>
                <a:ea typeface="Arial"/>
                <a:cs typeface="Arial"/>
                <a:sym typeface="Arial"/>
              </a:rPr>
              <a:t>PHẦN 7.5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4"/>
          <p:cNvSpPr/>
          <p:nvPr/>
        </p:nvSpPr>
        <p:spPr>
          <a:xfrm>
            <a:off x="658368" y="1965960"/>
            <a:ext cx="102412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3F6F"/>
              </a:buClr>
              <a:buSzPts val="3400"/>
              <a:buFont typeface="Arial"/>
              <a:buNone/>
            </a:pPr>
            <a:r>
              <a:rPr b="1" lang="en-US" sz="34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Concatenate dữ liệu</a:t>
            </a:r>
            <a:endParaRPr sz="3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4"/>
          <p:cNvSpPr/>
          <p:nvPr/>
        </p:nvSpPr>
        <p:spPr>
          <a:xfrm>
            <a:off x="685800" y="3246120"/>
            <a:ext cx="10012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35266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Phân biệt Merge (ghép theo khóa) và Concatenate (ghép cùng cấu trúc)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4"/>
          <p:cNvSpPr/>
          <p:nvPr/>
        </p:nvSpPr>
        <p:spPr>
          <a:xfrm>
            <a:off x="685800" y="4937760"/>
            <a:ext cx="5212080" cy="5029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4"/>
          <p:cNvSpPr/>
          <p:nvPr/>
        </p:nvSpPr>
        <p:spPr>
          <a:xfrm>
            <a:off x="6016752" y="4937760"/>
            <a:ext cx="1143000" cy="50292"/>
          </a:xfrm>
          <a:prstGeom prst="rect">
            <a:avLst/>
          </a:prstGeom>
          <a:solidFill>
            <a:srgbClr val="85B51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14"/>
          <p:cNvSpPr/>
          <p:nvPr/>
        </p:nvSpPr>
        <p:spPr>
          <a:xfrm>
            <a:off x="11414455" y="651052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F5F5F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15"/>
          <p:cNvSpPr/>
          <p:nvPr/>
        </p:nvSpPr>
        <p:spPr>
          <a:xfrm>
            <a:off x="0" y="0"/>
            <a:ext cx="12191695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15"/>
          <p:cNvSpPr/>
          <p:nvPr/>
        </p:nvSpPr>
        <p:spPr>
          <a:xfrm flipH="1">
            <a:off x="8339328" y="0"/>
            <a:ext cx="640080" cy="210312"/>
          </a:xfrm>
          <a:prstGeom prst="parallelogram">
            <a:avLst>
              <a:gd fmla="val 25000" name="adj"/>
            </a:avLst>
          </a:prstGeom>
          <a:solidFill>
            <a:srgbClr val="8497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15"/>
          <p:cNvSpPr/>
          <p:nvPr/>
        </p:nvSpPr>
        <p:spPr>
          <a:xfrm flipH="1">
            <a:off x="8732520" y="0"/>
            <a:ext cx="969264" cy="1005840"/>
          </a:xfrm>
          <a:prstGeom prst="parallelogram">
            <a:avLst>
              <a:gd fmla="val 25000" name="adj"/>
            </a:avLst>
          </a:prstGeom>
          <a:solidFill>
            <a:srgbClr val="85B51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15"/>
          <p:cNvSpPr/>
          <p:nvPr/>
        </p:nvSpPr>
        <p:spPr>
          <a:xfrm flipH="1">
            <a:off x="9747504" y="0"/>
            <a:ext cx="1005840" cy="1005840"/>
          </a:xfrm>
          <a:prstGeom prst="parallelogram">
            <a:avLst>
              <a:gd fmla="val 25000" name="adj"/>
            </a:avLst>
          </a:prstGeom>
          <a:solidFill>
            <a:srgbClr val="0F3F6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15"/>
          <p:cNvSpPr/>
          <p:nvPr/>
        </p:nvSpPr>
        <p:spPr>
          <a:xfrm>
            <a:off x="530352" y="237744"/>
            <a:ext cx="97840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3F6F"/>
              </a:buClr>
              <a:buSzPts val="2100"/>
              <a:buFont typeface="Arial"/>
              <a:buNone/>
            </a:pPr>
            <a:r>
              <a:rPr b="1" lang="en-US" sz="21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Merge và Concatenate khác nhau như thế nào?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5"/>
          <p:cNvSpPr/>
          <p:nvPr/>
        </p:nvSpPr>
        <p:spPr>
          <a:xfrm>
            <a:off x="548640" y="969264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497A5"/>
              </a:buClr>
              <a:buSzPts val="1100"/>
              <a:buFont typeface="Arial"/>
              <a:buNone/>
            </a:pPr>
            <a:r>
              <a:rPr i="1" lang="en-US" sz="1100">
                <a:solidFill>
                  <a:srgbClr val="8497A5"/>
                </a:solidFill>
                <a:latin typeface="Arial"/>
                <a:ea typeface="Arial"/>
                <a:cs typeface="Arial"/>
                <a:sym typeface="Arial"/>
              </a:rPr>
              <a:t>7.5. Concatenate dữ liệu · Bài 07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5"/>
          <p:cNvSpPr/>
          <p:nvPr/>
        </p:nvSpPr>
        <p:spPr>
          <a:xfrm>
            <a:off x="640080" y="1371600"/>
            <a:ext cx="5349240" cy="1417320"/>
          </a:xfrm>
          <a:prstGeom prst="roundRect">
            <a:avLst>
              <a:gd fmla="val 7742" name="adj"/>
            </a:avLst>
          </a:prstGeom>
          <a:solidFill>
            <a:srgbClr val="E7EE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15"/>
          <p:cNvSpPr/>
          <p:nvPr/>
        </p:nvSpPr>
        <p:spPr>
          <a:xfrm>
            <a:off x="914400" y="1536192"/>
            <a:ext cx="4800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3F6F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Merge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5"/>
          <p:cNvSpPr/>
          <p:nvPr/>
        </p:nvSpPr>
        <p:spPr>
          <a:xfrm>
            <a:off x="914400" y="1965960"/>
            <a:ext cx="4800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35266"/>
              </a:buClr>
              <a:buSzPts val="1150"/>
              <a:buFont typeface="Arial"/>
              <a:buChar char="•"/>
            </a:pPr>
            <a:r>
              <a:rPr lang="en-US" sz="115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Ghép hai bảng khác cấu trúc theo khóa chung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35266"/>
              </a:buClr>
              <a:buSzPts val="1150"/>
              <a:buFont typeface="Arial"/>
              <a:buChar char="•"/>
            </a:pPr>
            <a:r>
              <a:rPr lang="en-US" sz="115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Ví dụ: Customer + Transaction theo customer_id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5"/>
          <p:cNvSpPr/>
          <p:nvPr/>
        </p:nvSpPr>
        <p:spPr>
          <a:xfrm>
            <a:off x="6492240" y="1371600"/>
            <a:ext cx="5349240" cy="1417320"/>
          </a:xfrm>
          <a:prstGeom prst="roundRect">
            <a:avLst>
              <a:gd fmla="val 7742" name="adj"/>
            </a:avLst>
          </a:prstGeom>
          <a:solidFill>
            <a:srgbClr val="E9F3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15"/>
          <p:cNvSpPr/>
          <p:nvPr/>
        </p:nvSpPr>
        <p:spPr>
          <a:xfrm>
            <a:off x="6766560" y="1536192"/>
            <a:ext cx="4800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3F6F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Concatenate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5"/>
          <p:cNvSpPr/>
          <p:nvPr/>
        </p:nvSpPr>
        <p:spPr>
          <a:xfrm>
            <a:off x="6766560" y="1965960"/>
            <a:ext cx="4800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35266"/>
              </a:buClr>
              <a:buSzPts val="1150"/>
              <a:buFont typeface="Arial"/>
              <a:buChar char="•"/>
            </a:pPr>
            <a:r>
              <a:rPr lang="en-US" sz="115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Ghép nhiều tập dữ liệu cùng cấu trúc (cùng cột)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35266"/>
              </a:buClr>
              <a:buSzPts val="1150"/>
              <a:buFont typeface="Arial"/>
              <a:buChar char="•"/>
            </a:pPr>
            <a:r>
              <a:rPr lang="en-US" sz="115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Ví dụ: dữ liệu tháng 1 + tháng 2 + tháng 3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5"/>
          <p:cNvSpPr/>
          <p:nvPr/>
        </p:nvSpPr>
        <p:spPr>
          <a:xfrm>
            <a:off x="731520" y="3200400"/>
            <a:ext cx="1554480" cy="502920"/>
          </a:xfrm>
          <a:prstGeom prst="roundRect">
            <a:avLst>
              <a:gd fmla="val 10909" name="adj"/>
            </a:avLst>
          </a:prstGeom>
          <a:solidFill>
            <a:srgbClr val="E7EE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15"/>
          <p:cNvSpPr/>
          <p:nvPr/>
        </p:nvSpPr>
        <p:spPr>
          <a:xfrm>
            <a:off x="731520" y="3200400"/>
            <a:ext cx="1554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3F6F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January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5"/>
          <p:cNvSpPr/>
          <p:nvPr/>
        </p:nvSpPr>
        <p:spPr>
          <a:xfrm>
            <a:off x="2286000" y="3200400"/>
            <a:ext cx="457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F5F5F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5"/>
          <p:cNvSpPr/>
          <p:nvPr/>
        </p:nvSpPr>
        <p:spPr>
          <a:xfrm>
            <a:off x="2743200" y="3200400"/>
            <a:ext cx="1554480" cy="502920"/>
          </a:xfrm>
          <a:prstGeom prst="roundRect">
            <a:avLst>
              <a:gd fmla="val 10909" name="adj"/>
            </a:avLst>
          </a:prstGeom>
          <a:solidFill>
            <a:srgbClr val="E7EE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15"/>
          <p:cNvSpPr/>
          <p:nvPr/>
        </p:nvSpPr>
        <p:spPr>
          <a:xfrm>
            <a:off x="2743200" y="3200400"/>
            <a:ext cx="1554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3F6F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February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5"/>
          <p:cNvSpPr/>
          <p:nvPr/>
        </p:nvSpPr>
        <p:spPr>
          <a:xfrm>
            <a:off x="4297680" y="3200400"/>
            <a:ext cx="457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F5F5F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5"/>
          <p:cNvSpPr/>
          <p:nvPr/>
        </p:nvSpPr>
        <p:spPr>
          <a:xfrm>
            <a:off x="4754880" y="3200400"/>
            <a:ext cx="1554480" cy="502920"/>
          </a:xfrm>
          <a:prstGeom prst="roundRect">
            <a:avLst>
              <a:gd fmla="val 10909" name="adj"/>
            </a:avLst>
          </a:prstGeom>
          <a:solidFill>
            <a:srgbClr val="E7EE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15"/>
          <p:cNvSpPr/>
          <p:nvPr/>
        </p:nvSpPr>
        <p:spPr>
          <a:xfrm>
            <a:off x="4754880" y="3200400"/>
            <a:ext cx="1554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3F6F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March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5"/>
          <p:cNvSpPr/>
          <p:nvPr/>
        </p:nvSpPr>
        <p:spPr>
          <a:xfrm>
            <a:off x="6309360" y="3200400"/>
            <a:ext cx="457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4EAD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1F4EAD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5"/>
          <p:cNvSpPr/>
          <p:nvPr/>
        </p:nvSpPr>
        <p:spPr>
          <a:xfrm>
            <a:off x="6766560" y="3200400"/>
            <a:ext cx="1828800" cy="502920"/>
          </a:xfrm>
          <a:prstGeom prst="roundRect">
            <a:avLst>
              <a:gd fmla="val 10909" name="adj"/>
            </a:avLst>
          </a:prstGeom>
          <a:solidFill>
            <a:srgbClr val="1F4EA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15"/>
          <p:cNvSpPr/>
          <p:nvPr/>
        </p:nvSpPr>
        <p:spPr>
          <a:xfrm>
            <a:off x="6766560" y="3200400"/>
            <a:ext cx="1828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Q1 Dataset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5"/>
          <p:cNvSpPr/>
          <p:nvPr/>
        </p:nvSpPr>
        <p:spPr>
          <a:xfrm>
            <a:off x="548640" y="402336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3F6F"/>
              </a:buClr>
              <a:buSzPts val="1250"/>
              <a:buFont typeface="Arial"/>
              <a:buNone/>
            </a:pPr>
            <a:r>
              <a:rPr b="1" lang="en-US" sz="125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Pandas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5"/>
          <p:cNvSpPr/>
          <p:nvPr/>
        </p:nvSpPr>
        <p:spPr>
          <a:xfrm>
            <a:off x="548640" y="4370832"/>
            <a:ext cx="11109960" cy="594360"/>
          </a:xfrm>
          <a:prstGeom prst="roundRect">
            <a:avLst>
              <a:gd fmla="val 9231" name="adj"/>
            </a:avLst>
          </a:prstGeom>
          <a:solidFill>
            <a:srgbClr val="1B2A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15"/>
          <p:cNvSpPr/>
          <p:nvPr/>
        </p:nvSpPr>
        <p:spPr>
          <a:xfrm>
            <a:off x="749808" y="4480560"/>
            <a:ext cx="10707624" cy="3749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8EEF5"/>
              </a:buClr>
              <a:buSzPts val="1200"/>
              <a:buFont typeface="Consolas"/>
              <a:buNone/>
            </a:pPr>
            <a:r>
              <a:rPr lang="en-US" sz="1200">
                <a:solidFill>
                  <a:srgbClr val="E8EEF5"/>
                </a:solidFill>
                <a:latin typeface="Consolas"/>
                <a:ea typeface="Consolas"/>
                <a:cs typeface="Consolas"/>
                <a:sym typeface="Consolas"/>
              </a:rPr>
              <a:t>pd.concat([jan, feb, mar])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F5F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Bài 7. Tích hợp dữ liệu và Feature Engineering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5"/>
          <p:cNvSpPr/>
          <p:nvPr/>
        </p:nvSpPr>
        <p:spPr>
          <a:xfrm>
            <a:off x="11414455" y="651052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F5F5F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16"/>
          <p:cNvSpPr/>
          <p:nvPr/>
        </p:nvSpPr>
        <p:spPr>
          <a:xfrm>
            <a:off x="0" y="0"/>
            <a:ext cx="12191695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16"/>
          <p:cNvSpPr/>
          <p:nvPr/>
        </p:nvSpPr>
        <p:spPr>
          <a:xfrm flipH="1">
            <a:off x="8339328" y="0"/>
            <a:ext cx="640080" cy="210312"/>
          </a:xfrm>
          <a:prstGeom prst="parallelogram">
            <a:avLst>
              <a:gd fmla="val 25000" name="adj"/>
            </a:avLst>
          </a:prstGeom>
          <a:solidFill>
            <a:srgbClr val="8497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16"/>
          <p:cNvSpPr/>
          <p:nvPr/>
        </p:nvSpPr>
        <p:spPr>
          <a:xfrm flipH="1">
            <a:off x="8732520" y="0"/>
            <a:ext cx="969264" cy="1005840"/>
          </a:xfrm>
          <a:prstGeom prst="parallelogram">
            <a:avLst>
              <a:gd fmla="val 25000" name="adj"/>
            </a:avLst>
          </a:prstGeom>
          <a:solidFill>
            <a:srgbClr val="85B51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16"/>
          <p:cNvSpPr/>
          <p:nvPr/>
        </p:nvSpPr>
        <p:spPr>
          <a:xfrm flipH="1">
            <a:off x="9747504" y="0"/>
            <a:ext cx="1005840" cy="1005840"/>
          </a:xfrm>
          <a:prstGeom prst="parallelogram">
            <a:avLst>
              <a:gd fmla="val 25000" name="adj"/>
            </a:avLst>
          </a:prstGeom>
          <a:solidFill>
            <a:srgbClr val="0F3F6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16"/>
          <p:cNvSpPr/>
          <p:nvPr/>
        </p:nvSpPr>
        <p:spPr>
          <a:xfrm>
            <a:off x="658368" y="1371600"/>
            <a:ext cx="3200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5B518"/>
              </a:buClr>
              <a:buSzPts val="1900"/>
              <a:buFont typeface="Arial"/>
              <a:buNone/>
            </a:pPr>
            <a:r>
              <a:rPr b="1" lang="en-US" sz="1900">
                <a:solidFill>
                  <a:srgbClr val="85B518"/>
                </a:solidFill>
                <a:latin typeface="Arial"/>
                <a:ea typeface="Arial"/>
                <a:cs typeface="Arial"/>
                <a:sym typeface="Arial"/>
              </a:rPr>
              <a:t>PHẦN 7.6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6"/>
          <p:cNvSpPr/>
          <p:nvPr/>
        </p:nvSpPr>
        <p:spPr>
          <a:xfrm>
            <a:off x="658368" y="1965960"/>
            <a:ext cx="102412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3F6F"/>
              </a:buClr>
              <a:buSzPts val="3400"/>
              <a:buFont typeface="Arial"/>
              <a:buNone/>
            </a:pPr>
            <a:r>
              <a:rPr b="1" lang="en-US" sz="34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Data Transformation</a:t>
            </a:r>
            <a:endParaRPr sz="3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6"/>
          <p:cNvSpPr/>
          <p:nvPr/>
        </p:nvSpPr>
        <p:spPr>
          <a:xfrm>
            <a:off x="685800" y="3246120"/>
            <a:ext cx="10012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35266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Filter, Sort, GroupBy, Aggregate, Pivot, Mapping, Apply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6"/>
          <p:cNvSpPr/>
          <p:nvPr/>
        </p:nvSpPr>
        <p:spPr>
          <a:xfrm>
            <a:off x="685800" y="4937760"/>
            <a:ext cx="5212080" cy="5029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16"/>
          <p:cNvSpPr/>
          <p:nvPr/>
        </p:nvSpPr>
        <p:spPr>
          <a:xfrm>
            <a:off x="6016752" y="4937760"/>
            <a:ext cx="1143000" cy="50292"/>
          </a:xfrm>
          <a:prstGeom prst="rect">
            <a:avLst/>
          </a:prstGeom>
          <a:solidFill>
            <a:srgbClr val="85B51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16"/>
          <p:cNvSpPr/>
          <p:nvPr/>
        </p:nvSpPr>
        <p:spPr>
          <a:xfrm>
            <a:off x="11414455" y="651052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F5F5F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17"/>
          <p:cNvSpPr/>
          <p:nvPr/>
        </p:nvSpPr>
        <p:spPr>
          <a:xfrm>
            <a:off x="0" y="0"/>
            <a:ext cx="12191695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17"/>
          <p:cNvSpPr/>
          <p:nvPr/>
        </p:nvSpPr>
        <p:spPr>
          <a:xfrm flipH="1">
            <a:off x="8339328" y="0"/>
            <a:ext cx="640080" cy="210312"/>
          </a:xfrm>
          <a:prstGeom prst="parallelogram">
            <a:avLst>
              <a:gd fmla="val 25000" name="adj"/>
            </a:avLst>
          </a:prstGeom>
          <a:solidFill>
            <a:srgbClr val="8497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17"/>
          <p:cNvSpPr/>
          <p:nvPr/>
        </p:nvSpPr>
        <p:spPr>
          <a:xfrm flipH="1">
            <a:off x="8732520" y="0"/>
            <a:ext cx="969264" cy="1005840"/>
          </a:xfrm>
          <a:prstGeom prst="parallelogram">
            <a:avLst>
              <a:gd fmla="val 25000" name="adj"/>
            </a:avLst>
          </a:prstGeom>
          <a:solidFill>
            <a:srgbClr val="85B51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17"/>
          <p:cNvSpPr/>
          <p:nvPr/>
        </p:nvSpPr>
        <p:spPr>
          <a:xfrm flipH="1">
            <a:off x="9747504" y="0"/>
            <a:ext cx="1005840" cy="1005840"/>
          </a:xfrm>
          <a:prstGeom prst="parallelogram">
            <a:avLst>
              <a:gd fmla="val 25000" name="adj"/>
            </a:avLst>
          </a:prstGeom>
          <a:solidFill>
            <a:srgbClr val="0F3F6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17"/>
          <p:cNvSpPr/>
          <p:nvPr/>
        </p:nvSpPr>
        <p:spPr>
          <a:xfrm>
            <a:off x="530352" y="237744"/>
            <a:ext cx="97840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3F6F"/>
              </a:buClr>
              <a:buSzPts val="2100"/>
              <a:buFont typeface="Arial"/>
              <a:buNone/>
            </a:pPr>
            <a:r>
              <a:rPr b="1" lang="en-US" sz="21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Các phép biến đổi dữ liệu phổ biến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7"/>
          <p:cNvSpPr/>
          <p:nvPr/>
        </p:nvSpPr>
        <p:spPr>
          <a:xfrm>
            <a:off x="548640" y="969264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497A5"/>
              </a:buClr>
              <a:buSzPts val="1100"/>
              <a:buFont typeface="Arial"/>
              <a:buNone/>
            </a:pPr>
            <a:r>
              <a:rPr i="1" lang="en-US" sz="1100">
                <a:solidFill>
                  <a:srgbClr val="8497A5"/>
                </a:solidFill>
                <a:latin typeface="Arial"/>
                <a:ea typeface="Arial"/>
                <a:cs typeface="Arial"/>
                <a:sym typeface="Arial"/>
              </a:rPr>
              <a:t>7.6. Data Transformation · Bài 07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7"/>
          <p:cNvSpPr/>
          <p:nvPr/>
        </p:nvSpPr>
        <p:spPr>
          <a:xfrm>
            <a:off x="554584" y="1417320"/>
            <a:ext cx="1481328" cy="502920"/>
          </a:xfrm>
          <a:prstGeom prst="roundRect">
            <a:avLst>
              <a:gd fmla="val 14545" name="adj"/>
            </a:avLst>
          </a:prstGeom>
          <a:solidFill>
            <a:srgbClr val="E7EE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17"/>
          <p:cNvSpPr/>
          <p:nvPr/>
        </p:nvSpPr>
        <p:spPr>
          <a:xfrm>
            <a:off x="554584" y="1417320"/>
            <a:ext cx="148132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3F6F"/>
              </a:buClr>
              <a:buSzPts val="1150"/>
              <a:buFont typeface="Arial"/>
              <a:buNone/>
            </a:pPr>
            <a:r>
              <a:rPr b="1" lang="en-US" sz="115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Filter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7"/>
          <p:cNvSpPr/>
          <p:nvPr/>
        </p:nvSpPr>
        <p:spPr>
          <a:xfrm>
            <a:off x="2154784" y="1417320"/>
            <a:ext cx="1481328" cy="502920"/>
          </a:xfrm>
          <a:prstGeom prst="roundRect">
            <a:avLst>
              <a:gd fmla="val 14545" name="adj"/>
            </a:avLst>
          </a:prstGeom>
          <a:solidFill>
            <a:srgbClr val="E7EE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17"/>
          <p:cNvSpPr/>
          <p:nvPr/>
        </p:nvSpPr>
        <p:spPr>
          <a:xfrm>
            <a:off x="2154784" y="1417320"/>
            <a:ext cx="148132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3F6F"/>
              </a:buClr>
              <a:buSzPts val="1150"/>
              <a:buFont typeface="Arial"/>
              <a:buNone/>
            </a:pPr>
            <a:r>
              <a:rPr b="1" lang="en-US" sz="115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Sort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7"/>
          <p:cNvSpPr/>
          <p:nvPr/>
        </p:nvSpPr>
        <p:spPr>
          <a:xfrm>
            <a:off x="3754984" y="1417320"/>
            <a:ext cx="1481328" cy="502920"/>
          </a:xfrm>
          <a:prstGeom prst="roundRect">
            <a:avLst>
              <a:gd fmla="val 14545" name="adj"/>
            </a:avLst>
          </a:prstGeom>
          <a:solidFill>
            <a:srgbClr val="E7EE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17"/>
          <p:cNvSpPr/>
          <p:nvPr/>
        </p:nvSpPr>
        <p:spPr>
          <a:xfrm>
            <a:off x="3754984" y="1417320"/>
            <a:ext cx="148132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3F6F"/>
              </a:buClr>
              <a:buSzPts val="1150"/>
              <a:buFont typeface="Arial"/>
              <a:buNone/>
            </a:pPr>
            <a:r>
              <a:rPr b="1" lang="en-US" sz="115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GroupBy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7"/>
          <p:cNvSpPr/>
          <p:nvPr/>
        </p:nvSpPr>
        <p:spPr>
          <a:xfrm>
            <a:off x="5355184" y="1417320"/>
            <a:ext cx="1481328" cy="502920"/>
          </a:xfrm>
          <a:prstGeom prst="roundRect">
            <a:avLst>
              <a:gd fmla="val 14545" name="adj"/>
            </a:avLst>
          </a:prstGeom>
          <a:solidFill>
            <a:srgbClr val="E7EE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17"/>
          <p:cNvSpPr/>
          <p:nvPr/>
        </p:nvSpPr>
        <p:spPr>
          <a:xfrm>
            <a:off x="5355184" y="1417320"/>
            <a:ext cx="148132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3F6F"/>
              </a:buClr>
              <a:buSzPts val="1150"/>
              <a:buFont typeface="Arial"/>
              <a:buNone/>
            </a:pPr>
            <a:r>
              <a:rPr b="1" lang="en-US" sz="115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Aggregate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7"/>
          <p:cNvSpPr/>
          <p:nvPr/>
        </p:nvSpPr>
        <p:spPr>
          <a:xfrm>
            <a:off x="6955384" y="1417320"/>
            <a:ext cx="1481328" cy="502920"/>
          </a:xfrm>
          <a:prstGeom prst="roundRect">
            <a:avLst>
              <a:gd fmla="val 14545" name="adj"/>
            </a:avLst>
          </a:prstGeom>
          <a:solidFill>
            <a:srgbClr val="E7EE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17"/>
          <p:cNvSpPr/>
          <p:nvPr/>
        </p:nvSpPr>
        <p:spPr>
          <a:xfrm>
            <a:off x="6955384" y="1417320"/>
            <a:ext cx="148132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3F6F"/>
              </a:buClr>
              <a:buSzPts val="1150"/>
              <a:buFont typeface="Arial"/>
              <a:buNone/>
            </a:pPr>
            <a:r>
              <a:rPr b="1" lang="en-US" sz="115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Pivot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7"/>
          <p:cNvSpPr/>
          <p:nvPr/>
        </p:nvSpPr>
        <p:spPr>
          <a:xfrm>
            <a:off x="8555584" y="1417320"/>
            <a:ext cx="1481328" cy="502920"/>
          </a:xfrm>
          <a:prstGeom prst="roundRect">
            <a:avLst>
              <a:gd fmla="val 14545" name="adj"/>
            </a:avLst>
          </a:prstGeom>
          <a:solidFill>
            <a:srgbClr val="E7EE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17"/>
          <p:cNvSpPr/>
          <p:nvPr/>
        </p:nvSpPr>
        <p:spPr>
          <a:xfrm>
            <a:off x="8555584" y="1417320"/>
            <a:ext cx="148132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3F6F"/>
              </a:buClr>
              <a:buSzPts val="1150"/>
              <a:buFont typeface="Arial"/>
              <a:buNone/>
            </a:pPr>
            <a:r>
              <a:rPr b="1" lang="en-US" sz="115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Mapping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7"/>
          <p:cNvSpPr/>
          <p:nvPr/>
        </p:nvSpPr>
        <p:spPr>
          <a:xfrm>
            <a:off x="10155784" y="1417320"/>
            <a:ext cx="1481328" cy="502920"/>
          </a:xfrm>
          <a:prstGeom prst="roundRect">
            <a:avLst>
              <a:gd fmla="val 14545" name="adj"/>
            </a:avLst>
          </a:prstGeom>
          <a:solidFill>
            <a:srgbClr val="E7EE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17"/>
          <p:cNvSpPr/>
          <p:nvPr/>
        </p:nvSpPr>
        <p:spPr>
          <a:xfrm>
            <a:off x="10155784" y="1417320"/>
            <a:ext cx="148132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3F6F"/>
              </a:buClr>
              <a:buSzPts val="1150"/>
              <a:buFont typeface="Arial"/>
              <a:buNone/>
            </a:pPr>
            <a:r>
              <a:rPr b="1" lang="en-US" sz="115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Apply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7"/>
          <p:cNvSpPr/>
          <p:nvPr/>
        </p:nvSpPr>
        <p:spPr>
          <a:xfrm>
            <a:off x="548640" y="219456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3F6F"/>
              </a:buClr>
              <a:buSzPts val="1250"/>
              <a:buFont typeface="Arial"/>
              <a:buNone/>
            </a:pPr>
            <a:r>
              <a:rPr b="1" lang="en-US" sz="125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Ví dụ: GroupBy + Aggregate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7"/>
          <p:cNvSpPr/>
          <p:nvPr/>
        </p:nvSpPr>
        <p:spPr>
          <a:xfrm>
            <a:off x="548640" y="2542032"/>
            <a:ext cx="11109960" cy="594360"/>
          </a:xfrm>
          <a:prstGeom prst="roundRect">
            <a:avLst>
              <a:gd fmla="val 9231" name="adj"/>
            </a:avLst>
          </a:prstGeom>
          <a:solidFill>
            <a:srgbClr val="1B2A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17"/>
          <p:cNvSpPr/>
          <p:nvPr/>
        </p:nvSpPr>
        <p:spPr>
          <a:xfrm>
            <a:off x="749808" y="2651760"/>
            <a:ext cx="10707624" cy="3749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8EEF5"/>
              </a:buClr>
              <a:buSzPts val="1200"/>
              <a:buFont typeface="Consolas"/>
              <a:buNone/>
            </a:pPr>
            <a:r>
              <a:rPr lang="en-US" sz="1200">
                <a:solidFill>
                  <a:srgbClr val="E8EEF5"/>
                </a:solidFill>
                <a:latin typeface="Consolas"/>
                <a:ea typeface="Consolas"/>
                <a:cs typeface="Consolas"/>
                <a:sym typeface="Consolas"/>
              </a:rPr>
              <a:t>df.groupby("customer_id")["amount"].sum()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7"/>
          <p:cNvSpPr/>
          <p:nvPr/>
        </p:nvSpPr>
        <p:spPr>
          <a:xfrm>
            <a:off x="548640" y="3383280"/>
            <a:ext cx="11109960" cy="1463040"/>
          </a:xfrm>
          <a:prstGeom prst="roundRect">
            <a:avLst>
              <a:gd fmla="val 5000" name="adj"/>
            </a:avLst>
          </a:prstGeom>
          <a:solidFill>
            <a:srgbClr val="F0F4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17"/>
          <p:cNvSpPr/>
          <p:nvPr/>
        </p:nvSpPr>
        <p:spPr>
          <a:xfrm>
            <a:off x="777240" y="3520440"/>
            <a:ext cx="10652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3F6F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Ý nghĩa từng phép biến đổi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7"/>
          <p:cNvSpPr/>
          <p:nvPr/>
        </p:nvSpPr>
        <p:spPr>
          <a:xfrm>
            <a:off x="777240" y="3858768"/>
            <a:ext cx="106527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35266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Filter: lọc dòng theo điều kiện · Sort: sắp xếp · GroupBy + Aggregate: nhóm và tổng hợp · Pivot: xoay bảng dữ liệu · Mapping: ánh xạ giá trị · Apply: áp dụng hàm tùy biến lên từng dòng/cột.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F5F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Bài 7. Tích hợp dữ liệu và Feature Engineering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7"/>
          <p:cNvSpPr/>
          <p:nvPr/>
        </p:nvSpPr>
        <p:spPr>
          <a:xfrm>
            <a:off x="11414455" y="651052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F5F5F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17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18"/>
          <p:cNvSpPr/>
          <p:nvPr/>
        </p:nvSpPr>
        <p:spPr>
          <a:xfrm>
            <a:off x="0" y="0"/>
            <a:ext cx="12191695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18"/>
          <p:cNvSpPr/>
          <p:nvPr/>
        </p:nvSpPr>
        <p:spPr>
          <a:xfrm flipH="1">
            <a:off x="8339328" y="0"/>
            <a:ext cx="640080" cy="210312"/>
          </a:xfrm>
          <a:prstGeom prst="parallelogram">
            <a:avLst>
              <a:gd fmla="val 25000" name="adj"/>
            </a:avLst>
          </a:prstGeom>
          <a:solidFill>
            <a:srgbClr val="8497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18"/>
          <p:cNvSpPr/>
          <p:nvPr/>
        </p:nvSpPr>
        <p:spPr>
          <a:xfrm flipH="1">
            <a:off x="8732520" y="0"/>
            <a:ext cx="969264" cy="1005840"/>
          </a:xfrm>
          <a:prstGeom prst="parallelogram">
            <a:avLst>
              <a:gd fmla="val 25000" name="adj"/>
            </a:avLst>
          </a:prstGeom>
          <a:solidFill>
            <a:srgbClr val="85B51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18"/>
          <p:cNvSpPr/>
          <p:nvPr/>
        </p:nvSpPr>
        <p:spPr>
          <a:xfrm flipH="1">
            <a:off x="9747504" y="0"/>
            <a:ext cx="1005840" cy="1005840"/>
          </a:xfrm>
          <a:prstGeom prst="parallelogram">
            <a:avLst>
              <a:gd fmla="val 25000" name="adj"/>
            </a:avLst>
          </a:prstGeom>
          <a:solidFill>
            <a:srgbClr val="0F3F6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18"/>
          <p:cNvSpPr/>
          <p:nvPr/>
        </p:nvSpPr>
        <p:spPr>
          <a:xfrm>
            <a:off x="658368" y="1371600"/>
            <a:ext cx="3200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5B518"/>
              </a:buClr>
              <a:buSzPts val="1900"/>
              <a:buFont typeface="Arial"/>
              <a:buNone/>
            </a:pPr>
            <a:r>
              <a:rPr b="1" lang="en-US" sz="1900">
                <a:solidFill>
                  <a:srgbClr val="85B518"/>
                </a:solidFill>
                <a:latin typeface="Arial"/>
                <a:ea typeface="Arial"/>
                <a:cs typeface="Arial"/>
                <a:sym typeface="Arial"/>
              </a:rPr>
              <a:t>PHẦN 7.7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8"/>
          <p:cNvSpPr/>
          <p:nvPr/>
        </p:nvSpPr>
        <p:spPr>
          <a:xfrm>
            <a:off x="658368" y="1965960"/>
            <a:ext cx="102412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3F6F"/>
              </a:buClr>
              <a:buSzPts val="3400"/>
              <a:buFont typeface="Arial"/>
              <a:buNone/>
            </a:pPr>
            <a:r>
              <a:rPr b="1" lang="en-US" sz="34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Feature Engineering là gì?</a:t>
            </a:r>
            <a:endParaRPr sz="3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8"/>
          <p:cNvSpPr/>
          <p:nvPr/>
        </p:nvSpPr>
        <p:spPr>
          <a:xfrm>
            <a:off x="685800" y="3246120"/>
            <a:ext cx="10012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35266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Trọng tâm của Bài 7 — biến dữ liệu hiện có thành biến mới hữu ích hơn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8"/>
          <p:cNvSpPr/>
          <p:nvPr/>
        </p:nvSpPr>
        <p:spPr>
          <a:xfrm>
            <a:off x="685800" y="4937760"/>
            <a:ext cx="5212080" cy="5029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18"/>
          <p:cNvSpPr/>
          <p:nvPr/>
        </p:nvSpPr>
        <p:spPr>
          <a:xfrm>
            <a:off x="6016752" y="4937760"/>
            <a:ext cx="1143000" cy="50292"/>
          </a:xfrm>
          <a:prstGeom prst="rect">
            <a:avLst/>
          </a:prstGeom>
          <a:solidFill>
            <a:srgbClr val="85B51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18"/>
          <p:cNvSpPr/>
          <p:nvPr/>
        </p:nvSpPr>
        <p:spPr>
          <a:xfrm>
            <a:off x="11414455" y="651052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F5F5F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18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19"/>
          <p:cNvSpPr/>
          <p:nvPr/>
        </p:nvSpPr>
        <p:spPr>
          <a:xfrm>
            <a:off x="0" y="0"/>
            <a:ext cx="12191695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19"/>
          <p:cNvSpPr/>
          <p:nvPr/>
        </p:nvSpPr>
        <p:spPr>
          <a:xfrm flipH="1">
            <a:off x="8339328" y="0"/>
            <a:ext cx="640080" cy="210312"/>
          </a:xfrm>
          <a:prstGeom prst="parallelogram">
            <a:avLst>
              <a:gd fmla="val 25000" name="adj"/>
            </a:avLst>
          </a:prstGeom>
          <a:solidFill>
            <a:srgbClr val="8497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19"/>
          <p:cNvSpPr/>
          <p:nvPr/>
        </p:nvSpPr>
        <p:spPr>
          <a:xfrm flipH="1">
            <a:off x="8732520" y="0"/>
            <a:ext cx="969264" cy="1005840"/>
          </a:xfrm>
          <a:prstGeom prst="parallelogram">
            <a:avLst>
              <a:gd fmla="val 25000" name="adj"/>
            </a:avLst>
          </a:prstGeom>
          <a:solidFill>
            <a:srgbClr val="85B51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19"/>
          <p:cNvSpPr/>
          <p:nvPr/>
        </p:nvSpPr>
        <p:spPr>
          <a:xfrm flipH="1">
            <a:off x="9747504" y="0"/>
            <a:ext cx="1005840" cy="1005840"/>
          </a:xfrm>
          <a:prstGeom prst="parallelogram">
            <a:avLst>
              <a:gd fmla="val 25000" name="adj"/>
            </a:avLst>
          </a:prstGeom>
          <a:solidFill>
            <a:srgbClr val="0F3F6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19"/>
          <p:cNvSpPr/>
          <p:nvPr/>
        </p:nvSpPr>
        <p:spPr>
          <a:xfrm>
            <a:off x="530352" y="237744"/>
            <a:ext cx="97840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3F6F"/>
              </a:buClr>
              <a:buSzPts val="2100"/>
              <a:buFont typeface="Arial"/>
              <a:buNone/>
            </a:pPr>
            <a:r>
              <a:rPr b="1" lang="en-US" sz="21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Feature Engineering là gì?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9"/>
          <p:cNvSpPr/>
          <p:nvPr/>
        </p:nvSpPr>
        <p:spPr>
          <a:xfrm>
            <a:off x="548640" y="969264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497A5"/>
              </a:buClr>
              <a:buSzPts val="1100"/>
              <a:buFont typeface="Arial"/>
              <a:buNone/>
            </a:pPr>
            <a:r>
              <a:rPr i="1" lang="en-US" sz="1100">
                <a:solidFill>
                  <a:srgbClr val="8497A5"/>
                </a:solidFill>
                <a:latin typeface="Arial"/>
                <a:ea typeface="Arial"/>
                <a:cs typeface="Arial"/>
                <a:sym typeface="Arial"/>
              </a:rPr>
              <a:t>7.7. Feature Engineering là gì? · Bài 07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9"/>
          <p:cNvSpPr/>
          <p:nvPr/>
        </p:nvSpPr>
        <p:spPr>
          <a:xfrm>
            <a:off x="548640" y="1325880"/>
            <a:ext cx="111556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Feature Engineering là quá trình biến dữ liệu hiện có thành các biến mới, giúp mô tả tốt hơn đối tượng hoặc bài toán cần phân tích.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9"/>
          <p:cNvSpPr/>
          <p:nvPr/>
        </p:nvSpPr>
        <p:spPr>
          <a:xfrm>
            <a:off x="640080" y="2148840"/>
            <a:ext cx="5349240" cy="2194560"/>
          </a:xfrm>
          <a:prstGeom prst="roundRect">
            <a:avLst>
              <a:gd fmla="val 5000" name="adj"/>
            </a:avLst>
          </a:prstGeom>
          <a:solidFill>
            <a:srgbClr val="E7EE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19"/>
          <p:cNvSpPr/>
          <p:nvPr/>
        </p:nvSpPr>
        <p:spPr>
          <a:xfrm>
            <a:off x="914400" y="2313432"/>
            <a:ext cx="4800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3F6F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Dữ liệu gốc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9"/>
          <p:cNvSpPr/>
          <p:nvPr/>
        </p:nvSpPr>
        <p:spPr>
          <a:xfrm>
            <a:off x="914400" y="2743200"/>
            <a:ext cx="48006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35266"/>
              </a:buClr>
              <a:buSzPts val="1150"/>
              <a:buFont typeface="Arial"/>
              <a:buChar char="•"/>
            </a:pPr>
            <a:r>
              <a:rPr lang="en-US" sz="115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customer_id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35266"/>
              </a:buClr>
              <a:buSzPts val="1150"/>
              <a:buFont typeface="Arial"/>
              <a:buChar char="•"/>
            </a:pPr>
            <a:r>
              <a:rPr lang="en-US" sz="115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transaction_date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35266"/>
              </a:buClr>
              <a:buSzPts val="1150"/>
              <a:buFont typeface="Arial"/>
              <a:buChar char="•"/>
            </a:pPr>
            <a:r>
              <a:rPr lang="en-US" sz="115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amount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9"/>
          <p:cNvSpPr/>
          <p:nvPr/>
        </p:nvSpPr>
        <p:spPr>
          <a:xfrm>
            <a:off x="6492240" y="2148840"/>
            <a:ext cx="5349240" cy="2194560"/>
          </a:xfrm>
          <a:prstGeom prst="roundRect">
            <a:avLst>
              <a:gd fmla="val 5000" name="adj"/>
            </a:avLst>
          </a:prstGeom>
          <a:solidFill>
            <a:srgbClr val="E9F3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19"/>
          <p:cNvSpPr/>
          <p:nvPr/>
        </p:nvSpPr>
        <p:spPr>
          <a:xfrm>
            <a:off x="6766560" y="2313432"/>
            <a:ext cx="4800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3F6F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Feature tạo ra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9"/>
          <p:cNvSpPr/>
          <p:nvPr/>
        </p:nvSpPr>
        <p:spPr>
          <a:xfrm>
            <a:off x="6766560" y="2743200"/>
            <a:ext cx="48006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35266"/>
              </a:buClr>
              <a:buSzPts val="1150"/>
              <a:buFont typeface="Arial"/>
              <a:buChar char="•"/>
            </a:pPr>
            <a:r>
              <a:rPr lang="en-US" sz="115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total_spending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35266"/>
              </a:buClr>
              <a:buSzPts val="1150"/>
              <a:buFont typeface="Arial"/>
              <a:buChar char="•"/>
            </a:pPr>
            <a:r>
              <a:rPr lang="en-US" sz="115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avg_transaction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35266"/>
              </a:buClr>
              <a:buSzPts val="1150"/>
              <a:buFont typeface="Arial"/>
              <a:buChar char="•"/>
            </a:pPr>
            <a:r>
              <a:rPr lang="en-US" sz="115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transaction_count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35266"/>
              </a:buClr>
              <a:buSzPts val="1150"/>
              <a:buFont typeface="Arial"/>
              <a:buChar char="•"/>
            </a:pPr>
            <a:r>
              <a:rPr lang="en-US" sz="115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days_since_last_transaction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F5F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Bài 7. Tích hợp dữ liệu và Feature Engineering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9"/>
          <p:cNvSpPr/>
          <p:nvPr/>
        </p:nvSpPr>
        <p:spPr>
          <a:xfrm>
            <a:off x="11414455" y="651052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F5F5F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19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20"/>
          <p:cNvSpPr/>
          <p:nvPr/>
        </p:nvSpPr>
        <p:spPr>
          <a:xfrm>
            <a:off x="0" y="0"/>
            <a:ext cx="12191695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20"/>
          <p:cNvSpPr/>
          <p:nvPr/>
        </p:nvSpPr>
        <p:spPr>
          <a:xfrm flipH="1">
            <a:off x="8339328" y="0"/>
            <a:ext cx="640080" cy="210312"/>
          </a:xfrm>
          <a:prstGeom prst="parallelogram">
            <a:avLst>
              <a:gd fmla="val 25000" name="adj"/>
            </a:avLst>
          </a:prstGeom>
          <a:solidFill>
            <a:srgbClr val="8497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20"/>
          <p:cNvSpPr/>
          <p:nvPr/>
        </p:nvSpPr>
        <p:spPr>
          <a:xfrm flipH="1">
            <a:off x="8732520" y="0"/>
            <a:ext cx="969264" cy="1005840"/>
          </a:xfrm>
          <a:prstGeom prst="parallelogram">
            <a:avLst>
              <a:gd fmla="val 25000" name="adj"/>
            </a:avLst>
          </a:prstGeom>
          <a:solidFill>
            <a:srgbClr val="85B51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20"/>
          <p:cNvSpPr/>
          <p:nvPr/>
        </p:nvSpPr>
        <p:spPr>
          <a:xfrm flipH="1">
            <a:off x="9747504" y="0"/>
            <a:ext cx="1005840" cy="1005840"/>
          </a:xfrm>
          <a:prstGeom prst="parallelogram">
            <a:avLst>
              <a:gd fmla="val 25000" name="adj"/>
            </a:avLst>
          </a:prstGeom>
          <a:solidFill>
            <a:srgbClr val="0F3F6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20"/>
          <p:cNvSpPr/>
          <p:nvPr/>
        </p:nvSpPr>
        <p:spPr>
          <a:xfrm>
            <a:off x="658368" y="1371600"/>
            <a:ext cx="3200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5B518"/>
              </a:buClr>
              <a:buSzPts val="1900"/>
              <a:buFont typeface="Arial"/>
              <a:buNone/>
            </a:pPr>
            <a:r>
              <a:rPr b="1" lang="en-US" sz="1900">
                <a:solidFill>
                  <a:srgbClr val="85B518"/>
                </a:solidFill>
                <a:latin typeface="Arial"/>
                <a:ea typeface="Arial"/>
                <a:cs typeface="Arial"/>
                <a:sym typeface="Arial"/>
              </a:rPr>
              <a:t>PHẦN 7.8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20"/>
          <p:cNvSpPr/>
          <p:nvPr/>
        </p:nvSpPr>
        <p:spPr>
          <a:xfrm>
            <a:off x="658368" y="1965960"/>
            <a:ext cx="102412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3F6F"/>
              </a:buClr>
              <a:buSzPts val="3400"/>
              <a:buFont typeface="Arial"/>
              <a:buNone/>
            </a:pPr>
            <a:r>
              <a:rPr b="1" lang="en-US" sz="34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Tạo Feature từ ngày tháng</a:t>
            </a:r>
            <a:endParaRPr sz="3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20"/>
          <p:cNvSpPr/>
          <p:nvPr/>
        </p:nvSpPr>
        <p:spPr>
          <a:xfrm>
            <a:off x="685800" y="3246120"/>
            <a:ext cx="10012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35266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Một timestamp có thể sinh ra nhiều đặc trưng thời gian hữu ích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20"/>
          <p:cNvSpPr/>
          <p:nvPr/>
        </p:nvSpPr>
        <p:spPr>
          <a:xfrm>
            <a:off x="685800" y="4937760"/>
            <a:ext cx="5212080" cy="5029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20"/>
          <p:cNvSpPr/>
          <p:nvPr/>
        </p:nvSpPr>
        <p:spPr>
          <a:xfrm>
            <a:off x="6016752" y="4937760"/>
            <a:ext cx="1143000" cy="50292"/>
          </a:xfrm>
          <a:prstGeom prst="rect">
            <a:avLst/>
          </a:prstGeom>
          <a:solidFill>
            <a:srgbClr val="85B51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20"/>
          <p:cNvSpPr/>
          <p:nvPr/>
        </p:nvSpPr>
        <p:spPr>
          <a:xfrm>
            <a:off x="11414455" y="651052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F5F5F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21"/>
          <p:cNvSpPr/>
          <p:nvPr/>
        </p:nvSpPr>
        <p:spPr>
          <a:xfrm>
            <a:off x="0" y="0"/>
            <a:ext cx="12191695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21"/>
          <p:cNvSpPr/>
          <p:nvPr/>
        </p:nvSpPr>
        <p:spPr>
          <a:xfrm flipH="1">
            <a:off x="8339328" y="0"/>
            <a:ext cx="640080" cy="210312"/>
          </a:xfrm>
          <a:prstGeom prst="parallelogram">
            <a:avLst>
              <a:gd fmla="val 25000" name="adj"/>
            </a:avLst>
          </a:prstGeom>
          <a:solidFill>
            <a:srgbClr val="8497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21"/>
          <p:cNvSpPr/>
          <p:nvPr/>
        </p:nvSpPr>
        <p:spPr>
          <a:xfrm flipH="1">
            <a:off x="8732520" y="0"/>
            <a:ext cx="969264" cy="1005840"/>
          </a:xfrm>
          <a:prstGeom prst="parallelogram">
            <a:avLst>
              <a:gd fmla="val 25000" name="adj"/>
            </a:avLst>
          </a:prstGeom>
          <a:solidFill>
            <a:srgbClr val="85B51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21"/>
          <p:cNvSpPr/>
          <p:nvPr/>
        </p:nvSpPr>
        <p:spPr>
          <a:xfrm flipH="1">
            <a:off x="9747504" y="0"/>
            <a:ext cx="1005840" cy="1005840"/>
          </a:xfrm>
          <a:prstGeom prst="parallelogram">
            <a:avLst>
              <a:gd fmla="val 25000" name="adj"/>
            </a:avLst>
          </a:prstGeom>
          <a:solidFill>
            <a:srgbClr val="0F3F6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21"/>
          <p:cNvSpPr/>
          <p:nvPr/>
        </p:nvSpPr>
        <p:spPr>
          <a:xfrm>
            <a:off x="530352" y="237744"/>
            <a:ext cx="97840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3F6F"/>
              </a:buClr>
              <a:buSzPts val="2100"/>
              <a:buFont typeface="Arial"/>
              <a:buNone/>
            </a:pPr>
            <a:r>
              <a:rPr b="1" lang="en-US" sz="21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Tạo Feature từ dữ liệu ngày tháng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21"/>
          <p:cNvSpPr/>
          <p:nvPr/>
        </p:nvSpPr>
        <p:spPr>
          <a:xfrm>
            <a:off x="548640" y="969264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497A5"/>
              </a:buClr>
              <a:buSzPts val="1100"/>
              <a:buFont typeface="Arial"/>
              <a:buNone/>
            </a:pPr>
            <a:r>
              <a:rPr i="1" lang="en-US" sz="1100">
                <a:solidFill>
                  <a:srgbClr val="8497A5"/>
                </a:solidFill>
                <a:latin typeface="Arial"/>
                <a:ea typeface="Arial"/>
                <a:cs typeface="Arial"/>
                <a:sym typeface="Arial"/>
              </a:rPr>
              <a:t>7.8. Tạo Feature từ ngày tháng · Bài 07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21"/>
          <p:cNvSpPr/>
          <p:nvPr/>
        </p:nvSpPr>
        <p:spPr>
          <a:xfrm>
            <a:off x="548640" y="1298448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3F6F"/>
              </a:buClr>
              <a:buSzPts val="1250"/>
              <a:buFont typeface="Arial"/>
              <a:buNone/>
            </a:pPr>
            <a:r>
              <a:rPr b="1" lang="en-US" sz="125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Từ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21"/>
          <p:cNvSpPr/>
          <p:nvPr/>
        </p:nvSpPr>
        <p:spPr>
          <a:xfrm>
            <a:off x="548640" y="1627632"/>
            <a:ext cx="3291840" cy="502920"/>
          </a:xfrm>
          <a:prstGeom prst="roundRect">
            <a:avLst>
              <a:gd fmla="val 10909" name="adj"/>
            </a:avLst>
          </a:prstGeom>
          <a:solidFill>
            <a:srgbClr val="1B2A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21"/>
          <p:cNvSpPr/>
          <p:nvPr/>
        </p:nvSpPr>
        <p:spPr>
          <a:xfrm>
            <a:off x="749808" y="1737360"/>
            <a:ext cx="2889504" cy="2834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8EEF5"/>
              </a:buClr>
              <a:buSzPts val="1150"/>
              <a:buFont typeface="Consolas"/>
              <a:buNone/>
            </a:pPr>
            <a:r>
              <a:rPr lang="en-US" sz="1150">
                <a:solidFill>
                  <a:srgbClr val="E8EEF5"/>
                </a:solidFill>
                <a:latin typeface="Consolas"/>
                <a:ea typeface="Consolas"/>
                <a:cs typeface="Consolas"/>
                <a:sym typeface="Consolas"/>
              </a:rPr>
              <a:t>2026-08-14 10:30:00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21"/>
          <p:cNvSpPr/>
          <p:nvPr/>
        </p:nvSpPr>
        <p:spPr>
          <a:xfrm>
            <a:off x="4206240" y="1627632"/>
            <a:ext cx="1188720" cy="502920"/>
          </a:xfrm>
          <a:prstGeom prst="roundRect">
            <a:avLst>
              <a:gd fmla="val 50000" name="adj"/>
            </a:avLst>
          </a:prstGeom>
          <a:solidFill>
            <a:srgbClr val="E7EE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21"/>
          <p:cNvSpPr/>
          <p:nvPr/>
        </p:nvSpPr>
        <p:spPr>
          <a:xfrm>
            <a:off x="4206240" y="1627632"/>
            <a:ext cx="1188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3F6F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Year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21"/>
          <p:cNvSpPr/>
          <p:nvPr/>
        </p:nvSpPr>
        <p:spPr>
          <a:xfrm>
            <a:off x="5504688" y="1627632"/>
            <a:ext cx="1188720" cy="502920"/>
          </a:xfrm>
          <a:prstGeom prst="roundRect">
            <a:avLst>
              <a:gd fmla="val 50000" name="adj"/>
            </a:avLst>
          </a:prstGeom>
          <a:solidFill>
            <a:srgbClr val="E7EE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21"/>
          <p:cNvSpPr/>
          <p:nvPr/>
        </p:nvSpPr>
        <p:spPr>
          <a:xfrm>
            <a:off x="5504688" y="1627632"/>
            <a:ext cx="1188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3F6F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Month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21"/>
          <p:cNvSpPr/>
          <p:nvPr/>
        </p:nvSpPr>
        <p:spPr>
          <a:xfrm>
            <a:off x="6803136" y="1627632"/>
            <a:ext cx="1188720" cy="502920"/>
          </a:xfrm>
          <a:prstGeom prst="roundRect">
            <a:avLst>
              <a:gd fmla="val 50000" name="adj"/>
            </a:avLst>
          </a:prstGeom>
          <a:solidFill>
            <a:srgbClr val="E7EE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21"/>
          <p:cNvSpPr/>
          <p:nvPr/>
        </p:nvSpPr>
        <p:spPr>
          <a:xfrm>
            <a:off x="6803136" y="1627632"/>
            <a:ext cx="1188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3F6F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Day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21"/>
          <p:cNvSpPr/>
          <p:nvPr/>
        </p:nvSpPr>
        <p:spPr>
          <a:xfrm>
            <a:off x="8101584" y="1627632"/>
            <a:ext cx="1188720" cy="502920"/>
          </a:xfrm>
          <a:prstGeom prst="roundRect">
            <a:avLst>
              <a:gd fmla="val 50000" name="adj"/>
            </a:avLst>
          </a:prstGeom>
          <a:solidFill>
            <a:srgbClr val="E7EE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21"/>
          <p:cNvSpPr/>
          <p:nvPr/>
        </p:nvSpPr>
        <p:spPr>
          <a:xfrm>
            <a:off x="8101584" y="1627632"/>
            <a:ext cx="1188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3F6F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Day of week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21"/>
          <p:cNvSpPr/>
          <p:nvPr/>
        </p:nvSpPr>
        <p:spPr>
          <a:xfrm>
            <a:off x="9400032" y="1627632"/>
            <a:ext cx="1188720" cy="502920"/>
          </a:xfrm>
          <a:prstGeom prst="roundRect">
            <a:avLst>
              <a:gd fmla="val 50000" name="adj"/>
            </a:avLst>
          </a:prstGeom>
          <a:solidFill>
            <a:srgbClr val="E7EE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21"/>
          <p:cNvSpPr/>
          <p:nvPr/>
        </p:nvSpPr>
        <p:spPr>
          <a:xfrm>
            <a:off x="9400032" y="1627632"/>
            <a:ext cx="1188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3F6F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Hour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21"/>
          <p:cNvSpPr/>
          <p:nvPr/>
        </p:nvSpPr>
        <p:spPr>
          <a:xfrm>
            <a:off x="10698480" y="1627632"/>
            <a:ext cx="1188720" cy="502920"/>
          </a:xfrm>
          <a:prstGeom prst="roundRect">
            <a:avLst>
              <a:gd fmla="val 50000" name="adj"/>
            </a:avLst>
          </a:prstGeom>
          <a:solidFill>
            <a:srgbClr val="E7EE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21"/>
          <p:cNvSpPr/>
          <p:nvPr/>
        </p:nvSpPr>
        <p:spPr>
          <a:xfrm>
            <a:off x="10698480" y="1627632"/>
            <a:ext cx="1188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3F6F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Weekend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21"/>
          <p:cNvSpPr/>
          <p:nvPr/>
        </p:nvSpPr>
        <p:spPr>
          <a:xfrm>
            <a:off x="548640" y="242316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3F6F"/>
              </a:buClr>
              <a:buSzPts val="1250"/>
              <a:buFont typeface="Arial"/>
              <a:buNone/>
            </a:pPr>
            <a:r>
              <a:rPr b="1" lang="en-US" sz="125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Ví dụ code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21"/>
          <p:cNvSpPr/>
          <p:nvPr/>
        </p:nvSpPr>
        <p:spPr>
          <a:xfrm>
            <a:off x="548640" y="2770632"/>
            <a:ext cx="11109960" cy="960120"/>
          </a:xfrm>
          <a:prstGeom prst="roundRect">
            <a:avLst>
              <a:gd fmla="val 5714" name="adj"/>
            </a:avLst>
          </a:prstGeom>
          <a:solidFill>
            <a:srgbClr val="1B2A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21"/>
          <p:cNvSpPr/>
          <p:nvPr/>
        </p:nvSpPr>
        <p:spPr>
          <a:xfrm>
            <a:off x="749808" y="2880360"/>
            <a:ext cx="10707624" cy="740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8EEF5"/>
              </a:buClr>
              <a:buSzPts val="1200"/>
              <a:buFont typeface="Consolas"/>
              <a:buNone/>
            </a:pPr>
            <a:r>
              <a:rPr lang="en-US" sz="1200">
                <a:solidFill>
                  <a:srgbClr val="E8EEF5"/>
                </a:solidFill>
                <a:latin typeface="Consolas"/>
                <a:ea typeface="Consolas"/>
                <a:cs typeface="Consolas"/>
                <a:sym typeface="Consolas"/>
              </a:rPr>
              <a:t>df["month"] = df["date"].dt.month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8EEF5"/>
              </a:buClr>
              <a:buSzPts val="1200"/>
              <a:buFont typeface="Consolas"/>
              <a:buNone/>
            </a:pPr>
            <a:r>
              <a:rPr lang="en-US" sz="1200">
                <a:solidFill>
                  <a:srgbClr val="E8EEF5"/>
                </a:solidFill>
                <a:latin typeface="Consolas"/>
                <a:ea typeface="Consolas"/>
                <a:cs typeface="Consolas"/>
                <a:sym typeface="Consolas"/>
              </a:rPr>
              <a:t>df["day_of_week"] = df["date"].dt.dayofweek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21"/>
          <p:cNvSpPr/>
          <p:nvPr/>
        </p:nvSpPr>
        <p:spPr>
          <a:xfrm>
            <a:off x="548640" y="3977640"/>
            <a:ext cx="11109960" cy="868680"/>
          </a:xfrm>
          <a:prstGeom prst="roundRect">
            <a:avLst>
              <a:gd fmla="val 6316" name="adj"/>
            </a:avLst>
          </a:prstGeom>
          <a:solidFill>
            <a:srgbClr val="F0F4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21"/>
          <p:cNvSpPr/>
          <p:nvPr/>
        </p:nvSpPr>
        <p:spPr>
          <a:xfrm>
            <a:off x="777240" y="3977640"/>
            <a:ext cx="106527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35266"/>
              </a:buClr>
              <a:buSzPts val="1200"/>
              <a:buFont typeface="Arial"/>
              <a:buNone/>
            </a:pPr>
            <a:r>
              <a:rPr i="1" lang="en-US" sz="12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Feature thời gian đặc biệt hữu ích để phát hiện quy luật theo mùa, theo ngày trong tuần hoặc giờ cao điểm.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2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F5F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Bài 7. Tích hợp dữ liệu và Feature Engineering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21"/>
          <p:cNvSpPr/>
          <p:nvPr/>
        </p:nvSpPr>
        <p:spPr>
          <a:xfrm>
            <a:off x="11414455" y="651052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F5F5F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21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22"/>
          <p:cNvSpPr/>
          <p:nvPr/>
        </p:nvSpPr>
        <p:spPr>
          <a:xfrm>
            <a:off x="0" y="0"/>
            <a:ext cx="12191695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22"/>
          <p:cNvSpPr/>
          <p:nvPr/>
        </p:nvSpPr>
        <p:spPr>
          <a:xfrm flipH="1">
            <a:off x="8339328" y="0"/>
            <a:ext cx="640080" cy="210312"/>
          </a:xfrm>
          <a:prstGeom prst="parallelogram">
            <a:avLst>
              <a:gd fmla="val 25000" name="adj"/>
            </a:avLst>
          </a:prstGeom>
          <a:solidFill>
            <a:srgbClr val="8497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22"/>
          <p:cNvSpPr/>
          <p:nvPr/>
        </p:nvSpPr>
        <p:spPr>
          <a:xfrm flipH="1">
            <a:off x="8732520" y="0"/>
            <a:ext cx="969264" cy="1005840"/>
          </a:xfrm>
          <a:prstGeom prst="parallelogram">
            <a:avLst>
              <a:gd fmla="val 25000" name="adj"/>
            </a:avLst>
          </a:prstGeom>
          <a:solidFill>
            <a:srgbClr val="85B51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p22"/>
          <p:cNvSpPr/>
          <p:nvPr/>
        </p:nvSpPr>
        <p:spPr>
          <a:xfrm flipH="1">
            <a:off x="9747504" y="0"/>
            <a:ext cx="1005840" cy="1005840"/>
          </a:xfrm>
          <a:prstGeom prst="parallelogram">
            <a:avLst>
              <a:gd fmla="val 25000" name="adj"/>
            </a:avLst>
          </a:prstGeom>
          <a:solidFill>
            <a:srgbClr val="0F3F6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22"/>
          <p:cNvSpPr/>
          <p:nvPr/>
        </p:nvSpPr>
        <p:spPr>
          <a:xfrm>
            <a:off x="658368" y="1371600"/>
            <a:ext cx="3200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5B518"/>
              </a:buClr>
              <a:buSzPts val="1900"/>
              <a:buFont typeface="Arial"/>
              <a:buNone/>
            </a:pPr>
            <a:r>
              <a:rPr b="1" lang="en-US" sz="1900">
                <a:solidFill>
                  <a:srgbClr val="85B518"/>
                </a:solidFill>
                <a:latin typeface="Arial"/>
                <a:ea typeface="Arial"/>
                <a:cs typeface="Arial"/>
                <a:sym typeface="Arial"/>
              </a:rPr>
              <a:t>PHẦN 7.9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22"/>
          <p:cNvSpPr/>
          <p:nvPr/>
        </p:nvSpPr>
        <p:spPr>
          <a:xfrm>
            <a:off x="658368" y="1965960"/>
            <a:ext cx="102412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3F6F"/>
              </a:buClr>
              <a:buSzPts val="3400"/>
              <a:buFont typeface="Arial"/>
              <a:buNone/>
            </a:pPr>
            <a:r>
              <a:rPr b="1" lang="en-US" sz="34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Tạo Feature từ dữ liệu số</a:t>
            </a:r>
            <a:endParaRPr sz="3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22"/>
          <p:cNvSpPr/>
          <p:nvPr/>
        </p:nvSpPr>
        <p:spPr>
          <a:xfrm>
            <a:off x="685800" y="3246120"/>
            <a:ext cx="10012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35266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Feature mới phải có ý nghĩa nghiệp vụ, không phải càng nhiều càng tốt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22"/>
          <p:cNvSpPr/>
          <p:nvPr/>
        </p:nvSpPr>
        <p:spPr>
          <a:xfrm>
            <a:off x="685800" y="4937760"/>
            <a:ext cx="5212080" cy="5029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22"/>
          <p:cNvSpPr/>
          <p:nvPr/>
        </p:nvSpPr>
        <p:spPr>
          <a:xfrm>
            <a:off x="6016752" y="4937760"/>
            <a:ext cx="1143000" cy="50292"/>
          </a:xfrm>
          <a:prstGeom prst="rect">
            <a:avLst/>
          </a:prstGeom>
          <a:solidFill>
            <a:srgbClr val="85B51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22"/>
          <p:cNvSpPr/>
          <p:nvPr/>
        </p:nvSpPr>
        <p:spPr>
          <a:xfrm>
            <a:off x="11414455" y="651052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F5F5F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22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23"/>
          <p:cNvSpPr/>
          <p:nvPr/>
        </p:nvSpPr>
        <p:spPr>
          <a:xfrm>
            <a:off x="0" y="0"/>
            <a:ext cx="12191695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23"/>
          <p:cNvSpPr/>
          <p:nvPr/>
        </p:nvSpPr>
        <p:spPr>
          <a:xfrm flipH="1">
            <a:off x="8339328" y="0"/>
            <a:ext cx="640080" cy="210312"/>
          </a:xfrm>
          <a:prstGeom prst="parallelogram">
            <a:avLst>
              <a:gd fmla="val 25000" name="adj"/>
            </a:avLst>
          </a:prstGeom>
          <a:solidFill>
            <a:srgbClr val="8497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23"/>
          <p:cNvSpPr/>
          <p:nvPr/>
        </p:nvSpPr>
        <p:spPr>
          <a:xfrm flipH="1">
            <a:off x="8732520" y="0"/>
            <a:ext cx="969264" cy="1005840"/>
          </a:xfrm>
          <a:prstGeom prst="parallelogram">
            <a:avLst>
              <a:gd fmla="val 25000" name="adj"/>
            </a:avLst>
          </a:prstGeom>
          <a:solidFill>
            <a:srgbClr val="85B51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23"/>
          <p:cNvSpPr/>
          <p:nvPr/>
        </p:nvSpPr>
        <p:spPr>
          <a:xfrm flipH="1">
            <a:off x="9747504" y="0"/>
            <a:ext cx="1005840" cy="1005840"/>
          </a:xfrm>
          <a:prstGeom prst="parallelogram">
            <a:avLst>
              <a:gd fmla="val 25000" name="adj"/>
            </a:avLst>
          </a:prstGeom>
          <a:solidFill>
            <a:srgbClr val="0F3F6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23"/>
          <p:cNvSpPr/>
          <p:nvPr/>
        </p:nvSpPr>
        <p:spPr>
          <a:xfrm>
            <a:off x="530352" y="237744"/>
            <a:ext cx="97840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3F6F"/>
              </a:buClr>
              <a:buSzPts val="2100"/>
              <a:buFont typeface="Arial"/>
              <a:buNone/>
            </a:pPr>
            <a:r>
              <a:rPr b="1" lang="en-US" sz="21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Tạo Feature từ dữ liệu số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23"/>
          <p:cNvSpPr/>
          <p:nvPr/>
        </p:nvSpPr>
        <p:spPr>
          <a:xfrm>
            <a:off x="548640" y="969264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497A5"/>
              </a:buClr>
              <a:buSzPts val="1100"/>
              <a:buFont typeface="Arial"/>
              <a:buNone/>
            </a:pPr>
            <a:r>
              <a:rPr i="1" lang="en-US" sz="1100">
                <a:solidFill>
                  <a:srgbClr val="8497A5"/>
                </a:solidFill>
                <a:latin typeface="Arial"/>
                <a:ea typeface="Arial"/>
                <a:cs typeface="Arial"/>
                <a:sym typeface="Arial"/>
              </a:rPr>
              <a:t>7.9. Tạo Feature từ dữ liệu số · Bài 07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23"/>
          <p:cNvSpPr/>
          <p:nvPr/>
        </p:nvSpPr>
        <p:spPr>
          <a:xfrm>
            <a:off x="548640" y="13258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3F6F"/>
              </a:buClr>
              <a:buSzPts val="1250"/>
              <a:buFont typeface="Arial"/>
              <a:buNone/>
            </a:pPr>
            <a:r>
              <a:rPr b="1" lang="en-US" sz="125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Ví dụ 1 — Lợi nhuận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23"/>
          <p:cNvSpPr/>
          <p:nvPr/>
        </p:nvSpPr>
        <p:spPr>
          <a:xfrm>
            <a:off x="548640" y="1673352"/>
            <a:ext cx="11109960" cy="548640"/>
          </a:xfrm>
          <a:prstGeom prst="roundRect">
            <a:avLst>
              <a:gd fmla="val 10000" name="adj"/>
            </a:avLst>
          </a:prstGeom>
          <a:solidFill>
            <a:srgbClr val="1B2A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1" name="Google Shape;531;p23"/>
          <p:cNvSpPr/>
          <p:nvPr/>
        </p:nvSpPr>
        <p:spPr>
          <a:xfrm>
            <a:off x="749808" y="1783080"/>
            <a:ext cx="10707624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8EEF5"/>
              </a:buClr>
              <a:buSzPts val="1200"/>
              <a:buFont typeface="Consolas"/>
              <a:buNone/>
            </a:pPr>
            <a:r>
              <a:rPr lang="en-US" sz="1200">
                <a:solidFill>
                  <a:srgbClr val="E8EEF5"/>
                </a:solidFill>
                <a:latin typeface="Consolas"/>
                <a:ea typeface="Consolas"/>
                <a:cs typeface="Consolas"/>
                <a:sym typeface="Consolas"/>
              </a:rPr>
              <a:t>df["profit"] = df["revenue"] - df["cost"]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23"/>
          <p:cNvSpPr/>
          <p:nvPr/>
        </p:nvSpPr>
        <p:spPr>
          <a:xfrm>
            <a:off x="548640" y="237744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3F6F"/>
              </a:buClr>
              <a:buSzPts val="1250"/>
              <a:buFont typeface="Arial"/>
              <a:buNone/>
            </a:pPr>
            <a:r>
              <a:rPr b="1" lang="en-US" sz="125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Ví dụ 2 — Giá trị đơn hàng trung bình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23"/>
          <p:cNvSpPr/>
          <p:nvPr/>
        </p:nvSpPr>
        <p:spPr>
          <a:xfrm>
            <a:off x="548640" y="2724912"/>
            <a:ext cx="11109960" cy="914400"/>
          </a:xfrm>
          <a:prstGeom prst="roundRect">
            <a:avLst>
              <a:gd fmla="val 6000" name="adj"/>
            </a:avLst>
          </a:prstGeom>
          <a:solidFill>
            <a:srgbClr val="1B2A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23"/>
          <p:cNvSpPr/>
          <p:nvPr/>
        </p:nvSpPr>
        <p:spPr>
          <a:xfrm>
            <a:off x="749808" y="2834640"/>
            <a:ext cx="10707624" cy="6949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8EEF5"/>
              </a:buClr>
              <a:buSzPts val="1200"/>
              <a:buFont typeface="Consolas"/>
              <a:buNone/>
            </a:pPr>
            <a:r>
              <a:rPr lang="en-US" sz="1200">
                <a:solidFill>
                  <a:srgbClr val="E8EEF5"/>
                </a:solidFill>
                <a:latin typeface="Consolas"/>
                <a:ea typeface="Consolas"/>
                <a:cs typeface="Consolas"/>
                <a:sym typeface="Consolas"/>
              </a:rPr>
              <a:t>df["avg_order_value"] = (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8EEF5"/>
              </a:buClr>
              <a:buSzPts val="1200"/>
              <a:buFont typeface="Consolas"/>
              <a:buNone/>
            </a:pPr>
            <a:r>
              <a:rPr lang="en-US" sz="1200">
                <a:solidFill>
                  <a:srgbClr val="E8EEF5"/>
                </a:solidFill>
                <a:latin typeface="Consolas"/>
                <a:ea typeface="Consolas"/>
                <a:cs typeface="Consolas"/>
                <a:sym typeface="Consolas"/>
              </a:rPr>
              <a:t>    df["total_amount"] / df["number_orders"]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8EEF5"/>
              </a:buClr>
              <a:buSzPts val="1200"/>
              <a:buFont typeface="Consolas"/>
              <a:buNone/>
            </a:pPr>
            <a:r>
              <a:rPr lang="en-US" sz="1200">
                <a:solidFill>
                  <a:srgbClr val="E8EEF5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23"/>
          <p:cNvSpPr/>
          <p:nvPr/>
        </p:nvSpPr>
        <p:spPr>
          <a:xfrm>
            <a:off x="548640" y="3840480"/>
            <a:ext cx="11109960" cy="1371600"/>
          </a:xfrm>
          <a:prstGeom prst="roundRect">
            <a:avLst>
              <a:gd fmla="val 5333" name="adj"/>
            </a:avLst>
          </a:prstGeom>
          <a:solidFill>
            <a:srgbClr val="F0F4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p23"/>
          <p:cNvSpPr/>
          <p:nvPr/>
        </p:nvSpPr>
        <p:spPr>
          <a:xfrm>
            <a:off x="777240" y="3977640"/>
            <a:ext cx="10652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3F6F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Thông điệp cần nhấn mạnh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23"/>
          <p:cNvSpPr/>
          <p:nvPr/>
        </p:nvSpPr>
        <p:spPr>
          <a:xfrm>
            <a:off x="777240" y="4315968"/>
            <a:ext cx="106527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35266"/>
              </a:buClr>
              <a:buSzPts val="1150"/>
              <a:buFont typeface="Arial"/>
              <a:buNone/>
            </a:pPr>
            <a:r>
              <a:rPr lang="en-US" sz="115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Feature mới phải có ý nghĩa nghiệp vụ rõ ràng — không phải cứ tạo càng nhiều cột càng tốt. Feature không có ý nghĩa chỉ làm dataset phức tạp và khó bảo trì hơn.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2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F5F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Bài 7. Tích hợp dữ liệu và Feature Engineering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23"/>
          <p:cNvSpPr/>
          <p:nvPr/>
        </p:nvSpPr>
        <p:spPr>
          <a:xfrm>
            <a:off x="11414455" y="651052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F5F5F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23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24"/>
          <p:cNvSpPr/>
          <p:nvPr/>
        </p:nvSpPr>
        <p:spPr>
          <a:xfrm>
            <a:off x="0" y="0"/>
            <a:ext cx="12191695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6" name="Google Shape;546;p24"/>
          <p:cNvSpPr/>
          <p:nvPr/>
        </p:nvSpPr>
        <p:spPr>
          <a:xfrm flipH="1">
            <a:off x="8339328" y="0"/>
            <a:ext cx="640080" cy="210312"/>
          </a:xfrm>
          <a:prstGeom prst="parallelogram">
            <a:avLst>
              <a:gd fmla="val 25000" name="adj"/>
            </a:avLst>
          </a:prstGeom>
          <a:solidFill>
            <a:srgbClr val="8497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24"/>
          <p:cNvSpPr/>
          <p:nvPr/>
        </p:nvSpPr>
        <p:spPr>
          <a:xfrm flipH="1">
            <a:off x="8732520" y="0"/>
            <a:ext cx="969264" cy="1005840"/>
          </a:xfrm>
          <a:prstGeom prst="parallelogram">
            <a:avLst>
              <a:gd fmla="val 25000" name="adj"/>
            </a:avLst>
          </a:prstGeom>
          <a:solidFill>
            <a:srgbClr val="85B51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24"/>
          <p:cNvSpPr/>
          <p:nvPr/>
        </p:nvSpPr>
        <p:spPr>
          <a:xfrm flipH="1">
            <a:off x="9747504" y="0"/>
            <a:ext cx="1005840" cy="1005840"/>
          </a:xfrm>
          <a:prstGeom prst="parallelogram">
            <a:avLst>
              <a:gd fmla="val 25000" name="adj"/>
            </a:avLst>
          </a:prstGeom>
          <a:solidFill>
            <a:srgbClr val="0F3F6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9" name="Google Shape;549;p24"/>
          <p:cNvSpPr/>
          <p:nvPr/>
        </p:nvSpPr>
        <p:spPr>
          <a:xfrm>
            <a:off x="658368" y="1371600"/>
            <a:ext cx="3200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5B518"/>
              </a:buClr>
              <a:buSzPts val="1900"/>
              <a:buFont typeface="Arial"/>
              <a:buNone/>
            </a:pPr>
            <a:r>
              <a:rPr b="1" lang="en-US" sz="1900">
                <a:solidFill>
                  <a:srgbClr val="85B518"/>
                </a:solidFill>
                <a:latin typeface="Arial"/>
                <a:ea typeface="Arial"/>
                <a:cs typeface="Arial"/>
                <a:sym typeface="Arial"/>
              </a:rPr>
              <a:t>PHẦN 7.10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24"/>
          <p:cNvSpPr/>
          <p:nvPr/>
        </p:nvSpPr>
        <p:spPr>
          <a:xfrm>
            <a:off x="658368" y="1965960"/>
            <a:ext cx="102412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3F6F"/>
              </a:buClr>
              <a:buSzPts val="3400"/>
              <a:buFont typeface="Arial"/>
              <a:buNone/>
            </a:pPr>
            <a:r>
              <a:rPr b="1" lang="en-US" sz="34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Tạo Feature từ dữ liệu phân loại</a:t>
            </a:r>
            <a:endParaRPr sz="3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24"/>
          <p:cNvSpPr/>
          <p:nvPr/>
        </p:nvSpPr>
        <p:spPr>
          <a:xfrm>
            <a:off x="685800" y="3246120"/>
            <a:ext cx="10012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35266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Chuyển giá trị số liên tục thành các nhóm phân loại có ý nghĩa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24"/>
          <p:cNvSpPr/>
          <p:nvPr/>
        </p:nvSpPr>
        <p:spPr>
          <a:xfrm>
            <a:off x="685800" y="4937760"/>
            <a:ext cx="5212080" cy="5029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p24"/>
          <p:cNvSpPr/>
          <p:nvPr/>
        </p:nvSpPr>
        <p:spPr>
          <a:xfrm>
            <a:off x="6016752" y="4937760"/>
            <a:ext cx="1143000" cy="50292"/>
          </a:xfrm>
          <a:prstGeom prst="rect">
            <a:avLst/>
          </a:prstGeom>
          <a:solidFill>
            <a:srgbClr val="85B51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p24"/>
          <p:cNvSpPr/>
          <p:nvPr/>
        </p:nvSpPr>
        <p:spPr>
          <a:xfrm>
            <a:off x="11414455" y="651052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F5F5F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24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25"/>
          <p:cNvSpPr/>
          <p:nvPr/>
        </p:nvSpPr>
        <p:spPr>
          <a:xfrm>
            <a:off x="0" y="0"/>
            <a:ext cx="12191695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1" name="Google Shape;561;p25"/>
          <p:cNvSpPr/>
          <p:nvPr/>
        </p:nvSpPr>
        <p:spPr>
          <a:xfrm flipH="1">
            <a:off x="8339328" y="0"/>
            <a:ext cx="640080" cy="210312"/>
          </a:xfrm>
          <a:prstGeom prst="parallelogram">
            <a:avLst>
              <a:gd fmla="val 25000" name="adj"/>
            </a:avLst>
          </a:prstGeom>
          <a:solidFill>
            <a:srgbClr val="8497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25"/>
          <p:cNvSpPr/>
          <p:nvPr/>
        </p:nvSpPr>
        <p:spPr>
          <a:xfrm flipH="1">
            <a:off x="8732520" y="0"/>
            <a:ext cx="969264" cy="1005840"/>
          </a:xfrm>
          <a:prstGeom prst="parallelogram">
            <a:avLst>
              <a:gd fmla="val 25000" name="adj"/>
            </a:avLst>
          </a:prstGeom>
          <a:solidFill>
            <a:srgbClr val="85B51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3" name="Google Shape;563;p25"/>
          <p:cNvSpPr/>
          <p:nvPr/>
        </p:nvSpPr>
        <p:spPr>
          <a:xfrm flipH="1">
            <a:off x="9747504" y="0"/>
            <a:ext cx="1005840" cy="1005840"/>
          </a:xfrm>
          <a:prstGeom prst="parallelogram">
            <a:avLst>
              <a:gd fmla="val 25000" name="adj"/>
            </a:avLst>
          </a:prstGeom>
          <a:solidFill>
            <a:srgbClr val="0F3F6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4" name="Google Shape;564;p25"/>
          <p:cNvSpPr/>
          <p:nvPr/>
        </p:nvSpPr>
        <p:spPr>
          <a:xfrm>
            <a:off x="530352" y="237744"/>
            <a:ext cx="97840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3F6F"/>
              </a:buClr>
              <a:buSzPts val="2100"/>
              <a:buFont typeface="Arial"/>
              <a:buNone/>
            </a:pPr>
            <a:r>
              <a:rPr b="1" lang="en-US" sz="21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Tạo Feature phân loại từ giá trị số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25"/>
          <p:cNvSpPr/>
          <p:nvPr/>
        </p:nvSpPr>
        <p:spPr>
          <a:xfrm>
            <a:off x="548640" y="969264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497A5"/>
              </a:buClr>
              <a:buSzPts val="1100"/>
              <a:buFont typeface="Arial"/>
              <a:buNone/>
            </a:pPr>
            <a:r>
              <a:rPr i="1" lang="en-US" sz="1100">
                <a:solidFill>
                  <a:srgbClr val="8497A5"/>
                </a:solidFill>
                <a:latin typeface="Arial"/>
                <a:ea typeface="Arial"/>
                <a:cs typeface="Arial"/>
                <a:sym typeface="Arial"/>
              </a:rPr>
              <a:t>7.10. Tạo Feature từ dữ liệu phân loại · Bài 07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25"/>
          <p:cNvSpPr/>
          <p:nvPr/>
        </p:nvSpPr>
        <p:spPr>
          <a:xfrm>
            <a:off x="548640" y="1325880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Từ amount liên tục, tạo ra một cột phân loại: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25"/>
          <p:cNvSpPr/>
          <p:nvPr/>
        </p:nvSpPr>
        <p:spPr>
          <a:xfrm>
            <a:off x="548640" y="1737360"/>
            <a:ext cx="1645920" cy="502920"/>
          </a:xfrm>
          <a:prstGeom prst="roundRect">
            <a:avLst>
              <a:gd fmla="val 49091" name="adj"/>
            </a:avLst>
          </a:prstGeom>
          <a:solidFill>
            <a:srgbClr val="3E9B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8" name="Google Shape;568;p25"/>
          <p:cNvSpPr/>
          <p:nvPr/>
        </p:nvSpPr>
        <p:spPr>
          <a:xfrm>
            <a:off x="548640" y="1737360"/>
            <a:ext cx="1645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Low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25"/>
          <p:cNvSpPr/>
          <p:nvPr/>
        </p:nvSpPr>
        <p:spPr>
          <a:xfrm>
            <a:off x="2377440" y="1737360"/>
            <a:ext cx="1645920" cy="502920"/>
          </a:xfrm>
          <a:prstGeom prst="roundRect">
            <a:avLst>
              <a:gd fmla="val 49091" name="adj"/>
            </a:avLst>
          </a:prstGeom>
          <a:solidFill>
            <a:srgbClr val="D4A01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25"/>
          <p:cNvSpPr/>
          <p:nvPr/>
        </p:nvSpPr>
        <p:spPr>
          <a:xfrm>
            <a:off x="2377440" y="1737360"/>
            <a:ext cx="1645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Medium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25"/>
          <p:cNvSpPr/>
          <p:nvPr/>
        </p:nvSpPr>
        <p:spPr>
          <a:xfrm>
            <a:off x="4206240" y="1737360"/>
            <a:ext cx="1645920" cy="502920"/>
          </a:xfrm>
          <a:prstGeom prst="roundRect">
            <a:avLst>
              <a:gd fmla="val 49091" name="adj"/>
            </a:avLst>
          </a:prstGeom>
          <a:solidFill>
            <a:srgbClr val="C039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2" name="Google Shape;572;p25"/>
          <p:cNvSpPr/>
          <p:nvPr/>
        </p:nvSpPr>
        <p:spPr>
          <a:xfrm>
            <a:off x="4206240" y="1737360"/>
            <a:ext cx="1645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High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25"/>
          <p:cNvSpPr/>
          <p:nvPr/>
        </p:nvSpPr>
        <p:spPr>
          <a:xfrm>
            <a:off x="548640" y="251460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3F6F"/>
              </a:buClr>
              <a:buSzPts val="1250"/>
              <a:buFont typeface="Arial"/>
              <a:buNone/>
            </a:pPr>
            <a:r>
              <a:rPr b="1" lang="en-US" sz="125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Ví dụ code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25"/>
          <p:cNvSpPr/>
          <p:nvPr/>
        </p:nvSpPr>
        <p:spPr>
          <a:xfrm>
            <a:off x="548640" y="2862072"/>
            <a:ext cx="11109960" cy="1371600"/>
          </a:xfrm>
          <a:prstGeom prst="roundRect">
            <a:avLst>
              <a:gd fmla="val 4000" name="adj"/>
            </a:avLst>
          </a:prstGeom>
          <a:solidFill>
            <a:srgbClr val="1B2A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5" name="Google Shape;575;p25"/>
          <p:cNvSpPr/>
          <p:nvPr/>
        </p:nvSpPr>
        <p:spPr>
          <a:xfrm>
            <a:off x="749808" y="2971800"/>
            <a:ext cx="10707624" cy="11521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8EEF5"/>
              </a:buClr>
              <a:buSzPts val="1100"/>
              <a:buFont typeface="Consolas"/>
              <a:buNone/>
            </a:pPr>
            <a:r>
              <a:rPr lang="en-US" sz="1100">
                <a:solidFill>
                  <a:srgbClr val="E8EEF5"/>
                </a:solidFill>
                <a:latin typeface="Consolas"/>
                <a:ea typeface="Consolas"/>
                <a:cs typeface="Consolas"/>
                <a:sym typeface="Consolas"/>
              </a:rPr>
              <a:t>df["customer_segment"] = pd.cut(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8EEF5"/>
              </a:buClr>
              <a:buSzPts val="1100"/>
              <a:buFont typeface="Consolas"/>
              <a:buNone/>
            </a:pPr>
            <a:r>
              <a:rPr lang="en-US" sz="1100">
                <a:solidFill>
                  <a:srgbClr val="E8EEF5"/>
                </a:solidFill>
                <a:latin typeface="Consolas"/>
                <a:ea typeface="Consolas"/>
                <a:cs typeface="Consolas"/>
                <a:sym typeface="Consolas"/>
              </a:rPr>
              <a:t>    df["total_spending"],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8EEF5"/>
              </a:buClr>
              <a:buSzPts val="1100"/>
              <a:buFont typeface="Consolas"/>
              <a:buNone/>
            </a:pPr>
            <a:r>
              <a:rPr lang="en-US" sz="1100">
                <a:solidFill>
                  <a:srgbClr val="E8EEF5"/>
                </a:solidFill>
                <a:latin typeface="Consolas"/>
                <a:ea typeface="Consolas"/>
                <a:cs typeface="Consolas"/>
                <a:sym typeface="Consolas"/>
              </a:rPr>
              <a:t>    bins=[0, 10_000_000, 50_000_000, float("inf")],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8EEF5"/>
              </a:buClr>
              <a:buSzPts val="1100"/>
              <a:buFont typeface="Consolas"/>
              <a:buNone/>
            </a:pPr>
            <a:r>
              <a:rPr lang="en-US" sz="1100">
                <a:solidFill>
                  <a:srgbClr val="E8EEF5"/>
                </a:solidFill>
                <a:latin typeface="Consolas"/>
                <a:ea typeface="Consolas"/>
                <a:cs typeface="Consolas"/>
                <a:sym typeface="Consolas"/>
              </a:rPr>
              <a:t>    labels=["Low", "Medium", "High"]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8EEF5"/>
              </a:buClr>
              <a:buSzPts val="1100"/>
              <a:buFont typeface="Consolas"/>
              <a:buNone/>
            </a:pPr>
            <a:r>
              <a:rPr lang="en-US" sz="1100">
                <a:solidFill>
                  <a:srgbClr val="E8EEF5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25"/>
          <p:cNvSpPr/>
          <p:nvPr/>
        </p:nvSpPr>
        <p:spPr>
          <a:xfrm>
            <a:off x="548640" y="4434840"/>
            <a:ext cx="11109960" cy="777240"/>
          </a:xfrm>
          <a:prstGeom prst="roundRect">
            <a:avLst>
              <a:gd fmla="val 7059" name="adj"/>
            </a:avLst>
          </a:prstGeom>
          <a:solidFill>
            <a:srgbClr val="F0F4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7" name="Google Shape;577;p25"/>
          <p:cNvSpPr/>
          <p:nvPr/>
        </p:nvSpPr>
        <p:spPr>
          <a:xfrm>
            <a:off x="777240" y="4434840"/>
            <a:ext cx="106527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35266"/>
              </a:buClr>
              <a:buSzPts val="1150"/>
              <a:buFont typeface="Arial"/>
              <a:buNone/>
            </a:pPr>
            <a:r>
              <a:rPr i="1" lang="en-US" sz="115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pd.cut() chia giá trị liên tục thành các khoảng (bins) rồi gán nhãn phân loại tương ứng cho từng khoảng.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2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F5F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Bài 7. Tích hợp dữ liệu và Feature Engineering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25"/>
          <p:cNvSpPr/>
          <p:nvPr/>
        </p:nvSpPr>
        <p:spPr>
          <a:xfrm>
            <a:off x="11414455" y="651052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F5F5F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25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26"/>
          <p:cNvSpPr/>
          <p:nvPr/>
        </p:nvSpPr>
        <p:spPr>
          <a:xfrm>
            <a:off x="0" y="0"/>
            <a:ext cx="12191695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26"/>
          <p:cNvSpPr/>
          <p:nvPr/>
        </p:nvSpPr>
        <p:spPr>
          <a:xfrm flipH="1">
            <a:off x="8339328" y="0"/>
            <a:ext cx="640080" cy="210312"/>
          </a:xfrm>
          <a:prstGeom prst="parallelogram">
            <a:avLst>
              <a:gd fmla="val 25000" name="adj"/>
            </a:avLst>
          </a:prstGeom>
          <a:solidFill>
            <a:srgbClr val="8497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p26"/>
          <p:cNvSpPr/>
          <p:nvPr/>
        </p:nvSpPr>
        <p:spPr>
          <a:xfrm flipH="1">
            <a:off x="8732520" y="0"/>
            <a:ext cx="969264" cy="1005840"/>
          </a:xfrm>
          <a:prstGeom prst="parallelogram">
            <a:avLst>
              <a:gd fmla="val 25000" name="adj"/>
            </a:avLst>
          </a:prstGeom>
          <a:solidFill>
            <a:srgbClr val="85B51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8" name="Google Shape;588;p26"/>
          <p:cNvSpPr/>
          <p:nvPr/>
        </p:nvSpPr>
        <p:spPr>
          <a:xfrm flipH="1">
            <a:off x="9747504" y="0"/>
            <a:ext cx="1005840" cy="1005840"/>
          </a:xfrm>
          <a:prstGeom prst="parallelogram">
            <a:avLst>
              <a:gd fmla="val 25000" name="adj"/>
            </a:avLst>
          </a:prstGeom>
          <a:solidFill>
            <a:srgbClr val="0F3F6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26"/>
          <p:cNvSpPr/>
          <p:nvPr/>
        </p:nvSpPr>
        <p:spPr>
          <a:xfrm>
            <a:off x="658368" y="1371600"/>
            <a:ext cx="3200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5B518"/>
              </a:buClr>
              <a:buSzPts val="1900"/>
              <a:buFont typeface="Arial"/>
              <a:buNone/>
            </a:pPr>
            <a:r>
              <a:rPr b="1" lang="en-US" sz="1900">
                <a:solidFill>
                  <a:srgbClr val="85B518"/>
                </a:solidFill>
                <a:latin typeface="Arial"/>
                <a:ea typeface="Arial"/>
                <a:cs typeface="Arial"/>
                <a:sym typeface="Arial"/>
              </a:rPr>
              <a:t>PHẦN 7.11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26"/>
          <p:cNvSpPr/>
          <p:nvPr/>
        </p:nvSpPr>
        <p:spPr>
          <a:xfrm>
            <a:off x="658368" y="1965960"/>
            <a:ext cx="102412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3F6F"/>
              </a:buClr>
              <a:buSzPts val="3400"/>
              <a:buFont typeface="Arial"/>
              <a:buNone/>
            </a:pPr>
            <a:r>
              <a:rPr b="1" lang="en-US" sz="34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Aggregation Feature</a:t>
            </a:r>
            <a:endParaRPr sz="3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26"/>
          <p:cNvSpPr/>
          <p:nvPr/>
        </p:nvSpPr>
        <p:spPr>
          <a:xfrm>
            <a:off x="685800" y="3246120"/>
            <a:ext cx="10012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35266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Từ hàng nghìn transaction tạo một hồ sơ khách hàng (customer profile)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26"/>
          <p:cNvSpPr/>
          <p:nvPr/>
        </p:nvSpPr>
        <p:spPr>
          <a:xfrm>
            <a:off x="685800" y="4937760"/>
            <a:ext cx="5212080" cy="5029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3" name="Google Shape;593;p26"/>
          <p:cNvSpPr/>
          <p:nvPr/>
        </p:nvSpPr>
        <p:spPr>
          <a:xfrm>
            <a:off x="6016752" y="4937760"/>
            <a:ext cx="1143000" cy="50292"/>
          </a:xfrm>
          <a:prstGeom prst="rect">
            <a:avLst/>
          </a:prstGeom>
          <a:solidFill>
            <a:srgbClr val="85B51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4" name="Google Shape;594;p26"/>
          <p:cNvSpPr/>
          <p:nvPr/>
        </p:nvSpPr>
        <p:spPr>
          <a:xfrm>
            <a:off x="11414455" y="651052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F5F5F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26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27"/>
          <p:cNvSpPr/>
          <p:nvPr/>
        </p:nvSpPr>
        <p:spPr>
          <a:xfrm>
            <a:off x="0" y="0"/>
            <a:ext cx="12191695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1" name="Google Shape;601;p27"/>
          <p:cNvSpPr/>
          <p:nvPr/>
        </p:nvSpPr>
        <p:spPr>
          <a:xfrm flipH="1">
            <a:off x="8339328" y="0"/>
            <a:ext cx="640080" cy="210312"/>
          </a:xfrm>
          <a:prstGeom prst="parallelogram">
            <a:avLst>
              <a:gd fmla="val 25000" name="adj"/>
            </a:avLst>
          </a:prstGeom>
          <a:solidFill>
            <a:srgbClr val="8497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2" name="Google Shape;602;p27"/>
          <p:cNvSpPr/>
          <p:nvPr/>
        </p:nvSpPr>
        <p:spPr>
          <a:xfrm flipH="1">
            <a:off x="8732520" y="0"/>
            <a:ext cx="969264" cy="1005840"/>
          </a:xfrm>
          <a:prstGeom prst="parallelogram">
            <a:avLst>
              <a:gd fmla="val 25000" name="adj"/>
            </a:avLst>
          </a:prstGeom>
          <a:solidFill>
            <a:srgbClr val="85B51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3" name="Google Shape;603;p27"/>
          <p:cNvSpPr/>
          <p:nvPr/>
        </p:nvSpPr>
        <p:spPr>
          <a:xfrm flipH="1">
            <a:off x="9747504" y="0"/>
            <a:ext cx="1005840" cy="1005840"/>
          </a:xfrm>
          <a:prstGeom prst="parallelogram">
            <a:avLst>
              <a:gd fmla="val 25000" name="adj"/>
            </a:avLst>
          </a:prstGeom>
          <a:solidFill>
            <a:srgbClr val="0F3F6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27"/>
          <p:cNvSpPr/>
          <p:nvPr/>
        </p:nvSpPr>
        <p:spPr>
          <a:xfrm>
            <a:off x="530352" y="237744"/>
            <a:ext cx="97840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3F6F"/>
              </a:buClr>
              <a:buSzPts val="2100"/>
              <a:buFont typeface="Arial"/>
              <a:buNone/>
            </a:pPr>
            <a:r>
              <a:rPr b="1" lang="en-US" sz="21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Từ Transaction đến hồ sơ khách hàng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27"/>
          <p:cNvSpPr/>
          <p:nvPr/>
        </p:nvSpPr>
        <p:spPr>
          <a:xfrm>
            <a:off x="548640" y="969264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497A5"/>
              </a:buClr>
              <a:buSzPts val="1100"/>
              <a:buFont typeface="Arial"/>
              <a:buNone/>
            </a:pPr>
            <a:r>
              <a:rPr i="1" lang="en-US" sz="1100">
                <a:solidFill>
                  <a:srgbClr val="8497A5"/>
                </a:solidFill>
                <a:latin typeface="Arial"/>
                <a:ea typeface="Arial"/>
                <a:cs typeface="Arial"/>
                <a:sym typeface="Arial"/>
              </a:rPr>
              <a:t>7.11. Aggregation Feature · Bài 07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27"/>
          <p:cNvSpPr/>
          <p:nvPr/>
        </p:nvSpPr>
        <p:spPr>
          <a:xfrm>
            <a:off x="3809848" y="1417320"/>
            <a:ext cx="4572000" cy="502920"/>
          </a:xfrm>
          <a:prstGeom prst="roundRect">
            <a:avLst>
              <a:gd fmla="val 10909" name="adj"/>
            </a:avLst>
          </a:prstGeom>
          <a:solidFill>
            <a:srgbClr val="0F3F6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7" name="Google Shape;607;p27"/>
          <p:cNvSpPr/>
          <p:nvPr/>
        </p:nvSpPr>
        <p:spPr>
          <a:xfrm>
            <a:off x="3809848" y="1417320"/>
            <a:ext cx="4572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Arial"/>
              <a:buNone/>
            </a:pPr>
            <a:r>
              <a:rPr b="1" lang="en-US" sz="1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Transactions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08" name="Google Shape;608;p27"/>
          <p:cNvCxnSpPr/>
          <p:nvPr/>
        </p:nvCxnSpPr>
        <p:spPr>
          <a:xfrm>
            <a:off x="6095848" y="1920240"/>
            <a:ext cx="0" cy="137160"/>
          </a:xfrm>
          <a:prstGeom prst="straightConnector1">
            <a:avLst/>
          </a:prstGeom>
          <a:noFill/>
          <a:ln cap="flat" cmpd="sng" w="15875">
            <a:solidFill>
              <a:srgbClr val="5F5F5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09" name="Google Shape;609;p27"/>
          <p:cNvSpPr/>
          <p:nvPr/>
        </p:nvSpPr>
        <p:spPr>
          <a:xfrm>
            <a:off x="3809848" y="2057400"/>
            <a:ext cx="4572000" cy="502920"/>
          </a:xfrm>
          <a:prstGeom prst="roundRect">
            <a:avLst>
              <a:gd fmla="val 10909" name="adj"/>
            </a:avLst>
          </a:prstGeom>
          <a:solidFill>
            <a:srgbClr val="0F3F6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0" name="Google Shape;610;p27"/>
          <p:cNvSpPr/>
          <p:nvPr/>
        </p:nvSpPr>
        <p:spPr>
          <a:xfrm>
            <a:off x="3809848" y="2057400"/>
            <a:ext cx="4572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Arial"/>
              <a:buNone/>
            </a:pPr>
            <a:r>
              <a:rPr b="1" lang="en-US" sz="1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GroupBy customer_id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27"/>
          <p:cNvSpPr/>
          <p:nvPr/>
        </p:nvSpPr>
        <p:spPr>
          <a:xfrm>
            <a:off x="449428" y="2880360"/>
            <a:ext cx="1783080" cy="777240"/>
          </a:xfrm>
          <a:prstGeom prst="roundRect">
            <a:avLst>
              <a:gd fmla="val 7059" name="adj"/>
            </a:avLst>
          </a:prstGeom>
          <a:solidFill>
            <a:srgbClr val="1F4EA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2" name="Google Shape;612;p27"/>
          <p:cNvSpPr/>
          <p:nvPr/>
        </p:nvSpPr>
        <p:spPr>
          <a:xfrm>
            <a:off x="504292" y="2880360"/>
            <a:ext cx="1673352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onsolas"/>
              <a:buNone/>
            </a:pPr>
            <a:r>
              <a:rPr b="1" lang="en-US" sz="8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customer_id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27"/>
          <p:cNvSpPr/>
          <p:nvPr/>
        </p:nvSpPr>
        <p:spPr>
          <a:xfrm>
            <a:off x="2351380" y="2880360"/>
            <a:ext cx="1783080" cy="777240"/>
          </a:xfrm>
          <a:prstGeom prst="roundRect">
            <a:avLst>
              <a:gd fmla="val 7059" name="adj"/>
            </a:avLst>
          </a:prstGeom>
          <a:solidFill>
            <a:srgbClr val="1F4EA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4" name="Google Shape;614;p27"/>
          <p:cNvSpPr/>
          <p:nvPr/>
        </p:nvSpPr>
        <p:spPr>
          <a:xfrm>
            <a:off x="2406244" y="2880360"/>
            <a:ext cx="1673352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onsolas"/>
              <a:buNone/>
            </a:pPr>
            <a:r>
              <a:rPr b="1" lang="en-US" sz="8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total_spending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27"/>
          <p:cNvSpPr/>
          <p:nvPr/>
        </p:nvSpPr>
        <p:spPr>
          <a:xfrm>
            <a:off x="4253332" y="2880360"/>
            <a:ext cx="1783080" cy="777240"/>
          </a:xfrm>
          <a:prstGeom prst="roundRect">
            <a:avLst>
              <a:gd fmla="val 7059" name="adj"/>
            </a:avLst>
          </a:prstGeom>
          <a:solidFill>
            <a:srgbClr val="1F4EA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6" name="Google Shape;616;p27"/>
          <p:cNvSpPr/>
          <p:nvPr/>
        </p:nvSpPr>
        <p:spPr>
          <a:xfrm>
            <a:off x="4308196" y="2880360"/>
            <a:ext cx="1673352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onsolas"/>
              <a:buNone/>
            </a:pPr>
            <a:r>
              <a:rPr b="1" lang="en-US" sz="8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transaction_count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27"/>
          <p:cNvSpPr/>
          <p:nvPr/>
        </p:nvSpPr>
        <p:spPr>
          <a:xfrm>
            <a:off x="6155284" y="2880360"/>
            <a:ext cx="1783080" cy="777240"/>
          </a:xfrm>
          <a:prstGeom prst="roundRect">
            <a:avLst>
              <a:gd fmla="val 7059" name="adj"/>
            </a:avLst>
          </a:prstGeom>
          <a:solidFill>
            <a:srgbClr val="1F4EA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8" name="Google Shape;618;p27"/>
          <p:cNvSpPr/>
          <p:nvPr/>
        </p:nvSpPr>
        <p:spPr>
          <a:xfrm>
            <a:off x="6210148" y="2880360"/>
            <a:ext cx="1673352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onsolas"/>
              <a:buNone/>
            </a:pPr>
            <a:r>
              <a:rPr b="1" lang="en-US" sz="8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avg_spending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27"/>
          <p:cNvSpPr/>
          <p:nvPr/>
        </p:nvSpPr>
        <p:spPr>
          <a:xfrm>
            <a:off x="8057236" y="2880360"/>
            <a:ext cx="1783080" cy="777240"/>
          </a:xfrm>
          <a:prstGeom prst="roundRect">
            <a:avLst>
              <a:gd fmla="val 7059" name="adj"/>
            </a:avLst>
          </a:prstGeom>
          <a:solidFill>
            <a:srgbClr val="1F4EA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0" name="Google Shape;620;p27"/>
          <p:cNvSpPr/>
          <p:nvPr/>
        </p:nvSpPr>
        <p:spPr>
          <a:xfrm>
            <a:off x="8112100" y="2880360"/>
            <a:ext cx="1673352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onsolas"/>
              <a:buNone/>
            </a:pPr>
            <a:r>
              <a:rPr b="1" lang="en-US" sz="8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max_transaction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p27"/>
          <p:cNvSpPr/>
          <p:nvPr/>
        </p:nvSpPr>
        <p:spPr>
          <a:xfrm>
            <a:off x="9959188" y="2880360"/>
            <a:ext cx="1783080" cy="777240"/>
          </a:xfrm>
          <a:prstGeom prst="roundRect">
            <a:avLst>
              <a:gd fmla="val 7059" name="adj"/>
            </a:avLst>
          </a:prstGeom>
          <a:solidFill>
            <a:srgbClr val="1F4EA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2" name="Google Shape;622;p27"/>
          <p:cNvSpPr/>
          <p:nvPr/>
        </p:nvSpPr>
        <p:spPr>
          <a:xfrm>
            <a:off x="10014052" y="2880360"/>
            <a:ext cx="1673352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onsolas"/>
              <a:buNone/>
            </a:pPr>
            <a:r>
              <a:rPr b="1" lang="en-US" sz="8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last_transaction_date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p27"/>
          <p:cNvSpPr/>
          <p:nvPr/>
        </p:nvSpPr>
        <p:spPr>
          <a:xfrm>
            <a:off x="914400" y="3977640"/>
            <a:ext cx="10332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35266"/>
              </a:buClr>
              <a:buSzPts val="1200"/>
              <a:buFont typeface="Arial"/>
              <a:buNone/>
            </a:pPr>
            <a:r>
              <a:rPr i="1" lang="en-US" sz="12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Đây là lúc học viên hiểu dữ liệu giao dịch có thể biến thành một analytical dataset — mỗi dòng là một khách hàng, không còn là một giao dịch.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4" name="Google Shape;624;p2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F5F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Bài 7. Tích hợp dữ liệu và Feature Engineering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p27"/>
          <p:cNvSpPr/>
          <p:nvPr/>
        </p:nvSpPr>
        <p:spPr>
          <a:xfrm>
            <a:off x="11414455" y="651052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F5F5F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27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28"/>
          <p:cNvSpPr/>
          <p:nvPr/>
        </p:nvSpPr>
        <p:spPr>
          <a:xfrm>
            <a:off x="0" y="0"/>
            <a:ext cx="12191695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2" name="Google Shape;632;p28"/>
          <p:cNvSpPr/>
          <p:nvPr/>
        </p:nvSpPr>
        <p:spPr>
          <a:xfrm flipH="1">
            <a:off x="8339328" y="0"/>
            <a:ext cx="640080" cy="210312"/>
          </a:xfrm>
          <a:prstGeom prst="parallelogram">
            <a:avLst>
              <a:gd fmla="val 25000" name="adj"/>
            </a:avLst>
          </a:prstGeom>
          <a:solidFill>
            <a:srgbClr val="8497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3" name="Google Shape;633;p28"/>
          <p:cNvSpPr/>
          <p:nvPr/>
        </p:nvSpPr>
        <p:spPr>
          <a:xfrm flipH="1">
            <a:off x="8732520" y="0"/>
            <a:ext cx="969264" cy="1005840"/>
          </a:xfrm>
          <a:prstGeom prst="parallelogram">
            <a:avLst>
              <a:gd fmla="val 25000" name="adj"/>
            </a:avLst>
          </a:prstGeom>
          <a:solidFill>
            <a:srgbClr val="85B51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28"/>
          <p:cNvSpPr/>
          <p:nvPr/>
        </p:nvSpPr>
        <p:spPr>
          <a:xfrm flipH="1">
            <a:off x="9747504" y="0"/>
            <a:ext cx="1005840" cy="1005840"/>
          </a:xfrm>
          <a:prstGeom prst="parallelogram">
            <a:avLst>
              <a:gd fmla="val 25000" name="adj"/>
            </a:avLst>
          </a:prstGeom>
          <a:solidFill>
            <a:srgbClr val="0F3F6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5" name="Google Shape;635;p28"/>
          <p:cNvSpPr/>
          <p:nvPr/>
        </p:nvSpPr>
        <p:spPr>
          <a:xfrm>
            <a:off x="658368" y="1371600"/>
            <a:ext cx="3200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5B518"/>
              </a:buClr>
              <a:buSzPts val="1900"/>
              <a:buFont typeface="Arial"/>
              <a:buNone/>
            </a:pPr>
            <a:r>
              <a:rPr b="1" lang="en-US" sz="1900">
                <a:solidFill>
                  <a:srgbClr val="85B518"/>
                </a:solidFill>
                <a:latin typeface="Arial"/>
                <a:ea typeface="Arial"/>
                <a:cs typeface="Arial"/>
                <a:sym typeface="Arial"/>
              </a:rPr>
              <a:t>PHẦN 7.12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p28"/>
          <p:cNvSpPr/>
          <p:nvPr/>
        </p:nvSpPr>
        <p:spPr>
          <a:xfrm>
            <a:off x="658368" y="1965960"/>
            <a:ext cx="102412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3F6F"/>
              </a:buClr>
              <a:buSzPts val="3400"/>
              <a:buFont typeface="Arial"/>
              <a:buNone/>
            </a:pPr>
            <a:r>
              <a:rPr b="1" lang="en-US" sz="34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Feature Engineering phục vụ bài toán thực tế</a:t>
            </a:r>
            <a:endParaRPr sz="3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p28"/>
          <p:cNvSpPr/>
          <p:nvPr/>
        </p:nvSpPr>
        <p:spPr>
          <a:xfrm>
            <a:off x="685800" y="3246120"/>
            <a:ext cx="10012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35266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Ví dụ ngân hàng — cầu nối rất tốt sang Machine Learning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" name="Google Shape;638;p28"/>
          <p:cNvSpPr/>
          <p:nvPr/>
        </p:nvSpPr>
        <p:spPr>
          <a:xfrm>
            <a:off x="685800" y="4937760"/>
            <a:ext cx="5212080" cy="5029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9" name="Google Shape;639;p28"/>
          <p:cNvSpPr/>
          <p:nvPr/>
        </p:nvSpPr>
        <p:spPr>
          <a:xfrm>
            <a:off x="6016752" y="4937760"/>
            <a:ext cx="1143000" cy="50292"/>
          </a:xfrm>
          <a:prstGeom prst="rect">
            <a:avLst/>
          </a:prstGeom>
          <a:solidFill>
            <a:srgbClr val="85B51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0" name="Google Shape;640;p28"/>
          <p:cNvSpPr/>
          <p:nvPr/>
        </p:nvSpPr>
        <p:spPr>
          <a:xfrm>
            <a:off x="11414455" y="651052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F5F5F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28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29"/>
          <p:cNvSpPr/>
          <p:nvPr/>
        </p:nvSpPr>
        <p:spPr>
          <a:xfrm>
            <a:off x="0" y="0"/>
            <a:ext cx="12191695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7" name="Google Shape;647;p29"/>
          <p:cNvSpPr/>
          <p:nvPr/>
        </p:nvSpPr>
        <p:spPr>
          <a:xfrm flipH="1">
            <a:off x="8339328" y="0"/>
            <a:ext cx="640080" cy="210312"/>
          </a:xfrm>
          <a:prstGeom prst="parallelogram">
            <a:avLst>
              <a:gd fmla="val 25000" name="adj"/>
            </a:avLst>
          </a:prstGeom>
          <a:solidFill>
            <a:srgbClr val="8497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29"/>
          <p:cNvSpPr/>
          <p:nvPr/>
        </p:nvSpPr>
        <p:spPr>
          <a:xfrm flipH="1">
            <a:off x="8732520" y="0"/>
            <a:ext cx="969264" cy="1005840"/>
          </a:xfrm>
          <a:prstGeom prst="parallelogram">
            <a:avLst>
              <a:gd fmla="val 25000" name="adj"/>
            </a:avLst>
          </a:prstGeom>
          <a:solidFill>
            <a:srgbClr val="85B51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9" name="Google Shape;649;p29"/>
          <p:cNvSpPr/>
          <p:nvPr/>
        </p:nvSpPr>
        <p:spPr>
          <a:xfrm flipH="1">
            <a:off x="9747504" y="0"/>
            <a:ext cx="1005840" cy="1005840"/>
          </a:xfrm>
          <a:prstGeom prst="parallelogram">
            <a:avLst>
              <a:gd fmla="val 25000" name="adj"/>
            </a:avLst>
          </a:prstGeom>
          <a:solidFill>
            <a:srgbClr val="0F3F6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0" name="Google Shape;650;p29"/>
          <p:cNvSpPr/>
          <p:nvPr/>
        </p:nvSpPr>
        <p:spPr>
          <a:xfrm>
            <a:off x="530352" y="237744"/>
            <a:ext cx="97840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3F6F"/>
              </a:buClr>
              <a:buSzPts val="2100"/>
              <a:buFont typeface="Arial"/>
              <a:buNone/>
            </a:pPr>
            <a:r>
              <a:rPr b="1" lang="en-US" sz="21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Ví dụ ngân hàng: từ dữ liệu gốc đến feature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1" name="Google Shape;651;p29"/>
          <p:cNvSpPr/>
          <p:nvPr/>
        </p:nvSpPr>
        <p:spPr>
          <a:xfrm>
            <a:off x="548640" y="969264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497A5"/>
              </a:buClr>
              <a:buSzPts val="1100"/>
              <a:buFont typeface="Arial"/>
              <a:buNone/>
            </a:pPr>
            <a:r>
              <a:rPr i="1" lang="en-US" sz="1100">
                <a:solidFill>
                  <a:srgbClr val="8497A5"/>
                </a:solidFill>
                <a:latin typeface="Arial"/>
                <a:ea typeface="Arial"/>
                <a:cs typeface="Arial"/>
                <a:sym typeface="Arial"/>
              </a:rPr>
              <a:t>7.12. Feature Engineering phục vụ bài toán thực tế · Bài 07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2" name="Google Shape;652;p29"/>
          <p:cNvSpPr/>
          <p:nvPr/>
        </p:nvSpPr>
        <p:spPr>
          <a:xfrm>
            <a:off x="640080" y="1371600"/>
            <a:ext cx="5349240" cy="2011680"/>
          </a:xfrm>
          <a:prstGeom prst="roundRect">
            <a:avLst>
              <a:gd fmla="val 5455" name="adj"/>
            </a:avLst>
          </a:prstGeom>
          <a:solidFill>
            <a:srgbClr val="E7EE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3" name="Google Shape;653;p29"/>
          <p:cNvSpPr/>
          <p:nvPr/>
        </p:nvSpPr>
        <p:spPr>
          <a:xfrm>
            <a:off x="914400" y="1536192"/>
            <a:ext cx="4800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3F6F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Dữ liệu gốc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4" name="Google Shape;654;p29"/>
          <p:cNvSpPr/>
          <p:nvPr/>
        </p:nvSpPr>
        <p:spPr>
          <a:xfrm>
            <a:off x="914400" y="1965960"/>
            <a:ext cx="48006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35266"/>
              </a:buClr>
              <a:buSzPts val="1150"/>
              <a:buFont typeface="Arial"/>
              <a:buChar char="•"/>
            </a:pPr>
            <a:r>
              <a:rPr lang="en-US" sz="115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transaction_date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35266"/>
              </a:buClr>
              <a:buSzPts val="1150"/>
              <a:buFont typeface="Arial"/>
              <a:buChar char="•"/>
            </a:pPr>
            <a:r>
              <a:rPr lang="en-US" sz="115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amount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35266"/>
              </a:buClr>
              <a:buSzPts val="1150"/>
              <a:buFont typeface="Arial"/>
              <a:buChar char="•"/>
            </a:pPr>
            <a:r>
              <a:rPr lang="en-US" sz="115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merchant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35266"/>
              </a:buClr>
              <a:buSzPts val="1150"/>
              <a:buFont typeface="Arial"/>
              <a:buChar char="•"/>
            </a:pPr>
            <a:r>
              <a:rPr lang="en-US" sz="115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customer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5" name="Google Shape;655;p29"/>
          <p:cNvSpPr/>
          <p:nvPr/>
        </p:nvSpPr>
        <p:spPr>
          <a:xfrm>
            <a:off x="6492240" y="1371600"/>
            <a:ext cx="5349240" cy="2011680"/>
          </a:xfrm>
          <a:prstGeom prst="roundRect">
            <a:avLst>
              <a:gd fmla="val 5455" name="adj"/>
            </a:avLst>
          </a:prstGeom>
          <a:solidFill>
            <a:srgbClr val="E9F3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6" name="Google Shape;656;p29"/>
          <p:cNvSpPr/>
          <p:nvPr/>
        </p:nvSpPr>
        <p:spPr>
          <a:xfrm>
            <a:off x="6766560" y="1536192"/>
            <a:ext cx="4800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3F6F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Feature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7" name="Google Shape;657;p29"/>
          <p:cNvSpPr/>
          <p:nvPr/>
        </p:nvSpPr>
        <p:spPr>
          <a:xfrm>
            <a:off x="6766560" y="1965960"/>
            <a:ext cx="48006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35266"/>
              </a:buClr>
              <a:buSzPts val="1150"/>
              <a:buFont typeface="Arial"/>
              <a:buChar char="•"/>
            </a:pPr>
            <a:r>
              <a:rPr lang="en-US" sz="115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transaction_count_30d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35266"/>
              </a:buClr>
              <a:buSzPts val="1150"/>
              <a:buFont typeface="Arial"/>
              <a:buChar char="•"/>
            </a:pPr>
            <a:r>
              <a:rPr lang="en-US" sz="115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total_amount_30d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35266"/>
              </a:buClr>
              <a:buSzPts val="1150"/>
              <a:buFont typeface="Arial"/>
              <a:buChar char="•"/>
            </a:pPr>
            <a:r>
              <a:rPr lang="en-US" sz="115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avg_amount_30d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35266"/>
              </a:buClr>
              <a:buSzPts val="1150"/>
              <a:buFont typeface="Arial"/>
              <a:buChar char="•"/>
            </a:pPr>
            <a:r>
              <a:rPr lang="en-US" sz="115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max_amount_30d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35266"/>
              </a:buClr>
              <a:buSzPts val="1150"/>
              <a:buFont typeface="Arial"/>
              <a:buChar char="•"/>
            </a:pPr>
            <a:r>
              <a:rPr lang="en-US" sz="115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number_merchants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35266"/>
              </a:buClr>
              <a:buSzPts val="1150"/>
              <a:buFont typeface="Arial"/>
              <a:buChar char="•"/>
            </a:pPr>
            <a:r>
              <a:rPr lang="en-US" sz="115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night_transaction_ratio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8" name="Google Shape;658;p29"/>
          <p:cNvSpPr/>
          <p:nvPr/>
        </p:nvSpPr>
        <p:spPr>
          <a:xfrm>
            <a:off x="548640" y="36118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3F6F"/>
              </a:buClr>
              <a:buSzPts val="1250"/>
              <a:buFont typeface="Arial"/>
              <a:buNone/>
            </a:pPr>
            <a:r>
              <a:rPr b="1" lang="en-US" sz="125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Các feature này có thể phục vụ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9" name="Google Shape;659;p29"/>
          <p:cNvSpPr/>
          <p:nvPr/>
        </p:nvSpPr>
        <p:spPr>
          <a:xfrm>
            <a:off x="548640" y="3977640"/>
            <a:ext cx="2606040" cy="640080"/>
          </a:xfrm>
          <a:prstGeom prst="roundRect">
            <a:avLst>
              <a:gd fmla="val 11429" name="adj"/>
            </a:avLst>
          </a:prstGeom>
          <a:solidFill>
            <a:srgbClr val="0F3F6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p29"/>
          <p:cNvSpPr/>
          <p:nvPr/>
        </p:nvSpPr>
        <p:spPr>
          <a:xfrm>
            <a:off x="548640" y="3977640"/>
            <a:ext cx="2606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"/>
              <a:buNone/>
            </a:pPr>
            <a:r>
              <a:rPr b="1" lang="en-US" sz="11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Customer segmentation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1" name="Google Shape;661;p29"/>
          <p:cNvSpPr/>
          <p:nvPr/>
        </p:nvSpPr>
        <p:spPr>
          <a:xfrm>
            <a:off x="3337560" y="3977640"/>
            <a:ext cx="2606040" cy="640080"/>
          </a:xfrm>
          <a:prstGeom prst="roundRect">
            <a:avLst>
              <a:gd fmla="val 11429" name="adj"/>
            </a:avLst>
          </a:prstGeom>
          <a:solidFill>
            <a:srgbClr val="0F3F6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2" name="Google Shape;662;p29"/>
          <p:cNvSpPr/>
          <p:nvPr/>
        </p:nvSpPr>
        <p:spPr>
          <a:xfrm>
            <a:off x="3337560" y="3977640"/>
            <a:ext cx="2606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"/>
              <a:buNone/>
            </a:pPr>
            <a:r>
              <a:rPr b="1" lang="en-US" sz="11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Fraud detection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3" name="Google Shape;663;p29"/>
          <p:cNvSpPr/>
          <p:nvPr/>
        </p:nvSpPr>
        <p:spPr>
          <a:xfrm>
            <a:off x="6126480" y="3977640"/>
            <a:ext cx="2606040" cy="640080"/>
          </a:xfrm>
          <a:prstGeom prst="roundRect">
            <a:avLst>
              <a:gd fmla="val 11429" name="adj"/>
            </a:avLst>
          </a:prstGeom>
          <a:solidFill>
            <a:srgbClr val="0F3F6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4" name="Google Shape;664;p29"/>
          <p:cNvSpPr/>
          <p:nvPr/>
        </p:nvSpPr>
        <p:spPr>
          <a:xfrm>
            <a:off x="6126480" y="3977640"/>
            <a:ext cx="2606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"/>
              <a:buNone/>
            </a:pPr>
            <a:r>
              <a:rPr b="1" lang="en-US" sz="11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Credit scoring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5" name="Google Shape;665;p29"/>
          <p:cNvSpPr/>
          <p:nvPr/>
        </p:nvSpPr>
        <p:spPr>
          <a:xfrm>
            <a:off x="8915400" y="3977640"/>
            <a:ext cx="2606040" cy="640080"/>
          </a:xfrm>
          <a:prstGeom prst="roundRect">
            <a:avLst>
              <a:gd fmla="val 11429" name="adj"/>
            </a:avLst>
          </a:prstGeom>
          <a:solidFill>
            <a:srgbClr val="0F3F6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6" name="Google Shape;666;p29"/>
          <p:cNvSpPr/>
          <p:nvPr/>
        </p:nvSpPr>
        <p:spPr>
          <a:xfrm>
            <a:off x="8915400" y="3977640"/>
            <a:ext cx="2606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"/>
              <a:buNone/>
            </a:pPr>
            <a:r>
              <a:rPr b="1" lang="en-US" sz="11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Churn prediction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7" name="Google Shape;667;p2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F5F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Bài 7. Tích hợp dữ liệu và Feature Engineering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8" name="Google Shape;668;p29"/>
          <p:cNvSpPr/>
          <p:nvPr/>
        </p:nvSpPr>
        <p:spPr>
          <a:xfrm>
            <a:off x="11414455" y="651052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F5F5F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29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30"/>
          <p:cNvSpPr/>
          <p:nvPr/>
        </p:nvSpPr>
        <p:spPr>
          <a:xfrm>
            <a:off x="0" y="0"/>
            <a:ext cx="12191695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5" name="Google Shape;675;p30"/>
          <p:cNvSpPr/>
          <p:nvPr/>
        </p:nvSpPr>
        <p:spPr>
          <a:xfrm flipH="1">
            <a:off x="8339328" y="0"/>
            <a:ext cx="640080" cy="210312"/>
          </a:xfrm>
          <a:prstGeom prst="parallelogram">
            <a:avLst>
              <a:gd fmla="val 25000" name="adj"/>
            </a:avLst>
          </a:prstGeom>
          <a:solidFill>
            <a:srgbClr val="8497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30"/>
          <p:cNvSpPr/>
          <p:nvPr/>
        </p:nvSpPr>
        <p:spPr>
          <a:xfrm flipH="1">
            <a:off x="8732520" y="0"/>
            <a:ext cx="969264" cy="1005840"/>
          </a:xfrm>
          <a:prstGeom prst="parallelogram">
            <a:avLst>
              <a:gd fmla="val 25000" name="adj"/>
            </a:avLst>
          </a:prstGeom>
          <a:solidFill>
            <a:srgbClr val="85B51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7" name="Google Shape;677;p30"/>
          <p:cNvSpPr/>
          <p:nvPr/>
        </p:nvSpPr>
        <p:spPr>
          <a:xfrm flipH="1">
            <a:off x="9747504" y="0"/>
            <a:ext cx="1005840" cy="1005840"/>
          </a:xfrm>
          <a:prstGeom prst="parallelogram">
            <a:avLst>
              <a:gd fmla="val 25000" name="adj"/>
            </a:avLst>
          </a:prstGeom>
          <a:solidFill>
            <a:srgbClr val="0F3F6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8" name="Google Shape;678;p30"/>
          <p:cNvSpPr/>
          <p:nvPr/>
        </p:nvSpPr>
        <p:spPr>
          <a:xfrm>
            <a:off x="658368" y="1371600"/>
            <a:ext cx="3200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5B518"/>
              </a:buClr>
              <a:buSzPts val="1900"/>
              <a:buFont typeface="Arial"/>
              <a:buNone/>
            </a:pPr>
            <a:r>
              <a:rPr b="1" lang="en-US" sz="1900">
                <a:solidFill>
                  <a:srgbClr val="85B518"/>
                </a:solidFill>
                <a:latin typeface="Arial"/>
                <a:ea typeface="Arial"/>
                <a:cs typeface="Arial"/>
                <a:sym typeface="Arial"/>
              </a:rPr>
              <a:t>PHẦN TH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9" name="Google Shape;679;p30"/>
          <p:cNvSpPr/>
          <p:nvPr/>
        </p:nvSpPr>
        <p:spPr>
          <a:xfrm>
            <a:off x="658368" y="1965960"/>
            <a:ext cx="102412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3F6F"/>
              </a:buClr>
              <a:buSzPts val="3400"/>
              <a:buFont typeface="Arial"/>
              <a:buNone/>
            </a:pPr>
            <a:r>
              <a:rPr b="1" lang="en-US" sz="34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Thực hành Bài 7</a:t>
            </a:r>
            <a:endParaRPr sz="3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0" name="Google Shape;680;p30"/>
          <p:cNvSpPr/>
          <p:nvPr/>
        </p:nvSpPr>
        <p:spPr>
          <a:xfrm>
            <a:off x="685800" y="3246120"/>
            <a:ext cx="10012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35266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Tiếp tục dataset Bài 6 — tích hợp, tạo feature và xuất customer_features.csv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1" name="Google Shape;681;p30"/>
          <p:cNvSpPr/>
          <p:nvPr/>
        </p:nvSpPr>
        <p:spPr>
          <a:xfrm>
            <a:off x="685800" y="4937760"/>
            <a:ext cx="5212080" cy="5029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2" name="Google Shape;682;p30"/>
          <p:cNvSpPr/>
          <p:nvPr/>
        </p:nvSpPr>
        <p:spPr>
          <a:xfrm>
            <a:off x="6016752" y="4937760"/>
            <a:ext cx="1143000" cy="50292"/>
          </a:xfrm>
          <a:prstGeom prst="rect">
            <a:avLst/>
          </a:prstGeom>
          <a:solidFill>
            <a:srgbClr val="85B51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3" name="Google Shape;683;p30"/>
          <p:cNvSpPr/>
          <p:nvPr/>
        </p:nvSpPr>
        <p:spPr>
          <a:xfrm>
            <a:off x="11414455" y="651052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F5F5F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30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p31"/>
          <p:cNvSpPr/>
          <p:nvPr/>
        </p:nvSpPr>
        <p:spPr>
          <a:xfrm>
            <a:off x="0" y="0"/>
            <a:ext cx="12191695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0" name="Google Shape;690;p31"/>
          <p:cNvSpPr/>
          <p:nvPr/>
        </p:nvSpPr>
        <p:spPr>
          <a:xfrm flipH="1">
            <a:off x="8339328" y="0"/>
            <a:ext cx="640080" cy="210312"/>
          </a:xfrm>
          <a:prstGeom prst="parallelogram">
            <a:avLst>
              <a:gd fmla="val 25000" name="adj"/>
            </a:avLst>
          </a:prstGeom>
          <a:solidFill>
            <a:srgbClr val="8497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1" name="Google Shape;691;p31"/>
          <p:cNvSpPr/>
          <p:nvPr/>
        </p:nvSpPr>
        <p:spPr>
          <a:xfrm flipH="1">
            <a:off x="8732520" y="0"/>
            <a:ext cx="969264" cy="1005840"/>
          </a:xfrm>
          <a:prstGeom prst="parallelogram">
            <a:avLst>
              <a:gd fmla="val 25000" name="adj"/>
            </a:avLst>
          </a:prstGeom>
          <a:solidFill>
            <a:srgbClr val="85B51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2" name="Google Shape;692;p31"/>
          <p:cNvSpPr/>
          <p:nvPr/>
        </p:nvSpPr>
        <p:spPr>
          <a:xfrm flipH="1">
            <a:off x="9747504" y="0"/>
            <a:ext cx="1005840" cy="1005840"/>
          </a:xfrm>
          <a:prstGeom prst="parallelogram">
            <a:avLst>
              <a:gd fmla="val 25000" name="adj"/>
            </a:avLst>
          </a:prstGeom>
          <a:solidFill>
            <a:srgbClr val="0F3F6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3" name="Google Shape;693;p31"/>
          <p:cNvSpPr/>
          <p:nvPr/>
        </p:nvSpPr>
        <p:spPr>
          <a:xfrm>
            <a:off x="530352" y="237744"/>
            <a:ext cx="97840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3F6F"/>
              </a:buClr>
              <a:buSzPts val="2100"/>
              <a:buFont typeface="Arial"/>
              <a:buNone/>
            </a:pPr>
            <a:r>
              <a:rPr b="1" lang="en-US" sz="21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Các bước thực hành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4" name="Google Shape;694;p31"/>
          <p:cNvSpPr/>
          <p:nvPr/>
        </p:nvSpPr>
        <p:spPr>
          <a:xfrm>
            <a:off x="548640" y="969264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497A5"/>
              </a:buClr>
              <a:buSzPts val="1100"/>
              <a:buFont typeface="Arial"/>
              <a:buNone/>
            </a:pPr>
            <a:r>
              <a:rPr i="1" lang="en-US" sz="1100">
                <a:solidFill>
                  <a:srgbClr val="8497A5"/>
                </a:solidFill>
                <a:latin typeface="Arial"/>
                <a:ea typeface="Arial"/>
                <a:cs typeface="Arial"/>
                <a:sym typeface="Arial"/>
              </a:rPr>
              <a:t>Thực hành Bài 7 · Bài 07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5" name="Google Shape;695;p31"/>
          <p:cNvSpPr/>
          <p:nvPr/>
        </p:nvSpPr>
        <p:spPr>
          <a:xfrm>
            <a:off x="548640" y="1280160"/>
            <a:ext cx="11155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35266"/>
              </a:buClr>
              <a:buSzPts val="1150"/>
              <a:buFont typeface="Arial"/>
              <a:buNone/>
            </a:pPr>
            <a:r>
              <a:rPr i="1" lang="en-US" sz="115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Đầu vào: customers.csv và customer_transactions_clean.csv (từ Bài 6)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6" name="Google Shape;696;p31"/>
          <p:cNvSpPr/>
          <p:nvPr/>
        </p:nvSpPr>
        <p:spPr>
          <a:xfrm>
            <a:off x="640080" y="1737360"/>
            <a:ext cx="365760" cy="365760"/>
          </a:xfrm>
          <a:prstGeom prst="ellipse">
            <a:avLst/>
          </a:prstGeom>
          <a:solidFill>
            <a:srgbClr val="1F4EA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7" name="Google Shape;697;p31"/>
          <p:cNvSpPr/>
          <p:nvPr/>
        </p:nvSpPr>
        <p:spPr>
          <a:xfrm>
            <a:off x="640080" y="173736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8" name="Google Shape;698;p31"/>
          <p:cNvSpPr/>
          <p:nvPr/>
        </p:nvSpPr>
        <p:spPr>
          <a:xfrm>
            <a:off x="1170432" y="1691640"/>
            <a:ext cx="10332720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1250"/>
              <a:buFont typeface="Arial"/>
              <a:buNone/>
            </a:pPr>
            <a:r>
              <a:rPr lang="en-US" sz="1250">
                <a:solidFill>
                  <a:srgbClr val="2A2A2A"/>
                </a:solidFill>
                <a:latin typeface="Arial"/>
                <a:ea typeface="Arial"/>
                <a:cs typeface="Arial"/>
                <a:sym typeface="Arial"/>
              </a:rPr>
              <a:t>Load nhiều dataset (customers, transactions)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9" name="Google Shape;699;p31"/>
          <p:cNvSpPr/>
          <p:nvPr/>
        </p:nvSpPr>
        <p:spPr>
          <a:xfrm>
            <a:off x="640080" y="2359152"/>
            <a:ext cx="365760" cy="365760"/>
          </a:xfrm>
          <a:prstGeom prst="ellipse">
            <a:avLst/>
          </a:prstGeom>
          <a:solidFill>
            <a:srgbClr val="1F4EA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0" name="Google Shape;700;p31"/>
          <p:cNvSpPr/>
          <p:nvPr/>
        </p:nvSpPr>
        <p:spPr>
          <a:xfrm>
            <a:off x="640080" y="2359152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1" name="Google Shape;701;p31"/>
          <p:cNvSpPr/>
          <p:nvPr/>
        </p:nvSpPr>
        <p:spPr>
          <a:xfrm>
            <a:off x="1170432" y="2313432"/>
            <a:ext cx="10332720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1250"/>
              <a:buFont typeface="Arial"/>
              <a:buNone/>
            </a:pPr>
            <a:r>
              <a:rPr lang="en-US" sz="1250">
                <a:solidFill>
                  <a:srgbClr val="2A2A2A"/>
                </a:solidFill>
                <a:latin typeface="Arial"/>
                <a:ea typeface="Arial"/>
                <a:cs typeface="Arial"/>
                <a:sym typeface="Arial"/>
              </a:rPr>
              <a:t>Merge hai bảng theo customer_id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2" name="Google Shape;702;p31"/>
          <p:cNvSpPr/>
          <p:nvPr/>
        </p:nvSpPr>
        <p:spPr>
          <a:xfrm>
            <a:off x="640080" y="2980944"/>
            <a:ext cx="365760" cy="365760"/>
          </a:xfrm>
          <a:prstGeom prst="ellipse">
            <a:avLst/>
          </a:prstGeom>
          <a:solidFill>
            <a:srgbClr val="1F4EA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31"/>
          <p:cNvSpPr/>
          <p:nvPr/>
        </p:nvSpPr>
        <p:spPr>
          <a:xfrm>
            <a:off x="640080" y="2980944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4" name="Google Shape;704;p31"/>
          <p:cNvSpPr/>
          <p:nvPr/>
        </p:nvSpPr>
        <p:spPr>
          <a:xfrm>
            <a:off x="1170432" y="2935224"/>
            <a:ext cx="10332720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1250"/>
              <a:buFont typeface="Arial"/>
              <a:buNone/>
            </a:pPr>
            <a:r>
              <a:rPr lang="en-US" sz="1250">
                <a:solidFill>
                  <a:srgbClr val="2A2A2A"/>
                </a:solidFill>
                <a:latin typeface="Arial"/>
                <a:ea typeface="Arial"/>
                <a:cs typeface="Arial"/>
                <a:sym typeface="Arial"/>
              </a:rPr>
              <a:t>Tạo feature thời gian từ cột date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5" name="Google Shape;705;p31"/>
          <p:cNvSpPr/>
          <p:nvPr/>
        </p:nvSpPr>
        <p:spPr>
          <a:xfrm>
            <a:off x="640080" y="3602736"/>
            <a:ext cx="365760" cy="365760"/>
          </a:xfrm>
          <a:prstGeom prst="ellipse">
            <a:avLst/>
          </a:prstGeom>
          <a:solidFill>
            <a:srgbClr val="1F4EA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6" name="Google Shape;706;p31"/>
          <p:cNvSpPr/>
          <p:nvPr/>
        </p:nvSpPr>
        <p:spPr>
          <a:xfrm>
            <a:off x="640080" y="3602736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7" name="Google Shape;707;p31"/>
          <p:cNvSpPr/>
          <p:nvPr/>
        </p:nvSpPr>
        <p:spPr>
          <a:xfrm>
            <a:off x="1170432" y="3557016"/>
            <a:ext cx="10332720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1250"/>
              <a:buFont typeface="Arial"/>
              <a:buNone/>
            </a:pPr>
            <a:r>
              <a:rPr lang="en-US" sz="1250">
                <a:solidFill>
                  <a:srgbClr val="2A2A2A"/>
                </a:solidFill>
                <a:latin typeface="Arial"/>
                <a:ea typeface="Arial"/>
                <a:cs typeface="Arial"/>
                <a:sym typeface="Arial"/>
              </a:rPr>
              <a:t>Tạo feature giao dịch (GroupBy + Aggregate)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8" name="Google Shape;708;p31"/>
          <p:cNvSpPr/>
          <p:nvPr/>
        </p:nvSpPr>
        <p:spPr>
          <a:xfrm>
            <a:off x="640080" y="4224528"/>
            <a:ext cx="365760" cy="365760"/>
          </a:xfrm>
          <a:prstGeom prst="ellipse">
            <a:avLst/>
          </a:prstGeom>
          <a:solidFill>
            <a:srgbClr val="1F4EA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9" name="Google Shape;709;p31"/>
          <p:cNvSpPr/>
          <p:nvPr/>
        </p:nvSpPr>
        <p:spPr>
          <a:xfrm>
            <a:off x="640080" y="4224528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0" name="Google Shape;710;p31"/>
          <p:cNvSpPr/>
          <p:nvPr/>
        </p:nvSpPr>
        <p:spPr>
          <a:xfrm>
            <a:off x="1170432" y="4178808"/>
            <a:ext cx="10332720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1250"/>
              <a:buFont typeface="Arial"/>
              <a:buNone/>
            </a:pPr>
            <a:r>
              <a:rPr lang="en-US" sz="1250">
                <a:solidFill>
                  <a:srgbClr val="2A2A2A"/>
                </a:solidFill>
                <a:latin typeface="Arial"/>
                <a:ea typeface="Arial"/>
                <a:cs typeface="Arial"/>
                <a:sym typeface="Arial"/>
              </a:rPr>
              <a:t>Tạo phân nhóm khách hàng (Low/Medium/High Value)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1" name="Google Shape;711;p31"/>
          <p:cNvSpPr/>
          <p:nvPr/>
        </p:nvSpPr>
        <p:spPr>
          <a:xfrm>
            <a:off x="640080" y="4846320"/>
            <a:ext cx="365760" cy="365760"/>
          </a:xfrm>
          <a:prstGeom prst="ellipse">
            <a:avLst/>
          </a:prstGeom>
          <a:solidFill>
            <a:srgbClr val="1F4EA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2" name="Google Shape;712;p31"/>
          <p:cNvSpPr/>
          <p:nvPr/>
        </p:nvSpPr>
        <p:spPr>
          <a:xfrm>
            <a:off x="640080" y="484632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3" name="Google Shape;713;p31"/>
          <p:cNvSpPr/>
          <p:nvPr/>
        </p:nvSpPr>
        <p:spPr>
          <a:xfrm>
            <a:off x="1170432" y="4800600"/>
            <a:ext cx="10332720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1250"/>
              <a:buFont typeface="Arial"/>
              <a:buNone/>
            </a:pPr>
            <a:r>
              <a:rPr lang="en-US" sz="1250">
                <a:solidFill>
                  <a:srgbClr val="2A2A2A"/>
                </a:solidFill>
                <a:latin typeface="Arial"/>
                <a:ea typeface="Arial"/>
                <a:cs typeface="Arial"/>
                <a:sym typeface="Arial"/>
              </a:rPr>
              <a:t>Kiểm tra kết quả: head(), describe()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4" name="Google Shape;714;p31"/>
          <p:cNvSpPr/>
          <p:nvPr/>
        </p:nvSpPr>
        <p:spPr>
          <a:xfrm>
            <a:off x="640080" y="5468112"/>
            <a:ext cx="365760" cy="365760"/>
          </a:xfrm>
          <a:prstGeom prst="ellipse">
            <a:avLst/>
          </a:prstGeom>
          <a:solidFill>
            <a:srgbClr val="1F4EA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5" name="Google Shape;715;p31"/>
          <p:cNvSpPr/>
          <p:nvPr/>
        </p:nvSpPr>
        <p:spPr>
          <a:xfrm>
            <a:off x="640080" y="5468112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6" name="Google Shape;716;p31"/>
          <p:cNvSpPr/>
          <p:nvPr/>
        </p:nvSpPr>
        <p:spPr>
          <a:xfrm>
            <a:off x="1170432" y="5422392"/>
            <a:ext cx="10332720" cy="621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1250"/>
              <a:buFont typeface="Arial"/>
              <a:buNone/>
            </a:pPr>
            <a:r>
              <a:rPr lang="en-US" sz="1250">
                <a:solidFill>
                  <a:srgbClr val="2A2A2A"/>
                </a:solidFill>
                <a:latin typeface="Arial"/>
                <a:ea typeface="Arial"/>
                <a:cs typeface="Arial"/>
                <a:sym typeface="Arial"/>
              </a:rPr>
              <a:t>Export ra customer_features.csv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7" name="Google Shape;717;p3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F5F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Bài 7. Tích hợp dữ liệu và Feature Engineering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8" name="Google Shape;718;p31"/>
          <p:cNvSpPr/>
          <p:nvPr/>
        </p:nvSpPr>
        <p:spPr>
          <a:xfrm>
            <a:off x="11414455" y="651052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F5F5F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31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p32"/>
          <p:cNvSpPr/>
          <p:nvPr/>
        </p:nvSpPr>
        <p:spPr>
          <a:xfrm>
            <a:off x="0" y="0"/>
            <a:ext cx="12191695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5" name="Google Shape;725;p32"/>
          <p:cNvSpPr/>
          <p:nvPr/>
        </p:nvSpPr>
        <p:spPr>
          <a:xfrm flipH="1">
            <a:off x="8339328" y="0"/>
            <a:ext cx="640080" cy="210312"/>
          </a:xfrm>
          <a:prstGeom prst="parallelogram">
            <a:avLst>
              <a:gd fmla="val 25000" name="adj"/>
            </a:avLst>
          </a:prstGeom>
          <a:solidFill>
            <a:srgbClr val="8497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6" name="Google Shape;726;p32"/>
          <p:cNvSpPr/>
          <p:nvPr/>
        </p:nvSpPr>
        <p:spPr>
          <a:xfrm flipH="1">
            <a:off x="8732520" y="0"/>
            <a:ext cx="969264" cy="1005840"/>
          </a:xfrm>
          <a:prstGeom prst="parallelogram">
            <a:avLst>
              <a:gd fmla="val 25000" name="adj"/>
            </a:avLst>
          </a:prstGeom>
          <a:solidFill>
            <a:srgbClr val="85B51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7" name="Google Shape;727;p32"/>
          <p:cNvSpPr/>
          <p:nvPr/>
        </p:nvSpPr>
        <p:spPr>
          <a:xfrm flipH="1">
            <a:off x="9747504" y="0"/>
            <a:ext cx="1005840" cy="1005840"/>
          </a:xfrm>
          <a:prstGeom prst="parallelogram">
            <a:avLst>
              <a:gd fmla="val 25000" name="adj"/>
            </a:avLst>
          </a:prstGeom>
          <a:solidFill>
            <a:srgbClr val="0F3F6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8" name="Google Shape;728;p32"/>
          <p:cNvSpPr/>
          <p:nvPr/>
        </p:nvSpPr>
        <p:spPr>
          <a:xfrm>
            <a:off x="530352" y="237744"/>
            <a:ext cx="97840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3F6F"/>
              </a:buClr>
              <a:buSzPts val="2100"/>
              <a:buFont typeface="Arial"/>
              <a:buNone/>
            </a:pPr>
            <a:r>
              <a:rPr b="1" lang="en-US" sz="21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Chi tiết các bước chính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9" name="Google Shape;729;p32"/>
          <p:cNvSpPr/>
          <p:nvPr/>
        </p:nvSpPr>
        <p:spPr>
          <a:xfrm>
            <a:off x="548640" y="969264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497A5"/>
              </a:buClr>
              <a:buSzPts val="1100"/>
              <a:buFont typeface="Arial"/>
              <a:buNone/>
            </a:pPr>
            <a:r>
              <a:rPr i="1" lang="en-US" sz="1100">
                <a:solidFill>
                  <a:srgbClr val="8497A5"/>
                </a:solidFill>
                <a:latin typeface="Arial"/>
                <a:ea typeface="Arial"/>
                <a:cs typeface="Arial"/>
                <a:sym typeface="Arial"/>
              </a:rPr>
              <a:t>Thực hành Bài 7 · Bài 07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32"/>
          <p:cNvSpPr/>
          <p:nvPr/>
        </p:nvSpPr>
        <p:spPr>
          <a:xfrm>
            <a:off x="548640" y="1325880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3F6F"/>
              </a:buClr>
              <a:buSzPts val="1250"/>
              <a:buFont typeface="Arial"/>
              <a:buNone/>
            </a:pPr>
            <a:r>
              <a:rPr b="1" lang="en-US" sz="125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Bước 1–2 — Load và Merge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32"/>
          <p:cNvSpPr/>
          <p:nvPr/>
        </p:nvSpPr>
        <p:spPr>
          <a:xfrm>
            <a:off x="548640" y="1673352"/>
            <a:ext cx="11109960" cy="1371600"/>
          </a:xfrm>
          <a:prstGeom prst="roundRect">
            <a:avLst>
              <a:gd fmla="val 4000" name="adj"/>
            </a:avLst>
          </a:prstGeom>
          <a:solidFill>
            <a:srgbClr val="1B2A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2" name="Google Shape;732;p32"/>
          <p:cNvSpPr/>
          <p:nvPr/>
        </p:nvSpPr>
        <p:spPr>
          <a:xfrm>
            <a:off x="749808" y="1783080"/>
            <a:ext cx="10707624" cy="11521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8EEF5"/>
              </a:buClr>
              <a:buSzPts val="1150"/>
              <a:buFont typeface="Consolas"/>
              <a:buNone/>
            </a:pPr>
            <a:r>
              <a:rPr lang="en-US" sz="1150">
                <a:solidFill>
                  <a:srgbClr val="E8EEF5"/>
                </a:solidFill>
                <a:latin typeface="Consolas"/>
                <a:ea typeface="Consolas"/>
                <a:cs typeface="Consolas"/>
                <a:sym typeface="Consolas"/>
              </a:rPr>
              <a:t>customers = pd.read_csv("customers.csv")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8EEF5"/>
              </a:buClr>
              <a:buSzPts val="1150"/>
              <a:buFont typeface="Consolas"/>
              <a:buNone/>
            </a:pPr>
            <a:r>
              <a:rPr lang="en-US" sz="1150">
                <a:solidFill>
                  <a:srgbClr val="E8EEF5"/>
                </a:solidFill>
                <a:latin typeface="Consolas"/>
                <a:ea typeface="Consolas"/>
                <a:cs typeface="Consolas"/>
                <a:sym typeface="Consolas"/>
              </a:rPr>
              <a:t>transactions = pd.read_csv("customer_transactions_clean.csv")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r>
              <a:t/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8EEF5"/>
              </a:buClr>
              <a:buSzPts val="1150"/>
              <a:buFont typeface="Consolas"/>
              <a:buNone/>
            </a:pPr>
            <a:r>
              <a:rPr lang="en-US" sz="1150">
                <a:solidFill>
                  <a:srgbClr val="E8EEF5"/>
                </a:solidFill>
                <a:latin typeface="Consolas"/>
                <a:ea typeface="Consolas"/>
                <a:cs typeface="Consolas"/>
                <a:sym typeface="Consolas"/>
              </a:rPr>
              <a:t>df = transactions.merge(customers, on="customer_id", how="left")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3" name="Google Shape;733;p32"/>
          <p:cNvSpPr/>
          <p:nvPr/>
        </p:nvSpPr>
        <p:spPr>
          <a:xfrm>
            <a:off x="548640" y="3200400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3F6F"/>
              </a:buClr>
              <a:buSzPts val="1250"/>
              <a:buFont typeface="Arial"/>
              <a:buNone/>
            </a:pPr>
            <a:r>
              <a:rPr b="1" lang="en-US" sz="125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Bước 4 — Tạo Aggregation Feature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32"/>
          <p:cNvSpPr/>
          <p:nvPr/>
        </p:nvSpPr>
        <p:spPr>
          <a:xfrm>
            <a:off x="548640" y="3547872"/>
            <a:ext cx="11109960" cy="2011680"/>
          </a:xfrm>
          <a:prstGeom prst="roundRect">
            <a:avLst>
              <a:gd fmla="val 2727" name="adj"/>
            </a:avLst>
          </a:prstGeom>
          <a:solidFill>
            <a:srgbClr val="1B2A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5" name="Google Shape;735;p32"/>
          <p:cNvSpPr/>
          <p:nvPr/>
        </p:nvSpPr>
        <p:spPr>
          <a:xfrm>
            <a:off x="749808" y="3657600"/>
            <a:ext cx="10707624" cy="17922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8EEF5"/>
              </a:buClr>
              <a:buSzPts val="1050"/>
              <a:buFont typeface="Consolas"/>
              <a:buNone/>
            </a:pPr>
            <a:r>
              <a:rPr lang="en-US" sz="1050">
                <a:solidFill>
                  <a:srgbClr val="E8EEF5"/>
                </a:solidFill>
                <a:latin typeface="Consolas"/>
                <a:ea typeface="Consolas"/>
                <a:cs typeface="Consolas"/>
                <a:sym typeface="Consolas"/>
              </a:rPr>
              <a:t>customer_features = (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8EEF5"/>
              </a:buClr>
              <a:buSzPts val="1050"/>
              <a:buFont typeface="Consolas"/>
              <a:buNone/>
            </a:pPr>
            <a:r>
              <a:rPr lang="en-US" sz="1050">
                <a:solidFill>
                  <a:srgbClr val="E8EEF5"/>
                </a:solidFill>
                <a:latin typeface="Consolas"/>
                <a:ea typeface="Consolas"/>
                <a:cs typeface="Consolas"/>
                <a:sym typeface="Consolas"/>
              </a:rPr>
              <a:t>    df.groupby("customer_id")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8EEF5"/>
              </a:buClr>
              <a:buSzPts val="1050"/>
              <a:buFont typeface="Consolas"/>
              <a:buNone/>
            </a:pPr>
            <a:r>
              <a:rPr lang="en-US" sz="1050">
                <a:solidFill>
                  <a:srgbClr val="E8EEF5"/>
                </a:solidFill>
                <a:latin typeface="Consolas"/>
                <a:ea typeface="Consolas"/>
                <a:cs typeface="Consolas"/>
                <a:sym typeface="Consolas"/>
              </a:rPr>
              <a:t>      .agg(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8EEF5"/>
              </a:buClr>
              <a:buSzPts val="1050"/>
              <a:buFont typeface="Consolas"/>
              <a:buNone/>
            </a:pPr>
            <a:r>
              <a:rPr lang="en-US" sz="1050">
                <a:solidFill>
                  <a:srgbClr val="E8EEF5"/>
                </a:solidFill>
                <a:latin typeface="Consolas"/>
                <a:ea typeface="Consolas"/>
                <a:cs typeface="Consolas"/>
                <a:sym typeface="Consolas"/>
              </a:rPr>
              <a:t>          total_spending=("amount", "sum"),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8EEF5"/>
              </a:buClr>
              <a:buSzPts val="1050"/>
              <a:buFont typeface="Consolas"/>
              <a:buNone/>
            </a:pPr>
            <a:r>
              <a:rPr lang="en-US" sz="1050">
                <a:solidFill>
                  <a:srgbClr val="E8EEF5"/>
                </a:solidFill>
                <a:latin typeface="Consolas"/>
                <a:ea typeface="Consolas"/>
                <a:cs typeface="Consolas"/>
                <a:sym typeface="Consolas"/>
              </a:rPr>
              <a:t>          avg_spending=("amount", "mean"),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8EEF5"/>
              </a:buClr>
              <a:buSzPts val="1050"/>
              <a:buFont typeface="Consolas"/>
              <a:buNone/>
            </a:pPr>
            <a:r>
              <a:rPr lang="en-US" sz="1050">
                <a:solidFill>
                  <a:srgbClr val="E8EEF5"/>
                </a:solidFill>
                <a:latin typeface="Consolas"/>
                <a:ea typeface="Consolas"/>
                <a:cs typeface="Consolas"/>
                <a:sym typeface="Consolas"/>
              </a:rPr>
              <a:t>          transaction_count=("amount", "count"),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8EEF5"/>
              </a:buClr>
              <a:buSzPts val="1050"/>
              <a:buFont typeface="Consolas"/>
              <a:buNone/>
            </a:pPr>
            <a:r>
              <a:rPr lang="en-US" sz="1050">
                <a:solidFill>
                  <a:srgbClr val="E8EEF5"/>
                </a:solidFill>
                <a:latin typeface="Consolas"/>
                <a:ea typeface="Consolas"/>
                <a:cs typeface="Consolas"/>
                <a:sym typeface="Consolas"/>
              </a:rPr>
              <a:t>          max_transaction=("amount", "max")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8EEF5"/>
              </a:buClr>
              <a:buSzPts val="1050"/>
              <a:buFont typeface="Consolas"/>
              <a:buNone/>
            </a:pPr>
            <a:r>
              <a:rPr lang="en-US" sz="1050">
                <a:solidFill>
                  <a:srgbClr val="E8EEF5"/>
                </a:solidFill>
                <a:latin typeface="Consolas"/>
                <a:ea typeface="Consolas"/>
                <a:cs typeface="Consolas"/>
                <a:sym typeface="Consolas"/>
              </a:rPr>
              <a:t>      )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8EEF5"/>
              </a:buClr>
              <a:buSzPts val="1050"/>
              <a:buFont typeface="Consolas"/>
              <a:buNone/>
            </a:pPr>
            <a:r>
              <a:rPr lang="en-US" sz="1050">
                <a:solidFill>
                  <a:srgbClr val="E8EEF5"/>
                </a:solidFill>
                <a:latin typeface="Consolas"/>
                <a:ea typeface="Consolas"/>
                <a:cs typeface="Consolas"/>
                <a:sym typeface="Consolas"/>
              </a:rPr>
              <a:t>      .reset_index()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8EEF5"/>
              </a:buClr>
              <a:buSzPts val="1050"/>
              <a:buFont typeface="Consolas"/>
              <a:buNone/>
            </a:pPr>
            <a:r>
              <a:rPr lang="en-US" sz="1050">
                <a:solidFill>
                  <a:srgbClr val="E8EEF5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6" name="Google Shape;736;p3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F5F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Bài 7. Tích hợp dữ liệu và Feature Engineering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7" name="Google Shape;737;p32"/>
          <p:cNvSpPr/>
          <p:nvPr/>
        </p:nvSpPr>
        <p:spPr>
          <a:xfrm>
            <a:off x="11414455" y="651052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F5F5F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32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p33"/>
          <p:cNvSpPr/>
          <p:nvPr/>
        </p:nvSpPr>
        <p:spPr>
          <a:xfrm>
            <a:off x="0" y="0"/>
            <a:ext cx="12191695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4" name="Google Shape;744;p33"/>
          <p:cNvSpPr/>
          <p:nvPr/>
        </p:nvSpPr>
        <p:spPr>
          <a:xfrm flipH="1">
            <a:off x="8339328" y="0"/>
            <a:ext cx="640080" cy="210312"/>
          </a:xfrm>
          <a:prstGeom prst="parallelogram">
            <a:avLst>
              <a:gd fmla="val 25000" name="adj"/>
            </a:avLst>
          </a:prstGeom>
          <a:solidFill>
            <a:srgbClr val="8497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5" name="Google Shape;745;p33"/>
          <p:cNvSpPr/>
          <p:nvPr/>
        </p:nvSpPr>
        <p:spPr>
          <a:xfrm flipH="1">
            <a:off x="8732520" y="0"/>
            <a:ext cx="969264" cy="1005840"/>
          </a:xfrm>
          <a:prstGeom prst="parallelogram">
            <a:avLst>
              <a:gd fmla="val 25000" name="adj"/>
            </a:avLst>
          </a:prstGeom>
          <a:solidFill>
            <a:srgbClr val="85B51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6" name="Google Shape;746;p33"/>
          <p:cNvSpPr/>
          <p:nvPr/>
        </p:nvSpPr>
        <p:spPr>
          <a:xfrm flipH="1">
            <a:off x="9747504" y="0"/>
            <a:ext cx="1005840" cy="1005840"/>
          </a:xfrm>
          <a:prstGeom prst="parallelogram">
            <a:avLst>
              <a:gd fmla="val 25000" name="adj"/>
            </a:avLst>
          </a:prstGeom>
          <a:solidFill>
            <a:srgbClr val="0F3F6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7" name="Google Shape;747;p33"/>
          <p:cNvSpPr/>
          <p:nvPr/>
        </p:nvSpPr>
        <p:spPr>
          <a:xfrm>
            <a:off x="530352" y="237744"/>
            <a:ext cx="97840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3F6F"/>
              </a:buClr>
              <a:buSzPts val="2100"/>
              <a:buFont typeface="Arial"/>
              <a:buNone/>
            </a:pPr>
            <a:r>
              <a:rPr b="1" lang="en-US" sz="21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Sản phẩm cuối cùng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8" name="Google Shape;748;p33"/>
          <p:cNvSpPr/>
          <p:nvPr/>
        </p:nvSpPr>
        <p:spPr>
          <a:xfrm>
            <a:off x="548640" y="969264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497A5"/>
              </a:buClr>
              <a:buSzPts val="1100"/>
              <a:buFont typeface="Arial"/>
              <a:buNone/>
            </a:pPr>
            <a:r>
              <a:rPr i="1" lang="en-US" sz="1100">
                <a:solidFill>
                  <a:srgbClr val="8497A5"/>
                </a:solidFill>
                <a:latin typeface="Arial"/>
                <a:ea typeface="Arial"/>
                <a:cs typeface="Arial"/>
                <a:sym typeface="Arial"/>
              </a:rPr>
              <a:t>Thực hành Bài 7 · Bài 07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9" name="Google Shape;749;p33"/>
          <p:cNvSpPr/>
          <p:nvPr/>
        </p:nvSpPr>
        <p:spPr>
          <a:xfrm>
            <a:off x="548640" y="1298448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3F6F"/>
              </a:buClr>
              <a:buSzPts val="1250"/>
              <a:buFont typeface="Arial"/>
              <a:buNone/>
            </a:pPr>
            <a:r>
              <a:rPr b="1" lang="en-US" sz="125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Kiểm tra &amp; xuất kết quả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0" name="Google Shape;750;p33"/>
          <p:cNvSpPr/>
          <p:nvPr/>
        </p:nvSpPr>
        <p:spPr>
          <a:xfrm>
            <a:off x="548640" y="1645920"/>
            <a:ext cx="11109960" cy="1600200"/>
          </a:xfrm>
          <a:prstGeom prst="roundRect">
            <a:avLst>
              <a:gd fmla="val 3429" name="adj"/>
            </a:avLst>
          </a:prstGeom>
          <a:solidFill>
            <a:srgbClr val="1B2A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1" name="Google Shape;751;p33"/>
          <p:cNvSpPr/>
          <p:nvPr/>
        </p:nvSpPr>
        <p:spPr>
          <a:xfrm>
            <a:off x="749808" y="1755648"/>
            <a:ext cx="10707624" cy="1380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8EEF5"/>
              </a:buClr>
              <a:buSzPts val="1100"/>
              <a:buFont typeface="Consolas"/>
              <a:buNone/>
            </a:pPr>
            <a:r>
              <a:rPr lang="en-US" sz="1100">
                <a:solidFill>
                  <a:srgbClr val="E8EEF5"/>
                </a:solidFill>
                <a:latin typeface="Consolas"/>
                <a:ea typeface="Consolas"/>
                <a:cs typeface="Consolas"/>
                <a:sym typeface="Consolas"/>
              </a:rPr>
              <a:t>customer_features.head()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8EEF5"/>
              </a:buClr>
              <a:buSzPts val="1100"/>
              <a:buFont typeface="Consolas"/>
              <a:buNone/>
            </a:pPr>
            <a:r>
              <a:rPr lang="en-US" sz="1100">
                <a:solidFill>
                  <a:srgbClr val="E8EEF5"/>
                </a:solidFill>
                <a:latin typeface="Consolas"/>
                <a:ea typeface="Consolas"/>
                <a:cs typeface="Consolas"/>
                <a:sym typeface="Consolas"/>
              </a:rPr>
              <a:t>customer_features.describe()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8EEF5"/>
              </a:buClr>
              <a:buSzPts val="1100"/>
              <a:buFont typeface="Consolas"/>
              <a:buNone/>
            </a:pPr>
            <a:r>
              <a:rPr lang="en-US" sz="1100">
                <a:solidFill>
                  <a:srgbClr val="E8EEF5"/>
                </a:solidFill>
                <a:latin typeface="Consolas"/>
                <a:ea typeface="Consolas"/>
                <a:cs typeface="Consolas"/>
                <a:sym typeface="Consolas"/>
              </a:rPr>
              <a:t>customer_features.to_csv(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8EEF5"/>
              </a:buClr>
              <a:buSzPts val="1100"/>
              <a:buFont typeface="Consolas"/>
              <a:buNone/>
            </a:pPr>
            <a:r>
              <a:rPr lang="en-US" sz="1100">
                <a:solidFill>
                  <a:srgbClr val="E8EEF5"/>
                </a:solidFill>
                <a:latin typeface="Consolas"/>
                <a:ea typeface="Consolas"/>
                <a:cs typeface="Consolas"/>
                <a:sym typeface="Consolas"/>
              </a:rPr>
              <a:t>    "customer_features.csv",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8EEF5"/>
              </a:buClr>
              <a:buSzPts val="1100"/>
              <a:buFont typeface="Consolas"/>
              <a:buNone/>
            </a:pPr>
            <a:r>
              <a:rPr lang="en-US" sz="1100">
                <a:solidFill>
                  <a:srgbClr val="E8EEF5"/>
                </a:solidFill>
                <a:latin typeface="Consolas"/>
                <a:ea typeface="Consolas"/>
                <a:cs typeface="Consolas"/>
                <a:sym typeface="Consolas"/>
              </a:rPr>
              <a:t>    index=False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8EEF5"/>
              </a:buClr>
              <a:buSzPts val="1100"/>
              <a:buFont typeface="Consolas"/>
              <a:buNone/>
            </a:pPr>
            <a:r>
              <a:rPr lang="en-US" sz="1100">
                <a:solidFill>
                  <a:srgbClr val="E8EEF5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2" name="Google Shape;752;p33"/>
          <p:cNvSpPr/>
          <p:nvPr/>
        </p:nvSpPr>
        <p:spPr>
          <a:xfrm>
            <a:off x="640080" y="3429000"/>
            <a:ext cx="5349240" cy="1325880"/>
          </a:xfrm>
          <a:prstGeom prst="roundRect">
            <a:avLst>
              <a:gd fmla="val 8276" name="adj"/>
            </a:avLst>
          </a:prstGeom>
          <a:solidFill>
            <a:srgbClr val="E7EE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3" name="Google Shape;753;p33"/>
          <p:cNvSpPr/>
          <p:nvPr/>
        </p:nvSpPr>
        <p:spPr>
          <a:xfrm>
            <a:off x="914400" y="3593592"/>
            <a:ext cx="4800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3F6F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Đầu vào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4" name="Google Shape;754;p33"/>
          <p:cNvSpPr/>
          <p:nvPr/>
        </p:nvSpPr>
        <p:spPr>
          <a:xfrm>
            <a:off x="914400" y="4023360"/>
            <a:ext cx="4800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35266"/>
              </a:buClr>
              <a:buSzPts val="1150"/>
              <a:buFont typeface="Arial"/>
              <a:buChar char="•"/>
            </a:pPr>
            <a:r>
              <a:rPr lang="en-US" sz="115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customers.csv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35266"/>
              </a:buClr>
              <a:buSzPts val="1150"/>
              <a:buFont typeface="Arial"/>
              <a:buChar char="•"/>
            </a:pPr>
            <a:r>
              <a:rPr lang="en-US" sz="115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customer_transactions_clean.csv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5" name="Google Shape;755;p33"/>
          <p:cNvSpPr/>
          <p:nvPr/>
        </p:nvSpPr>
        <p:spPr>
          <a:xfrm>
            <a:off x="6492240" y="3429000"/>
            <a:ext cx="5349240" cy="1325880"/>
          </a:xfrm>
          <a:prstGeom prst="roundRect">
            <a:avLst>
              <a:gd fmla="val 8276" name="adj"/>
            </a:avLst>
          </a:prstGeom>
          <a:solidFill>
            <a:srgbClr val="E9F3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6" name="Google Shape;756;p33"/>
          <p:cNvSpPr/>
          <p:nvPr/>
        </p:nvSpPr>
        <p:spPr>
          <a:xfrm>
            <a:off x="6766560" y="3593592"/>
            <a:ext cx="4800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3F6F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Đầu ra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7" name="Google Shape;757;p33"/>
          <p:cNvSpPr/>
          <p:nvPr/>
        </p:nvSpPr>
        <p:spPr>
          <a:xfrm>
            <a:off x="6766560" y="4023360"/>
            <a:ext cx="4800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35266"/>
              </a:buClr>
              <a:buSzPts val="1150"/>
              <a:buFont typeface="Arial"/>
              <a:buChar char="•"/>
            </a:pPr>
            <a:r>
              <a:rPr lang="en-US" sz="115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customer_features.csv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35266"/>
              </a:buClr>
              <a:buSzPts val="1150"/>
              <a:buFont typeface="Arial"/>
              <a:buChar char="•"/>
            </a:pPr>
            <a:r>
              <a:rPr lang="en-US" sz="115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Mỗi dòng là một hồ sơ khách hàng với các feature phân tích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8" name="Google Shape;758;p33"/>
          <p:cNvSpPr/>
          <p:nvPr/>
        </p:nvSpPr>
        <p:spPr>
          <a:xfrm>
            <a:off x="548640" y="4892040"/>
            <a:ext cx="11109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35266"/>
              </a:buClr>
              <a:buSzPts val="1100"/>
              <a:buFont typeface="Arial"/>
              <a:buNone/>
            </a:pPr>
            <a:r>
              <a:rPr i="1" lang="en-US" sz="11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customer_features.csv sẽ tiếp tục được sử dụng ở các bài học tiếp theo về phân tích và Machine Learning.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9" name="Google Shape;759;p3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F5F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Bài 7. Tích hợp dữ liệu và Feature Engineering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0" name="Google Shape;760;p33"/>
          <p:cNvSpPr/>
          <p:nvPr/>
        </p:nvSpPr>
        <p:spPr>
          <a:xfrm>
            <a:off x="11414455" y="651052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F5F5F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33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34"/>
          <p:cNvSpPr/>
          <p:nvPr/>
        </p:nvSpPr>
        <p:spPr>
          <a:xfrm>
            <a:off x="0" y="0"/>
            <a:ext cx="12191695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7" name="Google Shape;767;p34"/>
          <p:cNvSpPr/>
          <p:nvPr/>
        </p:nvSpPr>
        <p:spPr>
          <a:xfrm flipH="1">
            <a:off x="8339328" y="0"/>
            <a:ext cx="640080" cy="210312"/>
          </a:xfrm>
          <a:prstGeom prst="parallelogram">
            <a:avLst>
              <a:gd fmla="val 25000" name="adj"/>
            </a:avLst>
          </a:prstGeom>
          <a:solidFill>
            <a:srgbClr val="8497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8" name="Google Shape;768;p34"/>
          <p:cNvSpPr/>
          <p:nvPr/>
        </p:nvSpPr>
        <p:spPr>
          <a:xfrm flipH="1">
            <a:off x="8732520" y="0"/>
            <a:ext cx="969264" cy="1005840"/>
          </a:xfrm>
          <a:prstGeom prst="parallelogram">
            <a:avLst>
              <a:gd fmla="val 25000" name="adj"/>
            </a:avLst>
          </a:prstGeom>
          <a:solidFill>
            <a:srgbClr val="85B51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9" name="Google Shape;769;p34"/>
          <p:cNvSpPr/>
          <p:nvPr/>
        </p:nvSpPr>
        <p:spPr>
          <a:xfrm flipH="1">
            <a:off x="9747504" y="0"/>
            <a:ext cx="1005840" cy="1005840"/>
          </a:xfrm>
          <a:prstGeom prst="parallelogram">
            <a:avLst>
              <a:gd fmla="val 25000" name="adj"/>
            </a:avLst>
          </a:prstGeom>
          <a:solidFill>
            <a:srgbClr val="0F3F6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0" name="Google Shape;770;p34"/>
          <p:cNvSpPr/>
          <p:nvPr/>
        </p:nvSpPr>
        <p:spPr>
          <a:xfrm>
            <a:off x="530352" y="237744"/>
            <a:ext cx="97840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3F6F"/>
              </a:buClr>
              <a:buSzPts val="2100"/>
              <a:buFont typeface="Arial"/>
              <a:buNone/>
            </a:pPr>
            <a:r>
              <a:rPr b="1" lang="en-US" sz="21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Tóm tắt bài học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1" name="Google Shape;771;p34"/>
          <p:cNvSpPr/>
          <p:nvPr/>
        </p:nvSpPr>
        <p:spPr>
          <a:xfrm>
            <a:off x="548640" y="969264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497A5"/>
              </a:buClr>
              <a:buSzPts val="1100"/>
              <a:buFont typeface="Arial"/>
              <a:buNone/>
            </a:pPr>
            <a:r>
              <a:rPr i="1" lang="en-US" sz="1100">
                <a:solidFill>
                  <a:srgbClr val="8497A5"/>
                </a:solidFill>
                <a:latin typeface="Arial"/>
                <a:ea typeface="Arial"/>
                <a:cs typeface="Arial"/>
                <a:sym typeface="Arial"/>
              </a:rPr>
              <a:t>Tóm tắt · Bài 07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2" name="Google Shape;772;p34"/>
          <p:cNvSpPr/>
          <p:nvPr/>
        </p:nvSpPr>
        <p:spPr>
          <a:xfrm>
            <a:off x="548640" y="1517904"/>
            <a:ext cx="118872" cy="118872"/>
          </a:xfrm>
          <a:prstGeom prst="ellipse">
            <a:avLst/>
          </a:prstGeom>
          <a:solidFill>
            <a:srgbClr val="85B51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3" name="Google Shape;773;p34"/>
          <p:cNvSpPr/>
          <p:nvPr/>
        </p:nvSpPr>
        <p:spPr>
          <a:xfrm>
            <a:off x="841248" y="1463040"/>
            <a:ext cx="107899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lang="en-US" sz="12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 Cleaning làm dữ liệu đúng; Feature Engineering làm dữ liệu hữu ích hơn cho phân tích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4" name="Google Shape;774;p34"/>
          <p:cNvSpPr/>
          <p:nvPr/>
        </p:nvSpPr>
        <p:spPr>
          <a:xfrm>
            <a:off x="548640" y="2212848"/>
            <a:ext cx="118872" cy="118872"/>
          </a:xfrm>
          <a:prstGeom prst="ellipse">
            <a:avLst/>
          </a:prstGeom>
          <a:solidFill>
            <a:srgbClr val="85B51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5" name="Google Shape;775;p34"/>
          <p:cNvSpPr/>
          <p:nvPr/>
        </p:nvSpPr>
        <p:spPr>
          <a:xfrm>
            <a:off x="841248" y="2157984"/>
            <a:ext cx="107899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lang="en-US" sz="12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Tích hợp dữ liệu cần hiểu Primary Key và Foreign Key để liên kết đúng các bảng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6" name="Google Shape;776;p34"/>
          <p:cNvSpPr/>
          <p:nvPr/>
        </p:nvSpPr>
        <p:spPr>
          <a:xfrm>
            <a:off x="548640" y="2907792"/>
            <a:ext cx="118872" cy="118872"/>
          </a:xfrm>
          <a:prstGeom prst="ellipse">
            <a:avLst/>
          </a:prstGeom>
          <a:solidFill>
            <a:srgbClr val="85B51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7" name="Google Shape;777;p34"/>
          <p:cNvSpPr/>
          <p:nvPr/>
        </p:nvSpPr>
        <p:spPr>
          <a:xfrm>
            <a:off x="841248" y="2852928"/>
            <a:ext cx="107899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lang="en-US" sz="12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Merge ghép dữ liệu theo khóa (Inner/Left/Right/Outer Join); Concatenate ghép dữ liệu cùng cấu trúc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8" name="Google Shape;778;p34"/>
          <p:cNvSpPr/>
          <p:nvPr/>
        </p:nvSpPr>
        <p:spPr>
          <a:xfrm>
            <a:off x="548640" y="3602736"/>
            <a:ext cx="118872" cy="118872"/>
          </a:xfrm>
          <a:prstGeom prst="ellipse">
            <a:avLst/>
          </a:prstGeom>
          <a:solidFill>
            <a:srgbClr val="85B51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9" name="Google Shape;779;p34"/>
          <p:cNvSpPr/>
          <p:nvPr/>
        </p:nvSpPr>
        <p:spPr>
          <a:xfrm>
            <a:off x="841248" y="3547872"/>
            <a:ext cx="107899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lang="en-US" sz="12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Feature Engineering biến dữ liệu hiện có thành biến mới có ý nghĩa nghiệp vụ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0" name="Google Shape;780;p34"/>
          <p:cNvSpPr/>
          <p:nvPr/>
        </p:nvSpPr>
        <p:spPr>
          <a:xfrm>
            <a:off x="548640" y="4297680"/>
            <a:ext cx="118872" cy="118872"/>
          </a:xfrm>
          <a:prstGeom prst="ellipse">
            <a:avLst/>
          </a:prstGeom>
          <a:solidFill>
            <a:srgbClr val="85B51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1" name="Google Shape;781;p34"/>
          <p:cNvSpPr/>
          <p:nvPr/>
        </p:nvSpPr>
        <p:spPr>
          <a:xfrm>
            <a:off x="841248" y="4242816"/>
            <a:ext cx="107899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lang="en-US" sz="12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Có thể tạo feature từ ngày tháng, dữ liệu số và dữ liệu phân loại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2" name="Google Shape;782;p34"/>
          <p:cNvSpPr/>
          <p:nvPr/>
        </p:nvSpPr>
        <p:spPr>
          <a:xfrm>
            <a:off x="548640" y="4992624"/>
            <a:ext cx="118872" cy="118872"/>
          </a:xfrm>
          <a:prstGeom prst="ellipse">
            <a:avLst/>
          </a:prstGeom>
          <a:solidFill>
            <a:srgbClr val="85B51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3" name="Google Shape;783;p34"/>
          <p:cNvSpPr/>
          <p:nvPr/>
        </p:nvSpPr>
        <p:spPr>
          <a:xfrm>
            <a:off x="841248" y="4937760"/>
            <a:ext cx="107899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lang="en-US" sz="12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Aggregation Feature biến hàng nghìn giao dịch thành một hồ sơ khách hàng duy nhất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4" name="Google Shape;784;p34"/>
          <p:cNvSpPr/>
          <p:nvPr/>
        </p:nvSpPr>
        <p:spPr>
          <a:xfrm>
            <a:off x="548640" y="5687568"/>
            <a:ext cx="118872" cy="118872"/>
          </a:xfrm>
          <a:prstGeom prst="ellipse">
            <a:avLst/>
          </a:prstGeom>
          <a:solidFill>
            <a:srgbClr val="85B51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5" name="Google Shape;785;p34"/>
          <p:cNvSpPr/>
          <p:nvPr/>
        </p:nvSpPr>
        <p:spPr>
          <a:xfrm>
            <a:off x="841248" y="5632704"/>
            <a:ext cx="107899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lang="en-US" sz="12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Feature tạo ra ở Bài 7 là nền tảng trực tiếp cho segmentation, fraud detection, credit scoring và churn prediction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6" name="Google Shape;786;p3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F5F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Bài 7. Tích hợp dữ liệu và Feature Engineering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7" name="Google Shape;787;p34"/>
          <p:cNvSpPr/>
          <p:nvPr/>
        </p:nvSpPr>
        <p:spPr>
          <a:xfrm>
            <a:off x="11414455" y="651052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F5F5F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34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92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p35"/>
          <p:cNvSpPr/>
          <p:nvPr/>
        </p:nvSpPr>
        <p:spPr>
          <a:xfrm>
            <a:off x="0" y="0"/>
            <a:ext cx="12191695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4" name="Google Shape;794;p35"/>
          <p:cNvSpPr/>
          <p:nvPr/>
        </p:nvSpPr>
        <p:spPr>
          <a:xfrm flipH="1">
            <a:off x="8339328" y="0"/>
            <a:ext cx="640080" cy="210312"/>
          </a:xfrm>
          <a:prstGeom prst="parallelogram">
            <a:avLst>
              <a:gd fmla="val 25000" name="adj"/>
            </a:avLst>
          </a:prstGeom>
          <a:solidFill>
            <a:srgbClr val="8497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5" name="Google Shape;795;p35"/>
          <p:cNvSpPr/>
          <p:nvPr/>
        </p:nvSpPr>
        <p:spPr>
          <a:xfrm flipH="1">
            <a:off x="8732520" y="0"/>
            <a:ext cx="969264" cy="1005840"/>
          </a:xfrm>
          <a:prstGeom prst="parallelogram">
            <a:avLst>
              <a:gd fmla="val 25000" name="adj"/>
            </a:avLst>
          </a:prstGeom>
          <a:solidFill>
            <a:srgbClr val="85B51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6" name="Google Shape;796;p35"/>
          <p:cNvSpPr/>
          <p:nvPr/>
        </p:nvSpPr>
        <p:spPr>
          <a:xfrm flipH="1">
            <a:off x="9747504" y="0"/>
            <a:ext cx="1005840" cy="1005840"/>
          </a:xfrm>
          <a:prstGeom prst="parallelogram">
            <a:avLst>
              <a:gd fmla="val 25000" name="adj"/>
            </a:avLst>
          </a:prstGeom>
          <a:solidFill>
            <a:srgbClr val="0F3F6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7" name="Google Shape;797;p35"/>
          <p:cNvSpPr/>
          <p:nvPr/>
        </p:nvSpPr>
        <p:spPr>
          <a:xfrm>
            <a:off x="530352" y="237744"/>
            <a:ext cx="97840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3F6F"/>
              </a:buClr>
              <a:buSzPts val="2100"/>
              <a:buFont typeface="Arial"/>
              <a:buNone/>
            </a:pPr>
            <a:r>
              <a:rPr b="1" lang="en-US" sz="21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Câu hỏi kiểm tra nhanh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8" name="Google Shape;798;p35"/>
          <p:cNvSpPr/>
          <p:nvPr/>
        </p:nvSpPr>
        <p:spPr>
          <a:xfrm>
            <a:off x="548640" y="969264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497A5"/>
              </a:buClr>
              <a:buSzPts val="1100"/>
              <a:buFont typeface="Arial"/>
              <a:buNone/>
            </a:pPr>
            <a:r>
              <a:rPr i="1" lang="en-US" sz="1100">
                <a:solidFill>
                  <a:srgbClr val="8497A5"/>
                </a:solidFill>
                <a:latin typeface="Arial"/>
                <a:ea typeface="Arial"/>
                <a:cs typeface="Arial"/>
                <a:sym typeface="Arial"/>
              </a:rPr>
              <a:t>Đánh giá nhanh · Bài 07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9" name="Google Shape;799;p35"/>
          <p:cNvSpPr/>
          <p:nvPr/>
        </p:nvSpPr>
        <p:spPr>
          <a:xfrm>
            <a:off x="548640" y="1325880"/>
            <a:ext cx="11109960" cy="4892040"/>
          </a:xfrm>
          <a:prstGeom prst="roundRect">
            <a:avLst>
              <a:gd fmla="val 1869" name="adj"/>
            </a:avLst>
          </a:prstGeom>
          <a:solidFill>
            <a:srgbClr val="F0F4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0" name="Google Shape;800;p35"/>
          <p:cNvSpPr/>
          <p:nvPr/>
        </p:nvSpPr>
        <p:spPr>
          <a:xfrm>
            <a:off x="868680" y="1600200"/>
            <a:ext cx="10515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35266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1. Loại Join nào giữ toàn bộ dữ liệu từ cả hai bảng, kể cả khi không khớp?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1" name="Google Shape;801;p35"/>
          <p:cNvSpPr/>
          <p:nvPr/>
        </p:nvSpPr>
        <p:spPr>
          <a:xfrm>
            <a:off x="868680" y="2167128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3F6F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Đáp án: </a:t>
            </a:r>
            <a:r>
              <a:rPr lang="en-US" sz="12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Outer Join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2" name="Google Shape;802;p35"/>
          <p:cNvSpPr/>
          <p:nvPr/>
        </p:nvSpPr>
        <p:spPr>
          <a:xfrm>
            <a:off x="868680" y="2971800"/>
            <a:ext cx="10515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35266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2. Hàm Pandas nào dùng để chia giá trị liên tục thành các nhóm phân loại?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3" name="Google Shape;803;p35"/>
          <p:cNvSpPr/>
          <p:nvPr/>
        </p:nvSpPr>
        <p:spPr>
          <a:xfrm>
            <a:off x="868680" y="3538728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3F6F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Đáp án: </a:t>
            </a:r>
            <a:r>
              <a:rPr lang="en-US" sz="12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pd.cut()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4" name="Google Shape;804;p35"/>
          <p:cNvSpPr/>
          <p:nvPr/>
        </p:nvSpPr>
        <p:spPr>
          <a:xfrm>
            <a:off x="868680" y="4343400"/>
            <a:ext cx="10515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35266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3. Từ hàng nghìn transaction, phép biến đổi nào tạo ra hồ sơ khách hàng?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5" name="Google Shape;805;p35"/>
          <p:cNvSpPr/>
          <p:nvPr/>
        </p:nvSpPr>
        <p:spPr>
          <a:xfrm>
            <a:off x="868680" y="4910328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3F6F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Đáp án: </a:t>
            </a:r>
            <a:r>
              <a:rPr lang="en-US" sz="12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GroupBy + Aggregate (Aggregation Feature)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6" name="Google Shape;806;p3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5F5F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Bài 7. Tích hợp dữ liệu và Feature Engineering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7" name="Google Shape;807;p35"/>
          <p:cNvSpPr/>
          <p:nvPr/>
        </p:nvSpPr>
        <p:spPr>
          <a:xfrm>
            <a:off x="11414455" y="651052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F5F5F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35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Google Shape;813;p36"/>
          <p:cNvSpPr/>
          <p:nvPr/>
        </p:nvSpPr>
        <p:spPr>
          <a:xfrm>
            <a:off x="0" y="0"/>
            <a:ext cx="12191695" cy="210312"/>
          </a:xfrm>
          <a:prstGeom prst="rect">
            <a:avLst/>
          </a:prstGeom>
          <a:solidFill>
            <a:srgbClr val="0F3F6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4" name="Google Shape;814;p36"/>
          <p:cNvSpPr/>
          <p:nvPr/>
        </p:nvSpPr>
        <p:spPr>
          <a:xfrm flipH="1">
            <a:off x="8339328" y="0"/>
            <a:ext cx="640080" cy="210312"/>
          </a:xfrm>
          <a:prstGeom prst="parallelogram">
            <a:avLst>
              <a:gd fmla="val 25000" name="adj"/>
            </a:avLst>
          </a:prstGeom>
          <a:solidFill>
            <a:srgbClr val="8497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5" name="Google Shape;815;p36"/>
          <p:cNvSpPr/>
          <p:nvPr/>
        </p:nvSpPr>
        <p:spPr>
          <a:xfrm flipH="1">
            <a:off x="8732520" y="0"/>
            <a:ext cx="969264" cy="1005840"/>
          </a:xfrm>
          <a:prstGeom prst="parallelogram">
            <a:avLst>
              <a:gd fmla="val 25000" name="adj"/>
            </a:avLst>
          </a:prstGeom>
          <a:solidFill>
            <a:srgbClr val="85B51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6" name="Google Shape;816;p36"/>
          <p:cNvSpPr/>
          <p:nvPr/>
        </p:nvSpPr>
        <p:spPr>
          <a:xfrm flipH="1">
            <a:off x="9747504" y="0"/>
            <a:ext cx="1005840" cy="1005840"/>
          </a:xfrm>
          <a:prstGeom prst="parallelogram">
            <a:avLst>
              <a:gd fmla="val 25000" name="adj"/>
            </a:avLst>
          </a:prstGeom>
          <a:solidFill>
            <a:srgbClr val="0F3F6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7" name="Google Shape;817;p36"/>
          <p:cNvSpPr/>
          <p:nvPr/>
        </p:nvSpPr>
        <p:spPr>
          <a:xfrm>
            <a:off x="914400" y="1828800"/>
            <a:ext cx="103327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3F6F"/>
              </a:buClr>
              <a:buSzPts val="3800"/>
              <a:buFont typeface="Arial"/>
              <a:buNone/>
            </a:pPr>
            <a:r>
              <a:rPr b="1" lang="en-US" sz="38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Cảm ơn đã theo dõi</a:t>
            </a:r>
            <a:endParaRPr sz="3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8" name="Google Shape;818;p36"/>
          <p:cNvSpPr/>
          <p:nvPr/>
        </p:nvSpPr>
        <p:spPr>
          <a:xfrm>
            <a:off x="1371600" y="2788920"/>
            <a:ext cx="94183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F3F6F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Bài tiếp theo: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F3F6F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0F3F6F"/>
                </a:solidFill>
                <a:latin typeface="Arial"/>
                <a:ea typeface="Arial"/>
                <a:cs typeface="Arial"/>
                <a:sym typeface="Arial"/>
              </a:rPr>
              <a:t>Giới thiệu Machine Learning cơ bản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9" name="Google Shape;819;p36"/>
          <p:cNvSpPr/>
          <p:nvPr/>
        </p:nvSpPr>
        <p:spPr>
          <a:xfrm>
            <a:off x="1645920" y="3977640"/>
            <a:ext cx="88696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435266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Tài liệu tham khảo: customers.csv và các dataset mẫu sẽ được chia sẻ trên LMS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435266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Liên hệ giảng viên/trợ giảng nếu gặp lỗi khi merge hoặc tạo feature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435266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435266"/>
                </a:solidFill>
                <a:latin typeface="Arial"/>
                <a:ea typeface="Arial"/>
                <a:cs typeface="Arial"/>
                <a:sym typeface="Arial"/>
              </a:rPr>
              <a:t>Lưu lại customer_features.csv để sử dụng cho các bài học tiếp theo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0" name="Google Shape;820;p36"/>
          <p:cNvSpPr/>
          <p:nvPr/>
        </p:nvSpPr>
        <p:spPr>
          <a:xfrm>
            <a:off x="11414455" y="651052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F5F5F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5F5F5F"/>
                </a:solidFill>
                <a:latin typeface="Arial"/>
                <a:ea typeface="Arial"/>
                <a:cs typeface="Arial"/>
                <a:sym typeface="Arial"/>
              </a:rPr>
              <a:t>36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2026-08-24T02:03:04Z</dcterms:created>
  <dc:creator>PptxGenJS</dc:creator>
</cp:coreProperties>
</file>
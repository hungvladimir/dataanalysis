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x="18288000" cy="10287000"/>
  <p:notesSz cx="6858000" cy="9144000"/>
  <p:embeddedFontLst>
    <p:embeddedFont>
      <p:font typeface="Cabin" charset="1" panose="00000500000000000000"/>
      <p:regular r:id="rId43"/>
    </p:embeddedFont>
    <p:embeddedFont>
      <p:font typeface="Aptos Bold" charset="1" panose="020B0004020202020204"/>
      <p:regular r:id="rId44"/>
    </p:embeddedFont>
    <p:embeddedFont>
      <p:font typeface="Cabin Italics" charset="1" panose="00000500000000000000"/>
      <p:regular r:id="rId46"/>
    </p:embeddedFont>
    <p:embeddedFont>
      <p:font typeface="Cabin Bold" charset="1" panose="00000800000000000000"/>
      <p:regular r:id="rId47"/>
    </p:embeddedFont>
    <p:embeddedFont>
      <p:font typeface="TT Rounds Condensed Bold" charset="1" panose="02000806030000020003"/>
      <p:regular r:id="rId51"/>
    </p:embeddedFont>
    <p:embeddedFont>
      <p:font typeface="Consolas" charset="1" panose="020B0609020204030204"/>
      <p:regular r:id="rId65"/>
    </p:embeddedFont>
    <p:embeddedFont>
      <p:font typeface="Consolas Bold" charset="1" panose="020B0709020204030204"/>
      <p:regular r:id="rId7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notesMasters/notesMaster1.xml" Type="http://schemas.openxmlformats.org/officeDocument/2006/relationships/notesMaster"/><Relationship Id="rId41" Target="theme/theme2.xml" Type="http://schemas.openxmlformats.org/officeDocument/2006/relationships/theme"/><Relationship Id="rId42" Target="notesSlides/notesSlide1.xml" Type="http://schemas.openxmlformats.org/officeDocument/2006/relationships/notesSlide"/><Relationship Id="rId43" Target="fonts/font43.fntdata" Type="http://schemas.openxmlformats.org/officeDocument/2006/relationships/font"/><Relationship Id="rId44" Target="fonts/font44.fntdata" Type="http://schemas.openxmlformats.org/officeDocument/2006/relationships/font"/><Relationship Id="rId45" Target="notesSlides/notesSlide2.xml" Type="http://schemas.openxmlformats.org/officeDocument/2006/relationships/notesSlide"/><Relationship Id="rId46" Target="fonts/font46.fntdata" Type="http://schemas.openxmlformats.org/officeDocument/2006/relationships/font"/><Relationship Id="rId47" Target="fonts/font47.fntdata" Type="http://schemas.openxmlformats.org/officeDocument/2006/relationships/font"/><Relationship Id="rId48" Target="notesSlides/notesSlide3.xml" Type="http://schemas.openxmlformats.org/officeDocument/2006/relationships/notesSlide"/><Relationship Id="rId49" Target="notesSlides/notesSlide4.xml" Type="http://schemas.openxmlformats.org/officeDocument/2006/relationships/notesSlide"/><Relationship Id="rId5" Target="tableStyles.xml" Type="http://schemas.openxmlformats.org/officeDocument/2006/relationships/tableStyles"/><Relationship Id="rId50" Target="notesSlides/notesSlide5.xml" Type="http://schemas.openxmlformats.org/officeDocument/2006/relationships/notesSlide"/><Relationship Id="rId51" Target="fonts/font51.fntdata" Type="http://schemas.openxmlformats.org/officeDocument/2006/relationships/font"/><Relationship Id="rId52" Target="notesSlides/notesSlide6.xml" Type="http://schemas.openxmlformats.org/officeDocument/2006/relationships/notesSlide"/><Relationship Id="rId53" Target="notesSlides/notesSlide7.xml" Type="http://schemas.openxmlformats.org/officeDocument/2006/relationships/notesSlide"/><Relationship Id="rId54" Target="notesSlides/notesSlide8.xml" Type="http://schemas.openxmlformats.org/officeDocument/2006/relationships/notesSlide"/><Relationship Id="rId55" Target="notesSlides/notesSlide9.xml" Type="http://schemas.openxmlformats.org/officeDocument/2006/relationships/notesSlide"/><Relationship Id="rId56" Target="notesSlides/notesSlide10.xml" Type="http://schemas.openxmlformats.org/officeDocument/2006/relationships/notesSlide"/><Relationship Id="rId57" Target="notesSlides/notesSlide11.xml" Type="http://schemas.openxmlformats.org/officeDocument/2006/relationships/notesSlide"/><Relationship Id="rId58" Target="notesSlides/notesSlide12.xml" Type="http://schemas.openxmlformats.org/officeDocument/2006/relationships/notesSlide"/><Relationship Id="rId59" Target="notesSlides/notesSlide13.xml" Type="http://schemas.openxmlformats.org/officeDocument/2006/relationships/notesSlide"/><Relationship Id="rId6" Target="slides/slide1.xml" Type="http://schemas.openxmlformats.org/officeDocument/2006/relationships/slide"/><Relationship Id="rId60" Target="notesSlides/notesSlide14.xml" Type="http://schemas.openxmlformats.org/officeDocument/2006/relationships/notesSlide"/><Relationship Id="rId61" Target="notesSlides/notesSlide15.xml" Type="http://schemas.openxmlformats.org/officeDocument/2006/relationships/notesSlide"/><Relationship Id="rId62" Target="notesSlides/notesSlide16.xml" Type="http://schemas.openxmlformats.org/officeDocument/2006/relationships/notesSlide"/><Relationship Id="rId63" Target="notesSlides/notesSlide17.xml" Type="http://schemas.openxmlformats.org/officeDocument/2006/relationships/notesSlide"/><Relationship Id="rId64" Target="notesSlides/notesSlide18.xml" Type="http://schemas.openxmlformats.org/officeDocument/2006/relationships/notesSlide"/><Relationship Id="rId65" Target="fonts/font65.fntdata" Type="http://schemas.openxmlformats.org/officeDocument/2006/relationships/font"/><Relationship Id="rId66" Target="notesSlides/notesSlide19.xml" Type="http://schemas.openxmlformats.org/officeDocument/2006/relationships/notesSlide"/><Relationship Id="rId67" Target="notesSlides/notesSlide20.xml" Type="http://schemas.openxmlformats.org/officeDocument/2006/relationships/notesSlide"/><Relationship Id="rId68" Target="notesSlides/notesSlide21.xml" Type="http://schemas.openxmlformats.org/officeDocument/2006/relationships/notesSlide"/><Relationship Id="rId69" Target="notesSlides/notesSlide22.xml" Type="http://schemas.openxmlformats.org/officeDocument/2006/relationships/notesSlide"/><Relationship Id="rId7" Target="slides/slide2.xml" Type="http://schemas.openxmlformats.org/officeDocument/2006/relationships/slide"/><Relationship Id="rId70" Target="notesSlides/notesSlide23.xml" Type="http://schemas.openxmlformats.org/officeDocument/2006/relationships/notesSlide"/><Relationship Id="rId71" Target="notesSlides/notesSlide24.xml" Type="http://schemas.openxmlformats.org/officeDocument/2006/relationships/notesSlide"/><Relationship Id="rId72" Target="notesSlides/notesSlide25.xml" Type="http://schemas.openxmlformats.org/officeDocument/2006/relationships/notesSlide"/><Relationship Id="rId73" Target="notesSlides/notesSlide26.xml" Type="http://schemas.openxmlformats.org/officeDocument/2006/relationships/notesSlide"/><Relationship Id="rId74" Target="notesSlides/notesSlide27.xml" Type="http://schemas.openxmlformats.org/officeDocument/2006/relationships/notesSlide"/><Relationship Id="rId75" Target="notesSlides/notesSlide28.xml" Type="http://schemas.openxmlformats.org/officeDocument/2006/relationships/notesSlide"/><Relationship Id="rId76" Target="fonts/font76.fntdata" Type="http://schemas.openxmlformats.org/officeDocument/2006/relationships/font"/><Relationship Id="rId77" Target="notesSlides/notesSlide29.xml" Type="http://schemas.openxmlformats.org/officeDocument/2006/relationships/notesSlide"/><Relationship Id="rId78" Target="notesSlides/notesSlide30.xml" Type="http://schemas.openxmlformats.org/officeDocument/2006/relationships/notesSlide"/><Relationship Id="rId79" Target="notesSlides/notesSlide31.xml" Type="http://schemas.openxmlformats.org/officeDocument/2006/relationships/notesSlide"/><Relationship Id="rId8" Target="slides/slide3.xml" Type="http://schemas.openxmlformats.org/officeDocument/2006/relationships/slide"/><Relationship Id="rId80" Target="notesSlides/notesSlide32.xml" Type="http://schemas.openxmlformats.org/officeDocument/2006/relationships/notesSlide"/><Relationship Id="rId81" Target="notesSlides/notesSlide33.xml" Type="http://schemas.openxmlformats.org/officeDocument/2006/relationships/notesSlide"/><Relationship Id="rId82" Target="notesSlides/notesSlide34.xml" Type="http://schemas.openxmlformats.org/officeDocument/2006/relationships/note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4.png" Type="http://schemas.openxmlformats.org/officeDocument/2006/relationships/image"/><Relationship Id="rId4"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4.png" Type="http://schemas.openxmlformats.org/officeDocument/2006/relationships/image"/><Relationship Id="rId4"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4.png" Type="http://schemas.openxmlformats.org/officeDocument/2006/relationships/image"/><Relationship Id="rId4"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4.png" Type="http://schemas.openxmlformats.org/officeDocument/2006/relationships/image"/><Relationship Id="rId4"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4.png" Type="http://schemas.openxmlformats.org/officeDocument/2006/relationships/image"/><Relationship Id="rId4"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4.png" Type="http://schemas.openxmlformats.org/officeDocument/2006/relationships/image"/><Relationship Id="rId4"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4.png" Type="http://schemas.openxmlformats.org/officeDocument/2006/relationships/image"/><Relationship Id="rId4"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4.png" Type="http://schemas.openxmlformats.org/officeDocument/2006/relationships/image"/><Relationship Id="rId4"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4.png" Type="http://schemas.openxmlformats.org/officeDocument/2006/relationships/image"/><Relationship Id="rId4"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4.png" Type="http://schemas.openxmlformats.org/officeDocument/2006/relationships/image"/><Relationship Id="rId4"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4.png" Type="http://schemas.openxmlformats.org/officeDocument/2006/relationships/image"/><Relationship Id="rId4" Target="../media/image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4.png" Type="http://schemas.openxmlformats.org/officeDocument/2006/relationships/image"/><Relationship Id="rId4" Target="../media/image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4.png" Type="http://schemas.openxmlformats.org/officeDocument/2006/relationships/image"/><Relationship Id="rId4" Target="../media/image1.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4.png" Type="http://schemas.openxmlformats.org/officeDocument/2006/relationships/image"/><Relationship Id="rId4" Target="../media/image1.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4.png" Type="http://schemas.openxmlformats.org/officeDocument/2006/relationships/image"/><Relationship Id="rId4" Target="../media/image1.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4.png" Type="http://schemas.openxmlformats.org/officeDocument/2006/relationships/image"/><Relationship Id="rId4" Target="../media/image1.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4.png" Type="http://schemas.openxmlformats.org/officeDocument/2006/relationships/image"/><Relationship Id="rId4" Target="../media/image1.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4.png" Type="http://schemas.openxmlformats.org/officeDocument/2006/relationships/image"/><Relationship Id="rId4" Target="../media/image1.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4.png" Type="http://schemas.openxmlformats.org/officeDocument/2006/relationships/image"/><Relationship Id="rId4" Target="../media/image1.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4.png" Type="http://schemas.openxmlformats.org/officeDocument/2006/relationships/image"/><Relationship Id="rId4" Target="../media/image1.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4.png" Type="http://schemas.openxmlformats.org/officeDocument/2006/relationships/image"/><Relationship Id="rId4" Target="../media/image1.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4.png" Type="http://schemas.openxmlformats.org/officeDocument/2006/relationships/image"/><Relationship Id="rId4" Target="../media/image1.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4.png" Type="http://schemas.openxmlformats.org/officeDocument/2006/relationships/image"/><Relationship Id="rId4" Target="../media/image1.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4.png" Type="http://schemas.openxmlformats.org/officeDocument/2006/relationships/image"/><Relationship Id="rId4" Target="../media/image1.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4.png" Type="http://schemas.openxmlformats.org/officeDocument/2006/relationships/image"/><Relationship Id="rId4" Target="../media/image1.jpe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4.png" Type="http://schemas.openxmlformats.org/officeDocument/2006/relationships/image"/><Relationship Id="rId4" Target="../media/image1.jpe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 Id="rId3" Target="../media/image4.png" Type="http://schemas.openxmlformats.org/officeDocument/2006/relationships/image"/><Relationship Id="rId4" Target="../media/image1.jpe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 Id="rId3" Target="../media/image4.png" Type="http://schemas.openxmlformats.org/officeDocument/2006/relationships/image"/><Relationship Id="rId4" Target="../media/image1.jpe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 Id="rId3" Target="../media/image4.png" Type="http://schemas.openxmlformats.org/officeDocument/2006/relationships/image"/><Relationship Id="rId4" Target="../media/image1.jpe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2.xml" Type="http://schemas.openxmlformats.org/officeDocument/2006/relationships/notesSlide"/><Relationship Id="rId3" Target="../media/image4.png" Type="http://schemas.openxmlformats.org/officeDocument/2006/relationships/image"/><Relationship Id="rId4" Target="../media/image1.jpe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3.xml" Type="http://schemas.openxmlformats.org/officeDocument/2006/relationships/notesSlide"/><Relationship Id="rId3" Target="../media/image4.png" Type="http://schemas.openxmlformats.org/officeDocument/2006/relationships/image"/><Relationship Id="rId4" Target="../media/image1.jpe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4.xml" Type="http://schemas.openxmlformats.org/officeDocument/2006/relationships/notesSlide"/><Relationship Id="rId3" Target="../media/image4.png" Type="http://schemas.openxmlformats.org/officeDocument/2006/relationships/image"/><Relationship Id="rId4" Target="../media/image5.png" Type="http://schemas.openxmlformats.org/officeDocument/2006/relationships/image"/><Relationship Id="rId5"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80060" y="-205740"/>
            <a:ext cx="5829300" cy="1536192"/>
            <a:chOff x="0" y="0"/>
            <a:chExt cx="7772400" cy="2048256"/>
          </a:xfrm>
        </p:grpSpPr>
        <p:sp>
          <p:nvSpPr>
            <p:cNvPr name="Freeform 3" id="3"/>
            <p:cNvSpPr/>
            <p:nvPr/>
          </p:nvSpPr>
          <p:spPr>
            <a:xfrm flipH="false" flipV="false" rot="0">
              <a:off x="0" y="0"/>
              <a:ext cx="7772400" cy="2048256"/>
            </a:xfrm>
            <a:custGeom>
              <a:avLst/>
              <a:gdLst/>
              <a:ahLst/>
              <a:cxnLst/>
              <a:rect r="r" b="b" t="t" l="l"/>
              <a:pathLst>
                <a:path h="2048256" w="7772400">
                  <a:moveTo>
                    <a:pt x="0" y="2048256"/>
                  </a:moveTo>
                  <a:lnTo>
                    <a:pt x="512064" y="0"/>
                  </a:lnTo>
                  <a:lnTo>
                    <a:pt x="7772400" y="0"/>
                  </a:lnTo>
                  <a:lnTo>
                    <a:pt x="7260336" y="2048256"/>
                  </a:lnTo>
                  <a:close/>
                </a:path>
              </a:pathLst>
            </a:custGeom>
            <a:solidFill>
              <a:srgbClr val="0F3F6F"/>
            </a:solidFill>
          </p:spPr>
        </p:sp>
      </p:grpSp>
      <p:grpSp>
        <p:nvGrpSpPr>
          <p:cNvPr name="Group 4" id="4"/>
          <p:cNvGrpSpPr/>
          <p:nvPr/>
        </p:nvGrpSpPr>
        <p:grpSpPr>
          <a:xfrm rot="0">
            <a:off x="2434590" y="5902490"/>
            <a:ext cx="7412431" cy="2882612"/>
            <a:chOff x="0" y="0"/>
            <a:chExt cx="9883242" cy="3843483"/>
          </a:xfrm>
        </p:grpSpPr>
        <p:sp>
          <p:nvSpPr>
            <p:cNvPr name="Freeform 5" id="5"/>
            <p:cNvSpPr/>
            <p:nvPr/>
          </p:nvSpPr>
          <p:spPr>
            <a:xfrm flipH="false" flipV="false" rot="0">
              <a:off x="0" y="0"/>
              <a:ext cx="9883241" cy="3843488"/>
            </a:xfrm>
            <a:custGeom>
              <a:avLst/>
              <a:gdLst/>
              <a:ahLst/>
              <a:cxnLst/>
              <a:rect r="r" b="b" t="t" l="l"/>
              <a:pathLst>
                <a:path h="3843488" w="9883241">
                  <a:moveTo>
                    <a:pt x="0" y="0"/>
                  </a:moveTo>
                  <a:lnTo>
                    <a:pt x="9883241" y="0"/>
                  </a:lnTo>
                  <a:lnTo>
                    <a:pt x="9883241" y="3843488"/>
                  </a:lnTo>
                  <a:lnTo>
                    <a:pt x="0" y="3843488"/>
                  </a:lnTo>
                  <a:close/>
                </a:path>
              </a:pathLst>
            </a:custGeom>
            <a:blipFill>
              <a:blip r:embed="rId3">
                <a:alphaModFix amt="0"/>
              </a:blip>
              <a:stretch>
                <a:fillRect l="0" t="-104" r="0" b="-104"/>
              </a:stretch>
            </a:blipFill>
          </p:spPr>
        </p:sp>
        <p:sp>
          <p:nvSpPr>
            <p:cNvPr name="TextBox 6" id="6"/>
            <p:cNvSpPr txBox="true"/>
            <p:nvPr/>
          </p:nvSpPr>
          <p:spPr>
            <a:xfrm>
              <a:off x="0" y="-95250"/>
              <a:ext cx="9883242" cy="3938733"/>
            </a:xfrm>
            <a:prstGeom prst="rect">
              <a:avLst/>
            </a:prstGeom>
          </p:spPr>
          <p:txBody>
            <a:bodyPr anchor="ctr" rtlCol="false" tIns="0" lIns="0" bIns="0" rIns="0"/>
            <a:lstStyle/>
            <a:p>
              <a:pPr algn="l">
                <a:lnSpc>
                  <a:spcPts val="3888"/>
                </a:lnSpc>
              </a:pPr>
              <a:r>
                <a:rPr lang="en-US" sz="2400">
                  <a:solidFill>
                    <a:srgbClr val="4A4A4A"/>
                  </a:solidFill>
                  <a:latin typeface="Cabin"/>
                  <a:ea typeface="Cabin"/>
                  <a:cs typeface="Cabin"/>
                  <a:sym typeface="Cabin"/>
                </a:rPr>
                <a:t>5.1  Từ MapReduce đến Spark</a:t>
              </a:r>
            </a:p>
            <a:p>
              <a:pPr algn="l">
                <a:lnSpc>
                  <a:spcPts val="3888"/>
                </a:lnSpc>
              </a:pPr>
              <a:r>
                <a:rPr lang="en-US" sz="2400">
                  <a:solidFill>
                    <a:srgbClr val="4A4A4A"/>
                  </a:solidFill>
                  <a:latin typeface="Cabin"/>
                  <a:ea typeface="Cabin"/>
                  <a:cs typeface="Cabin"/>
                  <a:sym typeface="Cabin"/>
                </a:rPr>
                <a:t>5.2  Tổng quan Apache Spark</a:t>
              </a:r>
            </a:p>
            <a:p>
              <a:pPr algn="l">
                <a:lnSpc>
                  <a:spcPts val="3888"/>
                </a:lnSpc>
              </a:pPr>
              <a:r>
                <a:rPr lang="en-US" sz="2400">
                  <a:solidFill>
                    <a:srgbClr val="4A4A4A"/>
                  </a:solidFill>
                  <a:latin typeface="Cabin"/>
                  <a:ea typeface="Cabin"/>
                  <a:cs typeface="Cabin"/>
                  <a:sym typeface="Cabin"/>
                </a:rPr>
                <a:t>5.3  Spark và MapReduce</a:t>
              </a:r>
            </a:p>
            <a:p>
              <a:pPr algn="l">
                <a:lnSpc>
                  <a:spcPts val="3888"/>
                </a:lnSpc>
              </a:pPr>
              <a:r>
                <a:rPr lang="en-US" sz="2400">
                  <a:solidFill>
                    <a:srgbClr val="4A4A4A"/>
                  </a:solidFill>
                  <a:latin typeface="Cabin"/>
                  <a:ea typeface="Cabin"/>
                  <a:cs typeface="Cabin"/>
                  <a:sym typeface="Cabin"/>
                </a:rPr>
                <a:t>5.4  Kiến trúc Spark</a:t>
              </a:r>
            </a:p>
            <a:p>
              <a:pPr algn="l">
                <a:lnSpc>
                  <a:spcPts val="3888"/>
                </a:lnSpc>
              </a:pPr>
              <a:r>
                <a:rPr lang="en-US" sz="2400">
                  <a:solidFill>
                    <a:srgbClr val="4A4A4A"/>
                  </a:solidFill>
                  <a:latin typeface="Cabin"/>
                  <a:ea typeface="Cabin"/>
                  <a:cs typeface="Cabin"/>
                  <a:sym typeface="Cabin"/>
                </a:rPr>
                <a:t>5.5  Cơ chế thực thi Spark</a:t>
              </a:r>
            </a:p>
          </p:txBody>
        </p:sp>
      </p:grpSp>
      <p:grpSp>
        <p:nvGrpSpPr>
          <p:cNvPr name="Group 7" id="7"/>
          <p:cNvGrpSpPr/>
          <p:nvPr/>
        </p:nvGrpSpPr>
        <p:grpSpPr>
          <a:xfrm rot="0">
            <a:off x="10065810" y="5902490"/>
            <a:ext cx="7412431" cy="2882612"/>
            <a:chOff x="0" y="0"/>
            <a:chExt cx="9883242" cy="3843483"/>
          </a:xfrm>
        </p:grpSpPr>
        <p:sp>
          <p:nvSpPr>
            <p:cNvPr name="Freeform 8" id="8"/>
            <p:cNvSpPr/>
            <p:nvPr/>
          </p:nvSpPr>
          <p:spPr>
            <a:xfrm flipH="false" flipV="false" rot="0">
              <a:off x="0" y="0"/>
              <a:ext cx="9883241" cy="3843488"/>
            </a:xfrm>
            <a:custGeom>
              <a:avLst/>
              <a:gdLst/>
              <a:ahLst/>
              <a:cxnLst/>
              <a:rect r="r" b="b" t="t" l="l"/>
              <a:pathLst>
                <a:path h="3843488" w="9883241">
                  <a:moveTo>
                    <a:pt x="0" y="0"/>
                  </a:moveTo>
                  <a:lnTo>
                    <a:pt x="9883241" y="0"/>
                  </a:lnTo>
                  <a:lnTo>
                    <a:pt x="9883241" y="3843488"/>
                  </a:lnTo>
                  <a:lnTo>
                    <a:pt x="0" y="3843488"/>
                  </a:lnTo>
                  <a:close/>
                </a:path>
              </a:pathLst>
            </a:custGeom>
            <a:blipFill>
              <a:blip r:embed="rId3">
                <a:alphaModFix amt="0"/>
              </a:blip>
              <a:stretch>
                <a:fillRect l="0" t="-104" r="0" b="-104"/>
              </a:stretch>
            </a:blipFill>
          </p:spPr>
        </p:sp>
        <p:sp>
          <p:nvSpPr>
            <p:cNvPr name="TextBox 9" id="9"/>
            <p:cNvSpPr txBox="true"/>
            <p:nvPr/>
          </p:nvSpPr>
          <p:spPr>
            <a:xfrm>
              <a:off x="0" y="-95250"/>
              <a:ext cx="9883242" cy="3938733"/>
            </a:xfrm>
            <a:prstGeom prst="rect">
              <a:avLst/>
            </a:prstGeom>
          </p:spPr>
          <p:txBody>
            <a:bodyPr anchor="ctr" rtlCol="false" tIns="0" lIns="0" bIns="0" rIns="0"/>
            <a:lstStyle/>
            <a:p>
              <a:pPr algn="l">
                <a:lnSpc>
                  <a:spcPts val="3888"/>
                </a:lnSpc>
              </a:pPr>
              <a:r>
                <a:rPr lang="en-US" sz="2400">
                  <a:solidFill>
                    <a:srgbClr val="4A4A4A"/>
                  </a:solidFill>
                  <a:latin typeface="Cabin"/>
                  <a:ea typeface="Cabin"/>
                  <a:cs typeface="Cabin"/>
                  <a:sym typeface="Cabin"/>
                </a:rPr>
                <a:t>5.6  Transformation và Action</a:t>
              </a:r>
            </a:p>
            <a:p>
              <a:pPr algn="l">
                <a:lnSpc>
                  <a:spcPts val="3888"/>
                </a:lnSpc>
              </a:pPr>
              <a:r>
                <a:rPr lang="en-US" sz="2400">
                  <a:solidFill>
                    <a:srgbClr val="4A4A4A"/>
                  </a:solidFill>
                  <a:latin typeface="Cabin"/>
                  <a:ea typeface="Cabin"/>
                  <a:cs typeface="Cabin"/>
                  <a:sym typeface="Cabin"/>
                </a:rPr>
                <a:t>5.7  Data Partitioning</a:t>
              </a:r>
            </a:p>
            <a:p>
              <a:pPr algn="l">
                <a:lnSpc>
                  <a:spcPts val="3888"/>
                </a:lnSpc>
              </a:pPr>
              <a:r>
                <a:rPr lang="en-US" sz="2400">
                  <a:solidFill>
                    <a:srgbClr val="4A4A4A"/>
                  </a:solidFill>
                  <a:latin typeface="Cabin"/>
                  <a:ea typeface="Cabin"/>
                  <a:cs typeface="Cabin"/>
                  <a:sym typeface="Cabin"/>
                </a:rPr>
                <a:t>5.8  RDD và DataFrame</a:t>
              </a:r>
            </a:p>
            <a:p>
              <a:pPr algn="l">
                <a:lnSpc>
                  <a:spcPts val="3888"/>
                </a:lnSpc>
              </a:pPr>
              <a:r>
                <a:rPr lang="en-US" sz="2400">
                  <a:solidFill>
                    <a:srgbClr val="4A4A4A"/>
                  </a:solidFill>
                  <a:latin typeface="Cabin"/>
                  <a:ea typeface="Cabin"/>
                  <a:cs typeface="Cabin"/>
                  <a:sym typeface="Cabin"/>
                </a:rPr>
                <a:t>5.9  PySpark</a:t>
              </a:r>
            </a:p>
            <a:p>
              <a:pPr algn="l">
                <a:lnSpc>
                  <a:spcPts val="3888"/>
                </a:lnSpc>
              </a:pPr>
              <a:r>
                <a:rPr lang="en-US" sz="2400">
                  <a:solidFill>
                    <a:srgbClr val="4A4A4A"/>
                  </a:solidFill>
                  <a:latin typeface="Cabin"/>
                  <a:ea typeface="Cabin"/>
                  <a:cs typeface="Cabin"/>
                  <a:sym typeface="Cabin"/>
                </a:rPr>
                <a:t>Thực hành Bài 5</a:t>
              </a:r>
            </a:p>
          </p:txBody>
        </p:sp>
      </p:grpSp>
      <p:grpSp>
        <p:nvGrpSpPr>
          <p:cNvPr name="Group 10" id="10"/>
          <p:cNvGrpSpPr/>
          <p:nvPr/>
        </p:nvGrpSpPr>
        <p:grpSpPr>
          <a:xfrm rot="0">
            <a:off x="0" y="9677343"/>
            <a:ext cx="18301840" cy="617706"/>
            <a:chOff x="0" y="0"/>
            <a:chExt cx="24402453" cy="823608"/>
          </a:xfrm>
        </p:grpSpPr>
        <p:sp>
          <p:nvSpPr>
            <p:cNvPr name="Freeform 11" id="11"/>
            <p:cNvSpPr/>
            <p:nvPr/>
          </p:nvSpPr>
          <p:spPr>
            <a:xfrm flipH="false" flipV="false" rot="0">
              <a:off x="0" y="0"/>
              <a:ext cx="24402414" cy="823595"/>
            </a:xfrm>
            <a:custGeom>
              <a:avLst/>
              <a:gdLst/>
              <a:ahLst/>
              <a:cxnLst/>
              <a:rect r="r" b="b" t="t" l="l"/>
              <a:pathLst>
                <a:path h="823595" w="24402414">
                  <a:moveTo>
                    <a:pt x="0" y="0"/>
                  </a:moveTo>
                  <a:lnTo>
                    <a:pt x="24402414" y="0"/>
                  </a:lnTo>
                  <a:lnTo>
                    <a:pt x="24402414" y="823595"/>
                  </a:lnTo>
                  <a:lnTo>
                    <a:pt x="0" y="823595"/>
                  </a:lnTo>
                  <a:close/>
                </a:path>
              </a:pathLst>
            </a:custGeom>
            <a:solidFill>
              <a:srgbClr val="1F4E79"/>
            </a:solidFill>
          </p:spPr>
        </p:sp>
      </p:grpSp>
      <p:grpSp>
        <p:nvGrpSpPr>
          <p:cNvPr name="Group 12" id="12"/>
          <p:cNvGrpSpPr/>
          <p:nvPr/>
        </p:nvGrpSpPr>
        <p:grpSpPr>
          <a:xfrm rot="0">
            <a:off x="480431" y="9677343"/>
            <a:ext cx="10981382" cy="617706"/>
            <a:chOff x="0" y="0"/>
            <a:chExt cx="14641843" cy="823608"/>
          </a:xfrm>
        </p:grpSpPr>
        <p:sp>
          <p:nvSpPr>
            <p:cNvPr name="Freeform 13" id="13"/>
            <p:cNvSpPr/>
            <p:nvPr/>
          </p:nvSpPr>
          <p:spPr>
            <a:xfrm flipH="false" flipV="false" rot="0">
              <a:off x="0" y="0"/>
              <a:ext cx="14641840" cy="823603"/>
            </a:xfrm>
            <a:custGeom>
              <a:avLst/>
              <a:gdLst/>
              <a:ahLst/>
              <a:cxnLst/>
              <a:rect r="r" b="b" t="t" l="l"/>
              <a:pathLst>
                <a:path h="823603" w="14641840">
                  <a:moveTo>
                    <a:pt x="0" y="0"/>
                  </a:moveTo>
                  <a:lnTo>
                    <a:pt x="14641840" y="0"/>
                  </a:lnTo>
                  <a:lnTo>
                    <a:pt x="14641840" y="823603"/>
                  </a:lnTo>
                  <a:lnTo>
                    <a:pt x="0" y="823603"/>
                  </a:lnTo>
                  <a:close/>
                </a:path>
              </a:pathLst>
            </a:custGeom>
            <a:blipFill>
              <a:blip r:embed="rId3">
                <a:alphaModFix amt="0"/>
              </a:blip>
              <a:stretch>
                <a:fillRect l="0" t="-296400" r="0" b="-296401"/>
              </a:stretch>
            </a:blipFill>
          </p:spPr>
        </p:sp>
        <p:sp>
          <p:nvSpPr>
            <p:cNvPr name="TextBox 14" id="14"/>
            <p:cNvSpPr txBox="true"/>
            <p:nvPr/>
          </p:nvSpPr>
          <p:spPr>
            <a:xfrm>
              <a:off x="0" y="0"/>
              <a:ext cx="14641843" cy="823608"/>
            </a:xfrm>
            <a:prstGeom prst="rect">
              <a:avLst/>
            </a:prstGeom>
          </p:spPr>
          <p:txBody>
            <a:bodyPr anchor="ctr" rtlCol="false" tIns="0" lIns="0" bIns="0" rIns="0"/>
            <a:lstStyle/>
            <a:p>
              <a:pPr algn="l">
                <a:lnSpc>
                  <a:spcPts val="1621"/>
                </a:lnSpc>
              </a:pPr>
              <a:r>
                <a:rPr lang="en-US" sz="1351">
                  <a:solidFill>
                    <a:srgbClr val="FFFFFF"/>
                  </a:solidFill>
                  <a:latin typeface="Cabin"/>
                  <a:ea typeface="Cabin"/>
                  <a:cs typeface="Cabin"/>
                  <a:sym typeface="Cabin"/>
                </a:rPr>
                <a:t>VNU UET – Institute for Artificial Intelligence</a:t>
              </a:r>
            </a:p>
          </p:txBody>
        </p:sp>
      </p:grpSp>
      <p:grpSp>
        <p:nvGrpSpPr>
          <p:cNvPr name="Group 15" id="15"/>
          <p:cNvGrpSpPr/>
          <p:nvPr/>
        </p:nvGrpSpPr>
        <p:grpSpPr>
          <a:xfrm rot="0">
            <a:off x="17066438" y="9677343"/>
            <a:ext cx="823608" cy="617706"/>
            <a:chOff x="0" y="0"/>
            <a:chExt cx="1098144" cy="823608"/>
          </a:xfrm>
        </p:grpSpPr>
        <p:sp>
          <p:nvSpPr>
            <p:cNvPr name="Freeform 16" id="16"/>
            <p:cNvSpPr/>
            <p:nvPr/>
          </p:nvSpPr>
          <p:spPr>
            <a:xfrm flipH="false" flipV="false" rot="0">
              <a:off x="0" y="0"/>
              <a:ext cx="1098138" cy="823603"/>
            </a:xfrm>
            <a:custGeom>
              <a:avLst/>
              <a:gdLst/>
              <a:ahLst/>
              <a:cxnLst/>
              <a:rect r="r" b="b" t="t" l="l"/>
              <a:pathLst>
                <a:path h="823603" w="1098138">
                  <a:moveTo>
                    <a:pt x="0" y="0"/>
                  </a:moveTo>
                  <a:lnTo>
                    <a:pt x="1098138" y="0"/>
                  </a:lnTo>
                  <a:lnTo>
                    <a:pt x="1098138" y="823603"/>
                  </a:lnTo>
                  <a:lnTo>
                    <a:pt x="0" y="823603"/>
                  </a:lnTo>
                  <a:close/>
                </a:path>
              </a:pathLst>
            </a:custGeom>
            <a:blipFill>
              <a:blip r:embed="rId3">
                <a:alphaModFix amt="0"/>
              </a:blip>
              <a:stretch>
                <a:fillRect l="-46227" t="0" r="-46228" b="0"/>
              </a:stretch>
            </a:blipFill>
          </p:spPr>
        </p:sp>
        <p:sp>
          <p:nvSpPr>
            <p:cNvPr name="TextBox 17" id="17"/>
            <p:cNvSpPr txBox="true"/>
            <p:nvPr/>
          </p:nvSpPr>
          <p:spPr>
            <a:xfrm>
              <a:off x="0" y="0"/>
              <a:ext cx="1098144" cy="823608"/>
            </a:xfrm>
            <a:prstGeom prst="rect">
              <a:avLst/>
            </a:prstGeom>
          </p:spPr>
          <p:txBody>
            <a:bodyPr anchor="ctr" rtlCol="false" tIns="0" lIns="0" bIns="0" rIns="0"/>
            <a:lstStyle/>
            <a:p>
              <a:pPr algn="r">
                <a:lnSpc>
                  <a:spcPts val="1621"/>
                </a:lnSpc>
              </a:pPr>
              <a:r>
                <a:rPr lang="en-US" sz="1351">
                  <a:solidFill>
                    <a:srgbClr val="FFFFFF"/>
                  </a:solidFill>
                  <a:latin typeface="Cabin"/>
                  <a:ea typeface="Cabin"/>
                  <a:cs typeface="Cabin"/>
                  <a:sym typeface="Cabin"/>
                </a:rPr>
                <a:t>1</a:t>
              </a:r>
            </a:p>
          </p:txBody>
        </p:sp>
      </p:grpSp>
      <p:sp>
        <p:nvSpPr>
          <p:cNvPr name="TextBox 18" id="18"/>
          <p:cNvSpPr txBox="true"/>
          <p:nvPr/>
        </p:nvSpPr>
        <p:spPr>
          <a:xfrm rot="0">
            <a:off x="2585373" y="2587285"/>
            <a:ext cx="13886696" cy="2600325"/>
          </a:xfrm>
          <a:prstGeom prst="rect">
            <a:avLst/>
          </a:prstGeom>
        </p:spPr>
        <p:txBody>
          <a:bodyPr anchor="t" rtlCol="false" tIns="0" lIns="0" bIns="0" rIns="0">
            <a:spAutoFit/>
          </a:bodyPr>
          <a:lstStyle/>
          <a:p>
            <a:pPr algn="ctr">
              <a:lnSpc>
                <a:spcPts val="6839"/>
              </a:lnSpc>
            </a:pPr>
            <a:r>
              <a:rPr lang="en-US" sz="5700" b="true">
                <a:solidFill>
                  <a:srgbClr val="0F3F6F"/>
                </a:solidFill>
                <a:latin typeface="Aptos Bold"/>
                <a:ea typeface="Aptos Bold"/>
                <a:cs typeface="Aptos Bold"/>
                <a:sym typeface="Aptos Bold"/>
              </a:rPr>
              <a:t>Bài 5: Apache Spark và xử lý dữ liệu</a:t>
            </a:r>
          </a:p>
          <a:p>
            <a:pPr algn="ctr">
              <a:lnSpc>
                <a:spcPts val="6839"/>
              </a:lnSpc>
            </a:pPr>
            <a:r>
              <a:rPr lang="en-US" sz="5700" b="true">
                <a:solidFill>
                  <a:srgbClr val="0F3F6F"/>
                </a:solidFill>
                <a:latin typeface="Aptos Bold"/>
                <a:ea typeface="Aptos Bold"/>
                <a:cs typeface="Aptos Bold"/>
                <a:sym typeface="Aptos Bold"/>
              </a:rPr>
              <a:t>phân tán với PySpark</a:t>
            </a:r>
          </a:p>
          <a:p>
            <a:pPr algn="ctr">
              <a:lnSpc>
                <a:spcPts val="6839"/>
              </a:lnSpc>
            </a:pPr>
          </a:p>
        </p:txBody>
      </p:sp>
      <p:grpSp>
        <p:nvGrpSpPr>
          <p:cNvPr name="Group 19" id="19"/>
          <p:cNvGrpSpPr/>
          <p:nvPr/>
        </p:nvGrpSpPr>
        <p:grpSpPr>
          <a:xfrm rot="0">
            <a:off x="12371832" y="8983980"/>
            <a:ext cx="6240780" cy="1536192"/>
            <a:chOff x="0" y="0"/>
            <a:chExt cx="8321040" cy="2048256"/>
          </a:xfrm>
        </p:grpSpPr>
        <p:sp>
          <p:nvSpPr>
            <p:cNvPr name="Freeform 20" id="20"/>
            <p:cNvSpPr/>
            <p:nvPr/>
          </p:nvSpPr>
          <p:spPr>
            <a:xfrm flipH="false" flipV="false" rot="0">
              <a:off x="0" y="0"/>
              <a:ext cx="8321040" cy="2048256"/>
            </a:xfrm>
            <a:custGeom>
              <a:avLst/>
              <a:gdLst/>
              <a:ahLst/>
              <a:cxnLst/>
              <a:rect r="r" b="b" t="t" l="l"/>
              <a:pathLst>
                <a:path h="2048256" w="8321040">
                  <a:moveTo>
                    <a:pt x="0" y="2048256"/>
                  </a:moveTo>
                  <a:lnTo>
                    <a:pt x="512064" y="0"/>
                  </a:lnTo>
                  <a:lnTo>
                    <a:pt x="8321040" y="0"/>
                  </a:lnTo>
                  <a:lnTo>
                    <a:pt x="7808976" y="2048256"/>
                  </a:lnTo>
                  <a:close/>
                </a:path>
              </a:pathLst>
            </a:custGeom>
            <a:solidFill>
              <a:srgbClr val="85B518"/>
            </a:solidFill>
          </p:spPr>
        </p:sp>
      </p:grpSp>
      <p:grpSp>
        <p:nvGrpSpPr>
          <p:cNvPr name="Group 21" id="21"/>
          <p:cNvGrpSpPr/>
          <p:nvPr/>
        </p:nvGrpSpPr>
        <p:grpSpPr>
          <a:xfrm rot="0">
            <a:off x="14806422" y="175044"/>
            <a:ext cx="1371600" cy="1371600"/>
            <a:chOff x="0" y="0"/>
            <a:chExt cx="1828800" cy="1828800"/>
          </a:xfrm>
        </p:grpSpPr>
        <p:sp>
          <p:nvSpPr>
            <p:cNvPr name="Freeform 22" id="22" descr="Icon  Description automatically generated"/>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lnTo>
                    <a:pt x="0" y="0"/>
                  </a:lnTo>
                  <a:close/>
                </a:path>
              </a:pathLst>
            </a:custGeom>
            <a:blipFill>
              <a:blip r:embed="rId4"/>
              <a:stretch>
                <a:fillRect l="0" t="0" r="0" b="0"/>
              </a:stretch>
            </a:blipFill>
          </p:spPr>
        </p:sp>
      </p:grpSp>
      <p:grpSp>
        <p:nvGrpSpPr>
          <p:cNvPr name="Group 23" id="23"/>
          <p:cNvGrpSpPr/>
          <p:nvPr/>
        </p:nvGrpSpPr>
        <p:grpSpPr>
          <a:xfrm rot="0">
            <a:off x="16380638" y="175044"/>
            <a:ext cx="1371600" cy="1371600"/>
            <a:chOff x="0" y="0"/>
            <a:chExt cx="1828800" cy="1828800"/>
          </a:xfrm>
        </p:grpSpPr>
        <p:sp>
          <p:nvSpPr>
            <p:cNvPr name="Freeform 24" id="24"/>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lnTo>
                    <a:pt x="0" y="0"/>
                  </a:lnTo>
                  <a:close/>
                </a:path>
              </a:pathLst>
            </a:custGeom>
            <a:blipFill>
              <a:blip r:embed="rId5"/>
              <a:stretch>
                <a:fillRect l="0" t="-223" r="0" b="-223"/>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6333" y="384353"/>
            <a:ext cx="10981382" cy="411804"/>
            <a:chOff x="0" y="0"/>
            <a:chExt cx="14641843" cy="549072"/>
          </a:xfrm>
        </p:grpSpPr>
        <p:sp>
          <p:nvSpPr>
            <p:cNvPr name="Freeform 3" id="3"/>
            <p:cNvSpPr/>
            <p:nvPr/>
          </p:nvSpPr>
          <p:spPr>
            <a:xfrm flipH="false" flipV="false" rot="0">
              <a:off x="0" y="0"/>
              <a:ext cx="14641840" cy="549069"/>
            </a:xfrm>
            <a:custGeom>
              <a:avLst/>
              <a:gdLst/>
              <a:ahLst/>
              <a:cxnLst/>
              <a:rect r="r" b="b" t="t" l="l"/>
              <a:pathLst>
                <a:path h="549069" w="14641840">
                  <a:moveTo>
                    <a:pt x="0" y="0"/>
                  </a:moveTo>
                  <a:lnTo>
                    <a:pt x="14641840" y="0"/>
                  </a:lnTo>
                  <a:lnTo>
                    <a:pt x="14641840" y="549069"/>
                  </a:lnTo>
                  <a:lnTo>
                    <a:pt x="0" y="549069"/>
                  </a:lnTo>
                  <a:close/>
                </a:path>
              </a:pathLst>
            </a:custGeom>
            <a:blipFill>
              <a:blip r:embed="rId3">
                <a:alphaModFix amt="0"/>
              </a:blip>
              <a:stretch>
                <a:fillRect l="0" t="-469600" r="0" b="-469601"/>
              </a:stretch>
            </a:blipFill>
          </p:spPr>
        </p:sp>
        <p:sp>
          <p:nvSpPr>
            <p:cNvPr name="TextBox 4" id="4"/>
            <p:cNvSpPr txBox="true"/>
            <p:nvPr/>
          </p:nvSpPr>
          <p:spPr>
            <a:xfrm>
              <a:off x="0" y="0"/>
              <a:ext cx="14641843" cy="549072"/>
            </a:xfrm>
            <a:prstGeom prst="rect">
              <a:avLst/>
            </a:prstGeom>
          </p:spPr>
          <p:txBody>
            <a:bodyPr anchor="ctr" rtlCol="false" tIns="0" lIns="0" bIns="0" rIns="0"/>
            <a:lstStyle/>
            <a:p>
              <a:pPr algn="l">
                <a:lnSpc>
                  <a:spcPts val="1981"/>
                </a:lnSpc>
              </a:pPr>
              <a:r>
                <a:rPr lang="en-US" sz="1651" i="true">
                  <a:solidFill>
                    <a:srgbClr val="4A4A4A"/>
                  </a:solidFill>
                  <a:latin typeface="Cabin Italics"/>
                  <a:ea typeface="Cabin Italics"/>
                  <a:cs typeface="Cabin Italics"/>
                  <a:sym typeface="Cabin Italics"/>
                </a:rPr>
                <a:t>Giới thiệu tổng quan bài học · Bài 05</a:t>
              </a:r>
            </a:p>
          </p:txBody>
        </p:sp>
      </p:grpSp>
      <p:grpSp>
        <p:nvGrpSpPr>
          <p:cNvPr name="Group 5" id="5"/>
          <p:cNvGrpSpPr/>
          <p:nvPr/>
        </p:nvGrpSpPr>
        <p:grpSpPr>
          <a:xfrm rot="0">
            <a:off x="686333" y="823608"/>
            <a:ext cx="82363" cy="754971"/>
            <a:chOff x="0" y="0"/>
            <a:chExt cx="109817" cy="1006627"/>
          </a:xfrm>
        </p:grpSpPr>
        <p:sp>
          <p:nvSpPr>
            <p:cNvPr name="Freeform 6" id="6"/>
            <p:cNvSpPr/>
            <p:nvPr/>
          </p:nvSpPr>
          <p:spPr>
            <a:xfrm flipH="false" flipV="false" rot="0">
              <a:off x="0" y="0"/>
              <a:ext cx="109855" cy="1006602"/>
            </a:xfrm>
            <a:custGeom>
              <a:avLst/>
              <a:gdLst/>
              <a:ahLst/>
              <a:cxnLst/>
              <a:rect r="r" b="b" t="t" l="l"/>
              <a:pathLst>
                <a:path h="1006602" w="109855">
                  <a:moveTo>
                    <a:pt x="0" y="0"/>
                  </a:moveTo>
                  <a:lnTo>
                    <a:pt x="109855" y="0"/>
                  </a:lnTo>
                  <a:lnTo>
                    <a:pt x="109855" y="1006602"/>
                  </a:lnTo>
                  <a:lnTo>
                    <a:pt x="0" y="1006602"/>
                  </a:lnTo>
                  <a:close/>
                </a:path>
              </a:pathLst>
            </a:custGeom>
            <a:solidFill>
              <a:srgbClr val="85B518"/>
            </a:solidFill>
          </p:spPr>
        </p:sp>
      </p:grpSp>
      <p:grpSp>
        <p:nvGrpSpPr>
          <p:cNvPr name="Group 7" id="7"/>
          <p:cNvGrpSpPr/>
          <p:nvPr/>
        </p:nvGrpSpPr>
        <p:grpSpPr>
          <a:xfrm rot="0">
            <a:off x="960872" y="796147"/>
            <a:ext cx="15831026" cy="823608"/>
            <a:chOff x="0" y="0"/>
            <a:chExt cx="21108035" cy="1098144"/>
          </a:xfrm>
        </p:grpSpPr>
        <p:sp>
          <p:nvSpPr>
            <p:cNvPr name="Freeform 8" id="8"/>
            <p:cNvSpPr/>
            <p:nvPr/>
          </p:nvSpPr>
          <p:spPr>
            <a:xfrm flipH="false" flipV="false" rot="0">
              <a:off x="0" y="0"/>
              <a:ext cx="21108040" cy="1098138"/>
            </a:xfrm>
            <a:custGeom>
              <a:avLst/>
              <a:gdLst/>
              <a:ahLst/>
              <a:cxnLst/>
              <a:rect r="r" b="b" t="t" l="l"/>
              <a:pathLst>
                <a:path h="1098138" w="21108040">
                  <a:moveTo>
                    <a:pt x="0" y="0"/>
                  </a:moveTo>
                  <a:lnTo>
                    <a:pt x="21108040" y="0"/>
                  </a:lnTo>
                  <a:lnTo>
                    <a:pt x="21108040" y="1098138"/>
                  </a:lnTo>
                  <a:lnTo>
                    <a:pt x="0" y="1098138"/>
                  </a:lnTo>
                  <a:close/>
                </a:path>
              </a:pathLst>
            </a:custGeom>
            <a:blipFill>
              <a:blip r:embed="rId3">
                <a:alphaModFix amt="0"/>
              </a:blip>
              <a:stretch>
                <a:fillRect l="0" t="-324534" r="0" b="-324535"/>
              </a:stretch>
            </a:blipFill>
          </p:spPr>
        </p:sp>
        <p:sp>
          <p:nvSpPr>
            <p:cNvPr name="TextBox 9" id="9"/>
            <p:cNvSpPr txBox="true"/>
            <p:nvPr/>
          </p:nvSpPr>
          <p:spPr>
            <a:xfrm>
              <a:off x="0" y="0"/>
              <a:ext cx="21108035" cy="1098144"/>
            </a:xfrm>
            <a:prstGeom prst="rect">
              <a:avLst/>
            </a:prstGeom>
          </p:spPr>
          <p:txBody>
            <a:bodyPr anchor="ctr" rtlCol="false" tIns="0" lIns="0" bIns="0" rIns="0"/>
            <a:lstStyle/>
            <a:p>
              <a:pPr algn="l">
                <a:lnSpc>
                  <a:spcPts val="3782"/>
                </a:lnSpc>
              </a:pPr>
              <a:r>
                <a:rPr lang="en-US" sz="3152" b="true">
                  <a:solidFill>
                    <a:srgbClr val="1F4E79"/>
                  </a:solidFill>
                  <a:latin typeface="Cabin Bold"/>
                  <a:ea typeface="Cabin Bold"/>
                  <a:cs typeface="Cabin Bold"/>
                  <a:sym typeface="Cabin Bold"/>
                </a:rPr>
                <a:t>Chương trình buổi học (4 giờ)</a:t>
              </a:r>
            </a:p>
          </p:txBody>
        </p:sp>
      </p:grpSp>
      <p:graphicFrame>
        <p:nvGraphicFramePr>
          <p:cNvPr name="Table 10" id="10"/>
          <p:cNvGraphicFramePr>
            <a:graphicFrameLocks noGrp="true"/>
          </p:cNvGraphicFramePr>
          <p:nvPr/>
        </p:nvGraphicFramePr>
        <p:xfrm>
          <a:off x="686336" y="1990375"/>
          <a:ext cx="16929626" cy="6558324"/>
        </p:xfrm>
        <a:graphic>
          <a:graphicData uri="http://schemas.openxmlformats.org/drawingml/2006/table">
            <a:tbl>
              <a:tblPr/>
              <a:tblGrid>
                <a:gridCol w="2411224"/>
                <a:gridCol w="981510"/>
                <a:gridCol w="11057588"/>
                <a:gridCol w="2479305"/>
              </a:tblGrid>
              <a:tr h="819790">
                <a:tc>
                  <a:txBody>
                    <a:bodyPr anchor="t" rtlCol="false"/>
                    <a:lstStyle/>
                    <a:p>
                      <a:pPr algn="l">
                        <a:lnSpc>
                          <a:spcPts val="1801"/>
                        </a:lnSpc>
                        <a:defRPr/>
                      </a:pPr>
                      <a:r>
                        <a:rPr lang="en-US" sz="1501" b="true">
                          <a:solidFill>
                            <a:srgbClr val="FFFFFF"/>
                          </a:solidFill>
                          <a:latin typeface="Cabin Bold"/>
                          <a:ea typeface="Cabin Bold"/>
                          <a:cs typeface="Cabin Bold"/>
                          <a:sym typeface="Cabin Bold"/>
                        </a:rPr>
                        <a:t>Thời gian</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1F4E79"/>
                    </a:solidFill>
                  </a:tcPr>
                </a:tc>
                <a:tc>
                  <a:txBody>
                    <a:bodyPr anchor="t" rtlCol="false"/>
                    <a:lstStyle/>
                    <a:p>
                      <a:pPr algn="ctr">
                        <a:lnSpc>
                          <a:spcPts val="1801"/>
                        </a:lnSpc>
                        <a:defRPr/>
                      </a:pPr>
                      <a:r>
                        <a:rPr lang="en-US" sz="1501" b="true">
                          <a:solidFill>
                            <a:srgbClr val="FFFFFF"/>
                          </a:solidFill>
                          <a:latin typeface="Cabin Bold"/>
                          <a:ea typeface="Cabin Bold"/>
                          <a:cs typeface="Cabin Bold"/>
                          <a:sym typeface="Cabin Bold"/>
                        </a:rPr>
                        <a:t>TG</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1F4E79"/>
                    </a:solidFill>
                  </a:tcPr>
                </a:tc>
                <a:tc>
                  <a:txBody>
                    <a:bodyPr anchor="t" rtlCol="false"/>
                    <a:lstStyle/>
                    <a:p>
                      <a:pPr algn="l">
                        <a:lnSpc>
                          <a:spcPts val="1891"/>
                        </a:lnSpc>
                        <a:defRPr/>
                      </a:pPr>
                      <a:r>
                        <a:rPr lang="en-US" sz="1576" b="true">
                          <a:solidFill>
                            <a:srgbClr val="FFFFFF"/>
                          </a:solidFill>
                          <a:latin typeface="Cabin Bold"/>
                          <a:ea typeface="Cabin Bold"/>
                          <a:cs typeface="Cabin Bold"/>
                          <a:sym typeface="Cabin Bold"/>
                        </a:rPr>
                        <a:t>Nội dung</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1F4E79"/>
                    </a:solidFill>
                  </a:tcPr>
                </a:tc>
                <a:tc>
                  <a:txBody>
                    <a:bodyPr anchor="t" rtlCol="false"/>
                    <a:lstStyle/>
                    <a:p>
                      <a:pPr algn="ctr">
                        <a:lnSpc>
                          <a:spcPts val="1801"/>
                        </a:lnSpc>
                        <a:defRPr/>
                      </a:pPr>
                      <a:r>
                        <a:rPr lang="en-US" sz="1501" b="true">
                          <a:solidFill>
                            <a:srgbClr val="FFFFFF"/>
                          </a:solidFill>
                          <a:latin typeface="Cabin Bold"/>
                          <a:ea typeface="Cabin Bold"/>
                          <a:cs typeface="Cabin Bold"/>
                          <a:sym typeface="Cabin Bold"/>
                        </a:rPr>
                        <a:t>Loại</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1F4E79"/>
                    </a:solidFill>
                  </a:tcPr>
                </a:tc>
              </a:tr>
              <a:tr h="819790">
                <a:tc>
                  <a:txBody>
                    <a:bodyPr anchor="t" rtlCol="false"/>
                    <a:lstStyle/>
                    <a:p>
                      <a:pPr algn="l">
                        <a:lnSpc>
                          <a:spcPts val="1801"/>
                        </a:lnSpc>
                        <a:defRPr/>
                      </a:pPr>
                      <a:r>
                        <a:rPr lang="en-US" sz="1501">
                          <a:solidFill>
                            <a:srgbClr val="000000"/>
                          </a:solidFill>
                          <a:latin typeface="Cabin"/>
                          <a:ea typeface="Cabin"/>
                          <a:cs typeface="Cabin"/>
                          <a:sym typeface="Cabin"/>
                        </a:rPr>
                        <a:t>08:00 – 08:15</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a:lnSpc>
                          <a:spcPts val="1801"/>
                        </a:lnSpc>
                        <a:defRPr/>
                      </a:pPr>
                      <a:r>
                        <a:rPr lang="en-US" sz="1501">
                          <a:solidFill>
                            <a:srgbClr val="000000"/>
                          </a:solidFill>
                          <a:latin typeface="Cabin"/>
                          <a:ea typeface="Cabin"/>
                          <a:cs typeface="Cabin"/>
                          <a:sym typeface="Cabin"/>
                        </a:rPr>
                        <a:t>15p</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l">
                        <a:lnSpc>
                          <a:spcPts val="1891"/>
                        </a:lnSpc>
                        <a:defRPr/>
                      </a:pPr>
                      <a:r>
                        <a:rPr lang="en-US" sz="1576">
                          <a:solidFill>
                            <a:srgbClr val="000000"/>
                          </a:solidFill>
                          <a:latin typeface="Cabin"/>
                          <a:ea typeface="Cabin"/>
                          <a:cs typeface="Cabin"/>
                          <a:sym typeface="Cabin"/>
                        </a:rPr>
                        <a:t>Khởi động, giới thiệu mục tiêu học tập</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a:lnSpc>
                          <a:spcPts val="1801"/>
                        </a:lnSpc>
                        <a:defRPr/>
                      </a:pPr>
                      <a:r>
                        <a:rPr lang="en-US" sz="1501">
                          <a:solidFill>
                            <a:srgbClr val="000000"/>
                          </a:solidFill>
                          <a:latin typeface="Cabin"/>
                          <a:ea typeface="Cabin"/>
                          <a:cs typeface="Cabin"/>
                          <a:sym typeface="Cabin"/>
                        </a:rPr>
                        <a:t>Lý thuyết</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r>
              <a:tr h="819790">
                <a:tc>
                  <a:txBody>
                    <a:bodyPr anchor="t" rtlCol="false"/>
                    <a:lstStyle/>
                    <a:p>
                      <a:pPr algn="l">
                        <a:lnSpc>
                          <a:spcPts val="1801"/>
                        </a:lnSpc>
                        <a:defRPr/>
                      </a:pPr>
                      <a:r>
                        <a:rPr lang="en-US" sz="1501">
                          <a:solidFill>
                            <a:srgbClr val="000000"/>
                          </a:solidFill>
                          <a:latin typeface="Cabin"/>
                          <a:ea typeface="Cabin"/>
                          <a:cs typeface="Cabin"/>
                          <a:sym typeface="Cabin"/>
                        </a:rPr>
                        <a:t>08:15 – 09:00</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2F5F8"/>
                    </a:solidFill>
                  </a:tcPr>
                </a:tc>
                <a:tc>
                  <a:txBody>
                    <a:bodyPr anchor="t" rtlCol="false"/>
                    <a:lstStyle/>
                    <a:p>
                      <a:pPr algn="ctr">
                        <a:lnSpc>
                          <a:spcPts val="1801"/>
                        </a:lnSpc>
                        <a:defRPr/>
                      </a:pPr>
                      <a:r>
                        <a:rPr lang="en-US" sz="1501">
                          <a:solidFill>
                            <a:srgbClr val="000000"/>
                          </a:solidFill>
                          <a:latin typeface="Cabin"/>
                          <a:ea typeface="Cabin"/>
                          <a:cs typeface="Cabin"/>
                          <a:sym typeface="Cabin"/>
                        </a:rPr>
                        <a:t>45p</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2F5F8"/>
                    </a:solidFill>
                  </a:tcPr>
                </a:tc>
                <a:tc>
                  <a:txBody>
                    <a:bodyPr anchor="t" rtlCol="false"/>
                    <a:lstStyle/>
                    <a:p>
                      <a:pPr algn="l">
                        <a:lnSpc>
                          <a:spcPts val="1891"/>
                        </a:lnSpc>
                        <a:defRPr/>
                      </a:pPr>
                      <a:r>
                        <a:rPr lang="en-US" sz="1576">
                          <a:solidFill>
                            <a:srgbClr val="000000"/>
                          </a:solidFill>
                          <a:latin typeface="Cabin"/>
                          <a:ea typeface="Cabin"/>
                          <a:cs typeface="Cabin"/>
                          <a:sym typeface="Cabin"/>
                        </a:rPr>
                        <a:t>5.1 Từ MapReduce đến Spark · 5.2 Tổng quan Spark · 5.3 Spark và MapReduce</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2F5F8"/>
                    </a:solidFill>
                  </a:tcPr>
                </a:tc>
                <a:tc>
                  <a:txBody>
                    <a:bodyPr anchor="t" rtlCol="false"/>
                    <a:lstStyle/>
                    <a:p>
                      <a:pPr algn="ctr">
                        <a:lnSpc>
                          <a:spcPts val="1801"/>
                        </a:lnSpc>
                        <a:defRPr/>
                      </a:pPr>
                      <a:r>
                        <a:rPr lang="en-US" sz="1501">
                          <a:solidFill>
                            <a:srgbClr val="000000"/>
                          </a:solidFill>
                          <a:latin typeface="Cabin"/>
                          <a:ea typeface="Cabin"/>
                          <a:cs typeface="Cabin"/>
                          <a:sym typeface="Cabin"/>
                        </a:rPr>
                        <a:t>Lý thuyết</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2F5F8"/>
                    </a:solidFill>
                  </a:tcPr>
                </a:tc>
              </a:tr>
              <a:tr h="819790">
                <a:tc>
                  <a:txBody>
                    <a:bodyPr anchor="t" rtlCol="false"/>
                    <a:lstStyle/>
                    <a:p>
                      <a:pPr algn="l">
                        <a:lnSpc>
                          <a:spcPts val="1801"/>
                        </a:lnSpc>
                        <a:defRPr/>
                      </a:pPr>
                      <a:r>
                        <a:rPr lang="en-US" sz="1501">
                          <a:solidFill>
                            <a:srgbClr val="000000"/>
                          </a:solidFill>
                          <a:latin typeface="Cabin"/>
                          <a:ea typeface="Cabin"/>
                          <a:cs typeface="Cabin"/>
                          <a:sym typeface="Cabin"/>
                        </a:rPr>
                        <a:t>09:00 – 09:45</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a:lnSpc>
                          <a:spcPts val="1801"/>
                        </a:lnSpc>
                        <a:defRPr/>
                      </a:pPr>
                      <a:r>
                        <a:rPr lang="en-US" sz="1501">
                          <a:solidFill>
                            <a:srgbClr val="000000"/>
                          </a:solidFill>
                          <a:latin typeface="Cabin"/>
                          <a:ea typeface="Cabin"/>
                          <a:cs typeface="Cabin"/>
                          <a:sym typeface="Cabin"/>
                        </a:rPr>
                        <a:t>45p</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l">
                        <a:lnSpc>
                          <a:spcPts val="1891"/>
                        </a:lnSpc>
                        <a:defRPr/>
                      </a:pPr>
                      <a:r>
                        <a:rPr lang="en-US" sz="1576">
                          <a:solidFill>
                            <a:srgbClr val="000000"/>
                          </a:solidFill>
                          <a:latin typeface="Cabin"/>
                          <a:ea typeface="Cabin"/>
                          <a:cs typeface="Cabin"/>
                          <a:sym typeface="Cabin"/>
                        </a:rPr>
                        <a:t>5.4 Kiến trúc Spark · 5.5 Cơ chế thực thi Spark (trọng tâm)</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a:lnSpc>
                          <a:spcPts val="1801"/>
                        </a:lnSpc>
                        <a:defRPr/>
                      </a:pPr>
                      <a:r>
                        <a:rPr lang="en-US" sz="1501">
                          <a:solidFill>
                            <a:srgbClr val="000000"/>
                          </a:solidFill>
                          <a:latin typeface="Cabin"/>
                          <a:ea typeface="Cabin"/>
                          <a:cs typeface="Cabin"/>
                          <a:sym typeface="Cabin"/>
                        </a:rPr>
                        <a:t>Lý thuyết</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r>
              <a:tr h="819790">
                <a:tc>
                  <a:txBody>
                    <a:bodyPr anchor="t" rtlCol="false"/>
                    <a:lstStyle/>
                    <a:p>
                      <a:pPr algn="l">
                        <a:lnSpc>
                          <a:spcPts val="1801"/>
                        </a:lnSpc>
                        <a:defRPr/>
                      </a:pPr>
                      <a:r>
                        <a:rPr lang="en-US" sz="1501">
                          <a:solidFill>
                            <a:srgbClr val="000000"/>
                          </a:solidFill>
                          <a:latin typeface="Cabin"/>
                          <a:ea typeface="Cabin"/>
                          <a:cs typeface="Cabin"/>
                          <a:sym typeface="Cabin"/>
                        </a:rPr>
                        <a:t>09:45 – 10:00</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2F5F8"/>
                    </a:solidFill>
                  </a:tcPr>
                </a:tc>
                <a:tc>
                  <a:txBody>
                    <a:bodyPr anchor="t" rtlCol="false"/>
                    <a:lstStyle/>
                    <a:p>
                      <a:pPr algn="ctr">
                        <a:lnSpc>
                          <a:spcPts val="1801"/>
                        </a:lnSpc>
                        <a:defRPr/>
                      </a:pPr>
                      <a:r>
                        <a:rPr lang="en-US" sz="1501">
                          <a:solidFill>
                            <a:srgbClr val="000000"/>
                          </a:solidFill>
                          <a:latin typeface="Cabin"/>
                          <a:ea typeface="Cabin"/>
                          <a:cs typeface="Cabin"/>
                          <a:sym typeface="Cabin"/>
                        </a:rPr>
                        <a:t>15p</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2F5F8"/>
                    </a:solidFill>
                  </a:tcPr>
                </a:tc>
                <a:tc>
                  <a:txBody>
                    <a:bodyPr anchor="t" rtlCol="false"/>
                    <a:lstStyle/>
                    <a:p>
                      <a:pPr algn="l">
                        <a:lnSpc>
                          <a:spcPts val="1891"/>
                        </a:lnSpc>
                        <a:defRPr/>
                      </a:pPr>
                      <a:r>
                        <a:rPr lang="en-US" sz="1576">
                          <a:solidFill>
                            <a:srgbClr val="000000"/>
                          </a:solidFill>
                          <a:latin typeface="Cabin"/>
                          <a:ea typeface="Cabin"/>
                          <a:cs typeface="Cabin"/>
                          <a:sym typeface="Cabin"/>
                        </a:rPr>
                        <a:t>Giải lao</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2F5F8"/>
                    </a:solidFill>
                  </a:tcPr>
                </a:tc>
                <a:tc>
                  <a:txBody>
                    <a:bodyPr anchor="t" rtlCol="false"/>
                    <a:lstStyle/>
                    <a:p>
                      <a:pPr algn="ctr">
                        <a:lnSpc>
                          <a:spcPts val="1801"/>
                        </a:lnSpc>
                        <a:defRPr/>
                      </a:pPr>
                      <a:r>
                        <a:rPr lang="en-US" sz="1501">
                          <a:solidFill>
                            <a:srgbClr val="000000"/>
                          </a:solidFill>
                          <a:latin typeface="Cabin"/>
                          <a:ea typeface="Cabin"/>
                          <a:cs typeface="Cabin"/>
                          <a:sym typeface="Cabin"/>
                        </a:rPr>
                        <a:t>Nghỉ</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2F5F8"/>
                    </a:solidFill>
                  </a:tcPr>
                </a:tc>
              </a:tr>
              <a:tr h="819790">
                <a:tc>
                  <a:txBody>
                    <a:bodyPr anchor="t" rtlCol="false"/>
                    <a:lstStyle/>
                    <a:p>
                      <a:pPr algn="l">
                        <a:lnSpc>
                          <a:spcPts val="1801"/>
                        </a:lnSpc>
                        <a:defRPr/>
                      </a:pPr>
                      <a:r>
                        <a:rPr lang="en-US" sz="1501">
                          <a:solidFill>
                            <a:srgbClr val="000000"/>
                          </a:solidFill>
                          <a:latin typeface="Cabin"/>
                          <a:ea typeface="Cabin"/>
                          <a:cs typeface="Cabin"/>
                          <a:sym typeface="Cabin"/>
                        </a:rPr>
                        <a:t>10:00 – 10:45</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a:lnSpc>
                          <a:spcPts val="1801"/>
                        </a:lnSpc>
                        <a:defRPr/>
                      </a:pPr>
                      <a:r>
                        <a:rPr lang="en-US" sz="1501">
                          <a:solidFill>
                            <a:srgbClr val="000000"/>
                          </a:solidFill>
                          <a:latin typeface="Cabin"/>
                          <a:ea typeface="Cabin"/>
                          <a:cs typeface="Cabin"/>
                          <a:sym typeface="Cabin"/>
                        </a:rPr>
                        <a:t>45p</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l">
                        <a:lnSpc>
                          <a:spcPts val="1891"/>
                        </a:lnSpc>
                        <a:defRPr/>
                      </a:pPr>
                      <a:r>
                        <a:rPr lang="en-US" sz="1576">
                          <a:solidFill>
                            <a:srgbClr val="000000"/>
                          </a:solidFill>
                          <a:latin typeface="Cabin"/>
                          <a:ea typeface="Cabin"/>
                          <a:cs typeface="Cabin"/>
                          <a:sym typeface="Cabin"/>
                        </a:rPr>
                        <a:t>5.6 Transformation &amp; Action · 5.7 Data Partitioning · 5.8 RDD/DataFrame · 5.9 PySpark</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a:lnSpc>
                          <a:spcPts val="1801"/>
                        </a:lnSpc>
                        <a:defRPr/>
                      </a:pPr>
                      <a:r>
                        <a:rPr lang="en-US" sz="1501">
                          <a:solidFill>
                            <a:srgbClr val="000000"/>
                          </a:solidFill>
                          <a:latin typeface="Cabin"/>
                          <a:ea typeface="Cabin"/>
                          <a:cs typeface="Cabin"/>
                          <a:sym typeface="Cabin"/>
                        </a:rPr>
                        <a:t>Lý thuyết</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r>
              <a:tr h="819790">
                <a:tc>
                  <a:txBody>
                    <a:bodyPr anchor="t" rtlCol="false"/>
                    <a:lstStyle/>
                    <a:p>
                      <a:pPr algn="l">
                        <a:lnSpc>
                          <a:spcPts val="1801"/>
                        </a:lnSpc>
                        <a:defRPr/>
                      </a:pPr>
                      <a:r>
                        <a:rPr lang="en-US" sz="1501">
                          <a:solidFill>
                            <a:srgbClr val="000000"/>
                          </a:solidFill>
                          <a:latin typeface="Cabin"/>
                          <a:ea typeface="Cabin"/>
                          <a:cs typeface="Cabin"/>
                          <a:sym typeface="Cabin"/>
                        </a:rPr>
                        <a:t>10:45 – 11:45</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2F5F8"/>
                    </a:solidFill>
                  </a:tcPr>
                </a:tc>
                <a:tc>
                  <a:txBody>
                    <a:bodyPr anchor="t" rtlCol="false"/>
                    <a:lstStyle/>
                    <a:p>
                      <a:pPr algn="ctr">
                        <a:lnSpc>
                          <a:spcPts val="1801"/>
                        </a:lnSpc>
                        <a:defRPr/>
                      </a:pPr>
                      <a:r>
                        <a:rPr lang="en-US" sz="1501">
                          <a:solidFill>
                            <a:srgbClr val="000000"/>
                          </a:solidFill>
                          <a:latin typeface="Cabin"/>
                          <a:ea typeface="Cabin"/>
                          <a:cs typeface="Cabin"/>
                          <a:sym typeface="Cabin"/>
                        </a:rPr>
                        <a:t>60p</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2F5F8"/>
                    </a:solidFill>
                  </a:tcPr>
                </a:tc>
                <a:tc>
                  <a:txBody>
                    <a:bodyPr anchor="t" rtlCol="false"/>
                    <a:lstStyle/>
                    <a:p>
                      <a:pPr algn="l">
                        <a:lnSpc>
                          <a:spcPts val="1891"/>
                        </a:lnSpc>
                        <a:defRPr/>
                      </a:pPr>
                      <a:r>
                        <a:rPr lang="en-US" sz="1576">
                          <a:solidFill>
                            <a:srgbClr val="000000"/>
                          </a:solidFill>
                          <a:latin typeface="Cabin"/>
                          <a:ea typeface="Cabin"/>
                          <a:cs typeface="Cabin"/>
                          <a:sym typeface="Cabin"/>
                        </a:rPr>
                        <a:t>Thực hành: cài đặt Spark, đọc dữ liệu, xử lý PySpark, Spark SQL</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2F5F8"/>
                    </a:solidFill>
                  </a:tcPr>
                </a:tc>
                <a:tc>
                  <a:txBody>
                    <a:bodyPr anchor="t" rtlCol="false"/>
                    <a:lstStyle/>
                    <a:p>
                      <a:pPr algn="ctr">
                        <a:lnSpc>
                          <a:spcPts val="1801"/>
                        </a:lnSpc>
                        <a:defRPr/>
                      </a:pPr>
                      <a:r>
                        <a:rPr lang="en-US" sz="1501">
                          <a:solidFill>
                            <a:srgbClr val="000000"/>
                          </a:solidFill>
                          <a:latin typeface="Cabin"/>
                          <a:ea typeface="Cabin"/>
                          <a:cs typeface="Cabin"/>
                          <a:sym typeface="Cabin"/>
                        </a:rPr>
                        <a:t>Thực hành</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2F5F8"/>
                    </a:solidFill>
                  </a:tcPr>
                </a:tc>
              </a:tr>
              <a:tr h="819790">
                <a:tc>
                  <a:txBody>
                    <a:bodyPr anchor="t" rtlCol="false"/>
                    <a:lstStyle/>
                    <a:p>
                      <a:pPr algn="l">
                        <a:lnSpc>
                          <a:spcPts val="1801"/>
                        </a:lnSpc>
                        <a:defRPr/>
                      </a:pPr>
                      <a:r>
                        <a:rPr lang="en-US" sz="1501">
                          <a:solidFill>
                            <a:srgbClr val="000000"/>
                          </a:solidFill>
                          <a:latin typeface="Cabin"/>
                          <a:ea typeface="Cabin"/>
                          <a:cs typeface="Cabin"/>
                          <a:sym typeface="Cabin"/>
                        </a:rPr>
                        <a:t>11:45 – 12:00</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a:lnSpc>
                          <a:spcPts val="1801"/>
                        </a:lnSpc>
                        <a:defRPr/>
                      </a:pPr>
                      <a:r>
                        <a:rPr lang="en-US" sz="1501">
                          <a:solidFill>
                            <a:srgbClr val="000000"/>
                          </a:solidFill>
                          <a:latin typeface="Cabin"/>
                          <a:ea typeface="Cabin"/>
                          <a:cs typeface="Cabin"/>
                          <a:sym typeface="Cabin"/>
                        </a:rPr>
                        <a:t>15p</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l">
                        <a:lnSpc>
                          <a:spcPts val="1891"/>
                        </a:lnSpc>
                        <a:defRPr/>
                      </a:pPr>
                      <a:r>
                        <a:rPr lang="en-US" sz="1576">
                          <a:solidFill>
                            <a:srgbClr val="000000"/>
                          </a:solidFill>
                          <a:latin typeface="Cabin"/>
                          <a:ea typeface="Cabin"/>
                          <a:cs typeface="Cabin"/>
                          <a:sym typeface="Cabin"/>
                        </a:rPr>
                        <a:t>So sánh MapReduce vs Spark trên cùng bài toán · Tổng kết</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ctr">
                        <a:lnSpc>
                          <a:spcPts val="1801"/>
                        </a:lnSpc>
                        <a:defRPr/>
                      </a:pPr>
                      <a:r>
                        <a:rPr lang="en-US" sz="1501">
                          <a:solidFill>
                            <a:srgbClr val="000000"/>
                          </a:solidFill>
                          <a:latin typeface="Cabin"/>
                          <a:ea typeface="Cabin"/>
                          <a:cs typeface="Cabin"/>
                          <a:sym typeface="Cabin"/>
                        </a:rPr>
                        <a:t>Thảo luận</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r>
            </a:tbl>
          </a:graphicData>
        </a:graphic>
      </p:graphicFrame>
      <p:grpSp>
        <p:nvGrpSpPr>
          <p:cNvPr name="Group 11" id="11"/>
          <p:cNvGrpSpPr/>
          <p:nvPr/>
        </p:nvGrpSpPr>
        <p:grpSpPr>
          <a:xfrm rot="0">
            <a:off x="0" y="9677343"/>
            <a:ext cx="18301840" cy="617706"/>
            <a:chOff x="0" y="0"/>
            <a:chExt cx="24402453" cy="823608"/>
          </a:xfrm>
        </p:grpSpPr>
        <p:sp>
          <p:nvSpPr>
            <p:cNvPr name="Freeform 12" id="12"/>
            <p:cNvSpPr/>
            <p:nvPr/>
          </p:nvSpPr>
          <p:spPr>
            <a:xfrm flipH="false" flipV="false" rot="0">
              <a:off x="0" y="0"/>
              <a:ext cx="24402414" cy="823595"/>
            </a:xfrm>
            <a:custGeom>
              <a:avLst/>
              <a:gdLst/>
              <a:ahLst/>
              <a:cxnLst/>
              <a:rect r="r" b="b" t="t" l="l"/>
              <a:pathLst>
                <a:path h="823595" w="24402414">
                  <a:moveTo>
                    <a:pt x="0" y="0"/>
                  </a:moveTo>
                  <a:lnTo>
                    <a:pt x="24402414" y="0"/>
                  </a:lnTo>
                  <a:lnTo>
                    <a:pt x="24402414" y="823595"/>
                  </a:lnTo>
                  <a:lnTo>
                    <a:pt x="0" y="823595"/>
                  </a:lnTo>
                  <a:close/>
                </a:path>
              </a:pathLst>
            </a:custGeom>
            <a:solidFill>
              <a:srgbClr val="1F4E79"/>
            </a:solidFill>
          </p:spPr>
        </p:sp>
      </p:grpSp>
      <p:grpSp>
        <p:nvGrpSpPr>
          <p:cNvPr name="Group 13" id="13"/>
          <p:cNvGrpSpPr/>
          <p:nvPr/>
        </p:nvGrpSpPr>
        <p:grpSpPr>
          <a:xfrm rot="0">
            <a:off x="480431" y="9677343"/>
            <a:ext cx="10981382" cy="617706"/>
            <a:chOff x="0" y="0"/>
            <a:chExt cx="14641843" cy="823608"/>
          </a:xfrm>
        </p:grpSpPr>
        <p:sp>
          <p:nvSpPr>
            <p:cNvPr name="Freeform 14" id="14"/>
            <p:cNvSpPr/>
            <p:nvPr/>
          </p:nvSpPr>
          <p:spPr>
            <a:xfrm flipH="false" flipV="false" rot="0">
              <a:off x="0" y="0"/>
              <a:ext cx="14641840" cy="823603"/>
            </a:xfrm>
            <a:custGeom>
              <a:avLst/>
              <a:gdLst/>
              <a:ahLst/>
              <a:cxnLst/>
              <a:rect r="r" b="b" t="t" l="l"/>
              <a:pathLst>
                <a:path h="823603" w="14641840">
                  <a:moveTo>
                    <a:pt x="0" y="0"/>
                  </a:moveTo>
                  <a:lnTo>
                    <a:pt x="14641840" y="0"/>
                  </a:lnTo>
                  <a:lnTo>
                    <a:pt x="14641840" y="823603"/>
                  </a:lnTo>
                  <a:lnTo>
                    <a:pt x="0" y="823603"/>
                  </a:lnTo>
                  <a:close/>
                </a:path>
              </a:pathLst>
            </a:custGeom>
            <a:blipFill>
              <a:blip r:embed="rId3">
                <a:alphaModFix amt="0"/>
              </a:blip>
              <a:stretch>
                <a:fillRect l="0" t="-296400" r="0" b="-296401"/>
              </a:stretch>
            </a:blipFill>
          </p:spPr>
        </p:sp>
        <p:sp>
          <p:nvSpPr>
            <p:cNvPr name="TextBox 15" id="15"/>
            <p:cNvSpPr txBox="true"/>
            <p:nvPr/>
          </p:nvSpPr>
          <p:spPr>
            <a:xfrm>
              <a:off x="0" y="0"/>
              <a:ext cx="14641843" cy="823608"/>
            </a:xfrm>
            <a:prstGeom prst="rect">
              <a:avLst/>
            </a:prstGeom>
          </p:spPr>
          <p:txBody>
            <a:bodyPr anchor="ctr" rtlCol="false" tIns="0" lIns="0" bIns="0" rIns="0"/>
            <a:lstStyle/>
            <a:p>
              <a:pPr algn="l">
                <a:lnSpc>
                  <a:spcPts val="1621"/>
                </a:lnSpc>
              </a:pPr>
              <a:r>
                <a:rPr lang="en-US" sz="1351">
                  <a:solidFill>
                    <a:srgbClr val="FFFFFF"/>
                  </a:solidFill>
                  <a:latin typeface="Cabin"/>
                  <a:ea typeface="Cabin"/>
                  <a:cs typeface="Cabin"/>
                  <a:sym typeface="Cabin"/>
                </a:rPr>
                <a:t>VNU UET – Institute for Artificial Intelligence</a:t>
              </a:r>
            </a:p>
          </p:txBody>
        </p:sp>
      </p:grpSp>
      <p:grpSp>
        <p:nvGrpSpPr>
          <p:cNvPr name="Group 16" id="16"/>
          <p:cNvGrpSpPr/>
          <p:nvPr/>
        </p:nvGrpSpPr>
        <p:grpSpPr>
          <a:xfrm rot="0">
            <a:off x="17066438" y="9677343"/>
            <a:ext cx="823608" cy="617706"/>
            <a:chOff x="0" y="0"/>
            <a:chExt cx="1098144" cy="823608"/>
          </a:xfrm>
        </p:grpSpPr>
        <p:sp>
          <p:nvSpPr>
            <p:cNvPr name="Freeform 17" id="17"/>
            <p:cNvSpPr/>
            <p:nvPr/>
          </p:nvSpPr>
          <p:spPr>
            <a:xfrm flipH="false" flipV="false" rot="0">
              <a:off x="0" y="0"/>
              <a:ext cx="1098138" cy="823603"/>
            </a:xfrm>
            <a:custGeom>
              <a:avLst/>
              <a:gdLst/>
              <a:ahLst/>
              <a:cxnLst/>
              <a:rect r="r" b="b" t="t" l="l"/>
              <a:pathLst>
                <a:path h="823603" w="1098138">
                  <a:moveTo>
                    <a:pt x="0" y="0"/>
                  </a:moveTo>
                  <a:lnTo>
                    <a:pt x="1098138" y="0"/>
                  </a:lnTo>
                  <a:lnTo>
                    <a:pt x="1098138" y="823603"/>
                  </a:lnTo>
                  <a:lnTo>
                    <a:pt x="0" y="823603"/>
                  </a:lnTo>
                  <a:close/>
                </a:path>
              </a:pathLst>
            </a:custGeom>
            <a:blipFill>
              <a:blip r:embed="rId3">
                <a:alphaModFix amt="0"/>
              </a:blip>
              <a:stretch>
                <a:fillRect l="-46227" t="0" r="-46228" b="0"/>
              </a:stretch>
            </a:blipFill>
          </p:spPr>
        </p:sp>
        <p:sp>
          <p:nvSpPr>
            <p:cNvPr name="TextBox 18" id="18"/>
            <p:cNvSpPr txBox="true"/>
            <p:nvPr/>
          </p:nvSpPr>
          <p:spPr>
            <a:xfrm>
              <a:off x="0" y="0"/>
              <a:ext cx="1098144" cy="823608"/>
            </a:xfrm>
            <a:prstGeom prst="rect">
              <a:avLst/>
            </a:prstGeom>
          </p:spPr>
          <p:txBody>
            <a:bodyPr anchor="ctr" rtlCol="false" tIns="0" lIns="0" bIns="0" rIns="0"/>
            <a:lstStyle/>
            <a:p>
              <a:pPr algn="r">
                <a:lnSpc>
                  <a:spcPts val="1621"/>
                </a:lnSpc>
              </a:pPr>
              <a:r>
                <a:rPr lang="en-US" sz="1351">
                  <a:solidFill>
                    <a:srgbClr val="FFFFFF"/>
                  </a:solidFill>
                  <a:latin typeface="Cabin"/>
                  <a:ea typeface="Cabin"/>
                  <a:cs typeface="Cabin"/>
                  <a:sym typeface="Cabin"/>
                </a:rPr>
                <a:t>2</a:t>
              </a:r>
            </a:p>
          </p:txBody>
        </p:sp>
      </p:grpSp>
      <p:grpSp>
        <p:nvGrpSpPr>
          <p:cNvPr name="Group 19" id="19"/>
          <p:cNvGrpSpPr/>
          <p:nvPr/>
        </p:nvGrpSpPr>
        <p:grpSpPr>
          <a:xfrm rot="0">
            <a:off x="0" y="0"/>
            <a:ext cx="18288000" cy="315468"/>
            <a:chOff x="0" y="0"/>
            <a:chExt cx="24384000" cy="420624"/>
          </a:xfrm>
        </p:grpSpPr>
        <p:sp>
          <p:nvSpPr>
            <p:cNvPr name="Freeform 20" id="20"/>
            <p:cNvSpPr/>
            <p:nvPr/>
          </p:nvSpPr>
          <p:spPr>
            <a:xfrm flipH="false" flipV="false" rot="0">
              <a:off x="0" y="0"/>
              <a:ext cx="24384000" cy="420624"/>
            </a:xfrm>
            <a:custGeom>
              <a:avLst/>
              <a:gdLst/>
              <a:ahLst/>
              <a:cxnLst/>
              <a:rect r="r" b="b" t="t" l="l"/>
              <a:pathLst>
                <a:path h="420624" w="24384000">
                  <a:moveTo>
                    <a:pt x="0" y="0"/>
                  </a:moveTo>
                  <a:lnTo>
                    <a:pt x="24384000" y="0"/>
                  </a:lnTo>
                  <a:lnTo>
                    <a:pt x="24384000" y="420624"/>
                  </a:lnTo>
                  <a:lnTo>
                    <a:pt x="0" y="420624"/>
                  </a:lnTo>
                  <a:close/>
                </a:path>
              </a:pathLst>
            </a:custGeom>
            <a:solidFill>
              <a:srgbClr val="0F3F6F"/>
            </a:solidFill>
          </p:spPr>
        </p:sp>
      </p:grpSp>
      <p:grpSp>
        <p:nvGrpSpPr>
          <p:cNvPr name="Group 21" id="21"/>
          <p:cNvGrpSpPr/>
          <p:nvPr/>
        </p:nvGrpSpPr>
        <p:grpSpPr>
          <a:xfrm rot="0">
            <a:off x="13098780" y="0"/>
            <a:ext cx="1453896" cy="1508760"/>
            <a:chOff x="0" y="0"/>
            <a:chExt cx="1938528" cy="2011680"/>
          </a:xfrm>
        </p:grpSpPr>
        <p:sp>
          <p:nvSpPr>
            <p:cNvPr name="Freeform 22" id="22"/>
            <p:cNvSpPr/>
            <p:nvPr/>
          </p:nvSpPr>
          <p:spPr>
            <a:xfrm flipH="false" flipV="false" rot="0">
              <a:off x="0" y="0"/>
              <a:ext cx="1938528" cy="2011680"/>
            </a:xfrm>
            <a:custGeom>
              <a:avLst/>
              <a:gdLst/>
              <a:ahLst/>
              <a:cxnLst/>
              <a:rect r="r" b="b" t="t" l="l"/>
              <a:pathLst>
                <a:path h="2011680" w="1938528">
                  <a:moveTo>
                    <a:pt x="0" y="2011680"/>
                  </a:moveTo>
                  <a:lnTo>
                    <a:pt x="484632" y="0"/>
                  </a:lnTo>
                  <a:lnTo>
                    <a:pt x="1938528" y="0"/>
                  </a:lnTo>
                  <a:lnTo>
                    <a:pt x="1453896" y="2011680"/>
                  </a:lnTo>
                  <a:close/>
                </a:path>
              </a:pathLst>
            </a:custGeom>
            <a:solidFill>
              <a:srgbClr val="85B518"/>
            </a:solidFill>
          </p:spPr>
        </p:sp>
      </p:grpSp>
      <p:grpSp>
        <p:nvGrpSpPr>
          <p:cNvPr name="Group 23" id="23"/>
          <p:cNvGrpSpPr/>
          <p:nvPr/>
        </p:nvGrpSpPr>
        <p:grpSpPr>
          <a:xfrm rot="0">
            <a:off x="14621256" y="0"/>
            <a:ext cx="1508760" cy="1508760"/>
            <a:chOff x="0" y="0"/>
            <a:chExt cx="2011680" cy="2011680"/>
          </a:xfrm>
        </p:grpSpPr>
        <p:sp>
          <p:nvSpPr>
            <p:cNvPr name="Freeform 24" id="24"/>
            <p:cNvSpPr/>
            <p:nvPr/>
          </p:nvSpPr>
          <p:spPr>
            <a:xfrm flipH="false" flipV="false" rot="0">
              <a:off x="0" y="0"/>
              <a:ext cx="2011680" cy="2011680"/>
            </a:xfrm>
            <a:custGeom>
              <a:avLst/>
              <a:gdLst/>
              <a:ahLst/>
              <a:cxnLst/>
              <a:rect r="r" b="b" t="t" l="l"/>
              <a:pathLst>
                <a:path h="2011680" w="2011680">
                  <a:moveTo>
                    <a:pt x="0" y="2011680"/>
                  </a:moveTo>
                  <a:lnTo>
                    <a:pt x="502920" y="0"/>
                  </a:lnTo>
                  <a:lnTo>
                    <a:pt x="2011680" y="0"/>
                  </a:lnTo>
                  <a:lnTo>
                    <a:pt x="1508760" y="2011680"/>
                  </a:lnTo>
                  <a:close/>
                </a:path>
              </a:pathLst>
            </a:custGeom>
            <a:solidFill>
              <a:srgbClr val="0F3F6F"/>
            </a:solid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97801" y="384353"/>
            <a:ext cx="851059" cy="851059"/>
            <a:chOff x="0" y="0"/>
            <a:chExt cx="1134745" cy="1134745"/>
          </a:xfrm>
        </p:grpSpPr>
        <p:sp>
          <p:nvSpPr>
            <p:cNvPr name="Freeform 3" id="3" descr="/home/claude/work/assets/logo.png"/>
            <p:cNvSpPr/>
            <p:nvPr/>
          </p:nvSpPr>
          <p:spPr>
            <a:xfrm flipH="false" flipV="false" rot="0">
              <a:off x="0" y="0"/>
              <a:ext cx="1134745" cy="1134745"/>
            </a:xfrm>
            <a:custGeom>
              <a:avLst/>
              <a:gdLst/>
              <a:ahLst/>
              <a:cxnLst/>
              <a:rect r="r" b="b" t="t" l="l"/>
              <a:pathLst>
                <a:path h="1134745" w="1134745">
                  <a:moveTo>
                    <a:pt x="0" y="0"/>
                  </a:moveTo>
                  <a:lnTo>
                    <a:pt x="1134745" y="0"/>
                  </a:lnTo>
                  <a:lnTo>
                    <a:pt x="1134745" y="1134745"/>
                  </a:lnTo>
                  <a:lnTo>
                    <a:pt x="0" y="1134745"/>
                  </a:lnTo>
                  <a:lnTo>
                    <a:pt x="0" y="0"/>
                  </a:lnTo>
                  <a:close/>
                </a:path>
              </a:pathLst>
            </a:custGeom>
            <a:blipFill>
              <a:blip r:embed="rId3"/>
              <a:stretch>
                <a:fillRect l="0" t="0" r="0" b="0"/>
              </a:stretch>
            </a:blipFill>
          </p:spPr>
        </p:sp>
      </p:grpSp>
      <p:grpSp>
        <p:nvGrpSpPr>
          <p:cNvPr name="Group 4" id="4"/>
          <p:cNvGrpSpPr/>
          <p:nvPr/>
        </p:nvGrpSpPr>
        <p:grpSpPr>
          <a:xfrm rot="0">
            <a:off x="686333" y="384353"/>
            <a:ext cx="10981382" cy="411804"/>
            <a:chOff x="0" y="0"/>
            <a:chExt cx="14641843" cy="549072"/>
          </a:xfrm>
        </p:grpSpPr>
        <p:sp>
          <p:nvSpPr>
            <p:cNvPr name="Freeform 5" id="5"/>
            <p:cNvSpPr/>
            <p:nvPr/>
          </p:nvSpPr>
          <p:spPr>
            <a:xfrm flipH="false" flipV="false" rot="0">
              <a:off x="0" y="0"/>
              <a:ext cx="14641840" cy="549069"/>
            </a:xfrm>
            <a:custGeom>
              <a:avLst/>
              <a:gdLst/>
              <a:ahLst/>
              <a:cxnLst/>
              <a:rect r="r" b="b" t="t" l="l"/>
              <a:pathLst>
                <a:path h="549069" w="14641840">
                  <a:moveTo>
                    <a:pt x="0" y="0"/>
                  </a:moveTo>
                  <a:lnTo>
                    <a:pt x="14641840" y="0"/>
                  </a:lnTo>
                  <a:lnTo>
                    <a:pt x="14641840" y="549069"/>
                  </a:lnTo>
                  <a:lnTo>
                    <a:pt x="0" y="549069"/>
                  </a:lnTo>
                  <a:close/>
                </a:path>
              </a:pathLst>
            </a:custGeom>
            <a:blipFill>
              <a:blip r:embed="rId4">
                <a:alphaModFix amt="0"/>
              </a:blip>
              <a:stretch>
                <a:fillRect l="0" t="-469600" r="0" b="-469601"/>
              </a:stretch>
            </a:blipFill>
          </p:spPr>
        </p:sp>
        <p:sp>
          <p:nvSpPr>
            <p:cNvPr name="TextBox 6" id="6"/>
            <p:cNvSpPr txBox="true"/>
            <p:nvPr/>
          </p:nvSpPr>
          <p:spPr>
            <a:xfrm>
              <a:off x="0" y="0"/>
              <a:ext cx="14641843" cy="549072"/>
            </a:xfrm>
            <a:prstGeom prst="rect">
              <a:avLst/>
            </a:prstGeom>
          </p:spPr>
          <p:txBody>
            <a:bodyPr anchor="ctr" rtlCol="false" tIns="0" lIns="0" bIns="0" rIns="0"/>
            <a:lstStyle/>
            <a:p>
              <a:pPr algn="l">
                <a:lnSpc>
                  <a:spcPts val="1981"/>
                </a:lnSpc>
              </a:pPr>
              <a:r>
                <a:rPr lang="en-US" sz="1651" i="true">
                  <a:solidFill>
                    <a:srgbClr val="4A4A4A"/>
                  </a:solidFill>
                  <a:latin typeface="Cabin Italics"/>
                  <a:ea typeface="Cabin Italics"/>
                  <a:cs typeface="Cabin Italics"/>
                  <a:sym typeface="Cabin Italics"/>
                </a:rPr>
                <a:t>Giới thiệu tổng quan bài học · Bài 05</a:t>
              </a:r>
            </a:p>
          </p:txBody>
        </p:sp>
      </p:grpSp>
      <p:grpSp>
        <p:nvGrpSpPr>
          <p:cNvPr name="Group 7" id="7"/>
          <p:cNvGrpSpPr/>
          <p:nvPr/>
        </p:nvGrpSpPr>
        <p:grpSpPr>
          <a:xfrm rot="0">
            <a:off x="686333" y="823608"/>
            <a:ext cx="82363" cy="754971"/>
            <a:chOff x="0" y="0"/>
            <a:chExt cx="109817" cy="1006627"/>
          </a:xfrm>
        </p:grpSpPr>
        <p:sp>
          <p:nvSpPr>
            <p:cNvPr name="Freeform 8" id="8"/>
            <p:cNvSpPr/>
            <p:nvPr/>
          </p:nvSpPr>
          <p:spPr>
            <a:xfrm flipH="false" flipV="false" rot="0">
              <a:off x="0" y="0"/>
              <a:ext cx="109855" cy="1006602"/>
            </a:xfrm>
            <a:custGeom>
              <a:avLst/>
              <a:gdLst/>
              <a:ahLst/>
              <a:cxnLst/>
              <a:rect r="r" b="b" t="t" l="l"/>
              <a:pathLst>
                <a:path h="1006602" w="109855">
                  <a:moveTo>
                    <a:pt x="0" y="0"/>
                  </a:moveTo>
                  <a:lnTo>
                    <a:pt x="109855" y="0"/>
                  </a:lnTo>
                  <a:lnTo>
                    <a:pt x="109855" y="1006602"/>
                  </a:lnTo>
                  <a:lnTo>
                    <a:pt x="0" y="1006602"/>
                  </a:lnTo>
                  <a:close/>
                </a:path>
              </a:pathLst>
            </a:custGeom>
            <a:solidFill>
              <a:srgbClr val="FF0000"/>
            </a:solidFill>
          </p:spPr>
        </p:sp>
      </p:grpSp>
      <p:grpSp>
        <p:nvGrpSpPr>
          <p:cNvPr name="Group 9" id="9"/>
          <p:cNvGrpSpPr/>
          <p:nvPr/>
        </p:nvGrpSpPr>
        <p:grpSpPr>
          <a:xfrm rot="0">
            <a:off x="960872" y="796147"/>
            <a:ext cx="15831026" cy="823608"/>
            <a:chOff x="0" y="0"/>
            <a:chExt cx="21108035" cy="1098144"/>
          </a:xfrm>
        </p:grpSpPr>
        <p:sp>
          <p:nvSpPr>
            <p:cNvPr name="Freeform 10" id="10"/>
            <p:cNvSpPr/>
            <p:nvPr/>
          </p:nvSpPr>
          <p:spPr>
            <a:xfrm flipH="false" flipV="false" rot="0">
              <a:off x="0" y="0"/>
              <a:ext cx="21108040" cy="1098138"/>
            </a:xfrm>
            <a:custGeom>
              <a:avLst/>
              <a:gdLst/>
              <a:ahLst/>
              <a:cxnLst/>
              <a:rect r="r" b="b" t="t" l="l"/>
              <a:pathLst>
                <a:path h="1098138" w="21108040">
                  <a:moveTo>
                    <a:pt x="0" y="0"/>
                  </a:moveTo>
                  <a:lnTo>
                    <a:pt x="21108040" y="0"/>
                  </a:lnTo>
                  <a:lnTo>
                    <a:pt x="21108040" y="1098138"/>
                  </a:lnTo>
                  <a:lnTo>
                    <a:pt x="0" y="1098138"/>
                  </a:lnTo>
                  <a:close/>
                </a:path>
              </a:pathLst>
            </a:custGeom>
            <a:blipFill>
              <a:blip r:embed="rId4">
                <a:alphaModFix amt="0"/>
              </a:blip>
              <a:stretch>
                <a:fillRect l="0" t="-324534" r="0" b="-324535"/>
              </a:stretch>
            </a:blipFill>
          </p:spPr>
        </p:sp>
        <p:sp>
          <p:nvSpPr>
            <p:cNvPr name="TextBox 11" id="11"/>
            <p:cNvSpPr txBox="true"/>
            <p:nvPr/>
          </p:nvSpPr>
          <p:spPr>
            <a:xfrm>
              <a:off x="0" y="0"/>
              <a:ext cx="21108035" cy="1098144"/>
            </a:xfrm>
            <a:prstGeom prst="rect">
              <a:avLst/>
            </a:prstGeom>
          </p:spPr>
          <p:txBody>
            <a:bodyPr anchor="ctr" rtlCol="false" tIns="0" lIns="0" bIns="0" rIns="0"/>
            <a:lstStyle/>
            <a:p>
              <a:pPr algn="l">
                <a:lnSpc>
                  <a:spcPts val="3782"/>
                </a:lnSpc>
              </a:pPr>
              <a:r>
                <a:rPr lang="en-US" sz="3152" b="true">
                  <a:solidFill>
                    <a:srgbClr val="1F4E79"/>
                  </a:solidFill>
                  <a:latin typeface="Cabin Bold"/>
                  <a:ea typeface="Cabin Bold"/>
                  <a:cs typeface="Cabin Bold"/>
                  <a:sym typeface="Cabin Bold"/>
                </a:rPr>
                <a:t>Mục tiêu học tập</a:t>
              </a:r>
            </a:p>
          </p:txBody>
        </p:sp>
      </p:grpSp>
      <p:grpSp>
        <p:nvGrpSpPr>
          <p:cNvPr name="Group 12" id="12"/>
          <p:cNvGrpSpPr/>
          <p:nvPr/>
        </p:nvGrpSpPr>
        <p:grpSpPr>
          <a:xfrm rot="0">
            <a:off x="686333" y="2127647"/>
            <a:ext cx="576520" cy="576520"/>
            <a:chOff x="0" y="0"/>
            <a:chExt cx="768693" cy="768693"/>
          </a:xfrm>
        </p:grpSpPr>
        <p:sp>
          <p:nvSpPr>
            <p:cNvPr name="Freeform 13" id="13"/>
            <p:cNvSpPr/>
            <p:nvPr/>
          </p:nvSpPr>
          <p:spPr>
            <a:xfrm flipH="false" flipV="false" rot="0">
              <a:off x="0" y="0"/>
              <a:ext cx="768731" cy="768731"/>
            </a:xfrm>
            <a:custGeom>
              <a:avLst/>
              <a:gdLst/>
              <a:ahLst/>
              <a:cxnLst/>
              <a:rect r="r" b="b" t="t" l="l"/>
              <a:pathLst>
                <a:path h="768731" w="768731">
                  <a:moveTo>
                    <a:pt x="0" y="384302"/>
                  </a:moveTo>
                  <a:cubicBezTo>
                    <a:pt x="0" y="172085"/>
                    <a:pt x="172085" y="0"/>
                    <a:pt x="384302" y="0"/>
                  </a:cubicBezTo>
                  <a:cubicBezTo>
                    <a:pt x="596519" y="0"/>
                    <a:pt x="768731" y="172085"/>
                    <a:pt x="768731" y="384302"/>
                  </a:cubicBezTo>
                  <a:cubicBezTo>
                    <a:pt x="768731" y="596519"/>
                    <a:pt x="596646" y="768731"/>
                    <a:pt x="384302" y="768731"/>
                  </a:cubicBezTo>
                  <a:cubicBezTo>
                    <a:pt x="171958" y="768731"/>
                    <a:pt x="0" y="596646"/>
                    <a:pt x="0" y="384302"/>
                  </a:cubicBezTo>
                  <a:close/>
                </a:path>
              </a:pathLst>
            </a:custGeom>
            <a:solidFill>
              <a:srgbClr val="1F4E79"/>
            </a:solidFill>
          </p:spPr>
        </p:sp>
      </p:grpSp>
      <p:grpSp>
        <p:nvGrpSpPr>
          <p:cNvPr name="Group 14" id="14"/>
          <p:cNvGrpSpPr/>
          <p:nvPr/>
        </p:nvGrpSpPr>
        <p:grpSpPr>
          <a:xfrm rot="0">
            <a:off x="686333" y="2127647"/>
            <a:ext cx="576520" cy="576520"/>
            <a:chOff x="0" y="0"/>
            <a:chExt cx="768693" cy="768693"/>
          </a:xfrm>
        </p:grpSpPr>
        <p:sp>
          <p:nvSpPr>
            <p:cNvPr name="Freeform 15" id="15"/>
            <p:cNvSpPr/>
            <p:nvPr/>
          </p:nvSpPr>
          <p:spPr>
            <a:xfrm flipH="false" flipV="false" rot="0">
              <a:off x="0" y="0"/>
              <a:ext cx="768697" cy="768697"/>
            </a:xfrm>
            <a:custGeom>
              <a:avLst/>
              <a:gdLst/>
              <a:ahLst/>
              <a:cxnLst/>
              <a:rect r="r" b="b" t="t" l="l"/>
              <a:pathLst>
                <a:path h="768697" w="768697">
                  <a:moveTo>
                    <a:pt x="0" y="0"/>
                  </a:moveTo>
                  <a:lnTo>
                    <a:pt x="768697" y="0"/>
                  </a:lnTo>
                  <a:lnTo>
                    <a:pt x="768697" y="768697"/>
                  </a:lnTo>
                  <a:lnTo>
                    <a:pt x="0" y="768697"/>
                  </a:lnTo>
                  <a:close/>
                </a:path>
              </a:pathLst>
            </a:custGeom>
            <a:blipFill>
              <a:blip r:embed="rId4">
                <a:alphaModFix amt="0"/>
              </a:blip>
              <a:stretch>
                <a:fillRect l="-78303" t="0" r="-78302" b="0"/>
              </a:stretch>
            </a:blipFill>
          </p:spPr>
        </p:sp>
        <p:sp>
          <p:nvSpPr>
            <p:cNvPr name="TextBox 16" id="16"/>
            <p:cNvSpPr txBox="true"/>
            <p:nvPr/>
          </p:nvSpPr>
          <p:spPr>
            <a:xfrm>
              <a:off x="0" y="-9525"/>
              <a:ext cx="768693" cy="778218"/>
            </a:xfrm>
            <a:prstGeom prst="rect">
              <a:avLst/>
            </a:prstGeom>
          </p:spPr>
          <p:txBody>
            <a:bodyPr anchor="ctr" rtlCol="false" tIns="0" lIns="0" bIns="0" rIns="0"/>
            <a:lstStyle/>
            <a:p>
              <a:pPr algn="ctr">
                <a:lnSpc>
                  <a:spcPts val="2341"/>
                </a:lnSpc>
              </a:pPr>
              <a:r>
                <a:rPr lang="en-US" sz="1951" b="true">
                  <a:solidFill>
                    <a:srgbClr val="FFFFFF"/>
                  </a:solidFill>
                  <a:latin typeface="Cabin Bold"/>
                  <a:ea typeface="Cabin Bold"/>
                  <a:cs typeface="Cabin Bold"/>
                  <a:sym typeface="Cabin Bold"/>
                </a:rPr>
                <a:t>1</a:t>
              </a:r>
            </a:p>
          </p:txBody>
        </p:sp>
      </p:grpSp>
      <p:sp>
        <p:nvSpPr>
          <p:cNvPr name="TextBox 17" id="17"/>
          <p:cNvSpPr txBox="true"/>
          <p:nvPr/>
        </p:nvSpPr>
        <p:spPr>
          <a:xfrm rot="0">
            <a:off x="1573930" y="2104730"/>
            <a:ext cx="7023649" cy="1555766"/>
          </a:xfrm>
          <a:prstGeom prst="rect">
            <a:avLst/>
          </a:prstGeom>
        </p:spPr>
        <p:txBody>
          <a:bodyPr anchor="t" rtlCol="false" tIns="0" lIns="0" bIns="0" rIns="0">
            <a:spAutoFit/>
          </a:bodyPr>
          <a:lstStyle/>
          <a:p>
            <a:pPr algn="l">
              <a:lnSpc>
                <a:spcPts val="2071"/>
              </a:lnSpc>
            </a:pPr>
            <a:r>
              <a:rPr lang="en-US" sz="1726">
                <a:solidFill>
                  <a:srgbClr val="000000"/>
                </a:solidFill>
                <a:latin typeface="Cabin"/>
                <a:ea typeface="Cabin"/>
                <a:cs typeface="Cabin"/>
                <a:sym typeface="Cabin"/>
              </a:rPr>
              <a:t>Giải thích được vì sao Spark ra đời từ hạn chế của MapReduce (đọc/ghi disk nhiều lần)</a:t>
            </a:r>
          </a:p>
        </p:txBody>
      </p:sp>
      <p:grpSp>
        <p:nvGrpSpPr>
          <p:cNvPr name="Group 18" id="18"/>
          <p:cNvGrpSpPr/>
          <p:nvPr/>
        </p:nvGrpSpPr>
        <p:grpSpPr>
          <a:xfrm rot="0">
            <a:off x="686333" y="3939569"/>
            <a:ext cx="576520" cy="576520"/>
            <a:chOff x="0" y="0"/>
            <a:chExt cx="768693" cy="768693"/>
          </a:xfrm>
        </p:grpSpPr>
        <p:sp>
          <p:nvSpPr>
            <p:cNvPr name="Freeform 19" id="19"/>
            <p:cNvSpPr/>
            <p:nvPr/>
          </p:nvSpPr>
          <p:spPr>
            <a:xfrm flipH="false" flipV="false" rot="0">
              <a:off x="0" y="0"/>
              <a:ext cx="768731" cy="768731"/>
            </a:xfrm>
            <a:custGeom>
              <a:avLst/>
              <a:gdLst/>
              <a:ahLst/>
              <a:cxnLst/>
              <a:rect r="r" b="b" t="t" l="l"/>
              <a:pathLst>
                <a:path h="768731" w="768731">
                  <a:moveTo>
                    <a:pt x="0" y="384302"/>
                  </a:moveTo>
                  <a:cubicBezTo>
                    <a:pt x="0" y="172085"/>
                    <a:pt x="172085" y="0"/>
                    <a:pt x="384302" y="0"/>
                  </a:cubicBezTo>
                  <a:cubicBezTo>
                    <a:pt x="596519" y="0"/>
                    <a:pt x="768731" y="172085"/>
                    <a:pt x="768731" y="384302"/>
                  </a:cubicBezTo>
                  <a:cubicBezTo>
                    <a:pt x="768731" y="596519"/>
                    <a:pt x="596646" y="768731"/>
                    <a:pt x="384302" y="768731"/>
                  </a:cubicBezTo>
                  <a:cubicBezTo>
                    <a:pt x="171958" y="768731"/>
                    <a:pt x="0" y="596646"/>
                    <a:pt x="0" y="384302"/>
                  </a:cubicBezTo>
                  <a:close/>
                </a:path>
              </a:pathLst>
            </a:custGeom>
            <a:solidFill>
              <a:srgbClr val="1F4E79"/>
            </a:solidFill>
          </p:spPr>
        </p:sp>
      </p:grpSp>
      <p:grpSp>
        <p:nvGrpSpPr>
          <p:cNvPr name="Group 20" id="20"/>
          <p:cNvGrpSpPr/>
          <p:nvPr/>
        </p:nvGrpSpPr>
        <p:grpSpPr>
          <a:xfrm rot="0">
            <a:off x="686333" y="3939569"/>
            <a:ext cx="576520" cy="576520"/>
            <a:chOff x="0" y="0"/>
            <a:chExt cx="768693" cy="768693"/>
          </a:xfrm>
        </p:grpSpPr>
        <p:sp>
          <p:nvSpPr>
            <p:cNvPr name="Freeform 21" id="21"/>
            <p:cNvSpPr/>
            <p:nvPr/>
          </p:nvSpPr>
          <p:spPr>
            <a:xfrm flipH="false" flipV="false" rot="0">
              <a:off x="0" y="0"/>
              <a:ext cx="768697" cy="768697"/>
            </a:xfrm>
            <a:custGeom>
              <a:avLst/>
              <a:gdLst/>
              <a:ahLst/>
              <a:cxnLst/>
              <a:rect r="r" b="b" t="t" l="l"/>
              <a:pathLst>
                <a:path h="768697" w="768697">
                  <a:moveTo>
                    <a:pt x="0" y="0"/>
                  </a:moveTo>
                  <a:lnTo>
                    <a:pt x="768697" y="0"/>
                  </a:lnTo>
                  <a:lnTo>
                    <a:pt x="768697" y="768697"/>
                  </a:lnTo>
                  <a:lnTo>
                    <a:pt x="0" y="768697"/>
                  </a:lnTo>
                  <a:close/>
                </a:path>
              </a:pathLst>
            </a:custGeom>
            <a:blipFill>
              <a:blip r:embed="rId4">
                <a:alphaModFix amt="0"/>
              </a:blip>
              <a:stretch>
                <a:fillRect l="-78303" t="0" r="-78302" b="0"/>
              </a:stretch>
            </a:blipFill>
          </p:spPr>
        </p:sp>
        <p:sp>
          <p:nvSpPr>
            <p:cNvPr name="TextBox 22" id="22"/>
            <p:cNvSpPr txBox="true"/>
            <p:nvPr/>
          </p:nvSpPr>
          <p:spPr>
            <a:xfrm>
              <a:off x="0" y="-9525"/>
              <a:ext cx="768693" cy="778218"/>
            </a:xfrm>
            <a:prstGeom prst="rect">
              <a:avLst/>
            </a:prstGeom>
          </p:spPr>
          <p:txBody>
            <a:bodyPr anchor="ctr" rtlCol="false" tIns="0" lIns="0" bIns="0" rIns="0"/>
            <a:lstStyle/>
            <a:p>
              <a:pPr algn="ctr">
                <a:lnSpc>
                  <a:spcPts val="2341"/>
                </a:lnSpc>
              </a:pPr>
              <a:r>
                <a:rPr lang="en-US" sz="1951" b="true">
                  <a:solidFill>
                    <a:srgbClr val="FFFFFF"/>
                  </a:solidFill>
                  <a:latin typeface="Cabin Bold"/>
                  <a:ea typeface="Cabin Bold"/>
                  <a:cs typeface="Cabin Bold"/>
                  <a:sym typeface="Cabin Bold"/>
                </a:rPr>
                <a:t>2</a:t>
              </a:r>
            </a:p>
          </p:txBody>
        </p:sp>
      </p:grpSp>
      <p:sp>
        <p:nvSpPr>
          <p:cNvPr name="TextBox 23" id="23"/>
          <p:cNvSpPr txBox="true"/>
          <p:nvPr/>
        </p:nvSpPr>
        <p:spPr>
          <a:xfrm rot="0">
            <a:off x="1573930" y="3916651"/>
            <a:ext cx="7023649" cy="1555766"/>
          </a:xfrm>
          <a:prstGeom prst="rect">
            <a:avLst/>
          </a:prstGeom>
        </p:spPr>
        <p:txBody>
          <a:bodyPr anchor="t" rtlCol="false" tIns="0" lIns="0" bIns="0" rIns="0">
            <a:spAutoFit/>
          </a:bodyPr>
          <a:lstStyle/>
          <a:p>
            <a:pPr algn="l">
              <a:lnSpc>
                <a:spcPts val="2071"/>
              </a:lnSpc>
            </a:pPr>
            <a:r>
              <a:rPr lang="en-US" sz="1726">
                <a:solidFill>
                  <a:srgbClr val="000000"/>
                </a:solidFill>
                <a:latin typeface="Cabin"/>
                <a:ea typeface="Cabin"/>
                <a:cs typeface="Cabin"/>
                <a:sym typeface="Cabin"/>
              </a:rPr>
              <a:t>Trình bày được kiến trúc Spark: Driver, Cluster Manager, Worker Node, Executor, Task</a:t>
            </a:r>
          </a:p>
        </p:txBody>
      </p:sp>
      <p:grpSp>
        <p:nvGrpSpPr>
          <p:cNvPr name="Group 24" id="24"/>
          <p:cNvGrpSpPr/>
          <p:nvPr/>
        </p:nvGrpSpPr>
        <p:grpSpPr>
          <a:xfrm rot="0">
            <a:off x="686333" y="5751500"/>
            <a:ext cx="576520" cy="576520"/>
            <a:chOff x="0" y="0"/>
            <a:chExt cx="768693" cy="768693"/>
          </a:xfrm>
        </p:grpSpPr>
        <p:sp>
          <p:nvSpPr>
            <p:cNvPr name="Freeform 25" id="25"/>
            <p:cNvSpPr/>
            <p:nvPr/>
          </p:nvSpPr>
          <p:spPr>
            <a:xfrm flipH="false" flipV="false" rot="0">
              <a:off x="0" y="0"/>
              <a:ext cx="768731" cy="768731"/>
            </a:xfrm>
            <a:custGeom>
              <a:avLst/>
              <a:gdLst/>
              <a:ahLst/>
              <a:cxnLst/>
              <a:rect r="r" b="b" t="t" l="l"/>
              <a:pathLst>
                <a:path h="768731" w="768731">
                  <a:moveTo>
                    <a:pt x="0" y="384302"/>
                  </a:moveTo>
                  <a:cubicBezTo>
                    <a:pt x="0" y="172085"/>
                    <a:pt x="172085" y="0"/>
                    <a:pt x="384302" y="0"/>
                  </a:cubicBezTo>
                  <a:cubicBezTo>
                    <a:pt x="596519" y="0"/>
                    <a:pt x="768731" y="172085"/>
                    <a:pt x="768731" y="384302"/>
                  </a:cubicBezTo>
                  <a:cubicBezTo>
                    <a:pt x="768731" y="596519"/>
                    <a:pt x="596646" y="768731"/>
                    <a:pt x="384302" y="768731"/>
                  </a:cubicBezTo>
                  <a:cubicBezTo>
                    <a:pt x="171958" y="768731"/>
                    <a:pt x="0" y="596646"/>
                    <a:pt x="0" y="384302"/>
                  </a:cubicBezTo>
                  <a:close/>
                </a:path>
              </a:pathLst>
            </a:custGeom>
            <a:solidFill>
              <a:srgbClr val="1F4E79"/>
            </a:solidFill>
          </p:spPr>
        </p:sp>
      </p:grpSp>
      <p:grpSp>
        <p:nvGrpSpPr>
          <p:cNvPr name="Group 26" id="26"/>
          <p:cNvGrpSpPr/>
          <p:nvPr/>
        </p:nvGrpSpPr>
        <p:grpSpPr>
          <a:xfrm rot="0">
            <a:off x="686333" y="5751500"/>
            <a:ext cx="576520" cy="576520"/>
            <a:chOff x="0" y="0"/>
            <a:chExt cx="768693" cy="768693"/>
          </a:xfrm>
        </p:grpSpPr>
        <p:sp>
          <p:nvSpPr>
            <p:cNvPr name="Freeform 27" id="27"/>
            <p:cNvSpPr/>
            <p:nvPr/>
          </p:nvSpPr>
          <p:spPr>
            <a:xfrm flipH="false" flipV="false" rot="0">
              <a:off x="0" y="0"/>
              <a:ext cx="768697" cy="768697"/>
            </a:xfrm>
            <a:custGeom>
              <a:avLst/>
              <a:gdLst/>
              <a:ahLst/>
              <a:cxnLst/>
              <a:rect r="r" b="b" t="t" l="l"/>
              <a:pathLst>
                <a:path h="768697" w="768697">
                  <a:moveTo>
                    <a:pt x="0" y="0"/>
                  </a:moveTo>
                  <a:lnTo>
                    <a:pt x="768697" y="0"/>
                  </a:lnTo>
                  <a:lnTo>
                    <a:pt x="768697" y="768697"/>
                  </a:lnTo>
                  <a:lnTo>
                    <a:pt x="0" y="768697"/>
                  </a:lnTo>
                  <a:close/>
                </a:path>
              </a:pathLst>
            </a:custGeom>
            <a:blipFill>
              <a:blip r:embed="rId4">
                <a:alphaModFix amt="0"/>
              </a:blip>
              <a:stretch>
                <a:fillRect l="-78303" t="0" r="-78302" b="0"/>
              </a:stretch>
            </a:blipFill>
          </p:spPr>
        </p:sp>
        <p:sp>
          <p:nvSpPr>
            <p:cNvPr name="TextBox 28" id="28"/>
            <p:cNvSpPr txBox="true"/>
            <p:nvPr/>
          </p:nvSpPr>
          <p:spPr>
            <a:xfrm>
              <a:off x="0" y="-9525"/>
              <a:ext cx="768693" cy="778218"/>
            </a:xfrm>
            <a:prstGeom prst="rect">
              <a:avLst/>
            </a:prstGeom>
          </p:spPr>
          <p:txBody>
            <a:bodyPr anchor="ctr" rtlCol="false" tIns="0" lIns="0" bIns="0" rIns="0"/>
            <a:lstStyle/>
            <a:p>
              <a:pPr algn="ctr">
                <a:lnSpc>
                  <a:spcPts val="2341"/>
                </a:lnSpc>
              </a:pPr>
              <a:r>
                <a:rPr lang="en-US" sz="1951" b="true">
                  <a:solidFill>
                    <a:srgbClr val="FFFFFF"/>
                  </a:solidFill>
                  <a:latin typeface="Cabin Bold"/>
                  <a:ea typeface="Cabin Bold"/>
                  <a:cs typeface="Cabin Bold"/>
                  <a:sym typeface="Cabin Bold"/>
                </a:rPr>
                <a:t>3</a:t>
              </a:r>
            </a:p>
          </p:txBody>
        </p:sp>
      </p:grpSp>
      <p:sp>
        <p:nvSpPr>
          <p:cNvPr name="TextBox 29" id="29"/>
          <p:cNvSpPr txBox="true"/>
          <p:nvPr/>
        </p:nvSpPr>
        <p:spPr>
          <a:xfrm rot="0">
            <a:off x="1573930" y="5728583"/>
            <a:ext cx="7023649" cy="1555766"/>
          </a:xfrm>
          <a:prstGeom prst="rect">
            <a:avLst/>
          </a:prstGeom>
        </p:spPr>
        <p:txBody>
          <a:bodyPr anchor="t" rtlCol="false" tIns="0" lIns="0" bIns="0" rIns="0">
            <a:spAutoFit/>
          </a:bodyPr>
          <a:lstStyle/>
          <a:p>
            <a:pPr algn="l">
              <a:lnSpc>
                <a:spcPts val="2071"/>
              </a:lnSpc>
            </a:pPr>
            <a:r>
              <a:rPr lang="en-US" sz="1726">
                <a:solidFill>
                  <a:srgbClr val="000000"/>
                </a:solidFill>
                <a:latin typeface="Cabin"/>
                <a:ea typeface="Cabin"/>
                <a:cs typeface="Cabin"/>
                <a:sym typeface="Cabin"/>
              </a:rPr>
              <a:t>Mô tả được cơ chế thực thi Spark qua Application – Job – DAG – Stage – Task</a:t>
            </a:r>
          </a:p>
        </p:txBody>
      </p:sp>
      <p:grpSp>
        <p:nvGrpSpPr>
          <p:cNvPr name="Group 30" id="30"/>
          <p:cNvGrpSpPr/>
          <p:nvPr/>
        </p:nvGrpSpPr>
        <p:grpSpPr>
          <a:xfrm rot="0">
            <a:off x="686333" y="7563421"/>
            <a:ext cx="576520" cy="576520"/>
            <a:chOff x="0" y="0"/>
            <a:chExt cx="768693" cy="768693"/>
          </a:xfrm>
        </p:grpSpPr>
        <p:sp>
          <p:nvSpPr>
            <p:cNvPr name="Freeform 31" id="31"/>
            <p:cNvSpPr/>
            <p:nvPr/>
          </p:nvSpPr>
          <p:spPr>
            <a:xfrm flipH="false" flipV="false" rot="0">
              <a:off x="0" y="0"/>
              <a:ext cx="768731" cy="768731"/>
            </a:xfrm>
            <a:custGeom>
              <a:avLst/>
              <a:gdLst/>
              <a:ahLst/>
              <a:cxnLst/>
              <a:rect r="r" b="b" t="t" l="l"/>
              <a:pathLst>
                <a:path h="768731" w="768731">
                  <a:moveTo>
                    <a:pt x="0" y="384302"/>
                  </a:moveTo>
                  <a:cubicBezTo>
                    <a:pt x="0" y="172085"/>
                    <a:pt x="172085" y="0"/>
                    <a:pt x="384302" y="0"/>
                  </a:cubicBezTo>
                  <a:cubicBezTo>
                    <a:pt x="596519" y="0"/>
                    <a:pt x="768731" y="172085"/>
                    <a:pt x="768731" y="384302"/>
                  </a:cubicBezTo>
                  <a:cubicBezTo>
                    <a:pt x="768731" y="596519"/>
                    <a:pt x="596646" y="768731"/>
                    <a:pt x="384302" y="768731"/>
                  </a:cubicBezTo>
                  <a:cubicBezTo>
                    <a:pt x="171958" y="768731"/>
                    <a:pt x="0" y="596646"/>
                    <a:pt x="0" y="384302"/>
                  </a:cubicBezTo>
                  <a:close/>
                </a:path>
              </a:pathLst>
            </a:custGeom>
            <a:solidFill>
              <a:srgbClr val="1F4E79"/>
            </a:solidFill>
          </p:spPr>
        </p:sp>
      </p:grpSp>
      <p:grpSp>
        <p:nvGrpSpPr>
          <p:cNvPr name="Group 32" id="32"/>
          <p:cNvGrpSpPr/>
          <p:nvPr/>
        </p:nvGrpSpPr>
        <p:grpSpPr>
          <a:xfrm rot="0">
            <a:off x="686333" y="7563421"/>
            <a:ext cx="576520" cy="576520"/>
            <a:chOff x="0" y="0"/>
            <a:chExt cx="768693" cy="768693"/>
          </a:xfrm>
        </p:grpSpPr>
        <p:sp>
          <p:nvSpPr>
            <p:cNvPr name="Freeform 33" id="33"/>
            <p:cNvSpPr/>
            <p:nvPr/>
          </p:nvSpPr>
          <p:spPr>
            <a:xfrm flipH="false" flipV="false" rot="0">
              <a:off x="0" y="0"/>
              <a:ext cx="768697" cy="768697"/>
            </a:xfrm>
            <a:custGeom>
              <a:avLst/>
              <a:gdLst/>
              <a:ahLst/>
              <a:cxnLst/>
              <a:rect r="r" b="b" t="t" l="l"/>
              <a:pathLst>
                <a:path h="768697" w="768697">
                  <a:moveTo>
                    <a:pt x="0" y="0"/>
                  </a:moveTo>
                  <a:lnTo>
                    <a:pt x="768697" y="0"/>
                  </a:lnTo>
                  <a:lnTo>
                    <a:pt x="768697" y="768697"/>
                  </a:lnTo>
                  <a:lnTo>
                    <a:pt x="0" y="768697"/>
                  </a:lnTo>
                  <a:close/>
                </a:path>
              </a:pathLst>
            </a:custGeom>
            <a:blipFill>
              <a:blip r:embed="rId4">
                <a:alphaModFix amt="0"/>
              </a:blip>
              <a:stretch>
                <a:fillRect l="-78303" t="0" r="-78302" b="0"/>
              </a:stretch>
            </a:blipFill>
          </p:spPr>
        </p:sp>
        <p:sp>
          <p:nvSpPr>
            <p:cNvPr name="TextBox 34" id="34"/>
            <p:cNvSpPr txBox="true"/>
            <p:nvPr/>
          </p:nvSpPr>
          <p:spPr>
            <a:xfrm>
              <a:off x="0" y="-9525"/>
              <a:ext cx="768693" cy="778218"/>
            </a:xfrm>
            <a:prstGeom prst="rect">
              <a:avLst/>
            </a:prstGeom>
          </p:spPr>
          <p:txBody>
            <a:bodyPr anchor="ctr" rtlCol="false" tIns="0" lIns="0" bIns="0" rIns="0"/>
            <a:lstStyle/>
            <a:p>
              <a:pPr algn="ctr">
                <a:lnSpc>
                  <a:spcPts val="2341"/>
                </a:lnSpc>
              </a:pPr>
              <a:r>
                <a:rPr lang="en-US" sz="1951" b="true">
                  <a:solidFill>
                    <a:srgbClr val="FFFFFF"/>
                  </a:solidFill>
                  <a:latin typeface="Cabin Bold"/>
                  <a:ea typeface="Cabin Bold"/>
                  <a:cs typeface="Cabin Bold"/>
                  <a:sym typeface="Cabin Bold"/>
                </a:rPr>
                <a:t>4</a:t>
              </a:r>
            </a:p>
          </p:txBody>
        </p:sp>
      </p:grpSp>
      <p:sp>
        <p:nvSpPr>
          <p:cNvPr name="TextBox 35" id="35"/>
          <p:cNvSpPr txBox="true"/>
          <p:nvPr/>
        </p:nvSpPr>
        <p:spPr>
          <a:xfrm rot="0">
            <a:off x="1573930" y="7540514"/>
            <a:ext cx="7023649" cy="1555766"/>
          </a:xfrm>
          <a:prstGeom prst="rect">
            <a:avLst/>
          </a:prstGeom>
        </p:spPr>
        <p:txBody>
          <a:bodyPr anchor="t" rtlCol="false" tIns="0" lIns="0" bIns="0" rIns="0">
            <a:spAutoFit/>
          </a:bodyPr>
          <a:lstStyle/>
          <a:p>
            <a:pPr algn="l">
              <a:lnSpc>
                <a:spcPts val="2071"/>
              </a:lnSpc>
            </a:pPr>
            <a:r>
              <a:rPr lang="en-US" sz="1726">
                <a:solidFill>
                  <a:srgbClr val="000000"/>
                </a:solidFill>
                <a:latin typeface="Cabin"/>
                <a:ea typeface="Cabin"/>
                <a:cs typeface="Cabin"/>
                <a:sym typeface="Cabin"/>
              </a:rPr>
              <a:t>Phân biệt được Transformation và Action, giải thích cơ chế Lazy Evaluation</a:t>
            </a:r>
          </a:p>
        </p:txBody>
      </p:sp>
      <p:grpSp>
        <p:nvGrpSpPr>
          <p:cNvPr name="Group 36" id="36"/>
          <p:cNvGrpSpPr/>
          <p:nvPr/>
        </p:nvGrpSpPr>
        <p:grpSpPr>
          <a:xfrm rot="0">
            <a:off x="9540069" y="2127647"/>
            <a:ext cx="576520" cy="576520"/>
            <a:chOff x="0" y="0"/>
            <a:chExt cx="768693" cy="768693"/>
          </a:xfrm>
        </p:grpSpPr>
        <p:sp>
          <p:nvSpPr>
            <p:cNvPr name="Freeform 37" id="37"/>
            <p:cNvSpPr/>
            <p:nvPr/>
          </p:nvSpPr>
          <p:spPr>
            <a:xfrm flipH="false" flipV="false" rot="0">
              <a:off x="0" y="0"/>
              <a:ext cx="768731" cy="768731"/>
            </a:xfrm>
            <a:custGeom>
              <a:avLst/>
              <a:gdLst/>
              <a:ahLst/>
              <a:cxnLst/>
              <a:rect r="r" b="b" t="t" l="l"/>
              <a:pathLst>
                <a:path h="768731" w="768731">
                  <a:moveTo>
                    <a:pt x="0" y="384302"/>
                  </a:moveTo>
                  <a:cubicBezTo>
                    <a:pt x="0" y="172085"/>
                    <a:pt x="172085" y="0"/>
                    <a:pt x="384302" y="0"/>
                  </a:cubicBezTo>
                  <a:cubicBezTo>
                    <a:pt x="596519" y="0"/>
                    <a:pt x="768731" y="172085"/>
                    <a:pt x="768731" y="384302"/>
                  </a:cubicBezTo>
                  <a:cubicBezTo>
                    <a:pt x="768731" y="596519"/>
                    <a:pt x="596646" y="768731"/>
                    <a:pt x="384302" y="768731"/>
                  </a:cubicBezTo>
                  <a:cubicBezTo>
                    <a:pt x="171958" y="768731"/>
                    <a:pt x="0" y="596646"/>
                    <a:pt x="0" y="384302"/>
                  </a:cubicBezTo>
                  <a:close/>
                </a:path>
              </a:pathLst>
            </a:custGeom>
            <a:solidFill>
              <a:srgbClr val="1F4E79"/>
            </a:solidFill>
          </p:spPr>
        </p:sp>
      </p:grpSp>
      <p:grpSp>
        <p:nvGrpSpPr>
          <p:cNvPr name="Group 38" id="38"/>
          <p:cNvGrpSpPr/>
          <p:nvPr/>
        </p:nvGrpSpPr>
        <p:grpSpPr>
          <a:xfrm rot="0">
            <a:off x="9540069" y="2127647"/>
            <a:ext cx="576520" cy="576520"/>
            <a:chOff x="0" y="0"/>
            <a:chExt cx="768693" cy="768693"/>
          </a:xfrm>
        </p:grpSpPr>
        <p:sp>
          <p:nvSpPr>
            <p:cNvPr name="Freeform 39" id="39"/>
            <p:cNvSpPr/>
            <p:nvPr/>
          </p:nvSpPr>
          <p:spPr>
            <a:xfrm flipH="false" flipV="false" rot="0">
              <a:off x="0" y="0"/>
              <a:ext cx="768697" cy="768697"/>
            </a:xfrm>
            <a:custGeom>
              <a:avLst/>
              <a:gdLst/>
              <a:ahLst/>
              <a:cxnLst/>
              <a:rect r="r" b="b" t="t" l="l"/>
              <a:pathLst>
                <a:path h="768697" w="768697">
                  <a:moveTo>
                    <a:pt x="0" y="0"/>
                  </a:moveTo>
                  <a:lnTo>
                    <a:pt x="768697" y="0"/>
                  </a:lnTo>
                  <a:lnTo>
                    <a:pt x="768697" y="768697"/>
                  </a:lnTo>
                  <a:lnTo>
                    <a:pt x="0" y="768697"/>
                  </a:lnTo>
                  <a:close/>
                </a:path>
              </a:pathLst>
            </a:custGeom>
            <a:blipFill>
              <a:blip r:embed="rId4">
                <a:alphaModFix amt="0"/>
              </a:blip>
              <a:stretch>
                <a:fillRect l="-78303" t="0" r="-78302" b="0"/>
              </a:stretch>
            </a:blipFill>
          </p:spPr>
        </p:sp>
        <p:sp>
          <p:nvSpPr>
            <p:cNvPr name="TextBox 40" id="40"/>
            <p:cNvSpPr txBox="true"/>
            <p:nvPr/>
          </p:nvSpPr>
          <p:spPr>
            <a:xfrm>
              <a:off x="0" y="-9525"/>
              <a:ext cx="768693" cy="778218"/>
            </a:xfrm>
            <a:prstGeom prst="rect">
              <a:avLst/>
            </a:prstGeom>
          </p:spPr>
          <p:txBody>
            <a:bodyPr anchor="ctr" rtlCol="false" tIns="0" lIns="0" bIns="0" rIns="0"/>
            <a:lstStyle/>
            <a:p>
              <a:pPr algn="ctr">
                <a:lnSpc>
                  <a:spcPts val="2341"/>
                </a:lnSpc>
              </a:pPr>
              <a:r>
                <a:rPr lang="en-US" sz="1951" b="true">
                  <a:solidFill>
                    <a:srgbClr val="FFFFFF"/>
                  </a:solidFill>
                  <a:latin typeface="Cabin Bold"/>
                  <a:ea typeface="Cabin Bold"/>
                  <a:cs typeface="Cabin Bold"/>
                  <a:sym typeface="Cabin Bold"/>
                </a:rPr>
                <a:t>5</a:t>
              </a:r>
            </a:p>
          </p:txBody>
        </p:sp>
      </p:grpSp>
      <p:sp>
        <p:nvSpPr>
          <p:cNvPr name="TextBox 41" id="41"/>
          <p:cNvSpPr txBox="true"/>
          <p:nvPr/>
        </p:nvSpPr>
        <p:spPr>
          <a:xfrm rot="0">
            <a:off x="10427665" y="2104730"/>
            <a:ext cx="7023649" cy="1555766"/>
          </a:xfrm>
          <a:prstGeom prst="rect">
            <a:avLst/>
          </a:prstGeom>
        </p:spPr>
        <p:txBody>
          <a:bodyPr anchor="t" rtlCol="false" tIns="0" lIns="0" bIns="0" rIns="0">
            <a:spAutoFit/>
          </a:bodyPr>
          <a:lstStyle/>
          <a:p>
            <a:pPr algn="l">
              <a:lnSpc>
                <a:spcPts val="2071"/>
              </a:lnSpc>
            </a:pPr>
            <a:r>
              <a:rPr lang="en-US" sz="1726">
                <a:solidFill>
                  <a:srgbClr val="000000"/>
                </a:solidFill>
                <a:latin typeface="Cabin"/>
                <a:ea typeface="Cabin"/>
                <a:cs typeface="Cabin"/>
                <a:sym typeface="Cabin"/>
              </a:rPr>
              <a:t>Giải thích được Data Partitioning và cách Spark xử lý song song</a:t>
            </a:r>
          </a:p>
        </p:txBody>
      </p:sp>
      <p:grpSp>
        <p:nvGrpSpPr>
          <p:cNvPr name="Group 42" id="42"/>
          <p:cNvGrpSpPr/>
          <p:nvPr/>
        </p:nvGrpSpPr>
        <p:grpSpPr>
          <a:xfrm rot="0">
            <a:off x="9540069" y="3939569"/>
            <a:ext cx="576520" cy="576520"/>
            <a:chOff x="0" y="0"/>
            <a:chExt cx="768693" cy="768693"/>
          </a:xfrm>
        </p:grpSpPr>
        <p:sp>
          <p:nvSpPr>
            <p:cNvPr name="Freeform 43" id="43"/>
            <p:cNvSpPr/>
            <p:nvPr/>
          </p:nvSpPr>
          <p:spPr>
            <a:xfrm flipH="false" flipV="false" rot="0">
              <a:off x="0" y="0"/>
              <a:ext cx="768731" cy="768731"/>
            </a:xfrm>
            <a:custGeom>
              <a:avLst/>
              <a:gdLst/>
              <a:ahLst/>
              <a:cxnLst/>
              <a:rect r="r" b="b" t="t" l="l"/>
              <a:pathLst>
                <a:path h="768731" w="768731">
                  <a:moveTo>
                    <a:pt x="0" y="384302"/>
                  </a:moveTo>
                  <a:cubicBezTo>
                    <a:pt x="0" y="172085"/>
                    <a:pt x="172085" y="0"/>
                    <a:pt x="384302" y="0"/>
                  </a:cubicBezTo>
                  <a:cubicBezTo>
                    <a:pt x="596519" y="0"/>
                    <a:pt x="768731" y="172085"/>
                    <a:pt x="768731" y="384302"/>
                  </a:cubicBezTo>
                  <a:cubicBezTo>
                    <a:pt x="768731" y="596519"/>
                    <a:pt x="596646" y="768731"/>
                    <a:pt x="384302" y="768731"/>
                  </a:cubicBezTo>
                  <a:cubicBezTo>
                    <a:pt x="171958" y="768731"/>
                    <a:pt x="0" y="596646"/>
                    <a:pt x="0" y="384302"/>
                  </a:cubicBezTo>
                  <a:close/>
                </a:path>
              </a:pathLst>
            </a:custGeom>
            <a:solidFill>
              <a:srgbClr val="1F4E79"/>
            </a:solidFill>
          </p:spPr>
        </p:sp>
      </p:grpSp>
      <p:grpSp>
        <p:nvGrpSpPr>
          <p:cNvPr name="Group 44" id="44"/>
          <p:cNvGrpSpPr/>
          <p:nvPr/>
        </p:nvGrpSpPr>
        <p:grpSpPr>
          <a:xfrm rot="0">
            <a:off x="9540069" y="3939569"/>
            <a:ext cx="576520" cy="576520"/>
            <a:chOff x="0" y="0"/>
            <a:chExt cx="768693" cy="768693"/>
          </a:xfrm>
        </p:grpSpPr>
        <p:sp>
          <p:nvSpPr>
            <p:cNvPr name="Freeform 45" id="45"/>
            <p:cNvSpPr/>
            <p:nvPr/>
          </p:nvSpPr>
          <p:spPr>
            <a:xfrm flipH="false" flipV="false" rot="0">
              <a:off x="0" y="0"/>
              <a:ext cx="768697" cy="768697"/>
            </a:xfrm>
            <a:custGeom>
              <a:avLst/>
              <a:gdLst/>
              <a:ahLst/>
              <a:cxnLst/>
              <a:rect r="r" b="b" t="t" l="l"/>
              <a:pathLst>
                <a:path h="768697" w="768697">
                  <a:moveTo>
                    <a:pt x="0" y="0"/>
                  </a:moveTo>
                  <a:lnTo>
                    <a:pt x="768697" y="0"/>
                  </a:lnTo>
                  <a:lnTo>
                    <a:pt x="768697" y="768697"/>
                  </a:lnTo>
                  <a:lnTo>
                    <a:pt x="0" y="768697"/>
                  </a:lnTo>
                  <a:close/>
                </a:path>
              </a:pathLst>
            </a:custGeom>
            <a:blipFill>
              <a:blip r:embed="rId4">
                <a:alphaModFix amt="0"/>
              </a:blip>
              <a:stretch>
                <a:fillRect l="-78303" t="0" r="-78302" b="0"/>
              </a:stretch>
            </a:blipFill>
          </p:spPr>
        </p:sp>
        <p:sp>
          <p:nvSpPr>
            <p:cNvPr name="TextBox 46" id="46"/>
            <p:cNvSpPr txBox="true"/>
            <p:nvPr/>
          </p:nvSpPr>
          <p:spPr>
            <a:xfrm>
              <a:off x="0" y="-9525"/>
              <a:ext cx="768693" cy="778218"/>
            </a:xfrm>
            <a:prstGeom prst="rect">
              <a:avLst/>
            </a:prstGeom>
          </p:spPr>
          <p:txBody>
            <a:bodyPr anchor="ctr" rtlCol="false" tIns="0" lIns="0" bIns="0" rIns="0"/>
            <a:lstStyle/>
            <a:p>
              <a:pPr algn="ctr">
                <a:lnSpc>
                  <a:spcPts val="2341"/>
                </a:lnSpc>
              </a:pPr>
              <a:r>
                <a:rPr lang="en-US" sz="1951" b="true">
                  <a:solidFill>
                    <a:srgbClr val="FFFFFF"/>
                  </a:solidFill>
                  <a:latin typeface="Cabin Bold"/>
                  <a:ea typeface="Cabin Bold"/>
                  <a:cs typeface="Cabin Bold"/>
                  <a:sym typeface="Cabin Bold"/>
                </a:rPr>
                <a:t>6</a:t>
              </a:r>
            </a:p>
          </p:txBody>
        </p:sp>
      </p:grpSp>
      <p:sp>
        <p:nvSpPr>
          <p:cNvPr name="TextBox 47" id="47"/>
          <p:cNvSpPr txBox="true"/>
          <p:nvPr/>
        </p:nvSpPr>
        <p:spPr>
          <a:xfrm rot="0">
            <a:off x="10427665" y="3916651"/>
            <a:ext cx="7023649" cy="1555766"/>
          </a:xfrm>
          <a:prstGeom prst="rect">
            <a:avLst/>
          </a:prstGeom>
        </p:spPr>
        <p:txBody>
          <a:bodyPr anchor="t" rtlCol="false" tIns="0" lIns="0" bIns="0" rIns="0">
            <a:spAutoFit/>
          </a:bodyPr>
          <a:lstStyle/>
          <a:p>
            <a:pPr algn="l">
              <a:lnSpc>
                <a:spcPts val="2071"/>
              </a:lnSpc>
            </a:pPr>
            <a:r>
              <a:rPr lang="en-US" sz="1726">
                <a:solidFill>
                  <a:srgbClr val="000000"/>
                </a:solidFill>
                <a:latin typeface="Cabin"/>
                <a:ea typeface="Cabin"/>
                <a:cs typeface="Cabin"/>
                <a:sym typeface="Cabin"/>
              </a:rPr>
              <a:t>Phân biệt được RDD và DataFrame, biết khi nào nên dùng DataFrame</a:t>
            </a:r>
          </a:p>
        </p:txBody>
      </p:sp>
      <p:grpSp>
        <p:nvGrpSpPr>
          <p:cNvPr name="Group 48" id="48"/>
          <p:cNvGrpSpPr/>
          <p:nvPr/>
        </p:nvGrpSpPr>
        <p:grpSpPr>
          <a:xfrm rot="0">
            <a:off x="9540069" y="5751500"/>
            <a:ext cx="576520" cy="576520"/>
            <a:chOff x="0" y="0"/>
            <a:chExt cx="768693" cy="768693"/>
          </a:xfrm>
        </p:grpSpPr>
        <p:sp>
          <p:nvSpPr>
            <p:cNvPr name="Freeform 49" id="49"/>
            <p:cNvSpPr/>
            <p:nvPr/>
          </p:nvSpPr>
          <p:spPr>
            <a:xfrm flipH="false" flipV="false" rot="0">
              <a:off x="0" y="0"/>
              <a:ext cx="768731" cy="768731"/>
            </a:xfrm>
            <a:custGeom>
              <a:avLst/>
              <a:gdLst/>
              <a:ahLst/>
              <a:cxnLst/>
              <a:rect r="r" b="b" t="t" l="l"/>
              <a:pathLst>
                <a:path h="768731" w="768731">
                  <a:moveTo>
                    <a:pt x="0" y="384302"/>
                  </a:moveTo>
                  <a:cubicBezTo>
                    <a:pt x="0" y="172085"/>
                    <a:pt x="172085" y="0"/>
                    <a:pt x="384302" y="0"/>
                  </a:cubicBezTo>
                  <a:cubicBezTo>
                    <a:pt x="596519" y="0"/>
                    <a:pt x="768731" y="172085"/>
                    <a:pt x="768731" y="384302"/>
                  </a:cubicBezTo>
                  <a:cubicBezTo>
                    <a:pt x="768731" y="596519"/>
                    <a:pt x="596646" y="768731"/>
                    <a:pt x="384302" y="768731"/>
                  </a:cubicBezTo>
                  <a:cubicBezTo>
                    <a:pt x="171958" y="768731"/>
                    <a:pt x="0" y="596646"/>
                    <a:pt x="0" y="384302"/>
                  </a:cubicBezTo>
                  <a:close/>
                </a:path>
              </a:pathLst>
            </a:custGeom>
            <a:solidFill>
              <a:srgbClr val="1F4E79"/>
            </a:solidFill>
          </p:spPr>
        </p:sp>
      </p:grpSp>
      <p:grpSp>
        <p:nvGrpSpPr>
          <p:cNvPr name="Group 50" id="50"/>
          <p:cNvGrpSpPr/>
          <p:nvPr/>
        </p:nvGrpSpPr>
        <p:grpSpPr>
          <a:xfrm rot="0">
            <a:off x="9540069" y="5751500"/>
            <a:ext cx="576520" cy="576520"/>
            <a:chOff x="0" y="0"/>
            <a:chExt cx="768693" cy="768693"/>
          </a:xfrm>
        </p:grpSpPr>
        <p:sp>
          <p:nvSpPr>
            <p:cNvPr name="Freeform 51" id="51"/>
            <p:cNvSpPr/>
            <p:nvPr/>
          </p:nvSpPr>
          <p:spPr>
            <a:xfrm flipH="false" flipV="false" rot="0">
              <a:off x="0" y="0"/>
              <a:ext cx="768697" cy="768697"/>
            </a:xfrm>
            <a:custGeom>
              <a:avLst/>
              <a:gdLst/>
              <a:ahLst/>
              <a:cxnLst/>
              <a:rect r="r" b="b" t="t" l="l"/>
              <a:pathLst>
                <a:path h="768697" w="768697">
                  <a:moveTo>
                    <a:pt x="0" y="0"/>
                  </a:moveTo>
                  <a:lnTo>
                    <a:pt x="768697" y="0"/>
                  </a:lnTo>
                  <a:lnTo>
                    <a:pt x="768697" y="768697"/>
                  </a:lnTo>
                  <a:lnTo>
                    <a:pt x="0" y="768697"/>
                  </a:lnTo>
                  <a:close/>
                </a:path>
              </a:pathLst>
            </a:custGeom>
            <a:blipFill>
              <a:blip r:embed="rId4">
                <a:alphaModFix amt="0"/>
              </a:blip>
              <a:stretch>
                <a:fillRect l="-78303" t="0" r="-78302" b="0"/>
              </a:stretch>
            </a:blipFill>
          </p:spPr>
        </p:sp>
        <p:sp>
          <p:nvSpPr>
            <p:cNvPr name="TextBox 52" id="52"/>
            <p:cNvSpPr txBox="true"/>
            <p:nvPr/>
          </p:nvSpPr>
          <p:spPr>
            <a:xfrm>
              <a:off x="0" y="-9525"/>
              <a:ext cx="768693" cy="778218"/>
            </a:xfrm>
            <a:prstGeom prst="rect">
              <a:avLst/>
            </a:prstGeom>
          </p:spPr>
          <p:txBody>
            <a:bodyPr anchor="ctr" rtlCol="false" tIns="0" lIns="0" bIns="0" rIns="0"/>
            <a:lstStyle/>
            <a:p>
              <a:pPr algn="ctr">
                <a:lnSpc>
                  <a:spcPts val="2341"/>
                </a:lnSpc>
              </a:pPr>
              <a:r>
                <a:rPr lang="en-US" sz="1951" b="true">
                  <a:solidFill>
                    <a:srgbClr val="FFFFFF"/>
                  </a:solidFill>
                  <a:latin typeface="Cabin Bold"/>
                  <a:ea typeface="Cabin Bold"/>
                  <a:cs typeface="Cabin Bold"/>
                  <a:sym typeface="Cabin Bold"/>
                </a:rPr>
                <a:t>7</a:t>
              </a:r>
            </a:p>
          </p:txBody>
        </p:sp>
      </p:grpSp>
      <p:sp>
        <p:nvSpPr>
          <p:cNvPr name="TextBox 53" id="53"/>
          <p:cNvSpPr txBox="true"/>
          <p:nvPr/>
        </p:nvSpPr>
        <p:spPr>
          <a:xfrm rot="0">
            <a:off x="10427665" y="5728583"/>
            <a:ext cx="7023649" cy="1555766"/>
          </a:xfrm>
          <a:prstGeom prst="rect">
            <a:avLst/>
          </a:prstGeom>
        </p:spPr>
        <p:txBody>
          <a:bodyPr anchor="t" rtlCol="false" tIns="0" lIns="0" bIns="0" rIns="0">
            <a:spAutoFit/>
          </a:bodyPr>
          <a:lstStyle/>
          <a:p>
            <a:pPr algn="l">
              <a:lnSpc>
                <a:spcPts val="2071"/>
              </a:lnSpc>
            </a:pPr>
            <a:r>
              <a:rPr lang="en-US" sz="1726">
                <a:solidFill>
                  <a:srgbClr val="000000"/>
                </a:solidFill>
                <a:latin typeface="Cabin"/>
                <a:ea typeface="Cabin"/>
                <a:cs typeface="Cabin"/>
                <a:sym typeface="Cabin"/>
              </a:rPr>
              <a:t>Sử dụng được PySpark để đọc, xử lý dữ liệu và truy vấn bằng Spark SQL</a:t>
            </a:r>
          </a:p>
        </p:txBody>
      </p:sp>
      <p:grpSp>
        <p:nvGrpSpPr>
          <p:cNvPr name="Group 54" id="54"/>
          <p:cNvGrpSpPr/>
          <p:nvPr/>
        </p:nvGrpSpPr>
        <p:grpSpPr>
          <a:xfrm rot="0">
            <a:off x="9540069" y="7563421"/>
            <a:ext cx="576520" cy="576520"/>
            <a:chOff x="0" y="0"/>
            <a:chExt cx="768693" cy="768693"/>
          </a:xfrm>
        </p:grpSpPr>
        <p:sp>
          <p:nvSpPr>
            <p:cNvPr name="Freeform 55" id="55"/>
            <p:cNvSpPr/>
            <p:nvPr/>
          </p:nvSpPr>
          <p:spPr>
            <a:xfrm flipH="false" flipV="false" rot="0">
              <a:off x="0" y="0"/>
              <a:ext cx="768731" cy="768731"/>
            </a:xfrm>
            <a:custGeom>
              <a:avLst/>
              <a:gdLst/>
              <a:ahLst/>
              <a:cxnLst/>
              <a:rect r="r" b="b" t="t" l="l"/>
              <a:pathLst>
                <a:path h="768731" w="768731">
                  <a:moveTo>
                    <a:pt x="0" y="384302"/>
                  </a:moveTo>
                  <a:cubicBezTo>
                    <a:pt x="0" y="172085"/>
                    <a:pt x="172085" y="0"/>
                    <a:pt x="384302" y="0"/>
                  </a:cubicBezTo>
                  <a:cubicBezTo>
                    <a:pt x="596519" y="0"/>
                    <a:pt x="768731" y="172085"/>
                    <a:pt x="768731" y="384302"/>
                  </a:cubicBezTo>
                  <a:cubicBezTo>
                    <a:pt x="768731" y="596519"/>
                    <a:pt x="596646" y="768731"/>
                    <a:pt x="384302" y="768731"/>
                  </a:cubicBezTo>
                  <a:cubicBezTo>
                    <a:pt x="171958" y="768731"/>
                    <a:pt x="0" y="596646"/>
                    <a:pt x="0" y="384302"/>
                  </a:cubicBezTo>
                  <a:close/>
                </a:path>
              </a:pathLst>
            </a:custGeom>
            <a:solidFill>
              <a:srgbClr val="1F4E79"/>
            </a:solidFill>
          </p:spPr>
        </p:sp>
      </p:grpSp>
      <p:grpSp>
        <p:nvGrpSpPr>
          <p:cNvPr name="Group 56" id="56"/>
          <p:cNvGrpSpPr/>
          <p:nvPr/>
        </p:nvGrpSpPr>
        <p:grpSpPr>
          <a:xfrm rot="0">
            <a:off x="9540069" y="7563421"/>
            <a:ext cx="576520" cy="576520"/>
            <a:chOff x="0" y="0"/>
            <a:chExt cx="768693" cy="768693"/>
          </a:xfrm>
        </p:grpSpPr>
        <p:sp>
          <p:nvSpPr>
            <p:cNvPr name="Freeform 57" id="57"/>
            <p:cNvSpPr/>
            <p:nvPr/>
          </p:nvSpPr>
          <p:spPr>
            <a:xfrm flipH="false" flipV="false" rot="0">
              <a:off x="0" y="0"/>
              <a:ext cx="768697" cy="768697"/>
            </a:xfrm>
            <a:custGeom>
              <a:avLst/>
              <a:gdLst/>
              <a:ahLst/>
              <a:cxnLst/>
              <a:rect r="r" b="b" t="t" l="l"/>
              <a:pathLst>
                <a:path h="768697" w="768697">
                  <a:moveTo>
                    <a:pt x="0" y="0"/>
                  </a:moveTo>
                  <a:lnTo>
                    <a:pt x="768697" y="0"/>
                  </a:lnTo>
                  <a:lnTo>
                    <a:pt x="768697" y="768697"/>
                  </a:lnTo>
                  <a:lnTo>
                    <a:pt x="0" y="768697"/>
                  </a:lnTo>
                  <a:close/>
                </a:path>
              </a:pathLst>
            </a:custGeom>
            <a:blipFill>
              <a:blip r:embed="rId4">
                <a:alphaModFix amt="0"/>
              </a:blip>
              <a:stretch>
                <a:fillRect l="-78303" t="0" r="-78302" b="0"/>
              </a:stretch>
            </a:blipFill>
          </p:spPr>
        </p:sp>
        <p:sp>
          <p:nvSpPr>
            <p:cNvPr name="TextBox 58" id="58"/>
            <p:cNvSpPr txBox="true"/>
            <p:nvPr/>
          </p:nvSpPr>
          <p:spPr>
            <a:xfrm>
              <a:off x="0" y="-9525"/>
              <a:ext cx="768693" cy="778218"/>
            </a:xfrm>
            <a:prstGeom prst="rect">
              <a:avLst/>
            </a:prstGeom>
          </p:spPr>
          <p:txBody>
            <a:bodyPr anchor="ctr" rtlCol="false" tIns="0" lIns="0" bIns="0" rIns="0"/>
            <a:lstStyle/>
            <a:p>
              <a:pPr algn="ctr">
                <a:lnSpc>
                  <a:spcPts val="2341"/>
                </a:lnSpc>
              </a:pPr>
              <a:r>
                <a:rPr lang="en-US" sz="1951" b="true">
                  <a:solidFill>
                    <a:srgbClr val="FFFFFF"/>
                  </a:solidFill>
                  <a:latin typeface="Cabin Bold"/>
                  <a:ea typeface="Cabin Bold"/>
                  <a:cs typeface="Cabin Bold"/>
                  <a:sym typeface="Cabin Bold"/>
                </a:rPr>
                <a:t>8</a:t>
              </a:r>
            </a:p>
          </p:txBody>
        </p:sp>
      </p:grpSp>
      <p:sp>
        <p:nvSpPr>
          <p:cNvPr name="TextBox 59" id="59"/>
          <p:cNvSpPr txBox="true"/>
          <p:nvPr/>
        </p:nvSpPr>
        <p:spPr>
          <a:xfrm rot="0">
            <a:off x="10427665" y="7540514"/>
            <a:ext cx="7023649" cy="1555766"/>
          </a:xfrm>
          <a:prstGeom prst="rect">
            <a:avLst/>
          </a:prstGeom>
        </p:spPr>
        <p:txBody>
          <a:bodyPr anchor="t" rtlCol="false" tIns="0" lIns="0" bIns="0" rIns="0">
            <a:spAutoFit/>
          </a:bodyPr>
          <a:lstStyle/>
          <a:p>
            <a:pPr algn="l">
              <a:lnSpc>
                <a:spcPts val="2071"/>
              </a:lnSpc>
            </a:pPr>
            <a:r>
              <a:rPr lang="en-US" sz="1726">
                <a:solidFill>
                  <a:srgbClr val="000000"/>
                </a:solidFill>
                <a:latin typeface="Cabin"/>
                <a:ea typeface="Cabin"/>
                <a:cs typeface="Cabin"/>
                <a:sym typeface="Cabin"/>
              </a:rPr>
              <a:t>So sánh được MapReduce và Spark trên cùng một bài toán thực tế</a:t>
            </a:r>
          </a:p>
        </p:txBody>
      </p:sp>
      <p:grpSp>
        <p:nvGrpSpPr>
          <p:cNvPr name="Group 60" id="60"/>
          <p:cNvGrpSpPr/>
          <p:nvPr/>
        </p:nvGrpSpPr>
        <p:grpSpPr>
          <a:xfrm rot="0">
            <a:off x="0" y="9677343"/>
            <a:ext cx="18301840" cy="617706"/>
            <a:chOff x="0" y="0"/>
            <a:chExt cx="24402453" cy="823608"/>
          </a:xfrm>
        </p:grpSpPr>
        <p:sp>
          <p:nvSpPr>
            <p:cNvPr name="Freeform 61" id="61"/>
            <p:cNvSpPr/>
            <p:nvPr/>
          </p:nvSpPr>
          <p:spPr>
            <a:xfrm flipH="false" flipV="false" rot="0">
              <a:off x="0" y="0"/>
              <a:ext cx="24402414" cy="823595"/>
            </a:xfrm>
            <a:custGeom>
              <a:avLst/>
              <a:gdLst/>
              <a:ahLst/>
              <a:cxnLst/>
              <a:rect r="r" b="b" t="t" l="l"/>
              <a:pathLst>
                <a:path h="823595" w="24402414">
                  <a:moveTo>
                    <a:pt x="0" y="0"/>
                  </a:moveTo>
                  <a:lnTo>
                    <a:pt x="24402414" y="0"/>
                  </a:lnTo>
                  <a:lnTo>
                    <a:pt x="24402414" y="823595"/>
                  </a:lnTo>
                  <a:lnTo>
                    <a:pt x="0" y="823595"/>
                  </a:lnTo>
                  <a:close/>
                </a:path>
              </a:pathLst>
            </a:custGeom>
            <a:solidFill>
              <a:srgbClr val="1F4E79"/>
            </a:solidFill>
          </p:spPr>
        </p:sp>
      </p:grpSp>
      <p:grpSp>
        <p:nvGrpSpPr>
          <p:cNvPr name="Group 62" id="62"/>
          <p:cNvGrpSpPr/>
          <p:nvPr/>
        </p:nvGrpSpPr>
        <p:grpSpPr>
          <a:xfrm rot="0">
            <a:off x="480431" y="9677343"/>
            <a:ext cx="10981382" cy="617706"/>
            <a:chOff x="0" y="0"/>
            <a:chExt cx="14641843" cy="823608"/>
          </a:xfrm>
        </p:grpSpPr>
        <p:sp>
          <p:nvSpPr>
            <p:cNvPr name="Freeform 63" id="63"/>
            <p:cNvSpPr/>
            <p:nvPr/>
          </p:nvSpPr>
          <p:spPr>
            <a:xfrm flipH="false" flipV="false" rot="0">
              <a:off x="0" y="0"/>
              <a:ext cx="14641840" cy="823603"/>
            </a:xfrm>
            <a:custGeom>
              <a:avLst/>
              <a:gdLst/>
              <a:ahLst/>
              <a:cxnLst/>
              <a:rect r="r" b="b" t="t" l="l"/>
              <a:pathLst>
                <a:path h="823603" w="14641840">
                  <a:moveTo>
                    <a:pt x="0" y="0"/>
                  </a:moveTo>
                  <a:lnTo>
                    <a:pt x="14641840" y="0"/>
                  </a:lnTo>
                  <a:lnTo>
                    <a:pt x="14641840" y="823603"/>
                  </a:lnTo>
                  <a:lnTo>
                    <a:pt x="0" y="823603"/>
                  </a:lnTo>
                  <a:close/>
                </a:path>
              </a:pathLst>
            </a:custGeom>
            <a:blipFill>
              <a:blip r:embed="rId4">
                <a:alphaModFix amt="0"/>
              </a:blip>
              <a:stretch>
                <a:fillRect l="0" t="-296400" r="0" b="-296401"/>
              </a:stretch>
            </a:blipFill>
          </p:spPr>
        </p:sp>
        <p:sp>
          <p:nvSpPr>
            <p:cNvPr name="TextBox 64" id="64"/>
            <p:cNvSpPr txBox="true"/>
            <p:nvPr/>
          </p:nvSpPr>
          <p:spPr>
            <a:xfrm>
              <a:off x="0" y="0"/>
              <a:ext cx="14641843" cy="823608"/>
            </a:xfrm>
            <a:prstGeom prst="rect">
              <a:avLst/>
            </a:prstGeom>
          </p:spPr>
          <p:txBody>
            <a:bodyPr anchor="ctr" rtlCol="false" tIns="0" lIns="0" bIns="0" rIns="0"/>
            <a:lstStyle/>
            <a:p>
              <a:pPr algn="l">
                <a:lnSpc>
                  <a:spcPts val="1621"/>
                </a:lnSpc>
              </a:pPr>
              <a:r>
                <a:rPr lang="en-US" sz="1351">
                  <a:solidFill>
                    <a:srgbClr val="FFFFFF"/>
                  </a:solidFill>
                  <a:latin typeface="Cabin"/>
                  <a:ea typeface="Cabin"/>
                  <a:cs typeface="Cabin"/>
                  <a:sym typeface="Cabin"/>
                </a:rPr>
                <a:t>VNU UET – Institute for Artificial Intelligence</a:t>
              </a:r>
            </a:p>
          </p:txBody>
        </p:sp>
      </p:grpSp>
      <p:grpSp>
        <p:nvGrpSpPr>
          <p:cNvPr name="Group 65" id="65"/>
          <p:cNvGrpSpPr/>
          <p:nvPr/>
        </p:nvGrpSpPr>
        <p:grpSpPr>
          <a:xfrm rot="0">
            <a:off x="17066438" y="9677343"/>
            <a:ext cx="823608" cy="617706"/>
            <a:chOff x="0" y="0"/>
            <a:chExt cx="1098144" cy="823608"/>
          </a:xfrm>
        </p:grpSpPr>
        <p:sp>
          <p:nvSpPr>
            <p:cNvPr name="Freeform 66" id="66"/>
            <p:cNvSpPr/>
            <p:nvPr/>
          </p:nvSpPr>
          <p:spPr>
            <a:xfrm flipH="false" flipV="false" rot="0">
              <a:off x="0" y="0"/>
              <a:ext cx="1098138" cy="823603"/>
            </a:xfrm>
            <a:custGeom>
              <a:avLst/>
              <a:gdLst/>
              <a:ahLst/>
              <a:cxnLst/>
              <a:rect r="r" b="b" t="t" l="l"/>
              <a:pathLst>
                <a:path h="823603" w="1098138">
                  <a:moveTo>
                    <a:pt x="0" y="0"/>
                  </a:moveTo>
                  <a:lnTo>
                    <a:pt x="1098138" y="0"/>
                  </a:lnTo>
                  <a:lnTo>
                    <a:pt x="1098138" y="823603"/>
                  </a:lnTo>
                  <a:lnTo>
                    <a:pt x="0" y="823603"/>
                  </a:lnTo>
                  <a:close/>
                </a:path>
              </a:pathLst>
            </a:custGeom>
            <a:blipFill>
              <a:blip r:embed="rId4">
                <a:alphaModFix amt="0"/>
              </a:blip>
              <a:stretch>
                <a:fillRect l="-46227" t="0" r="-46228" b="0"/>
              </a:stretch>
            </a:blipFill>
          </p:spPr>
        </p:sp>
        <p:sp>
          <p:nvSpPr>
            <p:cNvPr name="TextBox 67" id="67"/>
            <p:cNvSpPr txBox="true"/>
            <p:nvPr/>
          </p:nvSpPr>
          <p:spPr>
            <a:xfrm>
              <a:off x="0" y="0"/>
              <a:ext cx="1098144" cy="823608"/>
            </a:xfrm>
            <a:prstGeom prst="rect">
              <a:avLst/>
            </a:prstGeom>
          </p:spPr>
          <p:txBody>
            <a:bodyPr anchor="ctr" rtlCol="false" tIns="0" lIns="0" bIns="0" rIns="0"/>
            <a:lstStyle/>
            <a:p>
              <a:pPr algn="r">
                <a:lnSpc>
                  <a:spcPts val="1621"/>
                </a:lnSpc>
              </a:pPr>
              <a:r>
                <a:rPr lang="en-US" sz="1351">
                  <a:solidFill>
                    <a:srgbClr val="FFFFFF"/>
                  </a:solidFill>
                  <a:latin typeface="Cabin"/>
                  <a:ea typeface="Cabin"/>
                  <a:cs typeface="Cabin"/>
                  <a:sym typeface="Cabin"/>
                </a:rPr>
                <a:t>3</a:t>
              </a:r>
            </a:p>
          </p:txBody>
        </p:sp>
      </p:grpSp>
      <p:grpSp>
        <p:nvGrpSpPr>
          <p:cNvPr name="Group 68" id="68"/>
          <p:cNvGrpSpPr/>
          <p:nvPr/>
        </p:nvGrpSpPr>
        <p:grpSpPr>
          <a:xfrm rot="0">
            <a:off x="6920" y="0"/>
            <a:ext cx="18288000" cy="315468"/>
            <a:chOff x="0" y="0"/>
            <a:chExt cx="24384000" cy="420624"/>
          </a:xfrm>
        </p:grpSpPr>
        <p:sp>
          <p:nvSpPr>
            <p:cNvPr name="Freeform 69" id="69"/>
            <p:cNvSpPr/>
            <p:nvPr/>
          </p:nvSpPr>
          <p:spPr>
            <a:xfrm flipH="false" flipV="false" rot="0">
              <a:off x="0" y="0"/>
              <a:ext cx="24384000" cy="420624"/>
            </a:xfrm>
            <a:custGeom>
              <a:avLst/>
              <a:gdLst/>
              <a:ahLst/>
              <a:cxnLst/>
              <a:rect r="r" b="b" t="t" l="l"/>
              <a:pathLst>
                <a:path h="420624" w="24384000">
                  <a:moveTo>
                    <a:pt x="0" y="0"/>
                  </a:moveTo>
                  <a:lnTo>
                    <a:pt x="24384000" y="0"/>
                  </a:lnTo>
                  <a:lnTo>
                    <a:pt x="24384000" y="420624"/>
                  </a:lnTo>
                  <a:lnTo>
                    <a:pt x="0" y="420624"/>
                  </a:lnTo>
                  <a:close/>
                </a:path>
              </a:pathLst>
            </a:custGeom>
            <a:solidFill>
              <a:srgbClr val="0F3F6F"/>
            </a:solidFill>
          </p:spPr>
        </p:sp>
      </p:grpSp>
      <p:grpSp>
        <p:nvGrpSpPr>
          <p:cNvPr name="Group 70" id="70"/>
          <p:cNvGrpSpPr/>
          <p:nvPr/>
        </p:nvGrpSpPr>
        <p:grpSpPr>
          <a:xfrm rot="0">
            <a:off x="13105700" y="0"/>
            <a:ext cx="1453896" cy="1508760"/>
            <a:chOff x="0" y="0"/>
            <a:chExt cx="1938528" cy="2011680"/>
          </a:xfrm>
        </p:grpSpPr>
        <p:sp>
          <p:nvSpPr>
            <p:cNvPr name="Freeform 71" id="71"/>
            <p:cNvSpPr/>
            <p:nvPr/>
          </p:nvSpPr>
          <p:spPr>
            <a:xfrm flipH="false" flipV="false" rot="0">
              <a:off x="0" y="0"/>
              <a:ext cx="1938528" cy="2011680"/>
            </a:xfrm>
            <a:custGeom>
              <a:avLst/>
              <a:gdLst/>
              <a:ahLst/>
              <a:cxnLst/>
              <a:rect r="r" b="b" t="t" l="l"/>
              <a:pathLst>
                <a:path h="2011680" w="1938528">
                  <a:moveTo>
                    <a:pt x="0" y="2011680"/>
                  </a:moveTo>
                  <a:lnTo>
                    <a:pt x="484632" y="0"/>
                  </a:lnTo>
                  <a:lnTo>
                    <a:pt x="1938528" y="0"/>
                  </a:lnTo>
                  <a:lnTo>
                    <a:pt x="1453896" y="2011680"/>
                  </a:lnTo>
                  <a:close/>
                </a:path>
              </a:pathLst>
            </a:custGeom>
            <a:solidFill>
              <a:srgbClr val="85B518"/>
            </a:solidFill>
          </p:spPr>
        </p:sp>
      </p:grpSp>
      <p:grpSp>
        <p:nvGrpSpPr>
          <p:cNvPr name="Group 72" id="72"/>
          <p:cNvGrpSpPr/>
          <p:nvPr/>
        </p:nvGrpSpPr>
        <p:grpSpPr>
          <a:xfrm rot="0">
            <a:off x="14628176" y="0"/>
            <a:ext cx="1508760" cy="1508760"/>
            <a:chOff x="0" y="0"/>
            <a:chExt cx="2011680" cy="2011680"/>
          </a:xfrm>
        </p:grpSpPr>
        <p:sp>
          <p:nvSpPr>
            <p:cNvPr name="Freeform 73" id="73"/>
            <p:cNvSpPr/>
            <p:nvPr/>
          </p:nvSpPr>
          <p:spPr>
            <a:xfrm flipH="false" flipV="false" rot="0">
              <a:off x="0" y="0"/>
              <a:ext cx="2011680" cy="2011680"/>
            </a:xfrm>
            <a:custGeom>
              <a:avLst/>
              <a:gdLst/>
              <a:ahLst/>
              <a:cxnLst/>
              <a:rect r="r" b="b" t="t" l="l"/>
              <a:pathLst>
                <a:path h="2011680" w="2011680">
                  <a:moveTo>
                    <a:pt x="0" y="2011680"/>
                  </a:moveTo>
                  <a:lnTo>
                    <a:pt x="502920" y="0"/>
                  </a:lnTo>
                  <a:lnTo>
                    <a:pt x="2011680" y="0"/>
                  </a:lnTo>
                  <a:lnTo>
                    <a:pt x="1508760" y="2011680"/>
                  </a:lnTo>
                  <a:close/>
                </a:path>
              </a:pathLst>
            </a:custGeom>
            <a:solidFill>
              <a:srgbClr val="0F3F6F"/>
            </a:solid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97801" y="384353"/>
            <a:ext cx="851059" cy="851059"/>
            <a:chOff x="0" y="0"/>
            <a:chExt cx="1134745" cy="1134745"/>
          </a:xfrm>
        </p:grpSpPr>
        <p:sp>
          <p:nvSpPr>
            <p:cNvPr name="Freeform 3" id="3" descr="/home/claude/work/assets/logo.png"/>
            <p:cNvSpPr/>
            <p:nvPr/>
          </p:nvSpPr>
          <p:spPr>
            <a:xfrm flipH="false" flipV="false" rot="0">
              <a:off x="0" y="0"/>
              <a:ext cx="1134745" cy="1134745"/>
            </a:xfrm>
            <a:custGeom>
              <a:avLst/>
              <a:gdLst/>
              <a:ahLst/>
              <a:cxnLst/>
              <a:rect r="r" b="b" t="t" l="l"/>
              <a:pathLst>
                <a:path h="1134745" w="1134745">
                  <a:moveTo>
                    <a:pt x="0" y="0"/>
                  </a:moveTo>
                  <a:lnTo>
                    <a:pt x="1134745" y="0"/>
                  </a:lnTo>
                  <a:lnTo>
                    <a:pt x="1134745" y="1134745"/>
                  </a:lnTo>
                  <a:lnTo>
                    <a:pt x="0" y="1134745"/>
                  </a:lnTo>
                  <a:lnTo>
                    <a:pt x="0" y="0"/>
                  </a:lnTo>
                  <a:close/>
                </a:path>
              </a:pathLst>
            </a:custGeom>
            <a:blipFill>
              <a:blip r:embed="rId3"/>
              <a:stretch>
                <a:fillRect l="0" t="0" r="0" b="0"/>
              </a:stretch>
            </a:blipFill>
          </p:spPr>
        </p:sp>
      </p:grpSp>
      <p:grpSp>
        <p:nvGrpSpPr>
          <p:cNvPr name="Group 4" id="4"/>
          <p:cNvGrpSpPr/>
          <p:nvPr/>
        </p:nvGrpSpPr>
        <p:grpSpPr>
          <a:xfrm rot="0">
            <a:off x="686333" y="384353"/>
            <a:ext cx="10981382" cy="411804"/>
            <a:chOff x="0" y="0"/>
            <a:chExt cx="14641843" cy="549072"/>
          </a:xfrm>
        </p:grpSpPr>
        <p:sp>
          <p:nvSpPr>
            <p:cNvPr name="Freeform 5" id="5"/>
            <p:cNvSpPr/>
            <p:nvPr/>
          </p:nvSpPr>
          <p:spPr>
            <a:xfrm flipH="false" flipV="false" rot="0">
              <a:off x="0" y="0"/>
              <a:ext cx="14641840" cy="549069"/>
            </a:xfrm>
            <a:custGeom>
              <a:avLst/>
              <a:gdLst/>
              <a:ahLst/>
              <a:cxnLst/>
              <a:rect r="r" b="b" t="t" l="l"/>
              <a:pathLst>
                <a:path h="549069" w="14641840">
                  <a:moveTo>
                    <a:pt x="0" y="0"/>
                  </a:moveTo>
                  <a:lnTo>
                    <a:pt x="14641840" y="0"/>
                  </a:lnTo>
                  <a:lnTo>
                    <a:pt x="14641840" y="549069"/>
                  </a:lnTo>
                  <a:lnTo>
                    <a:pt x="0" y="549069"/>
                  </a:lnTo>
                  <a:close/>
                </a:path>
              </a:pathLst>
            </a:custGeom>
            <a:blipFill>
              <a:blip r:embed="rId4">
                <a:alphaModFix amt="0"/>
              </a:blip>
              <a:stretch>
                <a:fillRect l="0" t="-469600" r="0" b="-469601"/>
              </a:stretch>
            </a:blipFill>
          </p:spPr>
        </p:sp>
        <p:sp>
          <p:nvSpPr>
            <p:cNvPr name="TextBox 6" id="6"/>
            <p:cNvSpPr txBox="true"/>
            <p:nvPr/>
          </p:nvSpPr>
          <p:spPr>
            <a:xfrm>
              <a:off x="0" y="0"/>
              <a:ext cx="14641843" cy="549072"/>
            </a:xfrm>
            <a:prstGeom prst="rect">
              <a:avLst/>
            </a:prstGeom>
          </p:spPr>
          <p:txBody>
            <a:bodyPr anchor="ctr" rtlCol="false" tIns="0" lIns="0" bIns="0" rIns="0"/>
            <a:lstStyle/>
            <a:p>
              <a:pPr algn="l">
                <a:lnSpc>
                  <a:spcPts val="1981"/>
                </a:lnSpc>
              </a:pPr>
              <a:r>
                <a:rPr lang="en-US" sz="1651" i="true">
                  <a:solidFill>
                    <a:srgbClr val="4A4A4A"/>
                  </a:solidFill>
                  <a:latin typeface="Cabin Italics"/>
                  <a:ea typeface="Cabin Italics"/>
                  <a:cs typeface="Cabin Italics"/>
                  <a:sym typeface="Cabin Italics"/>
                </a:rPr>
                <a:t>Giới thiệu tổng quan bài học · Bài 05</a:t>
              </a:r>
            </a:p>
          </p:txBody>
        </p:sp>
      </p:grpSp>
      <p:grpSp>
        <p:nvGrpSpPr>
          <p:cNvPr name="Group 7" id="7"/>
          <p:cNvGrpSpPr/>
          <p:nvPr/>
        </p:nvGrpSpPr>
        <p:grpSpPr>
          <a:xfrm rot="0">
            <a:off x="686333" y="823608"/>
            <a:ext cx="82363" cy="754971"/>
            <a:chOff x="0" y="0"/>
            <a:chExt cx="109817" cy="1006627"/>
          </a:xfrm>
        </p:grpSpPr>
        <p:sp>
          <p:nvSpPr>
            <p:cNvPr name="Freeform 8" id="8"/>
            <p:cNvSpPr/>
            <p:nvPr/>
          </p:nvSpPr>
          <p:spPr>
            <a:xfrm flipH="false" flipV="false" rot="0">
              <a:off x="0" y="0"/>
              <a:ext cx="109855" cy="1006602"/>
            </a:xfrm>
            <a:custGeom>
              <a:avLst/>
              <a:gdLst/>
              <a:ahLst/>
              <a:cxnLst/>
              <a:rect r="r" b="b" t="t" l="l"/>
              <a:pathLst>
                <a:path h="1006602" w="109855">
                  <a:moveTo>
                    <a:pt x="0" y="0"/>
                  </a:moveTo>
                  <a:lnTo>
                    <a:pt x="109855" y="0"/>
                  </a:lnTo>
                  <a:lnTo>
                    <a:pt x="109855" y="1006602"/>
                  </a:lnTo>
                  <a:lnTo>
                    <a:pt x="0" y="1006602"/>
                  </a:lnTo>
                  <a:close/>
                </a:path>
              </a:pathLst>
            </a:custGeom>
            <a:solidFill>
              <a:srgbClr val="FF0000"/>
            </a:solidFill>
          </p:spPr>
        </p:sp>
      </p:grpSp>
      <p:grpSp>
        <p:nvGrpSpPr>
          <p:cNvPr name="Group 9" id="9"/>
          <p:cNvGrpSpPr/>
          <p:nvPr/>
        </p:nvGrpSpPr>
        <p:grpSpPr>
          <a:xfrm rot="0">
            <a:off x="960872" y="796147"/>
            <a:ext cx="15831026" cy="823608"/>
            <a:chOff x="0" y="0"/>
            <a:chExt cx="21108035" cy="1098144"/>
          </a:xfrm>
        </p:grpSpPr>
        <p:sp>
          <p:nvSpPr>
            <p:cNvPr name="Freeform 10" id="10"/>
            <p:cNvSpPr/>
            <p:nvPr/>
          </p:nvSpPr>
          <p:spPr>
            <a:xfrm flipH="false" flipV="false" rot="0">
              <a:off x="0" y="0"/>
              <a:ext cx="21108040" cy="1098138"/>
            </a:xfrm>
            <a:custGeom>
              <a:avLst/>
              <a:gdLst/>
              <a:ahLst/>
              <a:cxnLst/>
              <a:rect r="r" b="b" t="t" l="l"/>
              <a:pathLst>
                <a:path h="1098138" w="21108040">
                  <a:moveTo>
                    <a:pt x="0" y="0"/>
                  </a:moveTo>
                  <a:lnTo>
                    <a:pt x="21108040" y="0"/>
                  </a:lnTo>
                  <a:lnTo>
                    <a:pt x="21108040" y="1098138"/>
                  </a:lnTo>
                  <a:lnTo>
                    <a:pt x="0" y="1098138"/>
                  </a:lnTo>
                  <a:close/>
                </a:path>
              </a:pathLst>
            </a:custGeom>
            <a:blipFill>
              <a:blip r:embed="rId4">
                <a:alphaModFix amt="0"/>
              </a:blip>
              <a:stretch>
                <a:fillRect l="0" t="-324534" r="0" b="-324535"/>
              </a:stretch>
            </a:blipFill>
          </p:spPr>
        </p:sp>
        <p:sp>
          <p:nvSpPr>
            <p:cNvPr name="TextBox 11" id="11"/>
            <p:cNvSpPr txBox="true"/>
            <p:nvPr/>
          </p:nvSpPr>
          <p:spPr>
            <a:xfrm>
              <a:off x="0" y="0"/>
              <a:ext cx="21108035" cy="1098144"/>
            </a:xfrm>
            <a:prstGeom prst="rect">
              <a:avLst/>
            </a:prstGeom>
          </p:spPr>
          <p:txBody>
            <a:bodyPr anchor="ctr" rtlCol="false" tIns="0" lIns="0" bIns="0" rIns="0"/>
            <a:lstStyle/>
            <a:p>
              <a:pPr algn="l">
                <a:lnSpc>
                  <a:spcPts val="3782"/>
                </a:lnSpc>
              </a:pPr>
              <a:r>
                <a:rPr lang="en-US" sz="3152" b="true">
                  <a:solidFill>
                    <a:srgbClr val="1F4E79"/>
                  </a:solidFill>
                  <a:latin typeface="Cabin Bold"/>
                  <a:ea typeface="Cabin Bold"/>
                  <a:cs typeface="Cabin Bold"/>
                  <a:sym typeface="Cabin Bold"/>
                </a:rPr>
                <a:t>Lộ trình khóa học Big Data</a:t>
              </a:r>
            </a:p>
          </p:txBody>
        </p:sp>
      </p:grpSp>
      <p:grpSp>
        <p:nvGrpSpPr>
          <p:cNvPr name="Group 12" id="12"/>
          <p:cNvGrpSpPr/>
          <p:nvPr/>
        </p:nvGrpSpPr>
        <p:grpSpPr>
          <a:xfrm rot="0">
            <a:off x="686333" y="1949196"/>
            <a:ext cx="16883872" cy="686333"/>
            <a:chOff x="0" y="0"/>
            <a:chExt cx="22511830" cy="915111"/>
          </a:xfrm>
        </p:grpSpPr>
        <p:sp>
          <p:nvSpPr>
            <p:cNvPr name="Freeform 13" id="13"/>
            <p:cNvSpPr/>
            <p:nvPr/>
          </p:nvSpPr>
          <p:spPr>
            <a:xfrm flipH="false" flipV="false" rot="0">
              <a:off x="0" y="0"/>
              <a:ext cx="22511827" cy="915115"/>
            </a:xfrm>
            <a:custGeom>
              <a:avLst/>
              <a:gdLst/>
              <a:ahLst/>
              <a:cxnLst/>
              <a:rect r="r" b="b" t="t" l="l"/>
              <a:pathLst>
                <a:path h="915115" w="22511827">
                  <a:moveTo>
                    <a:pt x="0" y="0"/>
                  </a:moveTo>
                  <a:lnTo>
                    <a:pt x="22511827" y="0"/>
                  </a:lnTo>
                  <a:lnTo>
                    <a:pt x="22511827" y="915115"/>
                  </a:lnTo>
                  <a:lnTo>
                    <a:pt x="0" y="915115"/>
                  </a:lnTo>
                  <a:close/>
                </a:path>
              </a:pathLst>
            </a:custGeom>
            <a:blipFill>
              <a:blip r:embed="rId4">
                <a:alphaModFix amt="0"/>
              </a:blip>
              <a:stretch>
                <a:fillRect l="0" t="-429332" r="0" b="-429331"/>
              </a:stretch>
            </a:blipFill>
          </p:spPr>
        </p:sp>
        <p:sp>
          <p:nvSpPr>
            <p:cNvPr name="TextBox 14" id="14"/>
            <p:cNvSpPr txBox="true"/>
            <p:nvPr/>
          </p:nvSpPr>
          <p:spPr>
            <a:xfrm>
              <a:off x="0" y="0"/>
              <a:ext cx="22511830" cy="915111"/>
            </a:xfrm>
            <a:prstGeom prst="rect">
              <a:avLst/>
            </a:prstGeom>
          </p:spPr>
          <p:txBody>
            <a:bodyPr anchor="ctr" rtlCol="false" tIns="0" lIns="0" bIns="0" rIns="0"/>
            <a:lstStyle/>
            <a:p>
              <a:pPr algn="l">
                <a:lnSpc>
                  <a:spcPts val="2071"/>
                </a:lnSpc>
              </a:pPr>
              <a:r>
                <a:rPr lang="en-US" sz="1726" i="true">
                  <a:solidFill>
                    <a:srgbClr val="4A4A4A"/>
                  </a:solidFill>
                  <a:latin typeface="Cabin Italics"/>
                  <a:ea typeface="Cabin Italics"/>
                  <a:cs typeface="Cabin Italics"/>
                  <a:sym typeface="Cabin Italics"/>
                </a:rPr>
                <a:t>Bài 5 bắt đầu từ chính vấn đề của Hadoop MapReduce đã học ở Bài 4, để thấy rõ vì sao Apache Spark ra đời.</a:t>
              </a:r>
            </a:p>
          </p:txBody>
        </p:sp>
      </p:grpSp>
      <p:grpSp>
        <p:nvGrpSpPr>
          <p:cNvPr name="Group 15" id="15"/>
          <p:cNvGrpSpPr/>
          <p:nvPr/>
        </p:nvGrpSpPr>
        <p:grpSpPr>
          <a:xfrm rot="0">
            <a:off x="686333" y="2882608"/>
            <a:ext cx="16952500" cy="1125588"/>
            <a:chOff x="0" y="0"/>
            <a:chExt cx="22603333" cy="1500784"/>
          </a:xfrm>
        </p:grpSpPr>
        <p:sp>
          <p:nvSpPr>
            <p:cNvPr name="Freeform 16" id="16"/>
            <p:cNvSpPr/>
            <p:nvPr/>
          </p:nvSpPr>
          <p:spPr>
            <a:xfrm flipH="false" flipV="false" rot="0">
              <a:off x="0" y="0"/>
              <a:ext cx="22603461" cy="1500886"/>
            </a:xfrm>
            <a:custGeom>
              <a:avLst/>
              <a:gdLst/>
              <a:ahLst/>
              <a:cxnLst/>
              <a:rect r="r" b="b" t="t" l="l"/>
              <a:pathLst>
                <a:path h="1500886" w="22603461">
                  <a:moveTo>
                    <a:pt x="0" y="109855"/>
                  </a:moveTo>
                  <a:cubicBezTo>
                    <a:pt x="0" y="49149"/>
                    <a:pt x="49149" y="0"/>
                    <a:pt x="109855" y="0"/>
                  </a:cubicBezTo>
                  <a:lnTo>
                    <a:pt x="22493605" y="0"/>
                  </a:lnTo>
                  <a:cubicBezTo>
                    <a:pt x="22554312" y="0"/>
                    <a:pt x="22603461" y="49149"/>
                    <a:pt x="22603461" y="109855"/>
                  </a:cubicBezTo>
                  <a:lnTo>
                    <a:pt x="22603461" y="1391031"/>
                  </a:lnTo>
                  <a:cubicBezTo>
                    <a:pt x="22603461" y="1451737"/>
                    <a:pt x="22554312" y="1500886"/>
                    <a:pt x="22493605" y="1500886"/>
                  </a:cubicBezTo>
                  <a:lnTo>
                    <a:pt x="109855" y="1500886"/>
                  </a:lnTo>
                  <a:cubicBezTo>
                    <a:pt x="49149" y="1500886"/>
                    <a:pt x="0" y="1451737"/>
                    <a:pt x="0" y="1391031"/>
                  </a:cubicBezTo>
                  <a:close/>
                </a:path>
              </a:pathLst>
            </a:custGeom>
            <a:solidFill>
              <a:srgbClr val="F2F5F8"/>
            </a:solidFill>
          </p:spPr>
        </p:sp>
      </p:grpSp>
      <p:grpSp>
        <p:nvGrpSpPr>
          <p:cNvPr name="Group 17" id="17"/>
          <p:cNvGrpSpPr/>
          <p:nvPr/>
        </p:nvGrpSpPr>
        <p:grpSpPr>
          <a:xfrm rot="0">
            <a:off x="1029500" y="2882608"/>
            <a:ext cx="1509941" cy="1125588"/>
            <a:chOff x="0" y="0"/>
            <a:chExt cx="2013255" cy="1500784"/>
          </a:xfrm>
        </p:grpSpPr>
        <p:sp>
          <p:nvSpPr>
            <p:cNvPr name="Freeform 18" id="18"/>
            <p:cNvSpPr/>
            <p:nvPr/>
          </p:nvSpPr>
          <p:spPr>
            <a:xfrm flipH="false" flipV="false" rot="0">
              <a:off x="0" y="0"/>
              <a:ext cx="2013253" cy="1500789"/>
            </a:xfrm>
            <a:custGeom>
              <a:avLst/>
              <a:gdLst/>
              <a:ahLst/>
              <a:cxnLst/>
              <a:rect r="r" b="b" t="t" l="l"/>
              <a:pathLst>
                <a:path h="1500789" w="2013253">
                  <a:moveTo>
                    <a:pt x="0" y="0"/>
                  </a:moveTo>
                  <a:lnTo>
                    <a:pt x="2013253" y="0"/>
                  </a:lnTo>
                  <a:lnTo>
                    <a:pt x="2013253" y="1500789"/>
                  </a:lnTo>
                  <a:lnTo>
                    <a:pt x="0" y="1500789"/>
                  </a:lnTo>
                  <a:close/>
                </a:path>
              </a:pathLst>
            </a:custGeom>
            <a:blipFill>
              <a:blip r:embed="rId4">
                <a:alphaModFix amt="0"/>
              </a:blip>
              <a:stretch>
                <a:fillRect l="-45644" t="0" r="-45644" b="0"/>
              </a:stretch>
            </a:blipFill>
          </p:spPr>
        </p:sp>
        <p:sp>
          <p:nvSpPr>
            <p:cNvPr name="TextBox 19" id="19"/>
            <p:cNvSpPr txBox="true"/>
            <p:nvPr/>
          </p:nvSpPr>
          <p:spPr>
            <a:xfrm>
              <a:off x="0" y="-9525"/>
              <a:ext cx="2013255" cy="1510309"/>
            </a:xfrm>
            <a:prstGeom prst="rect">
              <a:avLst/>
            </a:prstGeom>
          </p:spPr>
          <p:txBody>
            <a:bodyPr anchor="ctr" rtlCol="false" tIns="0" lIns="0" bIns="0" rIns="0"/>
            <a:lstStyle/>
            <a:p>
              <a:pPr algn="l">
                <a:lnSpc>
                  <a:spcPts val="2341"/>
                </a:lnSpc>
              </a:pPr>
              <a:r>
                <a:rPr lang="en-US" sz="1951" b="true">
                  <a:solidFill>
                    <a:srgbClr val="1F4E79"/>
                  </a:solidFill>
                  <a:latin typeface="Cabin Bold"/>
                  <a:ea typeface="Cabin Bold"/>
                  <a:cs typeface="Cabin Bold"/>
                  <a:sym typeface="Cabin Bold"/>
                </a:rPr>
                <a:t>Bài 1</a:t>
              </a:r>
            </a:p>
          </p:txBody>
        </p:sp>
      </p:grpSp>
      <p:grpSp>
        <p:nvGrpSpPr>
          <p:cNvPr name="Group 20" id="20"/>
          <p:cNvGrpSpPr/>
          <p:nvPr/>
        </p:nvGrpSpPr>
        <p:grpSpPr>
          <a:xfrm rot="0">
            <a:off x="2608078" y="2882608"/>
            <a:ext cx="11804980" cy="1125588"/>
            <a:chOff x="0" y="0"/>
            <a:chExt cx="15739974" cy="1500784"/>
          </a:xfrm>
        </p:grpSpPr>
        <p:sp>
          <p:nvSpPr>
            <p:cNvPr name="Freeform 21" id="21"/>
            <p:cNvSpPr/>
            <p:nvPr/>
          </p:nvSpPr>
          <p:spPr>
            <a:xfrm flipH="false" flipV="false" rot="0">
              <a:off x="0" y="0"/>
              <a:ext cx="15739977" cy="1500789"/>
            </a:xfrm>
            <a:custGeom>
              <a:avLst/>
              <a:gdLst/>
              <a:ahLst/>
              <a:cxnLst/>
              <a:rect r="r" b="b" t="t" l="l"/>
              <a:pathLst>
                <a:path h="1500789" w="15739977">
                  <a:moveTo>
                    <a:pt x="0" y="0"/>
                  </a:moveTo>
                  <a:lnTo>
                    <a:pt x="15739977" y="0"/>
                  </a:lnTo>
                  <a:lnTo>
                    <a:pt x="15739977" y="1500789"/>
                  </a:lnTo>
                  <a:lnTo>
                    <a:pt x="0" y="1500789"/>
                  </a:lnTo>
                  <a:close/>
                </a:path>
              </a:pathLst>
            </a:custGeom>
            <a:blipFill>
              <a:blip r:embed="rId4">
                <a:alphaModFix amt="0"/>
              </a:blip>
              <a:stretch>
                <a:fillRect l="0" t="-154355" r="0" b="-154355"/>
              </a:stretch>
            </a:blipFill>
          </p:spPr>
        </p:sp>
        <p:sp>
          <p:nvSpPr>
            <p:cNvPr name="TextBox 22" id="22"/>
            <p:cNvSpPr txBox="true"/>
            <p:nvPr/>
          </p:nvSpPr>
          <p:spPr>
            <a:xfrm>
              <a:off x="0" y="0"/>
              <a:ext cx="15739974" cy="1500784"/>
            </a:xfrm>
            <a:prstGeom prst="rect">
              <a:avLst/>
            </a:prstGeom>
          </p:spPr>
          <p:txBody>
            <a:bodyPr anchor="ctr" rtlCol="false" tIns="0" lIns="0" bIns="0" rIns="0"/>
            <a:lstStyle/>
            <a:p>
              <a:pPr algn="l">
                <a:lnSpc>
                  <a:spcPts val="2161"/>
                </a:lnSpc>
              </a:pPr>
              <a:r>
                <a:rPr lang="en-US" sz="1801">
                  <a:solidFill>
                    <a:srgbClr val="000000"/>
                  </a:solidFill>
                  <a:latin typeface="Cabin"/>
                  <a:ea typeface="Cabin"/>
                  <a:cs typeface="Cabin"/>
                  <a:sym typeface="Cabin"/>
                </a:rPr>
                <a:t>Kiến trúc và Ứng dụng Big Data trong Công nghiệp</a:t>
              </a:r>
            </a:p>
          </p:txBody>
        </p:sp>
      </p:grpSp>
      <p:grpSp>
        <p:nvGrpSpPr>
          <p:cNvPr name="Group 23" id="23"/>
          <p:cNvGrpSpPr/>
          <p:nvPr/>
        </p:nvGrpSpPr>
        <p:grpSpPr>
          <a:xfrm rot="0">
            <a:off x="14550323" y="2882608"/>
            <a:ext cx="2882608" cy="1125588"/>
            <a:chOff x="0" y="0"/>
            <a:chExt cx="3843477" cy="1500784"/>
          </a:xfrm>
        </p:grpSpPr>
        <p:sp>
          <p:nvSpPr>
            <p:cNvPr name="Freeform 24" id="24"/>
            <p:cNvSpPr/>
            <p:nvPr/>
          </p:nvSpPr>
          <p:spPr>
            <a:xfrm flipH="false" flipV="false" rot="0">
              <a:off x="0" y="0"/>
              <a:ext cx="3843483" cy="1500789"/>
            </a:xfrm>
            <a:custGeom>
              <a:avLst/>
              <a:gdLst/>
              <a:ahLst/>
              <a:cxnLst/>
              <a:rect r="r" b="b" t="t" l="l"/>
              <a:pathLst>
                <a:path h="1500789" w="3843483">
                  <a:moveTo>
                    <a:pt x="0" y="0"/>
                  </a:moveTo>
                  <a:lnTo>
                    <a:pt x="3843483" y="0"/>
                  </a:lnTo>
                  <a:lnTo>
                    <a:pt x="3843483" y="1500789"/>
                  </a:lnTo>
                  <a:lnTo>
                    <a:pt x="0" y="1500789"/>
                  </a:lnTo>
                  <a:close/>
                </a:path>
              </a:pathLst>
            </a:custGeom>
            <a:blipFill>
              <a:blip r:embed="rId4">
                <a:alphaModFix amt="0"/>
              </a:blip>
              <a:stretch>
                <a:fillRect l="-99" t="0" r="-99" b="0"/>
              </a:stretch>
            </a:blipFill>
          </p:spPr>
        </p:sp>
        <p:sp>
          <p:nvSpPr>
            <p:cNvPr name="TextBox 25" id="25"/>
            <p:cNvSpPr txBox="true"/>
            <p:nvPr/>
          </p:nvSpPr>
          <p:spPr>
            <a:xfrm>
              <a:off x="0" y="0"/>
              <a:ext cx="3843477" cy="1500784"/>
            </a:xfrm>
            <a:prstGeom prst="rect">
              <a:avLst/>
            </a:prstGeom>
          </p:spPr>
          <p:txBody>
            <a:bodyPr anchor="ctr" rtlCol="false" tIns="0" lIns="0" bIns="0" rIns="0"/>
            <a:lstStyle/>
            <a:p>
              <a:pPr algn="r">
                <a:lnSpc>
                  <a:spcPts val="1981"/>
                </a:lnSpc>
              </a:pPr>
              <a:r>
                <a:rPr lang="en-US" sz="1651" b="true">
                  <a:solidFill>
                    <a:srgbClr val="4A4A4A"/>
                  </a:solidFill>
                  <a:latin typeface="Cabin Bold"/>
                  <a:ea typeface="Cabin Bold"/>
                  <a:cs typeface="Cabin Bold"/>
                  <a:sym typeface="Cabin Bold"/>
                </a:rPr>
                <a:t>Đã học</a:t>
              </a:r>
            </a:p>
          </p:txBody>
        </p:sp>
      </p:grpSp>
      <p:grpSp>
        <p:nvGrpSpPr>
          <p:cNvPr name="Group 26" id="26"/>
          <p:cNvGrpSpPr/>
          <p:nvPr/>
        </p:nvGrpSpPr>
        <p:grpSpPr>
          <a:xfrm rot="0">
            <a:off x="686333" y="4172922"/>
            <a:ext cx="16952500" cy="1125588"/>
            <a:chOff x="0" y="0"/>
            <a:chExt cx="22603333" cy="1500784"/>
          </a:xfrm>
        </p:grpSpPr>
        <p:sp>
          <p:nvSpPr>
            <p:cNvPr name="Freeform 27" id="27"/>
            <p:cNvSpPr/>
            <p:nvPr/>
          </p:nvSpPr>
          <p:spPr>
            <a:xfrm flipH="false" flipV="false" rot="0">
              <a:off x="0" y="0"/>
              <a:ext cx="22603461" cy="1500886"/>
            </a:xfrm>
            <a:custGeom>
              <a:avLst/>
              <a:gdLst/>
              <a:ahLst/>
              <a:cxnLst/>
              <a:rect r="r" b="b" t="t" l="l"/>
              <a:pathLst>
                <a:path h="1500886" w="22603461">
                  <a:moveTo>
                    <a:pt x="0" y="109855"/>
                  </a:moveTo>
                  <a:cubicBezTo>
                    <a:pt x="0" y="49149"/>
                    <a:pt x="49149" y="0"/>
                    <a:pt x="109855" y="0"/>
                  </a:cubicBezTo>
                  <a:lnTo>
                    <a:pt x="22493605" y="0"/>
                  </a:lnTo>
                  <a:cubicBezTo>
                    <a:pt x="22554312" y="0"/>
                    <a:pt x="22603461" y="49149"/>
                    <a:pt x="22603461" y="109855"/>
                  </a:cubicBezTo>
                  <a:lnTo>
                    <a:pt x="22603461" y="1391031"/>
                  </a:lnTo>
                  <a:cubicBezTo>
                    <a:pt x="22603461" y="1451737"/>
                    <a:pt x="22554312" y="1500886"/>
                    <a:pt x="22493605" y="1500886"/>
                  </a:cubicBezTo>
                  <a:lnTo>
                    <a:pt x="109855" y="1500886"/>
                  </a:lnTo>
                  <a:cubicBezTo>
                    <a:pt x="49149" y="1500886"/>
                    <a:pt x="0" y="1451737"/>
                    <a:pt x="0" y="1391031"/>
                  </a:cubicBezTo>
                  <a:close/>
                </a:path>
              </a:pathLst>
            </a:custGeom>
            <a:solidFill>
              <a:srgbClr val="F2F5F8"/>
            </a:solidFill>
          </p:spPr>
        </p:sp>
      </p:grpSp>
      <p:grpSp>
        <p:nvGrpSpPr>
          <p:cNvPr name="Group 28" id="28"/>
          <p:cNvGrpSpPr/>
          <p:nvPr/>
        </p:nvGrpSpPr>
        <p:grpSpPr>
          <a:xfrm rot="0">
            <a:off x="1029500" y="4172922"/>
            <a:ext cx="1509941" cy="1125588"/>
            <a:chOff x="0" y="0"/>
            <a:chExt cx="2013255" cy="1500784"/>
          </a:xfrm>
        </p:grpSpPr>
        <p:sp>
          <p:nvSpPr>
            <p:cNvPr name="Freeform 29" id="29"/>
            <p:cNvSpPr/>
            <p:nvPr/>
          </p:nvSpPr>
          <p:spPr>
            <a:xfrm flipH="false" flipV="false" rot="0">
              <a:off x="0" y="0"/>
              <a:ext cx="2013253" cy="1500789"/>
            </a:xfrm>
            <a:custGeom>
              <a:avLst/>
              <a:gdLst/>
              <a:ahLst/>
              <a:cxnLst/>
              <a:rect r="r" b="b" t="t" l="l"/>
              <a:pathLst>
                <a:path h="1500789" w="2013253">
                  <a:moveTo>
                    <a:pt x="0" y="0"/>
                  </a:moveTo>
                  <a:lnTo>
                    <a:pt x="2013253" y="0"/>
                  </a:lnTo>
                  <a:lnTo>
                    <a:pt x="2013253" y="1500789"/>
                  </a:lnTo>
                  <a:lnTo>
                    <a:pt x="0" y="1500789"/>
                  </a:lnTo>
                  <a:close/>
                </a:path>
              </a:pathLst>
            </a:custGeom>
            <a:blipFill>
              <a:blip r:embed="rId4">
                <a:alphaModFix amt="0"/>
              </a:blip>
              <a:stretch>
                <a:fillRect l="-45644" t="0" r="-45644" b="0"/>
              </a:stretch>
            </a:blipFill>
          </p:spPr>
        </p:sp>
        <p:sp>
          <p:nvSpPr>
            <p:cNvPr name="TextBox 30" id="30"/>
            <p:cNvSpPr txBox="true"/>
            <p:nvPr/>
          </p:nvSpPr>
          <p:spPr>
            <a:xfrm>
              <a:off x="0" y="-9525"/>
              <a:ext cx="2013255" cy="1510309"/>
            </a:xfrm>
            <a:prstGeom prst="rect">
              <a:avLst/>
            </a:prstGeom>
          </p:spPr>
          <p:txBody>
            <a:bodyPr anchor="ctr" rtlCol="false" tIns="0" lIns="0" bIns="0" rIns="0"/>
            <a:lstStyle/>
            <a:p>
              <a:pPr algn="l">
                <a:lnSpc>
                  <a:spcPts val="2341"/>
                </a:lnSpc>
              </a:pPr>
              <a:r>
                <a:rPr lang="en-US" sz="1951" b="true">
                  <a:solidFill>
                    <a:srgbClr val="1F4E79"/>
                  </a:solidFill>
                  <a:latin typeface="Cabin Bold"/>
                  <a:ea typeface="Cabin Bold"/>
                  <a:cs typeface="Cabin Bold"/>
                  <a:sym typeface="Cabin Bold"/>
                </a:rPr>
                <a:t>Bài 2</a:t>
              </a:r>
            </a:p>
          </p:txBody>
        </p:sp>
      </p:grpSp>
      <p:grpSp>
        <p:nvGrpSpPr>
          <p:cNvPr name="Group 31" id="31"/>
          <p:cNvGrpSpPr/>
          <p:nvPr/>
        </p:nvGrpSpPr>
        <p:grpSpPr>
          <a:xfrm rot="0">
            <a:off x="2608078" y="4172922"/>
            <a:ext cx="11804980" cy="1125588"/>
            <a:chOff x="0" y="0"/>
            <a:chExt cx="15739974" cy="1500784"/>
          </a:xfrm>
        </p:grpSpPr>
        <p:sp>
          <p:nvSpPr>
            <p:cNvPr name="Freeform 32" id="32"/>
            <p:cNvSpPr/>
            <p:nvPr/>
          </p:nvSpPr>
          <p:spPr>
            <a:xfrm flipH="false" flipV="false" rot="0">
              <a:off x="0" y="0"/>
              <a:ext cx="15739977" cy="1500789"/>
            </a:xfrm>
            <a:custGeom>
              <a:avLst/>
              <a:gdLst/>
              <a:ahLst/>
              <a:cxnLst/>
              <a:rect r="r" b="b" t="t" l="l"/>
              <a:pathLst>
                <a:path h="1500789" w="15739977">
                  <a:moveTo>
                    <a:pt x="0" y="0"/>
                  </a:moveTo>
                  <a:lnTo>
                    <a:pt x="15739977" y="0"/>
                  </a:lnTo>
                  <a:lnTo>
                    <a:pt x="15739977" y="1500789"/>
                  </a:lnTo>
                  <a:lnTo>
                    <a:pt x="0" y="1500789"/>
                  </a:lnTo>
                  <a:close/>
                </a:path>
              </a:pathLst>
            </a:custGeom>
            <a:blipFill>
              <a:blip r:embed="rId4">
                <a:alphaModFix amt="0"/>
              </a:blip>
              <a:stretch>
                <a:fillRect l="0" t="-154355" r="0" b="-154355"/>
              </a:stretch>
            </a:blipFill>
          </p:spPr>
        </p:sp>
        <p:sp>
          <p:nvSpPr>
            <p:cNvPr name="TextBox 33" id="33"/>
            <p:cNvSpPr txBox="true"/>
            <p:nvPr/>
          </p:nvSpPr>
          <p:spPr>
            <a:xfrm>
              <a:off x="0" y="0"/>
              <a:ext cx="15739974" cy="1500784"/>
            </a:xfrm>
            <a:prstGeom prst="rect">
              <a:avLst/>
            </a:prstGeom>
          </p:spPr>
          <p:txBody>
            <a:bodyPr anchor="ctr" rtlCol="false" tIns="0" lIns="0" bIns="0" rIns="0"/>
            <a:lstStyle/>
            <a:p>
              <a:pPr algn="l">
                <a:lnSpc>
                  <a:spcPts val="2161"/>
                </a:lnSpc>
              </a:pPr>
              <a:r>
                <a:rPr lang="en-US" sz="1801">
                  <a:solidFill>
                    <a:srgbClr val="000000"/>
                  </a:solidFill>
                  <a:latin typeface="Cabin"/>
                  <a:ea typeface="Cabin"/>
                  <a:cs typeface="Cabin"/>
                  <a:sym typeface="Cabin"/>
                </a:rPr>
                <a:t>Kiến trúc hệ sinh thái Big Data và công nghệ lưu trữ dữ liệu</a:t>
              </a:r>
            </a:p>
          </p:txBody>
        </p:sp>
      </p:grpSp>
      <p:grpSp>
        <p:nvGrpSpPr>
          <p:cNvPr name="Group 34" id="34"/>
          <p:cNvGrpSpPr/>
          <p:nvPr/>
        </p:nvGrpSpPr>
        <p:grpSpPr>
          <a:xfrm rot="0">
            <a:off x="14550323" y="4172922"/>
            <a:ext cx="2882608" cy="1125588"/>
            <a:chOff x="0" y="0"/>
            <a:chExt cx="3843477" cy="1500784"/>
          </a:xfrm>
        </p:grpSpPr>
        <p:sp>
          <p:nvSpPr>
            <p:cNvPr name="Freeform 35" id="35"/>
            <p:cNvSpPr/>
            <p:nvPr/>
          </p:nvSpPr>
          <p:spPr>
            <a:xfrm flipH="false" flipV="false" rot="0">
              <a:off x="0" y="0"/>
              <a:ext cx="3843483" cy="1500789"/>
            </a:xfrm>
            <a:custGeom>
              <a:avLst/>
              <a:gdLst/>
              <a:ahLst/>
              <a:cxnLst/>
              <a:rect r="r" b="b" t="t" l="l"/>
              <a:pathLst>
                <a:path h="1500789" w="3843483">
                  <a:moveTo>
                    <a:pt x="0" y="0"/>
                  </a:moveTo>
                  <a:lnTo>
                    <a:pt x="3843483" y="0"/>
                  </a:lnTo>
                  <a:lnTo>
                    <a:pt x="3843483" y="1500789"/>
                  </a:lnTo>
                  <a:lnTo>
                    <a:pt x="0" y="1500789"/>
                  </a:lnTo>
                  <a:close/>
                </a:path>
              </a:pathLst>
            </a:custGeom>
            <a:blipFill>
              <a:blip r:embed="rId4">
                <a:alphaModFix amt="0"/>
              </a:blip>
              <a:stretch>
                <a:fillRect l="-99" t="0" r="-99" b="0"/>
              </a:stretch>
            </a:blipFill>
          </p:spPr>
        </p:sp>
        <p:sp>
          <p:nvSpPr>
            <p:cNvPr name="TextBox 36" id="36"/>
            <p:cNvSpPr txBox="true"/>
            <p:nvPr/>
          </p:nvSpPr>
          <p:spPr>
            <a:xfrm>
              <a:off x="0" y="0"/>
              <a:ext cx="3843477" cy="1500784"/>
            </a:xfrm>
            <a:prstGeom prst="rect">
              <a:avLst/>
            </a:prstGeom>
          </p:spPr>
          <p:txBody>
            <a:bodyPr anchor="ctr" rtlCol="false" tIns="0" lIns="0" bIns="0" rIns="0"/>
            <a:lstStyle/>
            <a:p>
              <a:pPr algn="r">
                <a:lnSpc>
                  <a:spcPts val="1981"/>
                </a:lnSpc>
              </a:pPr>
              <a:r>
                <a:rPr lang="en-US" sz="1651" b="true">
                  <a:solidFill>
                    <a:srgbClr val="4A4A4A"/>
                  </a:solidFill>
                  <a:latin typeface="Cabin Bold"/>
                  <a:ea typeface="Cabin Bold"/>
                  <a:cs typeface="Cabin Bold"/>
                  <a:sym typeface="Cabin Bold"/>
                </a:rPr>
                <a:t>Đã học</a:t>
              </a:r>
            </a:p>
          </p:txBody>
        </p:sp>
      </p:grpSp>
      <p:grpSp>
        <p:nvGrpSpPr>
          <p:cNvPr name="Group 37" id="37"/>
          <p:cNvGrpSpPr/>
          <p:nvPr/>
        </p:nvGrpSpPr>
        <p:grpSpPr>
          <a:xfrm rot="0">
            <a:off x="686333" y="5463235"/>
            <a:ext cx="16952500" cy="1125588"/>
            <a:chOff x="0" y="0"/>
            <a:chExt cx="22603333" cy="1500784"/>
          </a:xfrm>
        </p:grpSpPr>
        <p:sp>
          <p:nvSpPr>
            <p:cNvPr name="Freeform 38" id="38"/>
            <p:cNvSpPr/>
            <p:nvPr/>
          </p:nvSpPr>
          <p:spPr>
            <a:xfrm flipH="false" flipV="false" rot="0">
              <a:off x="0" y="0"/>
              <a:ext cx="22603461" cy="1500886"/>
            </a:xfrm>
            <a:custGeom>
              <a:avLst/>
              <a:gdLst/>
              <a:ahLst/>
              <a:cxnLst/>
              <a:rect r="r" b="b" t="t" l="l"/>
              <a:pathLst>
                <a:path h="1500886" w="22603461">
                  <a:moveTo>
                    <a:pt x="0" y="109855"/>
                  </a:moveTo>
                  <a:cubicBezTo>
                    <a:pt x="0" y="49149"/>
                    <a:pt x="49149" y="0"/>
                    <a:pt x="109855" y="0"/>
                  </a:cubicBezTo>
                  <a:lnTo>
                    <a:pt x="22493605" y="0"/>
                  </a:lnTo>
                  <a:cubicBezTo>
                    <a:pt x="22554312" y="0"/>
                    <a:pt x="22603461" y="49149"/>
                    <a:pt x="22603461" y="109855"/>
                  </a:cubicBezTo>
                  <a:lnTo>
                    <a:pt x="22603461" y="1391031"/>
                  </a:lnTo>
                  <a:cubicBezTo>
                    <a:pt x="22603461" y="1451737"/>
                    <a:pt x="22554312" y="1500886"/>
                    <a:pt x="22493605" y="1500886"/>
                  </a:cubicBezTo>
                  <a:lnTo>
                    <a:pt x="109855" y="1500886"/>
                  </a:lnTo>
                  <a:cubicBezTo>
                    <a:pt x="49149" y="1500886"/>
                    <a:pt x="0" y="1451737"/>
                    <a:pt x="0" y="1391031"/>
                  </a:cubicBezTo>
                  <a:close/>
                </a:path>
              </a:pathLst>
            </a:custGeom>
            <a:solidFill>
              <a:srgbClr val="F2F5F8"/>
            </a:solidFill>
          </p:spPr>
        </p:sp>
      </p:grpSp>
      <p:grpSp>
        <p:nvGrpSpPr>
          <p:cNvPr name="Group 39" id="39"/>
          <p:cNvGrpSpPr/>
          <p:nvPr/>
        </p:nvGrpSpPr>
        <p:grpSpPr>
          <a:xfrm rot="0">
            <a:off x="1029500" y="5463235"/>
            <a:ext cx="1509941" cy="1125588"/>
            <a:chOff x="0" y="0"/>
            <a:chExt cx="2013255" cy="1500784"/>
          </a:xfrm>
        </p:grpSpPr>
        <p:sp>
          <p:nvSpPr>
            <p:cNvPr name="Freeform 40" id="40"/>
            <p:cNvSpPr/>
            <p:nvPr/>
          </p:nvSpPr>
          <p:spPr>
            <a:xfrm flipH="false" flipV="false" rot="0">
              <a:off x="0" y="0"/>
              <a:ext cx="2013253" cy="1500789"/>
            </a:xfrm>
            <a:custGeom>
              <a:avLst/>
              <a:gdLst/>
              <a:ahLst/>
              <a:cxnLst/>
              <a:rect r="r" b="b" t="t" l="l"/>
              <a:pathLst>
                <a:path h="1500789" w="2013253">
                  <a:moveTo>
                    <a:pt x="0" y="0"/>
                  </a:moveTo>
                  <a:lnTo>
                    <a:pt x="2013253" y="0"/>
                  </a:lnTo>
                  <a:lnTo>
                    <a:pt x="2013253" y="1500789"/>
                  </a:lnTo>
                  <a:lnTo>
                    <a:pt x="0" y="1500789"/>
                  </a:lnTo>
                  <a:close/>
                </a:path>
              </a:pathLst>
            </a:custGeom>
            <a:blipFill>
              <a:blip r:embed="rId4">
                <a:alphaModFix amt="0"/>
              </a:blip>
              <a:stretch>
                <a:fillRect l="-45644" t="0" r="-45644" b="0"/>
              </a:stretch>
            </a:blipFill>
          </p:spPr>
        </p:sp>
        <p:sp>
          <p:nvSpPr>
            <p:cNvPr name="TextBox 41" id="41"/>
            <p:cNvSpPr txBox="true"/>
            <p:nvPr/>
          </p:nvSpPr>
          <p:spPr>
            <a:xfrm>
              <a:off x="0" y="-9525"/>
              <a:ext cx="2013255" cy="1510309"/>
            </a:xfrm>
            <a:prstGeom prst="rect">
              <a:avLst/>
            </a:prstGeom>
          </p:spPr>
          <p:txBody>
            <a:bodyPr anchor="ctr" rtlCol="false" tIns="0" lIns="0" bIns="0" rIns="0"/>
            <a:lstStyle/>
            <a:p>
              <a:pPr algn="l">
                <a:lnSpc>
                  <a:spcPts val="2341"/>
                </a:lnSpc>
              </a:pPr>
              <a:r>
                <a:rPr lang="en-US" sz="1951" b="true">
                  <a:solidFill>
                    <a:srgbClr val="1F4E79"/>
                  </a:solidFill>
                  <a:latin typeface="Cabin Bold"/>
                  <a:ea typeface="Cabin Bold"/>
                  <a:cs typeface="Cabin Bold"/>
                  <a:sym typeface="Cabin Bold"/>
                </a:rPr>
                <a:t>Bài 3</a:t>
              </a:r>
            </a:p>
          </p:txBody>
        </p:sp>
      </p:grpSp>
      <p:grpSp>
        <p:nvGrpSpPr>
          <p:cNvPr name="Group 42" id="42"/>
          <p:cNvGrpSpPr/>
          <p:nvPr/>
        </p:nvGrpSpPr>
        <p:grpSpPr>
          <a:xfrm rot="0">
            <a:off x="2608078" y="5463235"/>
            <a:ext cx="11804980" cy="1125588"/>
            <a:chOff x="0" y="0"/>
            <a:chExt cx="15739974" cy="1500784"/>
          </a:xfrm>
        </p:grpSpPr>
        <p:sp>
          <p:nvSpPr>
            <p:cNvPr name="Freeform 43" id="43"/>
            <p:cNvSpPr/>
            <p:nvPr/>
          </p:nvSpPr>
          <p:spPr>
            <a:xfrm flipH="false" flipV="false" rot="0">
              <a:off x="0" y="0"/>
              <a:ext cx="15739977" cy="1500789"/>
            </a:xfrm>
            <a:custGeom>
              <a:avLst/>
              <a:gdLst/>
              <a:ahLst/>
              <a:cxnLst/>
              <a:rect r="r" b="b" t="t" l="l"/>
              <a:pathLst>
                <a:path h="1500789" w="15739977">
                  <a:moveTo>
                    <a:pt x="0" y="0"/>
                  </a:moveTo>
                  <a:lnTo>
                    <a:pt x="15739977" y="0"/>
                  </a:lnTo>
                  <a:lnTo>
                    <a:pt x="15739977" y="1500789"/>
                  </a:lnTo>
                  <a:lnTo>
                    <a:pt x="0" y="1500789"/>
                  </a:lnTo>
                  <a:close/>
                </a:path>
              </a:pathLst>
            </a:custGeom>
            <a:blipFill>
              <a:blip r:embed="rId4">
                <a:alphaModFix amt="0"/>
              </a:blip>
              <a:stretch>
                <a:fillRect l="0" t="-154355" r="0" b="-154355"/>
              </a:stretch>
            </a:blipFill>
          </p:spPr>
        </p:sp>
        <p:sp>
          <p:nvSpPr>
            <p:cNvPr name="TextBox 44" id="44"/>
            <p:cNvSpPr txBox="true"/>
            <p:nvPr/>
          </p:nvSpPr>
          <p:spPr>
            <a:xfrm>
              <a:off x="0" y="0"/>
              <a:ext cx="15739974" cy="1500784"/>
            </a:xfrm>
            <a:prstGeom prst="rect">
              <a:avLst/>
            </a:prstGeom>
          </p:spPr>
          <p:txBody>
            <a:bodyPr anchor="ctr" rtlCol="false" tIns="0" lIns="0" bIns="0" rIns="0"/>
            <a:lstStyle/>
            <a:p>
              <a:pPr algn="l">
                <a:lnSpc>
                  <a:spcPts val="2161"/>
                </a:lnSpc>
              </a:pPr>
              <a:r>
                <a:rPr lang="en-US" sz="1801">
                  <a:solidFill>
                    <a:srgbClr val="000000"/>
                  </a:solidFill>
                  <a:latin typeface="Cabin"/>
                  <a:ea typeface="Cabin"/>
                  <a:cs typeface="Cabin"/>
                  <a:sym typeface="Cabin"/>
                </a:rPr>
                <a:t>Xử lý, truy vấn, phân tích và trực quan hóa dữ liệu lớn</a:t>
              </a:r>
            </a:p>
          </p:txBody>
        </p:sp>
      </p:grpSp>
      <p:grpSp>
        <p:nvGrpSpPr>
          <p:cNvPr name="Group 45" id="45"/>
          <p:cNvGrpSpPr/>
          <p:nvPr/>
        </p:nvGrpSpPr>
        <p:grpSpPr>
          <a:xfrm rot="0">
            <a:off x="14550323" y="5463235"/>
            <a:ext cx="2882608" cy="1125588"/>
            <a:chOff x="0" y="0"/>
            <a:chExt cx="3843477" cy="1500784"/>
          </a:xfrm>
        </p:grpSpPr>
        <p:sp>
          <p:nvSpPr>
            <p:cNvPr name="Freeform 46" id="46"/>
            <p:cNvSpPr/>
            <p:nvPr/>
          </p:nvSpPr>
          <p:spPr>
            <a:xfrm flipH="false" flipV="false" rot="0">
              <a:off x="0" y="0"/>
              <a:ext cx="3843483" cy="1500789"/>
            </a:xfrm>
            <a:custGeom>
              <a:avLst/>
              <a:gdLst/>
              <a:ahLst/>
              <a:cxnLst/>
              <a:rect r="r" b="b" t="t" l="l"/>
              <a:pathLst>
                <a:path h="1500789" w="3843483">
                  <a:moveTo>
                    <a:pt x="0" y="0"/>
                  </a:moveTo>
                  <a:lnTo>
                    <a:pt x="3843483" y="0"/>
                  </a:lnTo>
                  <a:lnTo>
                    <a:pt x="3843483" y="1500789"/>
                  </a:lnTo>
                  <a:lnTo>
                    <a:pt x="0" y="1500789"/>
                  </a:lnTo>
                  <a:close/>
                </a:path>
              </a:pathLst>
            </a:custGeom>
            <a:blipFill>
              <a:blip r:embed="rId4">
                <a:alphaModFix amt="0"/>
              </a:blip>
              <a:stretch>
                <a:fillRect l="-99" t="0" r="-99" b="0"/>
              </a:stretch>
            </a:blipFill>
          </p:spPr>
        </p:sp>
        <p:sp>
          <p:nvSpPr>
            <p:cNvPr name="TextBox 47" id="47"/>
            <p:cNvSpPr txBox="true"/>
            <p:nvPr/>
          </p:nvSpPr>
          <p:spPr>
            <a:xfrm>
              <a:off x="0" y="0"/>
              <a:ext cx="3843477" cy="1500784"/>
            </a:xfrm>
            <a:prstGeom prst="rect">
              <a:avLst/>
            </a:prstGeom>
          </p:spPr>
          <p:txBody>
            <a:bodyPr anchor="ctr" rtlCol="false" tIns="0" lIns="0" bIns="0" rIns="0"/>
            <a:lstStyle/>
            <a:p>
              <a:pPr algn="r">
                <a:lnSpc>
                  <a:spcPts val="1981"/>
                </a:lnSpc>
              </a:pPr>
              <a:r>
                <a:rPr lang="en-US" sz="1651" b="true">
                  <a:solidFill>
                    <a:srgbClr val="4A4A4A"/>
                  </a:solidFill>
                  <a:latin typeface="Cabin Bold"/>
                  <a:ea typeface="Cabin Bold"/>
                  <a:cs typeface="Cabin Bold"/>
                  <a:sym typeface="Cabin Bold"/>
                </a:rPr>
                <a:t>Đã học</a:t>
              </a:r>
            </a:p>
          </p:txBody>
        </p:sp>
      </p:grpSp>
      <p:grpSp>
        <p:nvGrpSpPr>
          <p:cNvPr name="Group 48" id="48"/>
          <p:cNvGrpSpPr/>
          <p:nvPr/>
        </p:nvGrpSpPr>
        <p:grpSpPr>
          <a:xfrm rot="0">
            <a:off x="686333" y="6753549"/>
            <a:ext cx="16952500" cy="1125588"/>
            <a:chOff x="0" y="0"/>
            <a:chExt cx="22603333" cy="1500784"/>
          </a:xfrm>
        </p:grpSpPr>
        <p:sp>
          <p:nvSpPr>
            <p:cNvPr name="Freeform 49" id="49"/>
            <p:cNvSpPr/>
            <p:nvPr/>
          </p:nvSpPr>
          <p:spPr>
            <a:xfrm flipH="false" flipV="false" rot="0">
              <a:off x="0" y="0"/>
              <a:ext cx="22603461" cy="1500886"/>
            </a:xfrm>
            <a:custGeom>
              <a:avLst/>
              <a:gdLst/>
              <a:ahLst/>
              <a:cxnLst/>
              <a:rect r="r" b="b" t="t" l="l"/>
              <a:pathLst>
                <a:path h="1500886" w="22603461">
                  <a:moveTo>
                    <a:pt x="0" y="109855"/>
                  </a:moveTo>
                  <a:cubicBezTo>
                    <a:pt x="0" y="49149"/>
                    <a:pt x="49149" y="0"/>
                    <a:pt x="109855" y="0"/>
                  </a:cubicBezTo>
                  <a:lnTo>
                    <a:pt x="22493605" y="0"/>
                  </a:lnTo>
                  <a:cubicBezTo>
                    <a:pt x="22554312" y="0"/>
                    <a:pt x="22603461" y="49149"/>
                    <a:pt x="22603461" y="109855"/>
                  </a:cubicBezTo>
                  <a:lnTo>
                    <a:pt x="22603461" y="1391031"/>
                  </a:lnTo>
                  <a:cubicBezTo>
                    <a:pt x="22603461" y="1451737"/>
                    <a:pt x="22554312" y="1500886"/>
                    <a:pt x="22493605" y="1500886"/>
                  </a:cubicBezTo>
                  <a:lnTo>
                    <a:pt x="109855" y="1500886"/>
                  </a:lnTo>
                  <a:cubicBezTo>
                    <a:pt x="49149" y="1500886"/>
                    <a:pt x="0" y="1451737"/>
                    <a:pt x="0" y="1391031"/>
                  </a:cubicBezTo>
                  <a:close/>
                </a:path>
              </a:pathLst>
            </a:custGeom>
            <a:solidFill>
              <a:srgbClr val="F2F5F8"/>
            </a:solidFill>
          </p:spPr>
        </p:sp>
      </p:grpSp>
      <p:grpSp>
        <p:nvGrpSpPr>
          <p:cNvPr name="Group 50" id="50"/>
          <p:cNvGrpSpPr/>
          <p:nvPr/>
        </p:nvGrpSpPr>
        <p:grpSpPr>
          <a:xfrm rot="0">
            <a:off x="1029500" y="6753549"/>
            <a:ext cx="1509941" cy="1125588"/>
            <a:chOff x="0" y="0"/>
            <a:chExt cx="2013255" cy="1500784"/>
          </a:xfrm>
        </p:grpSpPr>
        <p:sp>
          <p:nvSpPr>
            <p:cNvPr name="Freeform 51" id="51"/>
            <p:cNvSpPr/>
            <p:nvPr/>
          </p:nvSpPr>
          <p:spPr>
            <a:xfrm flipH="false" flipV="false" rot="0">
              <a:off x="0" y="0"/>
              <a:ext cx="2013253" cy="1500789"/>
            </a:xfrm>
            <a:custGeom>
              <a:avLst/>
              <a:gdLst/>
              <a:ahLst/>
              <a:cxnLst/>
              <a:rect r="r" b="b" t="t" l="l"/>
              <a:pathLst>
                <a:path h="1500789" w="2013253">
                  <a:moveTo>
                    <a:pt x="0" y="0"/>
                  </a:moveTo>
                  <a:lnTo>
                    <a:pt x="2013253" y="0"/>
                  </a:lnTo>
                  <a:lnTo>
                    <a:pt x="2013253" y="1500789"/>
                  </a:lnTo>
                  <a:lnTo>
                    <a:pt x="0" y="1500789"/>
                  </a:lnTo>
                  <a:close/>
                </a:path>
              </a:pathLst>
            </a:custGeom>
            <a:blipFill>
              <a:blip r:embed="rId4">
                <a:alphaModFix amt="0"/>
              </a:blip>
              <a:stretch>
                <a:fillRect l="-45644" t="0" r="-45644" b="0"/>
              </a:stretch>
            </a:blipFill>
          </p:spPr>
        </p:sp>
        <p:sp>
          <p:nvSpPr>
            <p:cNvPr name="TextBox 52" id="52"/>
            <p:cNvSpPr txBox="true"/>
            <p:nvPr/>
          </p:nvSpPr>
          <p:spPr>
            <a:xfrm>
              <a:off x="0" y="-9525"/>
              <a:ext cx="2013255" cy="1510309"/>
            </a:xfrm>
            <a:prstGeom prst="rect">
              <a:avLst/>
            </a:prstGeom>
          </p:spPr>
          <p:txBody>
            <a:bodyPr anchor="ctr" rtlCol="false" tIns="0" lIns="0" bIns="0" rIns="0"/>
            <a:lstStyle/>
            <a:p>
              <a:pPr algn="l">
                <a:lnSpc>
                  <a:spcPts val="2341"/>
                </a:lnSpc>
              </a:pPr>
              <a:r>
                <a:rPr lang="en-US" sz="1951" b="true">
                  <a:solidFill>
                    <a:srgbClr val="1F4E79"/>
                  </a:solidFill>
                  <a:latin typeface="Cabin Bold"/>
                  <a:ea typeface="Cabin Bold"/>
                  <a:cs typeface="Cabin Bold"/>
                  <a:sym typeface="Cabin Bold"/>
                </a:rPr>
                <a:t>Bài 4</a:t>
              </a:r>
            </a:p>
          </p:txBody>
        </p:sp>
      </p:grpSp>
      <p:grpSp>
        <p:nvGrpSpPr>
          <p:cNvPr name="Group 53" id="53"/>
          <p:cNvGrpSpPr/>
          <p:nvPr/>
        </p:nvGrpSpPr>
        <p:grpSpPr>
          <a:xfrm rot="0">
            <a:off x="2608078" y="6753549"/>
            <a:ext cx="11804980" cy="1125588"/>
            <a:chOff x="0" y="0"/>
            <a:chExt cx="15739974" cy="1500784"/>
          </a:xfrm>
        </p:grpSpPr>
        <p:sp>
          <p:nvSpPr>
            <p:cNvPr name="Freeform 54" id="54"/>
            <p:cNvSpPr/>
            <p:nvPr/>
          </p:nvSpPr>
          <p:spPr>
            <a:xfrm flipH="false" flipV="false" rot="0">
              <a:off x="0" y="0"/>
              <a:ext cx="15739977" cy="1500789"/>
            </a:xfrm>
            <a:custGeom>
              <a:avLst/>
              <a:gdLst/>
              <a:ahLst/>
              <a:cxnLst/>
              <a:rect r="r" b="b" t="t" l="l"/>
              <a:pathLst>
                <a:path h="1500789" w="15739977">
                  <a:moveTo>
                    <a:pt x="0" y="0"/>
                  </a:moveTo>
                  <a:lnTo>
                    <a:pt x="15739977" y="0"/>
                  </a:lnTo>
                  <a:lnTo>
                    <a:pt x="15739977" y="1500789"/>
                  </a:lnTo>
                  <a:lnTo>
                    <a:pt x="0" y="1500789"/>
                  </a:lnTo>
                  <a:close/>
                </a:path>
              </a:pathLst>
            </a:custGeom>
            <a:blipFill>
              <a:blip r:embed="rId4">
                <a:alphaModFix amt="0"/>
              </a:blip>
              <a:stretch>
                <a:fillRect l="0" t="-154355" r="0" b="-154355"/>
              </a:stretch>
            </a:blipFill>
          </p:spPr>
        </p:sp>
        <p:sp>
          <p:nvSpPr>
            <p:cNvPr name="TextBox 55" id="55"/>
            <p:cNvSpPr txBox="true"/>
            <p:nvPr/>
          </p:nvSpPr>
          <p:spPr>
            <a:xfrm>
              <a:off x="0" y="0"/>
              <a:ext cx="15739974" cy="1500784"/>
            </a:xfrm>
            <a:prstGeom prst="rect">
              <a:avLst/>
            </a:prstGeom>
          </p:spPr>
          <p:txBody>
            <a:bodyPr anchor="ctr" rtlCol="false" tIns="0" lIns="0" bIns="0" rIns="0"/>
            <a:lstStyle/>
            <a:p>
              <a:pPr algn="l">
                <a:lnSpc>
                  <a:spcPts val="2161"/>
                </a:lnSpc>
              </a:pPr>
              <a:r>
                <a:rPr lang="en-US" sz="1801">
                  <a:solidFill>
                    <a:srgbClr val="000000"/>
                  </a:solidFill>
                  <a:latin typeface="Cabin"/>
                  <a:ea typeface="Cabin"/>
                  <a:cs typeface="Cabin"/>
                  <a:sym typeface="Cabin"/>
                </a:rPr>
                <a:t>Cơ chế thực thi Hadoop và mô hình MapReduce</a:t>
              </a:r>
            </a:p>
          </p:txBody>
        </p:sp>
      </p:grpSp>
      <p:grpSp>
        <p:nvGrpSpPr>
          <p:cNvPr name="Group 56" id="56"/>
          <p:cNvGrpSpPr/>
          <p:nvPr/>
        </p:nvGrpSpPr>
        <p:grpSpPr>
          <a:xfrm rot="0">
            <a:off x="14550323" y="6753549"/>
            <a:ext cx="2882608" cy="1125588"/>
            <a:chOff x="0" y="0"/>
            <a:chExt cx="3843477" cy="1500784"/>
          </a:xfrm>
        </p:grpSpPr>
        <p:sp>
          <p:nvSpPr>
            <p:cNvPr name="Freeform 57" id="57"/>
            <p:cNvSpPr/>
            <p:nvPr/>
          </p:nvSpPr>
          <p:spPr>
            <a:xfrm flipH="false" flipV="false" rot="0">
              <a:off x="0" y="0"/>
              <a:ext cx="3843483" cy="1500789"/>
            </a:xfrm>
            <a:custGeom>
              <a:avLst/>
              <a:gdLst/>
              <a:ahLst/>
              <a:cxnLst/>
              <a:rect r="r" b="b" t="t" l="l"/>
              <a:pathLst>
                <a:path h="1500789" w="3843483">
                  <a:moveTo>
                    <a:pt x="0" y="0"/>
                  </a:moveTo>
                  <a:lnTo>
                    <a:pt x="3843483" y="0"/>
                  </a:lnTo>
                  <a:lnTo>
                    <a:pt x="3843483" y="1500789"/>
                  </a:lnTo>
                  <a:lnTo>
                    <a:pt x="0" y="1500789"/>
                  </a:lnTo>
                  <a:close/>
                </a:path>
              </a:pathLst>
            </a:custGeom>
            <a:blipFill>
              <a:blip r:embed="rId4">
                <a:alphaModFix amt="0"/>
              </a:blip>
              <a:stretch>
                <a:fillRect l="-99" t="0" r="-99" b="0"/>
              </a:stretch>
            </a:blipFill>
          </p:spPr>
        </p:sp>
        <p:sp>
          <p:nvSpPr>
            <p:cNvPr name="TextBox 58" id="58"/>
            <p:cNvSpPr txBox="true"/>
            <p:nvPr/>
          </p:nvSpPr>
          <p:spPr>
            <a:xfrm>
              <a:off x="0" y="0"/>
              <a:ext cx="3843477" cy="1500784"/>
            </a:xfrm>
            <a:prstGeom prst="rect">
              <a:avLst/>
            </a:prstGeom>
          </p:spPr>
          <p:txBody>
            <a:bodyPr anchor="ctr" rtlCol="false" tIns="0" lIns="0" bIns="0" rIns="0"/>
            <a:lstStyle/>
            <a:p>
              <a:pPr algn="r">
                <a:lnSpc>
                  <a:spcPts val="1981"/>
                </a:lnSpc>
              </a:pPr>
              <a:r>
                <a:rPr lang="en-US" sz="1651" b="true">
                  <a:solidFill>
                    <a:srgbClr val="4A4A4A"/>
                  </a:solidFill>
                  <a:latin typeface="Cabin Bold"/>
                  <a:ea typeface="Cabin Bold"/>
                  <a:cs typeface="Cabin Bold"/>
                  <a:sym typeface="Cabin Bold"/>
                </a:rPr>
                <a:t>Đã học</a:t>
              </a:r>
            </a:p>
          </p:txBody>
        </p:sp>
      </p:grpSp>
      <p:grpSp>
        <p:nvGrpSpPr>
          <p:cNvPr name="Group 59" id="59"/>
          <p:cNvGrpSpPr/>
          <p:nvPr/>
        </p:nvGrpSpPr>
        <p:grpSpPr>
          <a:xfrm rot="0">
            <a:off x="686333" y="8043862"/>
            <a:ext cx="16952500" cy="1125588"/>
            <a:chOff x="0" y="0"/>
            <a:chExt cx="22603333" cy="1500784"/>
          </a:xfrm>
        </p:grpSpPr>
        <p:sp>
          <p:nvSpPr>
            <p:cNvPr name="Freeform 60" id="60"/>
            <p:cNvSpPr/>
            <p:nvPr/>
          </p:nvSpPr>
          <p:spPr>
            <a:xfrm flipH="false" flipV="false" rot="0">
              <a:off x="0" y="0"/>
              <a:ext cx="22603461" cy="1500886"/>
            </a:xfrm>
            <a:custGeom>
              <a:avLst/>
              <a:gdLst/>
              <a:ahLst/>
              <a:cxnLst/>
              <a:rect r="r" b="b" t="t" l="l"/>
              <a:pathLst>
                <a:path h="1500886" w="22603461">
                  <a:moveTo>
                    <a:pt x="0" y="109855"/>
                  </a:moveTo>
                  <a:cubicBezTo>
                    <a:pt x="0" y="49149"/>
                    <a:pt x="49149" y="0"/>
                    <a:pt x="109855" y="0"/>
                  </a:cubicBezTo>
                  <a:lnTo>
                    <a:pt x="22493605" y="0"/>
                  </a:lnTo>
                  <a:cubicBezTo>
                    <a:pt x="22554312" y="0"/>
                    <a:pt x="22603461" y="49149"/>
                    <a:pt x="22603461" y="109855"/>
                  </a:cubicBezTo>
                  <a:lnTo>
                    <a:pt x="22603461" y="1391031"/>
                  </a:lnTo>
                  <a:cubicBezTo>
                    <a:pt x="22603461" y="1451737"/>
                    <a:pt x="22554312" y="1500886"/>
                    <a:pt x="22493605" y="1500886"/>
                  </a:cubicBezTo>
                  <a:lnTo>
                    <a:pt x="109855" y="1500886"/>
                  </a:lnTo>
                  <a:cubicBezTo>
                    <a:pt x="49149" y="1500886"/>
                    <a:pt x="0" y="1451737"/>
                    <a:pt x="0" y="1391031"/>
                  </a:cubicBezTo>
                  <a:close/>
                </a:path>
              </a:pathLst>
            </a:custGeom>
            <a:solidFill>
              <a:srgbClr val="1F4E79"/>
            </a:solidFill>
          </p:spPr>
        </p:sp>
      </p:grpSp>
      <p:grpSp>
        <p:nvGrpSpPr>
          <p:cNvPr name="Group 61" id="61"/>
          <p:cNvGrpSpPr/>
          <p:nvPr/>
        </p:nvGrpSpPr>
        <p:grpSpPr>
          <a:xfrm rot="0">
            <a:off x="1029500" y="8043862"/>
            <a:ext cx="1509941" cy="1125588"/>
            <a:chOff x="0" y="0"/>
            <a:chExt cx="2013255" cy="1500784"/>
          </a:xfrm>
        </p:grpSpPr>
        <p:sp>
          <p:nvSpPr>
            <p:cNvPr name="Freeform 62" id="62"/>
            <p:cNvSpPr/>
            <p:nvPr/>
          </p:nvSpPr>
          <p:spPr>
            <a:xfrm flipH="false" flipV="false" rot="0">
              <a:off x="0" y="0"/>
              <a:ext cx="2013253" cy="1500789"/>
            </a:xfrm>
            <a:custGeom>
              <a:avLst/>
              <a:gdLst/>
              <a:ahLst/>
              <a:cxnLst/>
              <a:rect r="r" b="b" t="t" l="l"/>
              <a:pathLst>
                <a:path h="1500789" w="2013253">
                  <a:moveTo>
                    <a:pt x="0" y="0"/>
                  </a:moveTo>
                  <a:lnTo>
                    <a:pt x="2013253" y="0"/>
                  </a:lnTo>
                  <a:lnTo>
                    <a:pt x="2013253" y="1500789"/>
                  </a:lnTo>
                  <a:lnTo>
                    <a:pt x="0" y="1500789"/>
                  </a:lnTo>
                  <a:close/>
                </a:path>
              </a:pathLst>
            </a:custGeom>
            <a:blipFill>
              <a:blip r:embed="rId4">
                <a:alphaModFix amt="0"/>
              </a:blip>
              <a:stretch>
                <a:fillRect l="-45644" t="0" r="-45644" b="0"/>
              </a:stretch>
            </a:blipFill>
          </p:spPr>
        </p:sp>
        <p:sp>
          <p:nvSpPr>
            <p:cNvPr name="TextBox 63" id="63"/>
            <p:cNvSpPr txBox="true"/>
            <p:nvPr/>
          </p:nvSpPr>
          <p:spPr>
            <a:xfrm>
              <a:off x="0" y="-9525"/>
              <a:ext cx="2013255" cy="1510309"/>
            </a:xfrm>
            <a:prstGeom prst="rect">
              <a:avLst/>
            </a:prstGeom>
          </p:spPr>
          <p:txBody>
            <a:bodyPr anchor="ctr" rtlCol="false" tIns="0" lIns="0" bIns="0" rIns="0"/>
            <a:lstStyle/>
            <a:p>
              <a:pPr algn="l">
                <a:lnSpc>
                  <a:spcPts val="2341"/>
                </a:lnSpc>
              </a:pPr>
              <a:r>
                <a:rPr lang="en-US" sz="1951" b="true">
                  <a:solidFill>
                    <a:srgbClr val="FFFFFF"/>
                  </a:solidFill>
                  <a:latin typeface="Cabin Bold"/>
                  <a:ea typeface="Cabin Bold"/>
                  <a:cs typeface="Cabin Bold"/>
                  <a:sym typeface="Cabin Bold"/>
                </a:rPr>
                <a:t>Bài 5</a:t>
              </a:r>
            </a:p>
          </p:txBody>
        </p:sp>
      </p:grpSp>
      <p:grpSp>
        <p:nvGrpSpPr>
          <p:cNvPr name="Group 64" id="64"/>
          <p:cNvGrpSpPr/>
          <p:nvPr/>
        </p:nvGrpSpPr>
        <p:grpSpPr>
          <a:xfrm rot="0">
            <a:off x="2608078" y="8043862"/>
            <a:ext cx="11804980" cy="1125588"/>
            <a:chOff x="0" y="0"/>
            <a:chExt cx="15739974" cy="1500784"/>
          </a:xfrm>
        </p:grpSpPr>
        <p:sp>
          <p:nvSpPr>
            <p:cNvPr name="Freeform 65" id="65"/>
            <p:cNvSpPr/>
            <p:nvPr/>
          </p:nvSpPr>
          <p:spPr>
            <a:xfrm flipH="false" flipV="false" rot="0">
              <a:off x="0" y="0"/>
              <a:ext cx="15739977" cy="1500789"/>
            </a:xfrm>
            <a:custGeom>
              <a:avLst/>
              <a:gdLst/>
              <a:ahLst/>
              <a:cxnLst/>
              <a:rect r="r" b="b" t="t" l="l"/>
              <a:pathLst>
                <a:path h="1500789" w="15739977">
                  <a:moveTo>
                    <a:pt x="0" y="0"/>
                  </a:moveTo>
                  <a:lnTo>
                    <a:pt x="15739977" y="0"/>
                  </a:lnTo>
                  <a:lnTo>
                    <a:pt x="15739977" y="1500789"/>
                  </a:lnTo>
                  <a:lnTo>
                    <a:pt x="0" y="1500789"/>
                  </a:lnTo>
                  <a:close/>
                </a:path>
              </a:pathLst>
            </a:custGeom>
            <a:blipFill>
              <a:blip r:embed="rId4">
                <a:alphaModFix amt="0"/>
              </a:blip>
              <a:stretch>
                <a:fillRect l="0" t="-154355" r="0" b="-154355"/>
              </a:stretch>
            </a:blipFill>
          </p:spPr>
        </p:sp>
        <p:sp>
          <p:nvSpPr>
            <p:cNvPr name="TextBox 66" id="66"/>
            <p:cNvSpPr txBox="true"/>
            <p:nvPr/>
          </p:nvSpPr>
          <p:spPr>
            <a:xfrm>
              <a:off x="0" y="0"/>
              <a:ext cx="15739974" cy="1500784"/>
            </a:xfrm>
            <a:prstGeom prst="rect">
              <a:avLst/>
            </a:prstGeom>
          </p:spPr>
          <p:txBody>
            <a:bodyPr anchor="ctr" rtlCol="false" tIns="0" lIns="0" bIns="0" rIns="0"/>
            <a:lstStyle/>
            <a:p>
              <a:pPr algn="l">
                <a:lnSpc>
                  <a:spcPts val="2161"/>
                </a:lnSpc>
              </a:pPr>
              <a:r>
                <a:rPr lang="en-US" sz="1801">
                  <a:solidFill>
                    <a:srgbClr val="FFFFFF"/>
                  </a:solidFill>
                  <a:latin typeface="Cabin"/>
                  <a:ea typeface="Cabin"/>
                  <a:cs typeface="Cabin"/>
                  <a:sym typeface="Cabin"/>
                </a:rPr>
                <a:t>Apache Spark và xử lý dữ liệu phân tán với PySpark</a:t>
              </a:r>
            </a:p>
          </p:txBody>
        </p:sp>
      </p:grpSp>
      <p:grpSp>
        <p:nvGrpSpPr>
          <p:cNvPr name="Group 67" id="67"/>
          <p:cNvGrpSpPr/>
          <p:nvPr/>
        </p:nvGrpSpPr>
        <p:grpSpPr>
          <a:xfrm rot="0">
            <a:off x="14550323" y="8043862"/>
            <a:ext cx="2882608" cy="1125588"/>
            <a:chOff x="0" y="0"/>
            <a:chExt cx="3843477" cy="1500784"/>
          </a:xfrm>
        </p:grpSpPr>
        <p:sp>
          <p:nvSpPr>
            <p:cNvPr name="Freeform 68" id="68"/>
            <p:cNvSpPr/>
            <p:nvPr/>
          </p:nvSpPr>
          <p:spPr>
            <a:xfrm flipH="false" flipV="false" rot="0">
              <a:off x="0" y="0"/>
              <a:ext cx="3843483" cy="1500789"/>
            </a:xfrm>
            <a:custGeom>
              <a:avLst/>
              <a:gdLst/>
              <a:ahLst/>
              <a:cxnLst/>
              <a:rect r="r" b="b" t="t" l="l"/>
              <a:pathLst>
                <a:path h="1500789" w="3843483">
                  <a:moveTo>
                    <a:pt x="0" y="0"/>
                  </a:moveTo>
                  <a:lnTo>
                    <a:pt x="3843483" y="0"/>
                  </a:lnTo>
                  <a:lnTo>
                    <a:pt x="3843483" y="1500789"/>
                  </a:lnTo>
                  <a:lnTo>
                    <a:pt x="0" y="1500789"/>
                  </a:lnTo>
                  <a:close/>
                </a:path>
              </a:pathLst>
            </a:custGeom>
            <a:blipFill>
              <a:blip r:embed="rId4">
                <a:alphaModFix amt="0"/>
              </a:blip>
              <a:stretch>
                <a:fillRect l="-99" t="0" r="-99" b="0"/>
              </a:stretch>
            </a:blipFill>
          </p:spPr>
        </p:sp>
        <p:sp>
          <p:nvSpPr>
            <p:cNvPr name="TextBox 69" id="69"/>
            <p:cNvSpPr txBox="true"/>
            <p:nvPr/>
          </p:nvSpPr>
          <p:spPr>
            <a:xfrm>
              <a:off x="0" y="0"/>
              <a:ext cx="3843477" cy="1500784"/>
            </a:xfrm>
            <a:prstGeom prst="rect">
              <a:avLst/>
            </a:prstGeom>
          </p:spPr>
          <p:txBody>
            <a:bodyPr anchor="ctr" rtlCol="false" tIns="0" lIns="0" bIns="0" rIns="0"/>
            <a:lstStyle/>
            <a:p>
              <a:pPr algn="r">
                <a:lnSpc>
                  <a:spcPts val="1981"/>
                </a:lnSpc>
              </a:pPr>
              <a:r>
                <a:rPr lang="en-US" sz="1651" b="true">
                  <a:solidFill>
                    <a:srgbClr val="FFFFFF"/>
                  </a:solidFill>
                  <a:latin typeface="Cabin Bold"/>
                  <a:ea typeface="Cabin Bold"/>
                  <a:cs typeface="Cabin Bold"/>
                  <a:sym typeface="Cabin Bold"/>
                </a:rPr>
                <a:t>Hôm nay</a:t>
              </a:r>
            </a:p>
          </p:txBody>
        </p:sp>
      </p:grpSp>
      <p:grpSp>
        <p:nvGrpSpPr>
          <p:cNvPr name="Group 70" id="70"/>
          <p:cNvGrpSpPr/>
          <p:nvPr/>
        </p:nvGrpSpPr>
        <p:grpSpPr>
          <a:xfrm rot="0">
            <a:off x="0" y="9677343"/>
            <a:ext cx="18301840" cy="617706"/>
            <a:chOff x="0" y="0"/>
            <a:chExt cx="24402453" cy="823608"/>
          </a:xfrm>
        </p:grpSpPr>
        <p:sp>
          <p:nvSpPr>
            <p:cNvPr name="Freeform 71" id="71"/>
            <p:cNvSpPr/>
            <p:nvPr/>
          </p:nvSpPr>
          <p:spPr>
            <a:xfrm flipH="false" flipV="false" rot="0">
              <a:off x="0" y="0"/>
              <a:ext cx="24402414" cy="823595"/>
            </a:xfrm>
            <a:custGeom>
              <a:avLst/>
              <a:gdLst/>
              <a:ahLst/>
              <a:cxnLst/>
              <a:rect r="r" b="b" t="t" l="l"/>
              <a:pathLst>
                <a:path h="823595" w="24402414">
                  <a:moveTo>
                    <a:pt x="0" y="0"/>
                  </a:moveTo>
                  <a:lnTo>
                    <a:pt x="24402414" y="0"/>
                  </a:lnTo>
                  <a:lnTo>
                    <a:pt x="24402414" y="823595"/>
                  </a:lnTo>
                  <a:lnTo>
                    <a:pt x="0" y="823595"/>
                  </a:lnTo>
                  <a:close/>
                </a:path>
              </a:pathLst>
            </a:custGeom>
            <a:solidFill>
              <a:srgbClr val="1F4E79"/>
            </a:solidFill>
          </p:spPr>
        </p:sp>
      </p:grpSp>
      <p:grpSp>
        <p:nvGrpSpPr>
          <p:cNvPr name="Group 72" id="72"/>
          <p:cNvGrpSpPr/>
          <p:nvPr/>
        </p:nvGrpSpPr>
        <p:grpSpPr>
          <a:xfrm rot="0">
            <a:off x="480431" y="9677343"/>
            <a:ext cx="10981382" cy="617706"/>
            <a:chOff x="0" y="0"/>
            <a:chExt cx="14641843" cy="823608"/>
          </a:xfrm>
        </p:grpSpPr>
        <p:sp>
          <p:nvSpPr>
            <p:cNvPr name="Freeform 73" id="73"/>
            <p:cNvSpPr/>
            <p:nvPr/>
          </p:nvSpPr>
          <p:spPr>
            <a:xfrm flipH="false" flipV="false" rot="0">
              <a:off x="0" y="0"/>
              <a:ext cx="14641840" cy="823603"/>
            </a:xfrm>
            <a:custGeom>
              <a:avLst/>
              <a:gdLst/>
              <a:ahLst/>
              <a:cxnLst/>
              <a:rect r="r" b="b" t="t" l="l"/>
              <a:pathLst>
                <a:path h="823603" w="14641840">
                  <a:moveTo>
                    <a:pt x="0" y="0"/>
                  </a:moveTo>
                  <a:lnTo>
                    <a:pt x="14641840" y="0"/>
                  </a:lnTo>
                  <a:lnTo>
                    <a:pt x="14641840" y="823603"/>
                  </a:lnTo>
                  <a:lnTo>
                    <a:pt x="0" y="823603"/>
                  </a:lnTo>
                  <a:close/>
                </a:path>
              </a:pathLst>
            </a:custGeom>
            <a:blipFill>
              <a:blip r:embed="rId4">
                <a:alphaModFix amt="0"/>
              </a:blip>
              <a:stretch>
                <a:fillRect l="0" t="-296400" r="0" b="-296401"/>
              </a:stretch>
            </a:blipFill>
          </p:spPr>
        </p:sp>
        <p:sp>
          <p:nvSpPr>
            <p:cNvPr name="TextBox 74" id="74"/>
            <p:cNvSpPr txBox="true"/>
            <p:nvPr/>
          </p:nvSpPr>
          <p:spPr>
            <a:xfrm>
              <a:off x="0" y="0"/>
              <a:ext cx="14641843" cy="823608"/>
            </a:xfrm>
            <a:prstGeom prst="rect">
              <a:avLst/>
            </a:prstGeom>
          </p:spPr>
          <p:txBody>
            <a:bodyPr anchor="ctr" rtlCol="false" tIns="0" lIns="0" bIns="0" rIns="0"/>
            <a:lstStyle/>
            <a:p>
              <a:pPr algn="l">
                <a:lnSpc>
                  <a:spcPts val="1621"/>
                </a:lnSpc>
              </a:pPr>
              <a:r>
                <a:rPr lang="en-US" sz="1351">
                  <a:solidFill>
                    <a:srgbClr val="FFFFFF"/>
                  </a:solidFill>
                  <a:latin typeface="Cabin"/>
                  <a:ea typeface="Cabin"/>
                  <a:cs typeface="Cabin"/>
                  <a:sym typeface="Cabin"/>
                </a:rPr>
                <a:t>VNU UET – Institute for Artificial Intelligence</a:t>
              </a:r>
            </a:p>
          </p:txBody>
        </p:sp>
      </p:grpSp>
      <p:grpSp>
        <p:nvGrpSpPr>
          <p:cNvPr name="Group 75" id="75"/>
          <p:cNvGrpSpPr/>
          <p:nvPr/>
        </p:nvGrpSpPr>
        <p:grpSpPr>
          <a:xfrm rot="0">
            <a:off x="17066438" y="9677343"/>
            <a:ext cx="823608" cy="617706"/>
            <a:chOff x="0" y="0"/>
            <a:chExt cx="1098144" cy="823608"/>
          </a:xfrm>
        </p:grpSpPr>
        <p:sp>
          <p:nvSpPr>
            <p:cNvPr name="Freeform 76" id="76"/>
            <p:cNvSpPr/>
            <p:nvPr/>
          </p:nvSpPr>
          <p:spPr>
            <a:xfrm flipH="false" flipV="false" rot="0">
              <a:off x="0" y="0"/>
              <a:ext cx="1098138" cy="823603"/>
            </a:xfrm>
            <a:custGeom>
              <a:avLst/>
              <a:gdLst/>
              <a:ahLst/>
              <a:cxnLst/>
              <a:rect r="r" b="b" t="t" l="l"/>
              <a:pathLst>
                <a:path h="823603" w="1098138">
                  <a:moveTo>
                    <a:pt x="0" y="0"/>
                  </a:moveTo>
                  <a:lnTo>
                    <a:pt x="1098138" y="0"/>
                  </a:lnTo>
                  <a:lnTo>
                    <a:pt x="1098138" y="823603"/>
                  </a:lnTo>
                  <a:lnTo>
                    <a:pt x="0" y="823603"/>
                  </a:lnTo>
                  <a:close/>
                </a:path>
              </a:pathLst>
            </a:custGeom>
            <a:blipFill>
              <a:blip r:embed="rId4">
                <a:alphaModFix amt="0"/>
              </a:blip>
              <a:stretch>
                <a:fillRect l="-46227" t="0" r="-46228" b="0"/>
              </a:stretch>
            </a:blipFill>
          </p:spPr>
        </p:sp>
        <p:sp>
          <p:nvSpPr>
            <p:cNvPr name="TextBox 77" id="77"/>
            <p:cNvSpPr txBox="true"/>
            <p:nvPr/>
          </p:nvSpPr>
          <p:spPr>
            <a:xfrm>
              <a:off x="0" y="0"/>
              <a:ext cx="1098144" cy="823608"/>
            </a:xfrm>
            <a:prstGeom prst="rect">
              <a:avLst/>
            </a:prstGeom>
          </p:spPr>
          <p:txBody>
            <a:bodyPr anchor="ctr" rtlCol="false" tIns="0" lIns="0" bIns="0" rIns="0"/>
            <a:lstStyle/>
            <a:p>
              <a:pPr algn="r">
                <a:lnSpc>
                  <a:spcPts val="1621"/>
                </a:lnSpc>
              </a:pPr>
              <a:r>
                <a:rPr lang="en-US" sz="1351">
                  <a:solidFill>
                    <a:srgbClr val="FFFFFF"/>
                  </a:solidFill>
                  <a:latin typeface="Cabin"/>
                  <a:ea typeface="Cabin"/>
                  <a:cs typeface="Cabin"/>
                  <a:sym typeface="Cabin"/>
                </a:rPr>
                <a:t>4</a:t>
              </a:r>
            </a:p>
          </p:txBody>
        </p:sp>
      </p:grpSp>
      <p:grpSp>
        <p:nvGrpSpPr>
          <p:cNvPr name="Group 78" id="78"/>
          <p:cNvGrpSpPr/>
          <p:nvPr/>
        </p:nvGrpSpPr>
        <p:grpSpPr>
          <a:xfrm rot="0">
            <a:off x="0" y="0"/>
            <a:ext cx="18288000" cy="315468"/>
            <a:chOff x="0" y="0"/>
            <a:chExt cx="24384000" cy="420624"/>
          </a:xfrm>
        </p:grpSpPr>
        <p:sp>
          <p:nvSpPr>
            <p:cNvPr name="Freeform 79" id="79"/>
            <p:cNvSpPr/>
            <p:nvPr/>
          </p:nvSpPr>
          <p:spPr>
            <a:xfrm flipH="false" flipV="false" rot="0">
              <a:off x="0" y="0"/>
              <a:ext cx="24384000" cy="420624"/>
            </a:xfrm>
            <a:custGeom>
              <a:avLst/>
              <a:gdLst/>
              <a:ahLst/>
              <a:cxnLst/>
              <a:rect r="r" b="b" t="t" l="l"/>
              <a:pathLst>
                <a:path h="420624" w="24384000">
                  <a:moveTo>
                    <a:pt x="0" y="0"/>
                  </a:moveTo>
                  <a:lnTo>
                    <a:pt x="24384000" y="0"/>
                  </a:lnTo>
                  <a:lnTo>
                    <a:pt x="24384000" y="420624"/>
                  </a:lnTo>
                  <a:lnTo>
                    <a:pt x="0" y="420624"/>
                  </a:lnTo>
                  <a:close/>
                </a:path>
              </a:pathLst>
            </a:custGeom>
            <a:solidFill>
              <a:srgbClr val="0F3F6F"/>
            </a:solidFill>
          </p:spPr>
        </p:sp>
      </p:grpSp>
      <p:grpSp>
        <p:nvGrpSpPr>
          <p:cNvPr name="Group 80" id="80"/>
          <p:cNvGrpSpPr/>
          <p:nvPr/>
        </p:nvGrpSpPr>
        <p:grpSpPr>
          <a:xfrm rot="0">
            <a:off x="13098780" y="0"/>
            <a:ext cx="1453896" cy="1508760"/>
            <a:chOff x="0" y="0"/>
            <a:chExt cx="1938528" cy="2011680"/>
          </a:xfrm>
        </p:grpSpPr>
        <p:sp>
          <p:nvSpPr>
            <p:cNvPr name="Freeform 81" id="81"/>
            <p:cNvSpPr/>
            <p:nvPr/>
          </p:nvSpPr>
          <p:spPr>
            <a:xfrm flipH="false" flipV="false" rot="0">
              <a:off x="0" y="0"/>
              <a:ext cx="1938528" cy="2011680"/>
            </a:xfrm>
            <a:custGeom>
              <a:avLst/>
              <a:gdLst/>
              <a:ahLst/>
              <a:cxnLst/>
              <a:rect r="r" b="b" t="t" l="l"/>
              <a:pathLst>
                <a:path h="2011680" w="1938528">
                  <a:moveTo>
                    <a:pt x="0" y="2011680"/>
                  </a:moveTo>
                  <a:lnTo>
                    <a:pt x="484632" y="0"/>
                  </a:lnTo>
                  <a:lnTo>
                    <a:pt x="1938528" y="0"/>
                  </a:lnTo>
                  <a:lnTo>
                    <a:pt x="1453896" y="2011680"/>
                  </a:lnTo>
                  <a:close/>
                </a:path>
              </a:pathLst>
            </a:custGeom>
            <a:solidFill>
              <a:srgbClr val="85B518"/>
            </a:solidFill>
          </p:spPr>
        </p:sp>
      </p:grpSp>
      <p:grpSp>
        <p:nvGrpSpPr>
          <p:cNvPr name="Group 82" id="82"/>
          <p:cNvGrpSpPr/>
          <p:nvPr/>
        </p:nvGrpSpPr>
        <p:grpSpPr>
          <a:xfrm rot="0">
            <a:off x="14621256" y="0"/>
            <a:ext cx="1508760" cy="1508760"/>
            <a:chOff x="0" y="0"/>
            <a:chExt cx="2011680" cy="2011680"/>
          </a:xfrm>
        </p:grpSpPr>
        <p:sp>
          <p:nvSpPr>
            <p:cNvPr name="Freeform 83" id="83"/>
            <p:cNvSpPr/>
            <p:nvPr/>
          </p:nvSpPr>
          <p:spPr>
            <a:xfrm flipH="false" flipV="false" rot="0">
              <a:off x="0" y="0"/>
              <a:ext cx="2011680" cy="2011680"/>
            </a:xfrm>
            <a:custGeom>
              <a:avLst/>
              <a:gdLst/>
              <a:ahLst/>
              <a:cxnLst/>
              <a:rect r="r" b="b" t="t" l="l"/>
              <a:pathLst>
                <a:path h="2011680" w="2011680">
                  <a:moveTo>
                    <a:pt x="0" y="2011680"/>
                  </a:moveTo>
                  <a:lnTo>
                    <a:pt x="502920" y="0"/>
                  </a:lnTo>
                  <a:lnTo>
                    <a:pt x="2011680" y="0"/>
                  </a:lnTo>
                  <a:lnTo>
                    <a:pt x="1508760" y="2011680"/>
                  </a:lnTo>
                  <a:close/>
                </a:path>
              </a:pathLst>
            </a:custGeom>
            <a:solidFill>
              <a:srgbClr val="0F3F6F"/>
            </a:solid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97801" y="384353"/>
            <a:ext cx="851059" cy="851059"/>
            <a:chOff x="0" y="0"/>
            <a:chExt cx="1134745" cy="1134745"/>
          </a:xfrm>
        </p:grpSpPr>
        <p:sp>
          <p:nvSpPr>
            <p:cNvPr name="Freeform 3" id="3" descr="/home/claude/work/assets/logo.png"/>
            <p:cNvSpPr/>
            <p:nvPr/>
          </p:nvSpPr>
          <p:spPr>
            <a:xfrm flipH="false" flipV="false" rot="0">
              <a:off x="0" y="0"/>
              <a:ext cx="1134745" cy="1134745"/>
            </a:xfrm>
            <a:custGeom>
              <a:avLst/>
              <a:gdLst/>
              <a:ahLst/>
              <a:cxnLst/>
              <a:rect r="r" b="b" t="t" l="l"/>
              <a:pathLst>
                <a:path h="1134745" w="1134745">
                  <a:moveTo>
                    <a:pt x="0" y="0"/>
                  </a:moveTo>
                  <a:lnTo>
                    <a:pt x="1134745" y="0"/>
                  </a:lnTo>
                  <a:lnTo>
                    <a:pt x="1134745" y="1134745"/>
                  </a:lnTo>
                  <a:lnTo>
                    <a:pt x="0" y="1134745"/>
                  </a:lnTo>
                  <a:lnTo>
                    <a:pt x="0" y="0"/>
                  </a:lnTo>
                  <a:close/>
                </a:path>
              </a:pathLst>
            </a:custGeom>
            <a:blipFill>
              <a:blip r:embed="rId3"/>
              <a:stretch>
                <a:fillRect l="0" t="0" r="0" b="0"/>
              </a:stretch>
            </a:blipFill>
          </p:spPr>
        </p:sp>
      </p:grpSp>
      <p:grpSp>
        <p:nvGrpSpPr>
          <p:cNvPr name="Group 4" id="4"/>
          <p:cNvGrpSpPr/>
          <p:nvPr/>
        </p:nvGrpSpPr>
        <p:grpSpPr>
          <a:xfrm rot="0">
            <a:off x="5883554" y="1235412"/>
            <a:ext cx="6452368" cy="6452368"/>
            <a:chOff x="0" y="0"/>
            <a:chExt cx="6954876" cy="6954876"/>
          </a:xfrm>
        </p:grpSpPr>
        <p:sp>
          <p:nvSpPr>
            <p:cNvPr name="Freeform 5" id="5"/>
            <p:cNvSpPr/>
            <p:nvPr/>
          </p:nvSpPr>
          <p:spPr>
            <a:xfrm flipH="false" flipV="false" rot="0">
              <a:off x="0" y="0"/>
              <a:ext cx="6954901" cy="6954901"/>
            </a:xfrm>
            <a:custGeom>
              <a:avLst/>
              <a:gdLst/>
              <a:ahLst/>
              <a:cxnLst/>
              <a:rect r="r" b="b" t="t" l="l"/>
              <a:pathLst>
                <a:path h="6954901" w="6954901">
                  <a:moveTo>
                    <a:pt x="0" y="3477387"/>
                  </a:moveTo>
                  <a:cubicBezTo>
                    <a:pt x="0" y="1556893"/>
                    <a:pt x="1556893" y="0"/>
                    <a:pt x="3477387" y="0"/>
                  </a:cubicBezTo>
                  <a:cubicBezTo>
                    <a:pt x="5397881" y="0"/>
                    <a:pt x="6954901" y="1556893"/>
                    <a:pt x="6954901" y="3477387"/>
                  </a:cubicBezTo>
                  <a:cubicBezTo>
                    <a:pt x="6954901" y="5397881"/>
                    <a:pt x="5398008" y="6954901"/>
                    <a:pt x="3477387" y="6954901"/>
                  </a:cubicBezTo>
                  <a:cubicBezTo>
                    <a:pt x="1556766" y="6954901"/>
                    <a:pt x="0" y="5398008"/>
                    <a:pt x="0" y="3477387"/>
                  </a:cubicBezTo>
                  <a:close/>
                </a:path>
              </a:pathLst>
            </a:custGeom>
            <a:solidFill>
              <a:srgbClr val="1F4E79"/>
            </a:solidFill>
          </p:spPr>
        </p:sp>
      </p:grpSp>
      <p:grpSp>
        <p:nvGrpSpPr>
          <p:cNvPr name="Group 6" id="6"/>
          <p:cNvGrpSpPr/>
          <p:nvPr/>
        </p:nvGrpSpPr>
        <p:grpSpPr>
          <a:xfrm rot="0">
            <a:off x="5883554" y="1948564"/>
            <a:ext cx="6452368" cy="509400"/>
            <a:chOff x="0" y="0"/>
            <a:chExt cx="6954876" cy="549072"/>
          </a:xfrm>
        </p:grpSpPr>
        <p:sp>
          <p:nvSpPr>
            <p:cNvPr name="Freeform 7" id="7"/>
            <p:cNvSpPr/>
            <p:nvPr/>
          </p:nvSpPr>
          <p:spPr>
            <a:xfrm flipH="false" flipV="false" rot="0">
              <a:off x="0" y="0"/>
              <a:ext cx="6954873" cy="549069"/>
            </a:xfrm>
            <a:custGeom>
              <a:avLst/>
              <a:gdLst/>
              <a:ahLst/>
              <a:cxnLst/>
              <a:rect r="r" b="b" t="t" l="l"/>
              <a:pathLst>
                <a:path h="549069" w="6954873">
                  <a:moveTo>
                    <a:pt x="0" y="0"/>
                  </a:moveTo>
                  <a:lnTo>
                    <a:pt x="6954873" y="0"/>
                  </a:lnTo>
                  <a:lnTo>
                    <a:pt x="6954873" y="549069"/>
                  </a:lnTo>
                  <a:lnTo>
                    <a:pt x="0" y="549069"/>
                  </a:lnTo>
                  <a:close/>
                </a:path>
              </a:pathLst>
            </a:custGeom>
            <a:blipFill>
              <a:blip r:embed="rId4">
                <a:alphaModFix amt="0"/>
              </a:blip>
              <a:stretch>
                <a:fillRect l="0" t="-196810" r="0" b="-196810"/>
              </a:stretch>
            </a:blipFill>
          </p:spPr>
        </p:sp>
        <p:sp>
          <p:nvSpPr>
            <p:cNvPr name="TextBox 8" id="8"/>
            <p:cNvSpPr txBox="true"/>
            <p:nvPr/>
          </p:nvSpPr>
          <p:spPr>
            <a:xfrm>
              <a:off x="0" y="0"/>
              <a:ext cx="6954876" cy="549072"/>
            </a:xfrm>
            <a:prstGeom prst="rect">
              <a:avLst/>
            </a:prstGeom>
          </p:spPr>
          <p:txBody>
            <a:bodyPr anchor="ctr" rtlCol="false" tIns="0" lIns="0" bIns="0" rIns="0"/>
            <a:lstStyle/>
            <a:p>
              <a:pPr algn="ctr">
                <a:lnSpc>
                  <a:spcPts val="1981"/>
                </a:lnSpc>
              </a:pPr>
              <a:r>
                <a:rPr lang="en-US" sz="1651" spc="300">
                  <a:solidFill>
                    <a:srgbClr val="9FB8D4"/>
                  </a:solidFill>
                  <a:latin typeface="Cabin"/>
                  <a:ea typeface="Cabin"/>
                  <a:cs typeface="Cabin"/>
                  <a:sym typeface="Cabin"/>
                </a:rPr>
                <a:t>PHẦN 5.1</a:t>
              </a:r>
            </a:p>
          </p:txBody>
        </p:sp>
      </p:grpSp>
      <p:grpSp>
        <p:nvGrpSpPr>
          <p:cNvPr name="Group 9" id="9"/>
          <p:cNvGrpSpPr/>
          <p:nvPr/>
        </p:nvGrpSpPr>
        <p:grpSpPr>
          <a:xfrm rot="0">
            <a:off x="5883554" y="2390039"/>
            <a:ext cx="6452368" cy="1273488"/>
            <a:chOff x="0" y="0"/>
            <a:chExt cx="6954876" cy="1372667"/>
          </a:xfrm>
        </p:grpSpPr>
        <p:sp>
          <p:nvSpPr>
            <p:cNvPr name="Freeform 10" id="10"/>
            <p:cNvSpPr/>
            <p:nvPr/>
          </p:nvSpPr>
          <p:spPr>
            <a:xfrm flipH="false" flipV="false" rot="0">
              <a:off x="0" y="0"/>
              <a:ext cx="6954873" cy="1372672"/>
            </a:xfrm>
            <a:custGeom>
              <a:avLst/>
              <a:gdLst/>
              <a:ahLst/>
              <a:cxnLst/>
              <a:rect r="r" b="b" t="t" l="l"/>
              <a:pathLst>
                <a:path h="1372672" w="6954873">
                  <a:moveTo>
                    <a:pt x="0" y="0"/>
                  </a:moveTo>
                  <a:lnTo>
                    <a:pt x="6954873" y="0"/>
                  </a:lnTo>
                  <a:lnTo>
                    <a:pt x="6954873" y="1372672"/>
                  </a:lnTo>
                  <a:lnTo>
                    <a:pt x="0" y="1372672"/>
                  </a:lnTo>
                  <a:close/>
                </a:path>
              </a:pathLst>
            </a:custGeom>
            <a:blipFill>
              <a:blip r:embed="rId4">
                <a:alphaModFix amt="0"/>
              </a:blip>
              <a:stretch>
                <a:fillRect l="0" t="-48724" r="0" b="-48724"/>
              </a:stretch>
            </a:blipFill>
          </p:spPr>
        </p:sp>
        <p:sp>
          <p:nvSpPr>
            <p:cNvPr name="TextBox 11" id="11"/>
            <p:cNvSpPr txBox="true"/>
            <p:nvPr/>
          </p:nvSpPr>
          <p:spPr>
            <a:xfrm>
              <a:off x="0" y="-9525"/>
              <a:ext cx="6954876" cy="1382192"/>
            </a:xfrm>
            <a:prstGeom prst="rect">
              <a:avLst/>
            </a:prstGeom>
          </p:spPr>
          <p:txBody>
            <a:bodyPr anchor="ctr" rtlCol="false" tIns="0" lIns="0" bIns="0" rIns="0"/>
            <a:lstStyle/>
            <a:p>
              <a:pPr algn="ctr">
                <a:lnSpc>
                  <a:spcPts val="6124"/>
                </a:lnSpc>
              </a:pPr>
              <a:r>
                <a:rPr lang="en-US" sz="5103" b="true">
                  <a:solidFill>
                    <a:srgbClr val="FFFFFF"/>
                  </a:solidFill>
                  <a:latin typeface="TT Rounds Condensed Bold"/>
                  <a:ea typeface="TT Rounds Condensed Bold"/>
                  <a:cs typeface="TT Rounds Condensed Bold"/>
                  <a:sym typeface="TT Rounds Condensed Bold"/>
                </a:rPr>
                <a:t>5.1</a:t>
              </a:r>
            </a:p>
          </p:txBody>
        </p:sp>
      </p:grpSp>
      <p:sp>
        <p:nvSpPr>
          <p:cNvPr name="TextBox 12" id="12"/>
          <p:cNvSpPr txBox="true"/>
          <p:nvPr/>
        </p:nvSpPr>
        <p:spPr>
          <a:xfrm rot="0">
            <a:off x="6251365" y="3693591"/>
            <a:ext cx="5716746" cy="1085010"/>
          </a:xfrm>
          <a:prstGeom prst="rect">
            <a:avLst/>
          </a:prstGeom>
        </p:spPr>
        <p:txBody>
          <a:bodyPr anchor="t" rtlCol="false" tIns="0" lIns="0" bIns="0" rIns="0">
            <a:spAutoFit/>
          </a:bodyPr>
          <a:lstStyle/>
          <a:p>
            <a:pPr algn="ctr">
              <a:lnSpc>
                <a:spcPts val="3342"/>
              </a:lnSpc>
            </a:pPr>
            <a:r>
              <a:rPr lang="en-US" sz="2785" b="true">
                <a:solidFill>
                  <a:srgbClr val="FFFFFF"/>
                </a:solidFill>
                <a:latin typeface="Cabin Bold"/>
                <a:ea typeface="Cabin Bold"/>
                <a:cs typeface="Cabin Bold"/>
                <a:sym typeface="Cabin Bold"/>
              </a:rPr>
              <a:t>Từ MapReduce đến Spark</a:t>
            </a:r>
          </a:p>
        </p:txBody>
      </p:sp>
      <p:sp>
        <p:nvSpPr>
          <p:cNvPr name="TextBox 13" id="13"/>
          <p:cNvSpPr txBox="true"/>
          <p:nvPr/>
        </p:nvSpPr>
        <p:spPr>
          <a:xfrm rot="0">
            <a:off x="6336258" y="5112443"/>
            <a:ext cx="5546950" cy="1584885"/>
          </a:xfrm>
          <a:prstGeom prst="rect">
            <a:avLst/>
          </a:prstGeom>
        </p:spPr>
        <p:txBody>
          <a:bodyPr anchor="t" rtlCol="false" tIns="0" lIns="0" bIns="0" rIns="0">
            <a:spAutoFit/>
          </a:bodyPr>
          <a:lstStyle/>
          <a:p>
            <a:pPr algn="ctr">
              <a:lnSpc>
                <a:spcPts val="2116"/>
              </a:lnSpc>
            </a:pPr>
            <a:r>
              <a:rPr lang="en-US" sz="1764">
                <a:solidFill>
                  <a:srgbClr val="D7E3F0"/>
                </a:solidFill>
                <a:latin typeface="Cabin"/>
                <a:ea typeface="Cabin"/>
                <a:cs typeface="Cabin"/>
                <a:sym typeface="Cabin"/>
              </a:rPr>
              <a:t>Tại sao cứ phải ghi dữ liệu trung gian xuống đĩa sau mỗi bước?</a:t>
            </a:r>
          </a:p>
        </p:txBody>
      </p:sp>
      <p:grpSp>
        <p:nvGrpSpPr>
          <p:cNvPr name="Group 14" id="14"/>
          <p:cNvGrpSpPr/>
          <p:nvPr/>
        </p:nvGrpSpPr>
        <p:grpSpPr>
          <a:xfrm rot="0">
            <a:off x="480431" y="9087088"/>
            <a:ext cx="1692916" cy="411804"/>
            <a:chOff x="0" y="0"/>
            <a:chExt cx="2257222" cy="549072"/>
          </a:xfrm>
        </p:grpSpPr>
        <p:sp>
          <p:nvSpPr>
            <p:cNvPr name="Freeform 15" id="15"/>
            <p:cNvSpPr/>
            <p:nvPr/>
          </p:nvSpPr>
          <p:spPr>
            <a:xfrm flipH="false" flipV="false" rot="0">
              <a:off x="0" y="0"/>
              <a:ext cx="2257171" cy="549021"/>
            </a:xfrm>
            <a:custGeom>
              <a:avLst/>
              <a:gdLst/>
              <a:ahLst/>
              <a:cxnLst/>
              <a:rect r="r" b="b" t="t" l="l"/>
              <a:pathLst>
                <a:path h="549021" w="2257171">
                  <a:moveTo>
                    <a:pt x="0" y="0"/>
                  </a:moveTo>
                  <a:lnTo>
                    <a:pt x="2257171" y="0"/>
                  </a:lnTo>
                  <a:lnTo>
                    <a:pt x="2257171" y="549021"/>
                  </a:lnTo>
                  <a:lnTo>
                    <a:pt x="0" y="549021"/>
                  </a:lnTo>
                  <a:close/>
                </a:path>
              </a:pathLst>
            </a:custGeom>
            <a:solidFill>
              <a:srgbClr val="85B518"/>
            </a:solidFill>
          </p:spPr>
        </p:sp>
        <p:sp>
          <p:nvSpPr>
            <p:cNvPr name="TextBox 16" id="16"/>
            <p:cNvSpPr txBox="true"/>
            <p:nvPr/>
          </p:nvSpPr>
          <p:spPr>
            <a:xfrm>
              <a:off x="0" y="0"/>
              <a:ext cx="2257222" cy="549072"/>
            </a:xfrm>
            <a:prstGeom prst="rect">
              <a:avLst/>
            </a:prstGeom>
          </p:spPr>
          <p:txBody>
            <a:bodyPr anchor="ctr" rtlCol="false" tIns="50800" lIns="50800" bIns="50800" rIns="50800"/>
            <a:lstStyle/>
            <a:p>
              <a:pPr algn="ctr">
                <a:lnSpc>
                  <a:spcPts val="1170"/>
                </a:lnSpc>
              </a:pPr>
              <a:r>
                <a:rPr lang="en-US" sz="975" b="true">
                  <a:solidFill>
                    <a:srgbClr val="FFFFFF"/>
                  </a:solidFill>
                  <a:latin typeface="Cabin Bold"/>
                  <a:ea typeface="Cabin Bold"/>
                  <a:cs typeface="Cabin Bold"/>
                  <a:sym typeface="Cabin Bold"/>
                </a:rPr>
                <a:t>5.1 MR→Spark</a:t>
              </a:r>
            </a:p>
          </p:txBody>
        </p:sp>
      </p:grpSp>
      <p:grpSp>
        <p:nvGrpSpPr>
          <p:cNvPr name="Group 17" id="17"/>
          <p:cNvGrpSpPr/>
          <p:nvPr/>
        </p:nvGrpSpPr>
        <p:grpSpPr>
          <a:xfrm rot="0">
            <a:off x="2214534" y="9087088"/>
            <a:ext cx="1692916" cy="411804"/>
            <a:chOff x="0" y="0"/>
            <a:chExt cx="2257222" cy="549072"/>
          </a:xfrm>
        </p:grpSpPr>
        <p:sp>
          <p:nvSpPr>
            <p:cNvPr name="Freeform 18" id="18"/>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19" id="19"/>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5.2 Spark</a:t>
              </a:r>
            </a:p>
          </p:txBody>
        </p:sp>
      </p:grpSp>
      <p:grpSp>
        <p:nvGrpSpPr>
          <p:cNvPr name="Group 20" id="20"/>
          <p:cNvGrpSpPr/>
          <p:nvPr/>
        </p:nvGrpSpPr>
        <p:grpSpPr>
          <a:xfrm rot="0">
            <a:off x="3948627" y="9087088"/>
            <a:ext cx="1692916" cy="411804"/>
            <a:chOff x="0" y="0"/>
            <a:chExt cx="2257222" cy="549072"/>
          </a:xfrm>
        </p:grpSpPr>
        <p:sp>
          <p:nvSpPr>
            <p:cNvPr name="Freeform 21" id="21"/>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22" id="22"/>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5.3 So sánh</a:t>
              </a:r>
            </a:p>
          </p:txBody>
        </p:sp>
      </p:grpSp>
      <p:grpSp>
        <p:nvGrpSpPr>
          <p:cNvPr name="Group 23" id="23"/>
          <p:cNvGrpSpPr/>
          <p:nvPr/>
        </p:nvGrpSpPr>
        <p:grpSpPr>
          <a:xfrm rot="0">
            <a:off x="5682729" y="9087088"/>
            <a:ext cx="1692916" cy="411804"/>
            <a:chOff x="0" y="0"/>
            <a:chExt cx="2257222" cy="549072"/>
          </a:xfrm>
        </p:grpSpPr>
        <p:sp>
          <p:nvSpPr>
            <p:cNvPr name="Freeform 24" id="24"/>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25" id="25"/>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5.4 Kiến trúc</a:t>
              </a:r>
            </a:p>
          </p:txBody>
        </p:sp>
      </p:grpSp>
      <p:grpSp>
        <p:nvGrpSpPr>
          <p:cNvPr name="Group 26" id="26"/>
          <p:cNvGrpSpPr/>
          <p:nvPr/>
        </p:nvGrpSpPr>
        <p:grpSpPr>
          <a:xfrm rot="0">
            <a:off x="7416822" y="9087088"/>
            <a:ext cx="1692916" cy="411804"/>
            <a:chOff x="0" y="0"/>
            <a:chExt cx="2257222" cy="549072"/>
          </a:xfrm>
        </p:grpSpPr>
        <p:sp>
          <p:nvSpPr>
            <p:cNvPr name="Freeform 27" id="27"/>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28" id="28"/>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5.5 Thực thi</a:t>
              </a:r>
            </a:p>
          </p:txBody>
        </p:sp>
      </p:grpSp>
      <p:grpSp>
        <p:nvGrpSpPr>
          <p:cNvPr name="Group 29" id="29"/>
          <p:cNvGrpSpPr/>
          <p:nvPr/>
        </p:nvGrpSpPr>
        <p:grpSpPr>
          <a:xfrm rot="0">
            <a:off x="9150925" y="9087088"/>
            <a:ext cx="1692916" cy="411804"/>
            <a:chOff x="0" y="0"/>
            <a:chExt cx="2257222" cy="549072"/>
          </a:xfrm>
        </p:grpSpPr>
        <p:sp>
          <p:nvSpPr>
            <p:cNvPr name="Freeform 30" id="30"/>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31" id="31"/>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5.6 Transform/Action</a:t>
              </a:r>
            </a:p>
          </p:txBody>
        </p:sp>
      </p:grpSp>
      <p:grpSp>
        <p:nvGrpSpPr>
          <p:cNvPr name="Group 32" id="32"/>
          <p:cNvGrpSpPr/>
          <p:nvPr/>
        </p:nvGrpSpPr>
        <p:grpSpPr>
          <a:xfrm rot="0">
            <a:off x="10885018" y="9087088"/>
            <a:ext cx="1692916" cy="411804"/>
            <a:chOff x="0" y="0"/>
            <a:chExt cx="2257222" cy="549072"/>
          </a:xfrm>
        </p:grpSpPr>
        <p:sp>
          <p:nvSpPr>
            <p:cNvPr name="Freeform 33" id="33"/>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34" id="34"/>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5.7 Partition</a:t>
              </a:r>
            </a:p>
          </p:txBody>
        </p:sp>
      </p:grpSp>
      <p:grpSp>
        <p:nvGrpSpPr>
          <p:cNvPr name="Group 35" id="35"/>
          <p:cNvGrpSpPr/>
          <p:nvPr/>
        </p:nvGrpSpPr>
        <p:grpSpPr>
          <a:xfrm rot="0">
            <a:off x="12619111" y="9087088"/>
            <a:ext cx="1692916" cy="411804"/>
            <a:chOff x="0" y="0"/>
            <a:chExt cx="2257222" cy="549072"/>
          </a:xfrm>
        </p:grpSpPr>
        <p:sp>
          <p:nvSpPr>
            <p:cNvPr name="Freeform 36" id="36"/>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37" id="37"/>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5.8 RDD/DF</a:t>
              </a:r>
            </a:p>
          </p:txBody>
        </p:sp>
      </p:grpSp>
      <p:grpSp>
        <p:nvGrpSpPr>
          <p:cNvPr name="Group 38" id="38"/>
          <p:cNvGrpSpPr/>
          <p:nvPr/>
        </p:nvGrpSpPr>
        <p:grpSpPr>
          <a:xfrm rot="0">
            <a:off x="14353213" y="9087088"/>
            <a:ext cx="1692916" cy="411804"/>
            <a:chOff x="0" y="0"/>
            <a:chExt cx="2257222" cy="549072"/>
          </a:xfrm>
        </p:grpSpPr>
        <p:sp>
          <p:nvSpPr>
            <p:cNvPr name="Freeform 39" id="39"/>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40" id="40"/>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5.9 PySpark</a:t>
              </a:r>
            </a:p>
          </p:txBody>
        </p:sp>
      </p:grpSp>
      <p:grpSp>
        <p:nvGrpSpPr>
          <p:cNvPr name="Group 41" id="41"/>
          <p:cNvGrpSpPr/>
          <p:nvPr/>
        </p:nvGrpSpPr>
        <p:grpSpPr>
          <a:xfrm rot="0">
            <a:off x="16087306" y="9087088"/>
            <a:ext cx="1692916" cy="411804"/>
            <a:chOff x="0" y="0"/>
            <a:chExt cx="2257222" cy="549072"/>
          </a:xfrm>
        </p:grpSpPr>
        <p:sp>
          <p:nvSpPr>
            <p:cNvPr name="Freeform 42" id="42"/>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43" id="43"/>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TH Thực hành</a:t>
              </a:r>
            </a:p>
          </p:txBody>
        </p:sp>
      </p:grpSp>
      <p:grpSp>
        <p:nvGrpSpPr>
          <p:cNvPr name="Group 44" id="44"/>
          <p:cNvGrpSpPr/>
          <p:nvPr/>
        </p:nvGrpSpPr>
        <p:grpSpPr>
          <a:xfrm rot="0">
            <a:off x="0" y="9677343"/>
            <a:ext cx="18301840" cy="617706"/>
            <a:chOff x="0" y="0"/>
            <a:chExt cx="24402453" cy="823608"/>
          </a:xfrm>
        </p:grpSpPr>
        <p:sp>
          <p:nvSpPr>
            <p:cNvPr name="Freeform 45" id="45"/>
            <p:cNvSpPr/>
            <p:nvPr/>
          </p:nvSpPr>
          <p:spPr>
            <a:xfrm flipH="false" flipV="false" rot="0">
              <a:off x="0" y="0"/>
              <a:ext cx="24402414" cy="823595"/>
            </a:xfrm>
            <a:custGeom>
              <a:avLst/>
              <a:gdLst/>
              <a:ahLst/>
              <a:cxnLst/>
              <a:rect r="r" b="b" t="t" l="l"/>
              <a:pathLst>
                <a:path h="823595" w="24402414">
                  <a:moveTo>
                    <a:pt x="0" y="0"/>
                  </a:moveTo>
                  <a:lnTo>
                    <a:pt x="24402414" y="0"/>
                  </a:lnTo>
                  <a:lnTo>
                    <a:pt x="24402414" y="823595"/>
                  </a:lnTo>
                  <a:lnTo>
                    <a:pt x="0" y="823595"/>
                  </a:lnTo>
                  <a:close/>
                </a:path>
              </a:pathLst>
            </a:custGeom>
            <a:solidFill>
              <a:srgbClr val="1F4E79"/>
            </a:solidFill>
          </p:spPr>
        </p:sp>
      </p:grpSp>
      <p:grpSp>
        <p:nvGrpSpPr>
          <p:cNvPr name="Group 46" id="46"/>
          <p:cNvGrpSpPr/>
          <p:nvPr/>
        </p:nvGrpSpPr>
        <p:grpSpPr>
          <a:xfrm rot="0">
            <a:off x="480431" y="9677343"/>
            <a:ext cx="10981382" cy="617706"/>
            <a:chOff x="0" y="0"/>
            <a:chExt cx="14641843" cy="823608"/>
          </a:xfrm>
        </p:grpSpPr>
        <p:sp>
          <p:nvSpPr>
            <p:cNvPr name="Freeform 47" id="47"/>
            <p:cNvSpPr/>
            <p:nvPr/>
          </p:nvSpPr>
          <p:spPr>
            <a:xfrm flipH="false" flipV="false" rot="0">
              <a:off x="0" y="0"/>
              <a:ext cx="14641840" cy="823603"/>
            </a:xfrm>
            <a:custGeom>
              <a:avLst/>
              <a:gdLst/>
              <a:ahLst/>
              <a:cxnLst/>
              <a:rect r="r" b="b" t="t" l="l"/>
              <a:pathLst>
                <a:path h="823603" w="14641840">
                  <a:moveTo>
                    <a:pt x="0" y="0"/>
                  </a:moveTo>
                  <a:lnTo>
                    <a:pt x="14641840" y="0"/>
                  </a:lnTo>
                  <a:lnTo>
                    <a:pt x="14641840" y="823603"/>
                  </a:lnTo>
                  <a:lnTo>
                    <a:pt x="0" y="823603"/>
                  </a:lnTo>
                  <a:close/>
                </a:path>
              </a:pathLst>
            </a:custGeom>
            <a:blipFill>
              <a:blip r:embed="rId4">
                <a:alphaModFix amt="0"/>
              </a:blip>
              <a:stretch>
                <a:fillRect l="0" t="-296400" r="0" b="-296401"/>
              </a:stretch>
            </a:blipFill>
          </p:spPr>
        </p:sp>
        <p:sp>
          <p:nvSpPr>
            <p:cNvPr name="TextBox 48" id="48"/>
            <p:cNvSpPr txBox="true"/>
            <p:nvPr/>
          </p:nvSpPr>
          <p:spPr>
            <a:xfrm>
              <a:off x="0" y="0"/>
              <a:ext cx="14641843" cy="823608"/>
            </a:xfrm>
            <a:prstGeom prst="rect">
              <a:avLst/>
            </a:prstGeom>
          </p:spPr>
          <p:txBody>
            <a:bodyPr anchor="ctr" rtlCol="false" tIns="0" lIns="0" bIns="0" rIns="0"/>
            <a:lstStyle/>
            <a:p>
              <a:pPr algn="l">
                <a:lnSpc>
                  <a:spcPts val="1621"/>
                </a:lnSpc>
              </a:pPr>
              <a:r>
                <a:rPr lang="en-US" sz="1351">
                  <a:solidFill>
                    <a:srgbClr val="FFFFFF"/>
                  </a:solidFill>
                  <a:latin typeface="Cabin"/>
                  <a:ea typeface="Cabin"/>
                  <a:cs typeface="Cabin"/>
                  <a:sym typeface="Cabin"/>
                </a:rPr>
                <a:t>VNU UET – Institute for Artificial Intelligence</a:t>
              </a:r>
            </a:p>
          </p:txBody>
        </p:sp>
      </p:grpSp>
      <p:grpSp>
        <p:nvGrpSpPr>
          <p:cNvPr name="Group 49" id="49"/>
          <p:cNvGrpSpPr/>
          <p:nvPr/>
        </p:nvGrpSpPr>
        <p:grpSpPr>
          <a:xfrm rot="0">
            <a:off x="17066438" y="9677343"/>
            <a:ext cx="823608" cy="617706"/>
            <a:chOff x="0" y="0"/>
            <a:chExt cx="1098144" cy="823608"/>
          </a:xfrm>
        </p:grpSpPr>
        <p:sp>
          <p:nvSpPr>
            <p:cNvPr name="Freeform 50" id="50"/>
            <p:cNvSpPr/>
            <p:nvPr/>
          </p:nvSpPr>
          <p:spPr>
            <a:xfrm flipH="false" flipV="false" rot="0">
              <a:off x="0" y="0"/>
              <a:ext cx="1098138" cy="823603"/>
            </a:xfrm>
            <a:custGeom>
              <a:avLst/>
              <a:gdLst/>
              <a:ahLst/>
              <a:cxnLst/>
              <a:rect r="r" b="b" t="t" l="l"/>
              <a:pathLst>
                <a:path h="823603" w="1098138">
                  <a:moveTo>
                    <a:pt x="0" y="0"/>
                  </a:moveTo>
                  <a:lnTo>
                    <a:pt x="1098138" y="0"/>
                  </a:lnTo>
                  <a:lnTo>
                    <a:pt x="1098138" y="823603"/>
                  </a:lnTo>
                  <a:lnTo>
                    <a:pt x="0" y="823603"/>
                  </a:lnTo>
                  <a:close/>
                </a:path>
              </a:pathLst>
            </a:custGeom>
            <a:blipFill>
              <a:blip r:embed="rId4">
                <a:alphaModFix amt="0"/>
              </a:blip>
              <a:stretch>
                <a:fillRect l="-46227" t="0" r="-46228" b="0"/>
              </a:stretch>
            </a:blipFill>
          </p:spPr>
        </p:sp>
        <p:sp>
          <p:nvSpPr>
            <p:cNvPr name="TextBox 51" id="51"/>
            <p:cNvSpPr txBox="true"/>
            <p:nvPr/>
          </p:nvSpPr>
          <p:spPr>
            <a:xfrm>
              <a:off x="0" y="0"/>
              <a:ext cx="1098144" cy="823608"/>
            </a:xfrm>
            <a:prstGeom prst="rect">
              <a:avLst/>
            </a:prstGeom>
          </p:spPr>
          <p:txBody>
            <a:bodyPr anchor="ctr" rtlCol="false" tIns="0" lIns="0" bIns="0" rIns="0"/>
            <a:lstStyle/>
            <a:p>
              <a:pPr algn="r">
                <a:lnSpc>
                  <a:spcPts val="1621"/>
                </a:lnSpc>
              </a:pPr>
              <a:r>
                <a:rPr lang="en-US" sz="1351">
                  <a:solidFill>
                    <a:srgbClr val="FFFFFF"/>
                  </a:solidFill>
                  <a:latin typeface="Cabin"/>
                  <a:ea typeface="Cabin"/>
                  <a:cs typeface="Cabin"/>
                  <a:sym typeface="Cabin"/>
                </a:rPr>
                <a:t>5</a:t>
              </a:r>
            </a:p>
          </p:txBody>
        </p:sp>
      </p:grpSp>
      <p:grpSp>
        <p:nvGrpSpPr>
          <p:cNvPr name="Group 52" id="52"/>
          <p:cNvGrpSpPr/>
          <p:nvPr/>
        </p:nvGrpSpPr>
        <p:grpSpPr>
          <a:xfrm rot="0">
            <a:off x="0" y="0"/>
            <a:ext cx="18288000" cy="315468"/>
            <a:chOff x="0" y="0"/>
            <a:chExt cx="24384000" cy="420624"/>
          </a:xfrm>
        </p:grpSpPr>
        <p:sp>
          <p:nvSpPr>
            <p:cNvPr name="Freeform 53" id="53"/>
            <p:cNvSpPr/>
            <p:nvPr/>
          </p:nvSpPr>
          <p:spPr>
            <a:xfrm flipH="false" flipV="false" rot="0">
              <a:off x="0" y="0"/>
              <a:ext cx="24384000" cy="420624"/>
            </a:xfrm>
            <a:custGeom>
              <a:avLst/>
              <a:gdLst/>
              <a:ahLst/>
              <a:cxnLst/>
              <a:rect r="r" b="b" t="t" l="l"/>
              <a:pathLst>
                <a:path h="420624" w="24384000">
                  <a:moveTo>
                    <a:pt x="0" y="0"/>
                  </a:moveTo>
                  <a:lnTo>
                    <a:pt x="24384000" y="0"/>
                  </a:lnTo>
                  <a:lnTo>
                    <a:pt x="24384000" y="420624"/>
                  </a:lnTo>
                  <a:lnTo>
                    <a:pt x="0" y="420624"/>
                  </a:lnTo>
                  <a:close/>
                </a:path>
              </a:pathLst>
            </a:custGeom>
            <a:solidFill>
              <a:srgbClr val="0F3F6F"/>
            </a:solidFill>
          </p:spPr>
        </p:sp>
      </p:grpSp>
      <p:grpSp>
        <p:nvGrpSpPr>
          <p:cNvPr name="Group 54" id="54"/>
          <p:cNvGrpSpPr/>
          <p:nvPr/>
        </p:nvGrpSpPr>
        <p:grpSpPr>
          <a:xfrm rot="0">
            <a:off x="13098780" y="0"/>
            <a:ext cx="1453896" cy="1508760"/>
            <a:chOff x="0" y="0"/>
            <a:chExt cx="1938528" cy="2011680"/>
          </a:xfrm>
        </p:grpSpPr>
        <p:sp>
          <p:nvSpPr>
            <p:cNvPr name="Freeform 55" id="55"/>
            <p:cNvSpPr/>
            <p:nvPr/>
          </p:nvSpPr>
          <p:spPr>
            <a:xfrm flipH="false" flipV="false" rot="0">
              <a:off x="0" y="0"/>
              <a:ext cx="1938528" cy="2011680"/>
            </a:xfrm>
            <a:custGeom>
              <a:avLst/>
              <a:gdLst/>
              <a:ahLst/>
              <a:cxnLst/>
              <a:rect r="r" b="b" t="t" l="l"/>
              <a:pathLst>
                <a:path h="2011680" w="1938528">
                  <a:moveTo>
                    <a:pt x="0" y="2011680"/>
                  </a:moveTo>
                  <a:lnTo>
                    <a:pt x="484632" y="0"/>
                  </a:lnTo>
                  <a:lnTo>
                    <a:pt x="1938528" y="0"/>
                  </a:lnTo>
                  <a:lnTo>
                    <a:pt x="1453896" y="2011680"/>
                  </a:lnTo>
                  <a:close/>
                </a:path>
              </a:pathLst>
            </a:custGeom>
            <a:solidFill>
              <a:srgbClr val="85B518"/>
            </a:solidFill>
          </p:spPr>
        </p:sp>
      </p:grpSp>
      <p:grpSp>
        <p:nvGrpSpPr>
          <p:cNvPr name="Group 56" id="56"/>
          <p:cNvGrpSpPr/>
          <p:nvPr/>
        </p:nvGrpSpPr>
        <p:grpSpPr>
          <a:xfrm rot="0">
            <a:off x="14621256" y="0"/>
            <a:ext cx="1508760" cy="1508760"/>
            <a:chOff x="0" y="0"/>
            <a:chExt cx="2011680" cy="2011680"/>
          </a:xfrm>
        </p:grpSpPr>
        <p:sp>
          <p:nvSpPr>
            <p:cNvPr name="Freeform 57" id="57"/>
            <p:cNvSpPr/>
            <p:nvPr/>
          </p:nvSpPr>
          <p:spPr>
            <a:xfrm flipH="false" flipV="false" rot="0">
              <a:off x="0" y="0"/>
              <a:ext cx="2011680" cy="2011680"/>
            </a:xfrm>
            <a:custGeom>
              <a:avLst/>
              <a:gdLst/>
              <a:ahLst/>
              <a:cxnLst/>
              <a:rect r="r" b="b" t="t" l="l"/>
              <a:pathLst>
                <a:path h="2011680" w="2011680">
                  <a:moveTo>
                    <a:pt x="0" y="2011680"/>
                  </a:moveTo>
                  <a:lnTo>
                    <a:pt x="502920" y="0"/>
                  </a:lnTo>
                  <a:lnTo>
                    <a:pt x="2011680" y="0"/>
                  </a:lnTo>
                  <a:lnTo>
                    <a:pt x="1508760" y="2011680"/>
                  </a:lnTo>
                  <a:close/>
                </a:path>
              </a:pathLst>
            </a:custGeom>
            <a:solidFill>
              <a:srgbClr val="0F3F6F"/>
            </a:solid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97801" y="384353"/>
            <a:ext cx="851059" cy="851059"/>
            <a:chOff x="0" y="0"/>
            <a:chExt cx="1134745" cy="1134745"/>
          </a:xfrm>
        </p:grpSpPr>
        <p:sp>
          <p:nvSpPr>
            <p:cNvPr name="Freeform 3" id="3" descr="/home/claude/work/assets/logo.png"/>
            <p:cNvSpPr/>
            <p:nvPr/>
          </p:nvSpPr>
          <p:spPr>
            <a:xfrm flipH="false" flipV="false" rot="0">
              <a:off x="0" y="0"/>
              <a:ext cx="1134745" cy="1134745"/>
            </a:xfrm>
            <a:custGeom>
              <a:avLst/>
              <a:gdLst/>
              <a:ahLst/>
              <a:cxnLst/>
              <a:rect r="r" b="b" t="t" l="l"/>
              <a:pathLst>
                <a:path h="1134745" w="1134745">
                  <a:moveTo>
                    <a:pt x="0" y="0"/>
                  </a:moveTo>
                  <a:lnTo>
                    <a:pt x="1134745" y="0"/>
                  </a:lnTo>
                  <a:lnTo>
                    <a:pt x="1134745" y="1134745"/>
                  </a:lnTo>
                  <a:lnTo>
                    <a:pt x="0" y="1134745"/>
                  </a:lnTo>
                  <a:lnTo>
                    <a:pt x="0" y="0"/>
                  </a:lnTo>
                  <a:close/>
                </a:path>
              </a:pathLst>
            </a:custGeom>
            <a:blipFill>
              <a:blip r:embed="rId3"/>
              <a:stretch>
                <a:fillRect l="0" t="0" r="0" b="0"/>
              </a:stretch>
            </a:blipFill>
          </p:spPr>
        </p:sp>
      </p:grpSp>
      <p:grpSp>
        <p:nvGrpSpPr>
          <p:cNvPr name="Group 4" id="4"/>
          <p:cNvGrpSpPr/>
          <p:nvPr/>
        </p:nvGrpSpPr>
        <p:grpSpPr>
          <a:xfrm rot="0">
            <a:off x="686333" y="384353"/>
            <a:ext cx="10981382" cy="411804"/>
            <a:chOff x="0" y="0"/>
            <a:chExt cx="14641843" cy="549072"/>
          </a:xfrm>
        </p:grpSpPr>
        <p:sp>
          <p:nvSpPr>
            <p:cNvPr name="Freeform 5" id="5"/>
            <p:cNvSpPr/>
            <p:nvPr/>
          </p:nvSpPr>
          <p:spPr>
            <a:xfrm flipH="false" flipV="false" rot="0">
              <a:off x="0" y="0"/>
              <a:ext cx="14641840" cy="549069"/>
            </a:xfrm>
            <a:custGeom>
              <a:avLst/>
              <a:gdLst/>
              <a:ahLst/>
              <a:cxnLst/>
              <a:rect r="r" b="b" t="t" l="l"/>
              <a:pathLst>
                <a:path h="549069" w="14641840">
                  <a:moveTo>
                    <a:pt x="0" y="0"/>
                  </a:moveTo>
                  <a:lnTo>
                    <a:pt x="14641840" y="0"/>
                  </a:lnTo>
                  <a:lnTo>
                    <a:pt x="14641840" y="549069"/>
                  </a:lnTo>
                  <a:lnTo>
                    <a:pt x="0" y="549069"/>
                  </a:lnTo>
                  <a:close/>
                </a:path>
              </a:pathLst>
            </a:custGeom>
            <a:blipFill>
              <a:blip r:embed="rId4">
                <a:alphaModFix amt="0"/>
              </a:blip>
              <a:stretch>
                <a:fillRect l="0" t="-469600" r="0" b="-469601"/>
              </a:stretch>
            </a:blipFill>
          </p:spPr>
        </p:sp>
        <p:sp>
          <p:nvSpPr>
            <p:cNvPr name="TextBox 6" id="6"/>
            <p:cNvSpPr txBox="true"/>
            <p:nvPr/>
          </p:nvSpPr>
          <p:spPr>
            <a:xfrm>
              <a:off x="0" y="0"/>
              <a:ext cx="14641843" cy="549072"/>
            </a:xfrm>
            <a:prstGeom prst="rect">
              <a:avLst/>
            </a:prstGeom>
          </p:spPr>
          <p:txBody>
            <a:bodyPr anchor="ctr" rtlCol="false" tIns="0" lIns="0" bIns="0" rIns="0"/>
            <a:lstStyle/>
            <a:p>
              <a:pPr algn="l">
                <a:lnSpc>
                  <a:spcPts val="1981"/>
                </a:lnSpc>
              </a:pPr>
              <a:r>
                <a:rPr lang="en-US" sz="1651" i="true">
                  <a:solidFill>
                    <a:srgbClr val="4A4A4A"/>
                  </a:solidFill>
                  <a:latin typeface="Cabin Italics"/>
                  <a:ea typeface="Cabin Italics"/>
                  <a:cs typeface="Cabin Italics"/>
                  <a:sym typeface="Cabin Italics"/>
                </a:rPr>
                <a:t>5.1. Từ MapReduce đến Spark · Bài 05</a:t>
              </a:r>
            </a:p>
          </p:txBody>
        </p:sp>
      </p:grpSp>
      <p:grpSp>
        <p:nvGrpSpPr>
          <p:cNvPr name="Group 7" id="7"/>
          <p:cNvGrpSpPr/>
          <p:nvPr/>
        </p:nvGrpSpPr>
        <p:grpSpPr>
          <a:xfrm rot="0">
            <a:off x="674418" y="839143"/>
            <a:ext cx="710165" cy="710165"/>
            <a:chOff x="0" y="0"/>
            <a:chExt cx="946887" cy="946887"/>
          </a:xfrm>
        </p:grpSpPr>
        <p:sp>
          <p:nvSpPr>
            <p:cNvPr name="Freeform 8" id="8"/>
            <p:cNvSpPr/>
            <p:nvPr/>
          </p:nvSpPr>
          <p:spPr>
            <a:xfrm flipH="false" flipV="false" rot="0">
              <a:off x="0" y="0"/>
              <a:ext cx="946912" cy="946912"/>
            </a:xfrm>
            <a:custGeom>
              <a:avLst/>
              <a:gdLst/>
              <a:ahLst/>
              <a:cxnLst/>
              <a:rect r="r" b="b" t="t" l="l"/>
              <a:pathLst>
                <a:path h="946912" w="946912">
                  <a:moveTo>
                    <a:pt x="0" y="473456"/>
                  </a:moveTo>
                  <a:cubicBezTo>
                    <a:pt x="0" y="211963"/>
                    <a:pt x="211963" y="0"/>
                    <a:pt x="473456" y="0"/>
                  </a:cubicBezTo>
                  <a:cubicBezTo>
                    <a:pt x="734949" y="0"/>
                    <a:pt x="946912" y="211963"/>
                    <a:pt x="946912" y="473456"/>
                  </a:cubicBezTo>
                  <a:cubicBezTo>
                    <a:pt x="946912" y="734949"/>
                    <a:pt x="734949" y="946912"/>
                    <a:pt x="473456" y="946912"/>
                  </a:cubicBezTo>
                  <a:cubicBezTo>
                    <a:pt x="211963" y="946912"/>
                    <a:pt x="0" y="734949"/>
                    <a:pt x="0" y="473456"/>
                  </a:cubicBezTo>
                  <a:close/>
                </a:path>
              </a:pathLst>
            </a:custGeom>
            <a:solidFill>
              <a:srgbClr val="FFFFFF"/>
            </a:solidFill>
            <a:ln w="23831" cap="sq">
              <a:solidFill>
                <a:srgbClr val="1F4E79"/>
              </a:solidFill>
              <a:prstDash val="solid"/>
              <a:miter/>
            </a:ln>
          </p:spPr>
        </p:sp>
      </p:grpSp>
      <p:grpSp>
        <p:nvGrpSpPr>
          <p:cNvPr name="Group 9" id="9"/>
          <p:cNvGrpSpPr/>
          <p:nvPr/>
        </p:nvGrpSpPr>
        <p:grpSpPr>
          <a:xfrm rot="0">
            <a:off x="686333" y="851059"/>
            <a:ext cx="686333" cy="686333"/>
            <a:chOff x="0" y="0"/>
            <a:chExt cx="915111" cy="915111"/>
          </a:xfrm>
        </p:grpSpPr>
        <p:sp>
          <p:nvSpPr>
            <p:cNvPr name="Freeform 10" id="10"/>
            <p:cNvSpPr/>
            <p:nvPr/>
          </p:nvSpPr>
          <p:spPr>
            <a:xfrm flipH="false" flipV="false" rot="0">
              <a:off x="0" y="0"/>
              <a:ext cx="915115" cy="915115"/>
            </a:xfrm>
            <a:custGeom>
              <a:avLst/>
              <a:gdLst/>
              <a:ahLst/>
              <a:cxnLst/>
              <a:rect r="r" b="b" t="t" l="l"/>
              <a:pathLst>
                <a:path h="915115" w="915115">
                  <a:moveTo>
                    <a:pt x="0" y="0"/>
                  </a:moveTo>
                  <a:lnTo>
                    <a:pt x="915115" y="0"/>
                  </a:lnTo>
                  <a:lnTo>
                    <a:pt x="915115" y="915115"/>
                  </a:lnTo>
                  <a:lnTo>
                    <a:pt x="0" y="915115"/>
                  </a:lnTo>
                  <a:close/>
                </a:path>
              </a:pathLst>
            </a:custGeom>
            <a:blipFill>
              <a:blip r:embed="rId4">
                <a:alphaModFix amt="0"/>
              </a:blip>
              <a:stretch>
                <a:fillRect l="-78303" t="0" r="-78302" b="0"/>
              </a:stretch>
            </a:blipFill>
          </p:spPr>
        </p:sp>
        <p:sp>
          <p:nvSpPr>
            <p:cNvPr name="TextBox 11" id="11"/>
            <p:cNvSpPr txBox="true"/>
            <p:nvPr/>
          </p:nvSpPr>
          <p:spPr>
            <a:xfrm>
              <a:off x="0" y="0"/>
              <a:ext cx="915111" cy="915111"/>
            </a:xfrm>
            <a:prstGeom prst="rect">
              <a:avLst/>
            </a:prstGeom>
          </p:spPr>
          <p:txBody>
            <a:bodyPr anchor="ctr" rtlCol="false" tIns="0" lIns="0" bIns="0" rIns="0"/>
            <a:lstStyle/>
            <a:p>
              <a:pPr algn="ctr">
                <a:lnSpc>
                  <a:spcPts val="2521"/>
                </a:lnSpc>
              </a:pPr>
              <a:r>
                <a:rPr lang="en-US" sz="2101" b="true">
                  <a:solidFill>
                    <a:srgbClr val="1F4E79"/>
                  </a:solidFill>
                  <a:latin typeface="Cabin Bold"/>
                  <a:ea typeface="Cabin Bold"/>
                  <a:cs typeface="Cabin Bold"/>
                  <a:sym typeface="Cabin Bold"/>
                </a:rPr>
                <a:t>01</a:t>
              </a:r>
            </a:p>
          </p:txBody>
        </p:sp>
      </p:grpSp>
      <p:grpSp>
        <p:nvGrpSpPr>
          <p:cNvPr name="Group 12" id="12"/>
          <p:cNvGrpSpPr/>
          <p:nvPr/>
        </p:nvGrpSpPr>
        <p:grpSpPr>
          <a:xfrm rot="0">
            <a:off x="1578569" y="823608"/>
            <a:ext cx="82363" cy="754971"/>
            <a:chOff x="0" y="0"/>
            <a:chExt cx="109817" cy="1006627"/>
          </a:xfrm>
        </p:grpSpPr>
        <p:sp>
          <p:nvSpPr>
            <p:cNvPr name="Freeform 13" id="13"/>
            <p:cNvSpPr/>
            <p:nvPr/>
          </p:nvSpPr>
          <p:spPr>
            <a:xfrm flipH="false" flipV="false" rot="0">
              <a:off x="0" y="0"/>
              <a:ext cx="109855" cy="1006602"/>
            </a:xfrm>
            <a:custGeom>
              <a:avLst/>
              <a:gdLst/>
              <a:ahLst/>
              <a:cxnLst/>
              <a:rect r="r" b="b" t="t" l="l"/>
              <a:pathLst>
                <a:path h="1006602" w="109855">
                  <a:moveTo>
                    <a:pt x="0" y="0"/>
                  </a:moveTo>
                  <a:lnTo>
                    <a:pt x="109855" y="0"/>
                  </a:lnTo>
                  <a:lnTo>
                    <a:pt x="109855" y="1006602"/>
                  </a:lnTo>
                  <a:lnTo>
                    <a:pt x="0" y="1006602"/>
                  </a:lnTo>
                  <a:close/>
                </a:path>
              </a:pathLst>
            </a:custGeom>
            <a:solidFill>
              <a:srgbClr val="85B518"/>
            </a:solidFill>
          </p:spPr>
        </p:sp>
      </p:grpSp>
      <p:grpSp>
        <p:nvGrpSpPr>
          <p:cNvPr name="Group 14" id="14"/>
          <p:cNvGrpSpPr/>
          <p:nvPr/>
        </p:nvGrpSpPr>
        <p:grpSpPr>
          <a:xfrm rot="0">
            <a:off x="1853108" y="796147"/>
            <a:ext cx="14938791" cy="823608"/>
            <a:chOff x="0" y="0"/>
            <a:chExt cx="19918388" cy="1098144"/>
          </a:xfrm>
        </p:grpSpPr>
        <p:sp>
          <p:nvSpPr>
            <p:cNvPr name="Freeform 15" id="15"/>
            <p:cNvSpPr/>
            <p:nvPr/>
          </p:nvSpPr>
          <p:spPr>
            <a:xfrm flipH="false" flipV="false" rot="0">
              <a:off x="0" y="0"/>
              <a:ext cx="19918392" cy="1098138"/>
            </a:xfrm>
            <a:custGeom>
              <a:avLst/>
              <a:gdLst/>
              <a:ahLst/>
              <a:cxnLst/>
              <a:rect r="r" b="b" t="t" l="l"/>
              <a:pathLst>
                <a:path h="1098138" w="19918392">
                  <a:moveTo>
                    <a:pt x="0" y="0"/>
                  </a:moveTo>
                  <a:lnTo>
                    <a:pt x="19918392" y="0"/>
                  </a:lnTo>
                  <a:lnTo>
                    <a:pt x="19918392" y="1098138"/>
                  </a:lnTo>
                  <a:lnTo>
                    <a:pt x="0" y="1098138"/>
                  </a:lnTo>
                  <a:close/>
                </a:path>
              </a:pathLst>
            </a:custGeom>
            <a:blipFill>
              <a:blip r:embed="rId4">
                <a:alphaModFix amt="0"/>
              </a:blip>
              <a:stretch>
                <a:fillRect l="0" t="-303425" r="0" b="-303426"/>
              </a:stretch>
            </a:blipFill>
          </p:spPr>
        </p:sp>
        <p:sp>
          <p:nvSpPr>
            <p:cNvPr name="TextBox 16" id="16"/>
            <p:cNvSpPr txBox="true"/>
            <p:nvPr/>
          </p:nvSpPr>
          <p:spPr>
            <a:xfrm>
              <a:off x="0" y="0"/>
              <a:ext cx="19918388" cy="1098144"/>
            </a:xfrm>
            <a:prstGeom prst="rect">
              <a:avLst/>
            </a:prstGeom>
          </p:spPr>
          <p:txBody>
            <a:bodyPr anchor="ctr" rtlCol="false" tIns="0" lIns="0" bIns="0" rIns="0"/>
            <a:lstStyle/>
            <a:p>
              <a:pPr algn="l">
                <a:lnSpc>
                  <a:spcPts val="3782"/>
                </a:lnSpc>
              </a:pPr>
              <a:r>
                <a:rPr lang="en-US" sz="3152" b="true">
                  <a:solidFill>
                    <a:srgbClr val="1F4E79"/>
                  </a:solidFill>
                  <a:latin typeface="Cabin Bold"/>
                  <a:ea typeface="Cabin Bold"/>
                  <a:cs typeface="Cabin Bold"/>
                  <a:sym typeface="Cabin Bold"/>
                </a:rPr>
                <a:t>Nếu một thuật toán cần nhiều bước, tại sao phải ghi đĩa mỗi bước?</a:t>
              </a:r>
            </a:p>
          </p:txBody>
        </p:sp>
      </p:grpSp>
      <p:grpSp>
        <p:nvGrpSpPr>
          <p:cNvPr name="Group 17" id="17"/>
          <p:cNvGrpSpPr/>
          <p:nvPr/>
        </p:nvGrpSpPr>
        <p:grpSpPr>
          <a:xfrm rot="0">
            <a:off x="686333" y="1949196"/>
            <a:ext cx="16883872" cy="549069"/>
            <a:chOff x="0" y="0"/>
            <a:chExt cx="22511830" cy="732092"/>
          </a:xfrm>
        </p:grpSpPr>
        <p:sp>
          <p:nvSpPr>
            <p:cNvPr name="Freeform 18" id="18"/>
            <p:cNvSpPr/>
            <p:nvPr/>
          </p:nvSpPr>
          <p:spPr>
            <a:xfrm flipH="false" flipV="false" rot="0">
              <a:off x="0" y="0"/>
              <a:ext cx="22511827" cy="732092"/>
            </a:xfrm>
            <a:custGeom>
              <a:avLst/>
              <a:gdLst/>
              <a:ahLst/>
              <a:cxnLst/>
              <a:rect r="r" b="b" t="t" l="l"/>
              <a:pathLst>
                <a:path h="732092" w="22511827">
                  <a:moveTo>
                    <a:pt x="0" y="0"/>
                  </a:moveTo>
                  <a:lnTo>
                    <a:pt x="22511827" y="0"/>
                  </a:lnTo>
                  <a:lnTo>
                    <a:pt x="22511827" y="732092"/>
                  </a:lnTo>
                  <a:lnTo>
                    <a:pt x="0" y="732092"/>
                  </a:lnTo>
                  <a:close/>
                </a:path>
              </a:pathLst>
            </a:custGeom>
            <a:blipFill>
              <a:blip r:embed="rId4">
                <a:alphaModFix amt="0"/>
              </a:blip>
              <a:stretch>
                <a:fillRect l="0" t="-549165" r="0" b="-549164"/>
              </a:stretch>
            </a:blipFill>
          </p:spPr>
        </p:sp>
        <p:sp>
          <p:nvSpPr>
            <p:cNvPr name="TextBox 19" id="19"/>
            <p:cNvSpPr txBox="true"/>
            <p:nvPr/>
          </p:nvSpPr>
          <p:spPr>
            <a:xfrm>
              <a:off x="0" y="0"/>
              <a:ext cx="22511830" cy="732092"/>
            </a:xfrm>
            <a:prstGeom prst="rect">
              <a:avLst/>
            </a:prstGeom>
          </p:spPr>
          <p:txBody>
            <a:bodyPr anchor="ctr" rtlCol="false" tIns="0" lIns="0" bIns="0" rIns="0"/>
            <a:lstStyle/>
            <a:p>
              <a:pPr algn="l">
                <a:lnSpc>
                  <a:spcPts val="2071"/>
                </a:lnSpc>
              </a:pPr>
              <a:r>
                <a:rPr lang="en-US" sz="1726" i="true">
                  <a:solidFill>
                    <a:srgbClr val="4A4A4A"/>
                  </a:solidFill>
                  <a:latin typeface="Cabin Italics"/>
                  <a:ea typeface="Cabin Italics"/>
                  <a:cs typeface="Cabin Italics"/>
                  <a:sym typeface="Cabin Italics"/>
                </a:rPr>
                <a:t>Đây là câu hỏi cốt lõi dẫn tới sự ra đời của Apache Spark.</a:t>
              </a:r>
            </a:p>
          </p:txBody>
        </p:sp>
      </p:grpSp>
      <p:grpSp>
        <p:nvGrpSpPr>
          <p:cNvPr name="Group 20" id="20"/>
          <p:cNvGrpSpPr/>
          <p:nvPr/>
        </p:nvGrpSpPr>
        <p:grpSpPr>
          <a:xfrm rot="0">
            <a:off x="686333" y="2745343"/>
            <a:ext cx="8098765" cy="549069"/>
            <a:chOff x="0" y="0"/>
            <a:chExt cx="10798353" cy="732092"/>
          </a:xfrm>
        </p:grpSpPr>
        <p:sp>
          <p:nvSpPr>
            <p:cNvPr name="Freeform 21" id="21"/>
            <p:cNvSpPr/>
            <p:nvPr/>
          </p:nvSpPr>
          <p:spPr>
            <a:xfrm flipH="false" flipV="false" rot="0">
              <a:off x="0" y="0"/>
              <a:ext cx="10798356" cy="732092"/>
            </a:xfrm>
            <a:custGeom>
              <a:avLst/>
              <a:gdLst/>
              <a:ahLst/>
              <a:cxnLst/>
              <a:rect r="r" b="b" t="t" l="l"/>
              <a:pathLst>
                <a:path h="732092" w="10798356">
                  <a:moveTo>
                    <a:pt x="0" y="0"/>
                  </a:moveTo>
                  <a:lnTo>
                    <a:pt x="10798356" y="0"/>
                  </a:lnTo>
                  <a:lnTo>
                    <a:pt x="10798356" y="732092"/>
                  </a:lnTo>
                  <a:lnTo>
                    <a:pt x="0" y="732092"/>
                  </a:lnTo>
                  <a:close/>
                </a:path>
              </a:pathLst>
            </a:custGeom>
            <a:blipFill>
              <a:blip r:embed="rId4">
                <a:alphaModFix amt="0"/>
              </a:blip>
              <a:stretch>
                <a:fillRect l="0" t="-237404" r="0" b="-237404"/>
              </a:stretch>
            </a:blipFill>
          </p:spPr>
        </p:sp>
        <p:sp>
          <p:nvSpPr>
            <p:cNvPr name="TextBox 22" id="22"/>
            <p:cNvSpPr txBox="true"/>
            <p:nvPr/>
          </p:nvSpPr>
          <p:spPr>
            <a:xfrm>
              <a:off x="0" y="0"/>
              <a:ext cx="10798353" cy="732092"/>
            </a:xfrm>
            <a:prstGeom prst="rect">
              <a:avLst/>
            </a:prstGeom>
          </p:spPr>
          <p:txBody>
            <a:bodyPr anchor="ctr" rtlCol="false" tIns="0" lIns="0" bIns="0" rIns="0"/>
            <a:lstStyle/>
            <a:p>
              <a:pPr algn="ctr">
                <a:lnSpc>
                  <a:spcPts val="2521"/>
                </a:lnSpc>
              </a:pPr>
              <a:r>
                <a:rPr lang="en-US" sz="2101" b="true">
                  <a:solidFill>
                    <a:srgbClr val="B22222"/>
                  </a:solidFill>
                  <a:latin typeface="Cabin Bold"/>
                  <a:ea typeface="Cabin Bold"/>
                  <a:cs typeface="Cabin Bold"/>
                  <a:sym typeface="Cabin Bold"/>
                </a:rPr>
                <a:t>Hadoop MapReduce</a:t>
              </a:r>
            </a:p>
          </p:txBody>
        </p:sp>
      </p:grpSp>
      <p:grpSp>
        <p:nvGrpSpPr>
          <p:cNvPr name="Group 23" id="23"/>
          <p:cNvGrpSpPr/>
          <p:nvPr/>
        </p:nvGrpSpPr>
        <p:grpSpPr>
          <a:xfrm rot="0">
            <a:off x="9540069" y="2745343"/>
            <a:ext cx="8098765" cy="549069"/>
            <a:chOff x="0" y="0"/>
            <a:chExt cx="10798353" cy="732092"/>
          </a:xfrm>
        </p:grpSpPr>
        <p:sp>
          <p:nvSpPr>
            <p:cNvPr name="Freeform 24" id="24"/>
            <p:cNvSpPr/>
            <p:nvPr/>
          </p:nvSpPr>
          <p:spPr>
            <a:xfrm flipH="false" flipV="false" rot="0">
              <a:off x="0" y="0"/>
              <a:ext cx="10798356" cy="732092"/>
            </a:xfrm>
            <a:custGeom>
              <a:avLst/>
              <a:gdLst/>
              <a:ahLst/>
              <a:cxnLst/>
              <a:rect r="r" b="b" t="t" l="l"/>
              <a:pathLst>
                <a:path h="732092" w="10798356">
                  <a:moveTo>
                    <a:pt x="0" y="0"/>
                  </a:moveTo>
                  <a:lnTo>
                    <a:pt x="10798356" y="0"/>
                  </a:lnTo>
                  <a:lnTo>
                    <a:pt x="10798356" y="732092"/>
                  </a:lnTo>
                  <a:lnTo>
                    <a:pt x="0" y="732092"/>
                  </a:lnTo>
                  <a:close/>
                </a:path>
              </a:pathLst>
            </a:custGeom>
            <a:blipFill>
              <a:blip r:embed="rId4">
                <a:alphaModFix amt="0"/>
              </a:blip>
              <a:stretch>
                <a:fillRect l="0" t="-237404" r="0" b="-237404"/>
              </a:stretch>
            </a:blipFill>
          </p:spPr>
        </p:sp>
        <p:sp>
          <p:nvSpPr>
            <p:cNvPr name="TextBox 25" id="25"/>
            <p:cNvSpPr txBox="true"/>
            <p:nvPr/>
          </p:nvSpPr>
          <p:spPr>
            <a:xfrm>
              <a:off x="0" y="0"/>
              <a:ext cx="10798353" cy="732092"/>
            </a:xfrm>
            <a:prstGeom prst="rect">
              <a:avLst/>
            </a:prstGeom>
          </p:spPr>
          <p:txBody>
            <a:bodyPr anchor="ctr" rtlCol="false" tIns="0" lIns="0" bIns="0" rIns="0"/>
            <a:lstStyle/>
            <a:p>
              <a:pPr algn="ctr">
                <a:lnSpc>
                  <a:spcPts val="2521"/>
                </a:lnSpc>
              </a:pPr>
              <a:r>
                <a:rPr lang="en-US" sz="2101" b="true">
                  <a:solidFill>
                    <a:srgbClr val="1F4E79"/>
                  </a:solidFill>
                  <a:latin typeface="Cabin Bold"/>
                  <a:ea typeface="Cabin Bold"/>
                  <a:cs typeface="Cabin Bold"/>
                  <a:sym typeface="Cabin Bold"/>
                </a:rPr>
                <a:t>Apache Spark</a:t>
              </a:r>
            </a:p>
          </p:txBody>
        </p:sp>
      </p:grpSp>
      <p:grpSp>
        <p:nvGrpSpPr>
          <p:cNvPr name="Group 26" id="26"/>
          <p:cNvGrpSpPr/>
          <p:nvPr/>
        </p:nvGrpSpPr>
        <p:grpSpPr>
          <a:xfrm rot="0">
            <a:off x="2529916" y="3490779"/>
            <a:ext cx="4411618" cy="870118"/>
            <a:chOff x="0" y="0"/>
            <a:chExt cx="5882157" cy="1160158"/>
          </a:xfrm>
        </p:grpSpPr>
        <p:sp>
          <p:nvSpPr>
            <p:cNvPr name="Freeform 27" id="27"/>
            <p:cNvSpPr/>
            <p:nvPr/>
          </p:nvSpPr>
          <p:spPr>
            <a:xfrm flipH="false" flipV="false" rot="0">
              <a:off x="0" y="0"/>
              <a:ext cx="5882132" cy="1160145"/>
            </a:xfrm>
            <a:custGeom>
              <a:avLst/>
              <a:gdLst/>
              <a:ahLst/>
              <a:cxnLst/>
              <a:rect r="r" b="b" t="t" l="l"/>
              <a:pathLst>
                <a:path h="1160145" w="5882132">
                  <a:moveTo>
                    <a:pt x="0" y="93599"/>
                  </a:moveTo>
                  <a:cubicBezTo>
                    <a:pt x="0" y="41910"/>
                    <a:pt x="41910" y="0"/>
                    <a:pt x="93599" y="0"/>
                  </a:cubicBezTo>
                  <a:lnTo>
                    <a:pt x="5788533" y="0"/>
                  </a:lnTo>
                  <a:cubicBezTo>
                    <a:pt x="5840222" y="0"/>
                    <a:pt x="5882132" y="41910"/>
                    <a:pt x="5882132" y="93599"/>
                  </a:cubicBezTo>
                  <a:lnTo>
                    <a:pt x="5882132" y="1066546"/>
                  </a:lnTo>
                  <a:cubicBezTo>
                    <a:pt x="5882132" y="1118235"/>
                    <a:pt x="5840222" y="1160145"/>
                    <a:pt x="5788533" y="1160145"/>
                  </a:cubicBezTo>
                  <a:lnTo>
                    <a:pt x="93599" y="1160145"/>
                  </a:lnTo>
                  <a:cubicBezTo>
                    <a:pt x="41910" y="1160145"/>
                    <a:pt x="0" y="1118235"/>
                    <a:pt x="0" y="1066546"/>
                  </a:cubicBezTo>
                  <a:close/>
                </a:path>
              </a:pathLst>
            </a:custGeom>
            <a:solidFill>
              <a:srgbClr val="F5D4D4"/>
            </a:solidFill>
            <a:ln w="19065" cap="sq">
              <a:solidFill>
                <a:srgbClr val="C0392B"/>
              </a:solidFill>
              <a:prstDash val="solid"/>
              <a:miter/>
            </a:ln>
          </p:spPr>
        </p:sp>
      </p:grpSp>
      <p:grpSp>
        <p:nvGrpSpPr>
          <p:cNvPr name="Group 28" id="28"/>
          <p:cNvGrpSpPr/>
          <p:nvPr/>
        </p:nvGrpSpPr>
        <p:grpSpPr>
          <a:xfrm rot="0">
            <a:off x="2539441" y="3500314"/>
            <a:ext cx="4392549" cy="851059"/>
            <a:chOff x="0" y="0"/>
            <a:chExt cx="5856732" cy="1134745"/>
          </a:xfrm>
        </p:grpSpPr>
        <p:sp>
          <p:nvSpPr>
            <p:cNvPr name="Freeform 29" id="29"/>
            <p:cNvSpPr/>
            <p:nvPr/>
          </p:nvSpPr>
          <p:spPr>
            <a:xfrm flipH="false" flipV="false" rot="0">
              <a:off x="0" y="0"/>
              <a:ext cx="5856736" cy="1134743"/>
            </a:xfrm>
            <a:custGeom>
              <a:avLst/>
              <a:gdLst/>
              <a:ahLst/>
              <a:cxnLst/>
              <a:rect r="r" b="b" t="t" l="l"/>
              <a:pathLst>
                <a:path h="1134743" w="5856736">
                  <a:moveTo>
                    <a:pt x="0" y="0"/>
                  </a:moveTo>
                  <a:lnTo>
                    <a:pt x="5856736" y="0"/>
                  </a:lnTo>
                  <a:lnTo>
                    <a:pt x="5856736" y="1134743"/>
                  </a:lnTo>
                  <a:lnTo>
                    <a:pt x="0" y="1134743"/>
                  </a:lnTo>
                  <a:close/>
                </a:path>
              </a:pathLst>
            </a:custGeom>
            <a:blipFill>
              <a:blip r:embed="rId4">
                <a:alphaModFix amt="0"/>
              </a:blip>
              <a:stretch>
                <a:fillRect l="0" t="-50567" r="0" b="-50567"/>
              </a:stretch>
            </a:blipFill>
          </p:spPr>
        </p:sp>
        <p:sp>
          <p:nvSpPr>
            <p:cNvPr name="TextBox 30" id="30"/>
            <p:cNvSpPr txBox="true"/>
            <p:nvPr/>
          </p:nvSpPr>
          <p:spPr>
            <a:xfrm>
              <a:off x="0" y="0"/>
              <a:ext cx="5856732" cy="1134745"/>
            </a:xfrm>
            <a:prstGeom prst="rect">
              <a:avLst/>
            </a:prstGeom>
          </p:spPr>
          <p:txBody>
            <a:bodyPr anchor="ctr" rtlCol="false" tIns="0" lIns="0" bIns="0" rIns="0"/>
            <a:lstStyle/>
            <a:p>
              <a:pPr algn="ctr">
                <a:lnSpc>
                  <a:spcPts val="2071"/>
                </a:lnSpc>
              </a:pPr>
              <a:r>
                <a:rPr lang="en-US" sz="1726" b="true">
                  <a:solidFill>
                    <a:srgbClr val="B22222"/>
                  </a:solidFill>
                  <a:latin typeface="Cabin Bold"/>
                  <a:ea typeface="Cabin Bold"/>
                  <a:cs typeface="Cabin Bold"/>
                  <a:sym typeface="Cabin Bold"/>
                </a:rPr>
                <a:t>Disk</a:t>
              </a:r>
            </a:p>
          </p:txBody>
        </p:sp>
      </p:grpSp>
      <p:grpSp>
        <p:nvGrpSpPr>
          <p:cNvPr name="Group 31" id="31"/>
          <p:cNvGrpSpPr/>
          <p:nvPr/>
        </p:nvGrpSpPr>
        <p:grpSpPr>
          <a:xfrm rot="0">
            <a:off x="2529916" y="4520289"/>
            <a:ext cx="4411618" cy="870118"/>
            <a:chOff x="0" y="0"/>
            <a:chExt cx="5882157" cy="1160158"/>
          </a:xfrm>
        </p:grpSpPr>
        <p:sp>
          <p:nvSpPr>
            <p:cNvPr name="Freeform 32" id="32"/>
            <p:cNvSpPr/>
            <p:nvPr/>
          </p:nvSpPr>
          <p:spPr>
            <a:xfrm flipH="false" flipV="false" rot="0">
              <a:off x="0" y="0"/>
              <a:ext cx="5882132" cy="1160145"/>
            </a:xfrm>
            <a:custGeom>
              <a:avLst/>
              <a:gdLst/>
              <a:ahLst/>
              <a:cxnLst/>
              <a:rect r="r" b="b" t="t" l="l"/>
              <a:pathLst>
                <a:path h="1160145" w="5882132">
                  <a:moveTo>
                    <a:pt x="0" y="93599"/>
                  </a:moveTo>
                  <a:cubicBezTo>
                    <a:pt x="0" y="41910"/>
                    <a:pt x="41910" y="0"/>
                    <a:pt x="93599" y="0"/>
                  </a:cubicBezTo>
                  <a:lnTo>
                    <a:pt x="5788533" y="0"/>
                  </a:lnTo>
                  <a:cubicBezTo>
                    <a:pt x="5840222" y="0"/>
                    <a:pt x="5882132" y="41910"/>
                    <a:pt x="5882132" y="93599"/>
                  </a:cubicBezTo>
                  <a:lnTo>
                    <a:pt x="5882132" y="1066546"/>
                  </a:lnTo>
                  <a:cubicBezTo>
                    <a:pt x="5882132" y="1118235"/>
                    <a:pt x="5840222" y="1160145"/>
                    <a:pt x="5788533" y="1160145"/>
                  </a:cubicBezTo>
                  <a:lnTo>
                    <a:pt x="93599" y="1160145"/>
                  </a:lnTo>
                  <a:cubicBezTo>
                    <a:pt x="41910" y="1160145"/>
                    <a:pt x="0" y="1118235"/>
                    <a:pt x="0" y="1066546"/>
                  </a:cubicBezTo>
                  <a:close/>
                </a:path>
              </a:pathLst>
            </a:custGeom>
            <a:solidFill>
              <a:srgbClr val="F2F5F8"/>
            </a:solidFill>
            <a:ln w="19065" cap="sq">
              <a:solidFill>
                <a:srgbClr val="D9D9D9"/>
              </a:solidFill>
              <a:prstDash val="solid"/>
              <a:miter/>
            </a:ln>
          </p:spPr>
        </p:sp>
      </p:grpSp>
      <p:grpSp>
        <p:nvGrpSpPr>
          <p:cNvPr name="Group 33" id="33"/>
          <p:cNvGrpSpPr/>
          <p:nvPr/>
        </p:nvGrpSpPr>
        <p:grpSpPr>
          <a:xfrm rot="0">
            <a:off x="2539441" y="4529823"/>
            <a:ext cx="4392549" cy="851059"/>
            <a:chOff x="0" y="0"/>
            <a:chExt cx="5856732" cy="1134745"/>
          </a:xfrm>
        </p:grpSpPr>
        <p:sp>
          <p:nvSpPr>
            <p:cNvPr name="Freeform 34" id="34"/>
            <p:cNvSpPr/>
            <p:nvPr/>
          </p:nvSpPr>
          <p:spPr>
            <a:xfrm flipH="false" flipV="false" rot="0">
              <a:off x="0" y="0"/>
              <a:ext cx="5856736" cy="1134743"/>
            </a:xfrm>
            <a:custGeom>
              <a:avLst/>
              <a:gdLst/>
              <a:ahLst/>
              <a:cxnLst/>
              <a:rect r="r" b="b" t="t" l="l"/>
              <a:pathLst>
                <a:path h="1134743" w="5856736">
                  <a:moveTo>
                    <a:pt x="0" y="0"/>
                  </a:moveTo>
                  <a:lnTo>
                    <a:pt x="5856736" y="0"/>
                  </a:lnTo>
                  <a:lnTo>
                    <a:pt x="5856736" y="1134743"/>
                  </a:lnTo>
                  <a:lnTo>
                    <a:pt x="0" y="1134743"/>
                  </a:lnTo>
                  <a:close/>
                </a:path>
              </a:pathLst>
            </a:custGeom>
            <a:blipFill>
              <a:blip r:embed="rId4">
                <a:alphaModFix amt="0"/>
              </a:blip>
              <a:stretch>
                <a:fillRect l="0" t="-50567" r="0" b="-50567"/>
              </a:stretch>
            </a:blipFill>
          </p:spPr>
        </p:sp>
        <p:sp>
          <p:nvSpPr>
            <p:cNvPr name="TextBox 35" id="35"/>
            <p:cNvSpPr txBox="true"/>
            <p:nvPr/>
          </p:nvSpPr>
          <p:spPr>
            <a:xfrm>
              <a:off x="0" y="0"/>
              <a:ext cx="5856732" cy="1134745"/>
            </a:xfrm>
            <a:prstGeom prst="rect">
              <a:avLst/>
            </a:prstGeom>
          </p:spPr>
          <p:txBody>
            <a:bodyPr anchor="ctr" rtlCol="false" tIns="0" lIns="0" bIns="0" rIns="0"/>
            <a:lstStyle/>
            <a:p>
              <a:pPr algn="ctr">
                <a:lnSpc>
                  <a:spcPts val="2071"/>
                </a:lnSpc>
              </a:pPr>
              <a:r>
                <a:rPr lang="en-US" sz="1726">
                  <a:solidFill>
                    <a:srgbClr val="000000"/>
                  </a:solidFill>
                  <a:latin typeface="Cabin"/>
                  <a:ea typeface="Cabin"/>
                  <a:cs typeface="Cabin"/>
                  <a:sym typeface="Cabin"/>
                </a:rPr>
                <a:t>Map</a:t>
              </a:r>
            </a:p>
          </p:txBody>
        </p:sp>
      </p:grpSp>
      <p:grpSp>
        <p:nvGrpSpPr>
          <p:cNvPr name="Group 36" id="36"/>
          <p:cNvGrpSpPr/>
          <p:nvPr/>
        </p:nvGrpSpPr>
        <p:grpSpPr>
          <a:xfrm rot="0">
            <a:off x="2529916" y="5549789"/>
            <a:ext cx="4411618" cy="870118"/>
            <a:chOff x="0" y="0"/>
            <a:chExt cx="5882157" cy="1160158"/>
          </a:xfrm>
        </p:grpSpPr>
        <p:sp>
          <p:nvSpPr>
            <p:cNvPr name="Freeform 37" id="37"/>
            <p:cNvSpPr/>
            <p:nvPr/>
          </p:nvSpPr>
          <p:spPr>
            <a:xfrm flipH="false" flipV="false" rot="0">
              <a:off x="0" y="0"/>
              <a:ext cx="5882132" cy="1160145"/>
            </a:xfrm>
            <a:custGeom>
              <a:avLst/>
              <a:gdLst/>
              <a:ahLst/>
              <a:cxnLst/>
              <a:rect r="r" b="b" t="t" l="l"/>
              <a:pathLst>
                <a:path h="1160145" w="5882132">
                  <a:moveTo>
                    <a:pt x="0" y="93599"/>
                  </a:moveTo>
                  <a:cubicBezTo>
                    <a:pt x="0" y="41910"/>
                    <a:pt x="41910" y="0"/>
                    <a:pt x="93599" y="0"/>
                  </a:cubicBezTo>
                  <a:lnTo>
                    <a:pt x="5788533" y="0"/>
                  </a:lnTo>
                  <a:cubicBezTo>
                    <a:pt x="5840222" y="0"/>
                    <a:pt x="5882132" y="41910"/>
                    <a:pt x="5882132" y="93599"/>
                  </a:cubicBezTo>
                  <a:lnTo>
                    <a:pt x="5882132" y="1066546"/>
                  </a:lnTo>
                  <a:cubicBezTo>
                    <a:pt x="5882132" y="1118235"/>
                    <a:pt x="5840222" y="1160145"/>
                    <a:pt x="5788533" y="1160145"/>
                  </a:cubicBezTo>
                  <a:lnTo>
                    <a:pt x="93599" y="1160145"/>
                  </a:lnTo>
                  <a:cubicBezTo>
                    <a:pt x="41910" y="1160145"/>
                    <a:pt x="0" y="1118235"/>
                    <a:pt x="0" y="1066546"/>
                  </a:cubicBezTo>
                  <a:close/>
                </a:path>
              </a:pathLst>
            </a:custGeom>
            <a:solidFill>
              <a:srgbClr val="F5D4D4"/>
            </a:solidFill>
            <a:ln w="19065" cap="sq">
              <a:solidFill>
                <a:srgbClr val="C0392B"/>
              </a:solidFill>
              <a:prstDash val="solid"/>
              <a:miter/>
            </a:ln>
          </p:spPr>
        </p:sp>
      </p:grpSp>
      <p:grpSp>
        <p:nvGrpSpPr>
          <p:cNvPr name="Group 38" id="38"/>
          <p:cNvGrpSpPr/>
          <p:nvPr/>
        </p:nvGrpSpPr>
        <p:grpSpPr>
          <a:xfrm rot="0">
            <a:off x="2539441" y="5559323"/>
            <a:ext cx="4392549" cy="851059"/>
            <a:chOff x="0" y="0"/>
            <a:chExt cx="5856732" cy="1134745"/>
          </a:xfrm>
        </p:grpSpPr>
        <p:sp>
          <p:nvSpPr>
            <p:cNvPr name="Freeform 39" id="39"/>
            <p:cNvSpPr/>
            <p:nvPr/>
          </p:nvSpPr>
          <p:spPr>
            <a:xfrm flipH="false" flipV="false" rot="0">
              <a:off x="0" y="0"/>
              <a:ext cx="5856736" cy="1134743"/>
            </a:xfrm>
            <a:custGeom>
              <a:avLst/>
              <a:gdLst/>
              <a:ahLst/>
              <a:cxnLst/>
              <a:rect r="r" b="b" t="t" l="l"/>
              <a:pathLst>
                <a:path h="1134743" w="5856736">
                  <a:moveTo>
                    <a:pt x="0" y="0"/>
                  </a:moveTo>
                  <a:lnTo>
                    <a:pt x="5856736" y="0"/>
                  </a:lnTo>
                  <a:lnTo>
                    <a:pt x="5856736" y="1134743"/>
                  </a:lnTo>
                  <a:lnTo>
                    <a:pt x="0" y="1134743"/>
                  </a:lnTo>
                  <a:close/>
                </a:path>
              </a:pathLst>
            </a:custGeom>
            <a:blipFill>
              <a:blip r:embed="rId4">
                <a:alphaModFix amt="0"/>
              </a:blip>
              <a:stretch>
                <a:fillRect l="0" t="-50567" r="0" b="-50567"/>
              </a:stretch>
            </a:blipFill>
          </p:spPr>
        </p:sp>
        <p:sp>
          <p:nvSpPr>
            <p:cNvPr name="TextBox 40" id="40"/>
            <p:cNvSpPr txBox="true"/>
            <p:nvPr/>
          </p:nvSpPr>
          <p:spPr>
            <a:xfrm>
              <a:off x="0" y="0"/>
              <a:ext cx="5856732" cy="1134745"/>
            </a:xfrm>
            <a:prstGeom prst="rect">
              <a:avLst/>
            </a:prstGeom>
          </p:spPr>
          <p:txBody>
            <a:bodyPr anchor="ctr" rtlCol="false" tIns="0" lIns="0" bIns="0" rIns="0"/>
            <a:lstStyle/>
            <a:p>
              <a:pPr algn="ctr">
                <a:lnSpc>
                  <a:spcPts val="2071"/>
                </a:lnSpc>
              </a:pPr>
              <a:r>
                <a:rPr lang="en-US" sz="1726" b="true">
                  <a:solidFill>
                    <a:srgbClr val="B22222"/>
                  </a:solidFill>
                  <a:latin typeface="Cabin Bold"/>
                  <a:ea typeface="Cabin Bold"/>
                  <a:cs typeface="Cabin Bold"/>
                  <a:sym typeface="Cabin Bold"/>
                </a:rPr>
                <a:t>Disk</a:t>
              </a:r>
            </a:p>
          </p:txBody>
        </p:sp>
      </p:grpSp>
      <p:grpSp>
        <p:nvGrpSpPr>
          <p:cNvPr name="Group 41" id="41"/>
          <p:cNvGrpSpPr/>
          <p:nvPr/>
        </p:nvGrpSpPr>
        <p:grpSpPr>
          <a:xfrm rot="0">
            <a:off x="2529916" y="6579299"/>
            <a:ext cx="4411618" cy="870118"/>
            <a:chOff x="0" y="0"/>
            <a:chExt cx="5882157" cy="1160158"/>
          </a:xfrm>
        </p:grpSpPr>
        <p:sp>
          <p:nvSpPr>
            <p:cNvPr name="Freeform 42" id="42"/>
            <p:cNvSpPr/>
            <p:nvPr/>
          </p:nvSpPr>
          <p:spPr>
            <a:xfrm flipH="false" flipV="false" rot="0">
              <a:off x="0" y="0"/>
              <a:ext cx="5882132" cy="1160145"/>
            </a:xfrm>
            <a:custGeom>
              <a:avLst/>
              <a:gdLst/>
              <a:ahLst/>
              <a:cxnLst/>
              <a:rect r="r" b="b" t="t" l="l"/>
              <a:pathLst>
                <a:path h="1160145" w="5882132">
                  <a:moveTo>
                    <a:pt x="0" y="93599"/>
                  </a:moveTo>
                  <a:cubicBezTo>
                    <a:pt x="0" y="41910"/>
                    <a:pt x="41910" y="0"/>
                    <a:pt x="93599" y="0"/>
                  </a:cubicBezTo>
                  <a:lnTo>
                    <a:pt x="5788533" y="0"/>
                  </a:lnTo>
                  <a:cubicBezTo>
                    <a:pt x="5840222" y="0"/>
                    <a:pt x="5882132" y="41910"/>
                    <a:pt x="5882132" y="93599"/>
                  </a:cubicBezTo>
                  <a:lnTo>
                    <a:pt x="5882132" y="1066546"/>
                  </a:lnTo>
                  <a:cubicBezTo>
                    <a:pt x="5882132" y="1118235"/>
                    <a:pt x="5840222" y="1160145"/>
                    <a:pt x="5788533" y="1160145"/>
                  </a:cubicBezTo>
                  <a:lnTo>
                    <a:pt x="93599" y="1160145"/>
                  </a:lnTo>
                  <a:cubicBezTo>
                    <a:pt x="41910" y="1160145"/>
                    <a:pt x="0" y="1118235"/>
                    <a:pt x="0" y="1066546"/>
                  </a:cubicBezTo>
                  <a:close/>
                </a:path>
              </a:pathLst>
            </a:custGeom>
            <a:solidFill>
              <a:srgbClr val="F2F5F8"/>
            </a:solidFill>
            <a:ln w="19065" cap="sq">
              <a:solidFill>
                <a:srgbClr val="D9D9D9"/>
              </a:solidFill>
              <a:prstDash val="solid"/>
              <a:miter/>
            </a:ln>
          </p:spPr>
        </p:sp>
      </p:grpSp>
      <p:grpSp>
        <p:nvGrpSpPr>
          <p:cNvPr name="Group 43" id="43"/>
          <p:cNvGrpSpPr/>
          <p:nvPr/>
        </p:nvGrpSpPr>
        <p:grpSpPr>
          <a:xfrm rot="0">
            <a:off x="2539441" y="6588824"/>
            <a:ext cx="4392549" cy="851059"/>
            <a:chOff x="0" y="0"/>
            <a:chExt cx="5856732" cy="1134745"/>
          </a:xfrm>
        </p:grpSpPr>
        <p:sp>
          <p:nvSpPr>
            <p:cNvPr name="Freeform 44" id="44"/>
            <p:cNvSpPr/>
            <p:nvPr/>
          </p:nvSpPr>
          <p:spPr>
            <a:xfrm flipH="false" flipV="false" rot="0">
              <a:off x="0" y="0"/>
              <a:ext cx="5856736" cy="1134743"/>
            </a:xfrm>
            <a:custGeom>
              <a:avLst/>
              <a:gdLst/>
              <a:ahLst/>
              <a:cxnLst/>
              <a:rect r="r" b="b" t="t" l="l"/>
              <a:pathLst>
                <a:path h="1134743" w="5856736">
                  <a:moveTo>
                    <a:pt x="0" y="0"/>
                  </a:moveTo>
                  <a:lnTo>
                    <a:pt x="5856736" y="0"/>
                  </a:lnTo>
                  <a:lnTo>
                    <a:pt x="5856736" y="1134743"/>
                  </a:lnTo>
                  <a:lnTo>
                    <a:pt x="0" y="1134743"/>
                  </a:lnTo>
                  <a:close/>
                </a:path>
              </a:pathLst>
            </a:custGeom>
            <a:blipFill>
              <a:blip r:embed="rId4">
                <a:alphaModFix amt="0"/>
              </a:blip>
              <a:stretch>
                <a:fillRect l="0" t="-50567" r="0" b="-50567"/>
              </a:stretch>
            </a:blipFill>
          </p:spPr>
        </p:sp>
        <p:sp>
          <p:nvSpPr>
            <p:cNvPr name="TextBox 45" id="45"/>
            <p:cNvSpPr txBox="true"/>
            <p:nvPr/>
          </p:nvSpPr>
          <p:spPr>
            <a:xfrm>
              <a:off x="0" y="0"/>
              <a:ext cx="5856732" cy="1134745"/>
            </a:xfrm>
            <a:prstGeom prst="rect">
              <a:avLst/>
            </a:prstGeom>
          </p:spPr>
          <p:txBody>
            <a:bodyPr anchor="ctr" rtlCol="false" tIns="0" lIns="0" bIns="0" rIns="0"/>
            <a:lstStyle/>
            <a:p>
              <a:pPr algn="ctr">
                <a:lnSpc>
                  <a:spcPts val="2071"/>
                </a:lnSpc>
              </a:pPr>
              <a:r>
                <a:rPr lang="en-US" sz="1726">
                  <a:solidFill>
                    <a:srgbClr val="000000"/>
                  </a:solidFill>
                  <a:latin typeface="Cabin"/>
                  <a:ea typeface="Cabin"/>
                  <a:cs typeface="Cabin"/>
                  <a:sym typeface="Cabin"/>
                </a:rPr>
                <a:t>Reduce</a:t>
              </a:r>
            </a:p>
          </p:txBody>
        </p:sp>
      </p:grpSp>
      <p:grpSp>
        <p:nvGrpSpPr>
          <p:cNvPr name="Group 46" id="46"/>
          <p:cNvGrpSpPr/>
          <p:nvPr/>
        </p:nvGrpSpPr>
        <p:grpSpPr>
          <a:xfrm rot="0">
            <a:off x="2529916" y="7608799"/>
            <a:ext cx="4411618" cy="870118"/>
            <a:chOff x="0" y="0"/>
            <a:chExt cx="5882157" cy="1160158"/>
          </a:xfrm>
        </p:grpSpPr>
        <p:sp>
          <p:nvSpPr>
            <p:cNvPr name="Freeform 47" id="47"/>
            <p:cNvSpPr/>
            <p:nvPr/>
          </p:nvSpPr>
          <p:spPr>
            <a:xfrm flipH="false" flipV="false" rot="0">
              <a:off x="0" y="0"/>
              <a:ext cx="5882132" cy="1160145"/>
            </a:xfrm>
            <a:custGeom>
              <a:avLst/>
              <a:gdLst/>
              <a:ahLst/>
              <a:cxnLst/>
              <a:rect r="r" b="b" t="t" l="l"/>
              <a:pathLst>
                <a:path h="1160145" w="5882132">
                  <a:moveTo>
                    <a:pt x="0" y="93599"/>
                  </a:moveTo>
                  <a:cubicBezTo>
                    <a:pt x="0" y="41910"/>
                    <a:pt x="41910" y="0"/>
                    <a:pt x="93599" y="0"/>
                  </a:cubicBezTo>
                  <a:lnTo>
                    <a:pt x="5788533" y="0"/>
                  </a:lnTo>
                  <a:cubicBezTo>
                    <a:pt x="5840222" y="0"/>
                    <a:pt x="5882132" y="41910"/>
                    <a:pt x="5882132" y="93599"/>
                  </a:cubicBezTo>
                  <a:lnTo>
                    <a:pt x="5882132" y="1066546"/>
                  </a:lnTo>
                  <a:cubicBezTo>
                    <a:pt x="5882132" y="1118235"/>
                    <a:pt x="5840222" y="1160145"/>
                    <a:pt x="5788533" y="1160145"/>
                  </a:cubicBezTo>
                  <a:lnTo>
                    <a:pt x="93599" y="1160145"/>
                  </a:lnTo>
                  <a:cubicBezTo>
                    <a:pt x="41910" y="1160145"/>
                    <a:pt x="0" y="1118235"/>
                    <a:pt x="0" y="1066546"/>
                  </a:cubicBezTo>
                  <a:close/>
                </a:path>
              </a:pathLst>
            </a:custGeom>
            <a:solidFill>
              <a:srgbClr val="F5D4D4"/>
            </a:solidFill>
            <a:ln w="19065" cap="sq">
              <a:solidFill>
                <a:srgbClr val="C0392B"/>
              </a:solidFill>
              <a:prstDash val="solid"/>
              <a:miter/>
            </a:ln>
          </p:spPr>
        </p:sp>
      </p:grpSp>
      <p:grpSp>
        <p:nvGrpSpPr>
          <p:cNvPr name="Group 48" id="48"/>
          <p:cNvGrpSpPr/>
          <p:nvPr/>
        </p:nvGrpSpPr>
        <p:grpSpPr>
          <a:xfrm rot="0">
            <a:off x="2539441" y="7618333"/>
            <a:ext cx="4392549" cy="851059"/>
            <a:chOff x="0" y="0"/>
            <a:chExt cx="5856732" cy="1134745"/>
          </a:xfrm>
        </p:grpSpPr>
        <p:sp>
          <p:nvSpPr>
            <p:cNvPr name="Freeform 49" id="49"/>
            <p:cNvSpPr/>
            <p:nvPr/>
          </p:nvSpPr>
          <p:spPr>
            <a:xfrm flipH="false" flipV="false" rot="0">
              <a:off x="0" y="0"/>
              <a:ext cx="5856736" cy="1134743"/>
            </a:xfrm>
            <a:custGeom>
              <a:avLst/>
              <a:gdLst/>
              <a:ahLst/>
              <a:cxnLst/>
              <a:rect r="r" b="b" t="t" l="l"/>
              <a:pathLst>
                <a:path h="1134743" w="5856736">
                  <a:moveTo>
                    <a:pt x="0" y="0"/>
                  </a:moveTo>
                  <a:lnTo>
                    <a:pt x="5856736" y="0"/>
                  </a:lnTo>
                  <a:lnTo>
                    <a:pt x="5856736" y="1134743"/>
                  </a:lnTo>
                  <a:lnTo>
                    <a:pt x="0" y="1134743"/>
                  </a:lnTo>
                  <a:close/>
                </a:path>
              </a:pathLst>
            </a:custGeom>
            <a:blipFill>
              <a:blip r:embed="rId4">
                <a:alphaModFix amt="0"/>
              </a:blip>
              <a:stretch>
                <a:fillRect l="0" t="-50567" r="0" b="-50567"/>
              </a:stretch>
            </a:blipFill>
          </p:spPr>
        </p:sp>
        <p:sp>
          <p:nvSpPr>
            <p:cNvPr name="TextBox 50" id="50"/>
            <p:cNvSpPr txBox="true"/>
            <p:nvPr/>
          </p:nvSpPr>
          <p:spPr>
            <a:xfrm>
              <a:off x="0" y="0"/>
              <a:ext cx="5856732" cy="1134745"/>
            </a:xfrm>
            <a:prstGeom prst="rect">
              <a:avLst/>
            </a:prstGeom>
          </p:spPr>
          <p:txBody>
            <a:bodyPr anchor="ctr" rtlCol="false" tIns="0" lIns="0" bIns="0" rIns="0"/>
            <a:lstStyle/>
            <a:p>
              <a:pPr algn="ctr">
                <a:lnSpc>
                  <a:spcPts val="2071"/>
                </a:lnSpc>
              </a:pPr>
              <a:r>
                <a:rPr lang="en-US" sz="1726" b="true">
                  <a:solidFill>
                    <a:srgbClr val="B22222"/>
                  </a:solidFill>
                  <a:latin typeface="Cabin Bold"/>
                  <a:ea typeface="Cabin Bold"/>
                  <a:cs typeface="Cabin Bold"/>
                  <a:sym typeface="Cabin Bold"/>
                </a:rPr>
                <a:t>Disk</a:t>
              </a:r>
            </a:p>
          </p:txBody>
        </p:sp>
      </p:grpSp>
      <p:grpSp>
        <p:nvGrpSpPr>
          <p:cNvPr name="Group 51" id="51"/>
          <p:cNvGrpSpPr/>
          <p:nvPr/>
        </p:nvGrpSpPr>
        <p:grpSpPr>
          <a:xfrm rot="0">
            <a:off x="11383651" y="3490779"/>
            <a:ext cx="4411618" cy="870118"/>
            <a:chOff x="0" y="0"/>
            <a:chExt cx="5882157" cy="1160158"/>
          </a:xfrm>
        </p:grpSpPr>
        <p:sp>
          <p:nvSpPr>
            <p:cNvPr name="Freeform 52" id="52"/>
            <p:cNvSpPr/>
            <p:nvPr/>
          </p:nvSpPr>
          <p:spPr>
            <a:xfrm flipH="false" flipV="false" rot="0">
              <a:off x="0" y="0"/>
              <a:ext cx="5882132" cy="1160145"/>
            </a:xfrm>
            <a:custGeom>
              <a:avLst/>
              <a:gdLst/>
              <a:ahLst/>
              <a:cxnLst/>
              <a:rect r="r" b="b" t="t" l="l"/>
              <a:pathLst>
                <a:path h="1160145" w="5882132">
                  <a:moveTo>
                    <a:pt x="0" y="93599"/>
                  </a:moveTo>
                  <a:cubicBezTo>
                    <a:pt x="0" y="41910"/>
                    <a:pt x="41910" y="0"/>
                    <a:pt x="93599" y="0"/>
                  </a:cubicBezTo>
                  <a:lnTo>
                    <a:pt x="5788533" y="0"/>
                  </a:lnTo>
                  <a:cubicBezTo>
                    <a:pt x="5840222" y="0"/>
                    <a:pt x="5882132" y="41910"/>
                    <a:pt x="5882132" y="93599"/>
                  </a:cubicBezTo>
                  <a:lnTo>
                    <a:pt x="5882132" y="1066546"/>
                  </a:lnTo>
                  <a:cubicBezTo>
                    <a:pt x="5882132" y="1118235"/>
                    <a:pt x="5840222" y="1160145"/>
                    <a:pt x="5788533" y="1160145"/>
                  </a:cubicBezTo>
                  <a:lnTo>
                    <a:pt x="93599" y="1160145"/>
                  </a:lnTo>
                  <a:cubicBezTo>
                    <a:pt x="41910" y="1160145"/>
                    <a:pt x="0" y="1118235"/>
                    <a:pt x="0" y="1066546"/>
                  </a:cubicBezTo>
                  <a:close/>
                </a:path>
              </a:pathLst>
            </a:custGeom>
            <a:solidFill>
              <a:srgbClr val="F5D4D4"/>
            </a:solidFill>
            <a:ln w="19065" cap="sq">
              <a:solidFill>
                <a:srgbClr val="C0392B"/>
              </a:solidFill>
              <a:prstDash val="solid"/>
              <a:miter/>
            </a:ln>
          </p:spPr>
        </p:sp>
      </p:grpSp>
      <p:grpSp>
        <p:nvGrpSpPr>
          <p:cNvPr name="Group 53" id="53"/>
          <p:cNvGrpSpPr/>
          <p:nvPr/>
        </p:nvGrpSpPr>
        <p:grpSpPr>
          <a:xfrm rot="0">
            <a:off x="11393176" y="3500314"/>
            <a:ext cx="4392549" cy="851059"/>
            <a:chOff x="0" y="0"/>
            <a:chExt cx="5856732" cy="1134745"/>
          </a:xfrm>
        </p:grpSpPr>
        <p:sp>
          <p:nvSpPr>
            <p:cNvPr name="Freeform 54" id="54"/>
            <p:cNvSpPr/>
            <p:nvPr/>
          </p:nvSpPr>
          <p:spPr>
            <a:xfrm flipH="false" flipV="false" rot="0">
              <a:off x="0" y="0"/>
              <a:ext cx="5856736" cy="1134743"/>
            </a:xfrm>
            <a:custGeom>
              <a:avLst/>
              <a:gdLst/>
              <a:ahLst/>
              <a:cxnLst/>
              <a:rect r="r" b="b" t="t" l="l"/>
              <a:pathLst>
                <a:path h="1134743" w="5856736">
                  <a:moveTo>
                    <a:pt x="0" y="0"/>
                  </a:moveTo>
                  <a:lnTo>
                    <a:pt x="5856736" y="0"/>
                  </a:lnTo>
                  <a:lnTo>
                    <a:pt x="5856736" y="1134743"/>
                  </a:lnTo>
                  <a:lnTo>
                    <a:pt x="0" y="1134743"/>
                  </a:lnTo>
                  <a:close/>
                </a:path>
              </a:pathLst>
            </a:custGeom>
            <a:blipFill>
              <a:blip r:embed="rId4">
                <a:alphaModFix amt="0"/>
              </a:blip>
              <a:stretch>
                <a:fillRect l="0" t="-50567" r="0" b="-50567"/>
              </a:stretch>
            </a:blipFill>
          </p:spPr>
        </p:sp>
        <p:sp>
          <p:nvSpPr>
            <p:cNvPr name="TextBox 55" id="55"/>
            <p:cNvSpPr txBox="true"/>
            <p:nvPr/>
          </p:nvSpPr>
          <p:spPr>
            <a:xfrm>
              <a:off x="0" y="0"/>
              <a:ext cx="5856732" cy="1134745"/>
            </a:xfrm>
            <a:prstGeom prst="rect">
              <a:avLst/>
            </a:prstGeom>
          </p:spPr>
          <p:txBody>
            <a:bodyPr anchor="ctr" rtlCol="false" tIns="0" lIns="0" bIns="0" rIns="0"/>
            <a:lstStyle/>
            <a:p>
              <a:pPr algn="ctr">
                <a:lnSpc>
                  <a:spcPts val="2071"/>
                </a:lnSpc>
              </a:pPr>
              <a:r>
                <a:rPr lang="en-US" sz="1726">
                  <a:solidFill>
                    <a:srgbClr val="B22222"/>
                  </a:solidFill>
                  <a:latin typeface="Cabin"/>
                  <a:ea typeface="Cabin"/>
                  <a:cs typeface="Cabin"/>
                  <a:sym typeface="Cabin"/>
                </a:rPr>
                <a:t>Disk</a:t>
              </a:r>
            </a:p>
          </p:txBody>
        </p:sp>
      </p:grpSp>
      <p:grpSp>
        <p:nvGrpSpPr>
          <p:cNvPr name="Group 56" id="56"/>
          <p:cNvGrpSpPr/>
          <p:nvPr/>
        </p:nvGrpSpPr>
        <p:grpSpPr>
          <a:xfrm rot="0">
            <a:off x="11383651" y="4520289"/>
            <a:ext cx="4411618" cy="870118"/>
            <a:chOff x="0" y="0"/>
            <a:chExt cx="5882157" cy="1160158"/>
          </a:xfrm>
        </p:grpSpPr>
        <p:sp>
          <p:nvSpPr>
            <p:cNvPr name="Freeform 57" id="57"/>
            <p:cNvSpPr/>
            <p:nvPr/>
          </p:nvSpPr>
          <p:spPr>
            <a:xfrm flipH="false" flipV="false" rot="0">
              <a:off x="0" y="0"/>
              <a:ext cx="5882132" cy="1160145"/>
            </a:xfrm>
            <a:custGeom>
              <a:avLst/>
              <a:gdLst/>
              <a:ahLst/>
              <a:cxnLst/>
              <a:rect r="r" b="b" t="t" l="l"/>
              <a:pathLst>
                <a:path h="1160145" w="5882132">
                  <a:moveTo>
                    <a:pt x="0" y="93599"/>
                  </a:moveTo>
                  <a:cubicBezTo>
                    <a:pt x="0" y="41910"/>
                    <a:pt x="41910" y="0"/>
                    <a:pt x="93599" y="0"/>
                  </a:cubicBezTo>
                  <a:lnTo>
                    <a:pt x="5788533" y="0"/>
                  </a:lnTo>
                  <a:cubicBezTo>
                    <a:pt x="5840222" y="0"/>
                    <a:pt x="5882132" y="41910"/>
                    <a:pt x="5882132" y="93599"/>
                  </a:cubicBezTo>
                  <a:lnTo>
                    <a:pt x="5882132" y="1066546"/>
                  </a:lnTo>
                  <a:cubicBezTo>
                    <a:pt x="5882132" y="1118235"/>
                    <a:pt x="5840222" y="1160145"/>
                    <a:pt x="5788533" y="1160145"/>
                  </a:cubicBezTo>
                  <a:lnTo>
                    <a:pt x="93599" y="1160145"/>
                  </a:lnTo>
                  <a:cubicBezTo>
                    <a:pt x="41910" y="1160145"/>
                    <a:pt x="0" y="1118235"/>
                    <a:pt x="0" y="1066546"/>
                  </a:cubicBezTo>
                  <a:close/>
                </a:path>
              </a:pathLst>
            </a:custGeom>
            <a:solidFill>
              <a:srgbClr val="DCEBFA"/>
            </a:solidFill>
            <a:ln w="19065" cap="sq">
              <a:solidFill>
                <a:srgbClr val="1F4E79"/>
              </a:solidFill>
              <a:prstDash val="solid"/>
              <a:miter/>
            </a:ln>
          </p:spPr>
        </p:sp>
      </p:grpSp>
      <p:grpSp>
        <p:nvGrpSpPr>
          <p:cNvPr name="Group 58" id="58"/>
          <p:cNvGrpSpPr/>
          <p:nvPr/>
        </p:nvGrpSpPr>
        <p:grpSpPr>
          <a:xfrm rot="0">
            <a:off x="11393176" y="4529823"/>
            <a:ext cx="4392549" cy="851059"/>
            <a:chOff x="0" y="0"/>
            <a:chExt cx="5856732" cy="1134745"/>
          </a:xfrm>
        </p:grpSpPr>
        <p:sp>
          <p:nvSpPr>
            <p:cNvPr name="Freeform 59" id="59"/>
            <p:cNvSpPr/>
            <p:nvPr/>
          </p:nvSpPr>
          <p:spPr>
            <a:xfrm flipH="false" flipV="false" rot="0">
              <a:off x="0" y="0"/>
              <a:ext cx="5856736" cy="1134743"/>
            </a:xfrm>
            <a:custGeom>
              <a:avLst/>
              <a:gdLst/>
              <a:ahLst/>
              <a:cxnLst/>
              <a:rect r="r" b="b" t="t" l="l"/>
              <a:pathLst>
                <a:path h="1134743" w="5856736">
                  <a:moveTo>
                    <a:pt x="0" y="0"/>
                  </a:moveTo>
                  <a:lnTo>
                    <a:pt x="5856736" y="0"/>
                  </a:lnTo>
                  <a:lnTo>
                    <a:pt x="5856736" y="1134743"/>
                  </a:lnTo>
                  <a:lnTo>
                    <a:pt x="0" y="1134743"/>
                  </a:lnTo>
                  <a:close/>
                </a:path>
              </a:pathLst>
            </a:custGeom>
            <a:blipFill>
              <a:blip r:embed="rId4">
                <a:alphaModFix amt="0"/>
              </a:blip>
              <a:stretch>
                <a:fillRect l="0" t="-50567" r="0" b="-50567"/>
              </a:stretch>
            </a:blipFill>
          </p:spPr>
        </p:sp>
        <p:sp>
          <p:nvSpPr>
            <p:cNvPr name="TextBox 60" id="60"/>
            <p:cNvSpPr txBox="true"/>
            <p:nvPr/>
          </p:nvSpPr>
          <p:spPr>
            <a:xfrm>
              <a:off x="0" y="0"/>
              <a:ext cx="5856732" cy="1134745"/>
            </a:xfrm>
            <a:prstGeom prst="rect">
              <a:avLst/>
            </a:prstGeom>
          </p:spPr>
          <p:txBody>
            <a:bodyPr anchor="ctr" rtlCol="false" tIns="0" lIns="0" bIns="0" rIns="0"/>
            <a:lstStyle/>
            <a:p>
              <a:pPr algn="ctr">
                <a:lnSpc>
                  <a:spcPts val="2071"/>
                </a:lnSpc>
              </a:pPr>
              <a:r>
                <a:rPr lang="en-US" sz="1726" b="true">
                  <a:solidFill>
                    <a:srgbClr val="1F4E79"/>
                  </a:solidFill>
                  <a:latin typeface="Cabin Bold"/>
                  <a:ea typeface="Cabin Bold"/>
                  <a:cs typeface="Cabin Bold"/>
                  <a:sym typeface="Cabin Bold"/>
                </a:rPr>
                <a:t>Memory</a:t>
              </a:r>
            </a:p>
          </p:txBody>
        </p:sp>
      </p:grpSp>
      <p:grpSp>
        <p:nvGrpSpPr>
          <p:cNvPr name="Group 61" id="61"/>
          <p:cNvGrpSpPr/>
          <p:nvPr/>
        </p:nvGrpSpPr>
        <p:grpSpPr>
          <a:xfrm rot="0">
            <a:off x="11383651" y="5549789"/>
            <a:ext cx="4411618" cy="870118"/>
            <a:chOff x="0" y="0"/>
            <a:chExt cx="5882157" cy="1160158"/>
          </a:xfrm>
        </p:grpSpPr>
        <p:sp>
          <p:nvSpPr>
            <p:cNvPr name="Freeform 62" id="62"/>
            <p:cNvSpPr/>
            <p:nvPr/>
          </p:nvSpPr>
          <p:spPr>
            <a:xfrm flipH="false" flipV="false" rot="0">
              <a:off x="0" y="0"/>
              <a:ext cx="5882132" cy="1160145"/>
            </a:xfrm>
            <a:custGeom>
              <a:avLst/>
              <a:gdLst/>
              <a:ahLst/>
              <a:cxnLst/>
              <a:rect r="r" b="b" t="t" l="l"/>
              <a:pathLst>
                <a:path h="1160145" w="5882132">
                  <a:moveTo>
                    <a:pt x="0" y="93599"/>
                  </a:moveTo>
                  <a:cubicBezTo>
                    <a:pt x="0" y="41910"/>
                    <a:pt x="41910" y="0"/>
                    <a:pt x="93599" y="0"/>
                  </a:cubicBezTo>
                  <a:lnTo>
                    <a:pt x="5788533" y="0"/>
                  </a:lnTo>
                  <a:cubicBezTo>
                    <a:pt x="5840222" y="0"/>
                    <a:pt x="5882132" y="41910"/>
                    <a:pt x="5882132" y="93599"/>
                  </a:cubicBezTo>
                  <a:lnTo>
                    <a:pt x="5882132" y="1066546"/>
                  </a:lnTo>
                  <a:cubicBezTo>
                    <a:pt x="5882132" y="1118235"/>
                    <a:pt x="5840222" y="1160145"/>
                    <a:pt x="5788533" y="1160145"/>
                  </a:cubicBezTo>
                  <a:lnTo>
                    <a:pt x="93599" y="1160145"/>
                  </a:lnTo>
                  <a:cubicBezTo>
                    <a:pt x="41910" y="1160145"/>
                    <a:pt x="0" y="1118235"/>
                    <a:pt x="0" y="1066546"/>
                  </a:cubicBezTo>
                  <a:close/>
                </a:path>
              </a:pathLst>
            </a:custGeom>
            <a:solidFill>
              <a:srgbClr val="DCEBFA"/>
            </a:solidFill>
            <a:ln w="19065" cap="sq">
              <a:solidFill>
                <a:srgbClr val="1F4E79"/>
              </a:solidFill>
              <a:prstDash val="solid"/>
              <a:miter/>
            </a:ln>
          </p:spPr>
        </p:sp>
      </p:grpSp>
      <p:grpSp>
        <p:nvGrpSpPr>
          <p:cNvPr name="Group 63" id="63"/>
          <p:cNvGrpSpPr/>
          <p:nvPr/>
        </p:nvGrpSpPr>
        <p:grpSpPr>
          <a:xfrm rot="0">
            <a:off x="11393176" y="5559323"/>
            <a:ext cx="4392549" cy="851059"/>
            <a:chOff x="0" y="0"/>
            <a:chExt cx="5856732" cy="1134745"/>
          </a:xfrm>
        </p:grpSpPr>
        <p:sp>
          <p:nvSpPr>
            <p:cNvPr name="Freeform 64" id="64"/>
            <p:cNvSpPr/>
            <p:nvPr/>
          </p:nvSpPr>
          <p:spPr>
            <a:xfrm flipH="false" flipV="false" rot="0">
              <a:off x="0" y="0"/>
              <a:ext cx="5856736" cy="1134743"/>
            </a:xfrm>
            <a:custGeom>
              <a:avLst/>
              <a:gdLst/>
              <a:ahLst/>
              <a:cxnLst/>
              <a:rect r="r" b="b" t="t" l="l"/>
              <a:pathLst>
                <a:path h="1134743" w="5856736">
                  <a:moveTo>
                    <a:pt x="0" y="0"/>
                  </a:moveTo>
                  <a:lnTo>
                    <a:pt x="5856736" y="0"/>
                  </a:lnTo>
                  <a:lnTo>
                    <a:pt x="5856736" y="1134743"/>
                  </a:lnTo>
                  <a:lnTo>
                    <a:pt x="0" y="1134743"/>
                  </a:lnTo>
                  <a:close/>
                </a:path>
              </a:pathLst>
            </a:custGeom>
            <a:blipFill>
              <a:blip r:embed="rId4">
                <a:alphaModFix amt="0"/>
              </a:blip>
              <a:stretch>
                <a:fillRect l="0" t="-50567" r="0" b="-50567"/>
              </a:stretch>
            </a:blipFill>
          </p:spPr>
        </p:sp>
        <p:sp>
          <p:nvSpPr>
            <p:cNvPr name="TextBox 65" id="65"/>
            <p:cNvSpPr txBox="true"/>
            <p:nvPr/>
          </p:nvSpPr>
          <p:spPr>
            <a:xfrm>
              <a:off x="0" y="0"/>
              <a:ext cx="5856732" cy="1134745"/>
            </a:xfrm>
            <a:prstGeom prst="rect">
              <a:avLst/>
            </a:prstGeom>
          </p:spPr>
          <p:txBody>
            <a:bodyPr anchor="ctr" rtlCol="false" tIns="0" lIns="0" bIns="0" rIns="0"/>
            <a:lstStyle/>
            <a:p>
              <a:pPr algn="ctr">
                <a:lnSpc>
                  <a:spcPts val="2071"/>
                </a:lnSpc>
              </a:pPr>
              <a:r>
                <a:rPr lang="en-US" sz="1726" b="true">
                  <a:solidFill>
                    <a:srgbClr val="1F4E79"/>
                  </a:solidFill>
                  <a:latin typeface="Cabin Bold"/>
                  <a:ea typeface="Cabin Bold"/>
                  <a:cs typeface="Cabin Bold"/>
                  <a:sym typeface="Cabin Bold"/>
                </a:rPr>
                <a:t>Transformation</a:t>
              </a:r>
            </a:p>
          </p:txBody>
        </p:sp>
      </p:grpSp>
      <p:grpSp>
        <p:nvGrpSpPr>
          <p:cNvPr name="Group 66" id="66"/>
          <p:cNvGrpSpPr/>
          <p:nvPr/>
        </p:nvGrpSpPr>
        <p:grpSpPr>
          <a:xfrm rot="0">
            <a:off x="11383651" y="6579299"/>
            <a:ext cx="4411618" cy="870118"/>
            <a:chOff x="0" y="0"/>
            <a:chExt cx="5882157" cy="1160158"/>
          </a:xfrm>
        </p:grpSpPr>
        <p:sp>
          <p:nvSpPr>
            <p:cNvPr name="Freeform 67" id="67"/>
            <p:cNvSpPr/>
            <p:nvPr/>
          </p:nvSpPr>
          <p:spPr>
            <a:xfrm flipH="false" flipV="false" rot="0">
              <a:off x="0" y="0"/>
              <a:ext cx="5882132" cy="1160145"/>
            </a:xfrm>
            <a:custGeom>
              <a:avLst/>
              <a:gdLst/>
              <a:ahLst/>
              <a:cxnLst/>
              <a:rect r="r" b="b" t="t" l="l"/>
              <a:pathLst>
                <a:path h="1160145" w="5882132">
                  <a:moveTo>
                    <a:pt x="0" y="93599"/>
                  </a:moveTo>
                  <a:cubicBezTo>
                    <a:pt x="0" y="41910"/>
                    <a:pt x="41910" y="0"/>
                    <a:pt x="93599" y="0"/>
                  </a:cubicBezTo>
                  <a:lnTo>
                    <a:pt x="5788533" y="0"/>
                  </a:lnTo>
                  <a:cubicBezTo>
                    <a:pt x="5840222" y="0"/>
                    <a:pt x="5882132" y="41910"/>
                    <a:pt x="5882132" y="93599"/>
                  </a:cubicBezTo>
                  <a:lnTo>
                    <a:pt x="5882132" y="1066546"/>
                  </a:lnTo>
                  <a:cubicBezTo>
                    <a:pt x="5882132" y="1118235"/>
                    <a:pt x="5840222" y="1160145"/>
                    <a:pt x="5788533" y="1160145"/>
                  </a:cubicBezTo>
                  <a:lnTo>
                    <a:pt x="93599" y="1160145"/>
                  </a:lnTo>
                  <a:cubicBezTo>
                    <a:pt x="41910" y="1160145"/>
                    <a:pt x="0" y="1118235"/>
                    <a:pt x="0" y="1066546"/>
                  </a:cubicBezTo>
                  <a:close/>
                </a:path>
              </a:pathLst>
            </a:custGeom>
            <a:solidFill>
              <a:srgbClr val="DCEBFA"/>
            </a:solidFill>
            <a:ln w="19065" cap="sq">
              <a:solidFill>
                <a:srgbClr val="1F4E79"/>
              </a:solidFill>
              <a:prstDash val="solid"/>
              <a:miter/>
            </a:ln>
          </p:spPr>
        </p:sp>
      </p:grpSp>
      <p:grpSp>
        <p:nvGrpSpPr>
          <p:cNvPr name="Group 68" id="68"/>
          <p:cNvGrpSpPr/>
          <p:nvPr/>
        </p:nvGrpSpPr>
        <p:grpSpPr>
          <a:xfrm rot="0">
            <a:off x="11393176" y="6588824"/>
            <a:ext cx="4392549" cy="851059"/>
            <a:chOff x="0" y="0"/>
            <a:chExt cx="5856732" cy="1134745"/>
          </a:xfrm>
        </p:grpSpPr>
        <p:sp>
          <p:nvSpPr>
            <p:cNvPr name="Freeform 69" id="69"/>
            <p:cNvSpPr/>
            <p:nvPr/>
          </p:nvSpPr>
          <p:spPr>
            <a:xfrm flipH="false" flipV="false" rot="0">
              <a:off x="0" y="0"/>
              <a:ext cx="5856736" cy="1134743"/>
            </a:xfrm>
            <a:custGeom>
              <a:avLst/>
              <a:gdLst/>
              <a:ahLst/>
              <a:cxnLst/>
              <a:rect r="r" b="b" t="t" l="l"/>
              <a:pathLst>
                <a:path h="1134743" w="5856736">
                  <a:moveTo>
                    <a:pt x="0" y="0"/>
                  </a:moveTo>
                  <a:lnTo>
                    <a:pt x="5856736" y="0"/>
                  </a:lnTo>
                  <a:lnTo>
                    <a:pt x="5856736" y="1134743"/>
                  </a:lnTo>
                  <a:lnTo>
                    <a:pt x="0" y="1134743"/>
                  </a:lnTo>
                  <a:close/>
                </a:path>
              </a:pathLst>
            </a:custGeom>
            <a:blipFill>
              <a:blip r:embed="rId4">
                <a:alphaModFix amt="0"/>
              </a:blip>
              <a:stretch>
                <a:fillRect l="0" t="-50567" r="0" b="-50567"/>
              </a:stretch>
            </a:blipFill>
          </p:spPr>
        </p:sp>
        <p:sp>
          <p:nvSpPr>
            <p:cNvPr name="TextBox 70" id="70"/>
            <p:cNvSpPr txBox="true"/>
            <p:nvPr/>
          </p:nvSpPr>
          <p:spPr>
            <a:xfrm>
              <a:off x="0" y="0"/>
              <a:ext cx="5856732" cy="1134745"/>
            </a:xfrm>
            <a:prstGeom prst="rect">
              <a:avLst/>
            </a:prstGeom>
          </p:spPr>
          <p:txBody>
            <a:bodyPr anchor="ctr" rtlCol="false" tIns="0" lIns="0" bIns="0" rIns="0"/>
            <a:lstStyle/>
            <a:p>
              <a:pPr algn="ctr">
                <a:lnSpc>
                  <a:spcPts val="2071"/>
                </a:lnSpc>
              </a:pPr>
              <a:r>
                <a:rPr lang="en-US" sz="1726" b="true">
                  <a:solidFill>
                    <a:srgbClr val="1F4E79"/>
                  </a:solidFill>
                  <a:latin typeface="Cabin Bold"/>
                  <a:ea typeface="Cabin Bold"/>
                  <a:cs typeface="Cabin Bold"/>
                  <a:sym typeface="Cabin Bold"/>
                </a:rPr>
                <a:t>Transformation</a:t>
              </a:r>
            </a:p>
          </p:txBody>
        </p:sp>
      </p:grpSp>
      <p:grpSp>
        <p:nvGrpSpPr>
          <p:cNvPr name="Group 71" id="71"/>
          <p:cNvGrpSpPr/>
          <p:nvPr/>
        </p:nvGrpSpPr>
        <p:grpSpPr>
          <a:xfrm rot="0">
            <a:off x="11383651" y="7608799"/>
            <a:ext cx="4411618" cy="870118"/>
            <a:chOff x="0" y="0"/>
            <a:chExt cx="5882157" cy="1160158"/>
          </a:xfrm>
        </p:grpSpPr>
        <p:sp>
          <p:nvSpPr>
            <p:cNvPr name="Freeform 72" id="72"/>
            <p:cNvSpPr/>
            <p:nvPr/>
          </p:nvSpPr>
          <p:spPr>
            <a:xfrm flipH="false" flipV="false" rot="0">
              <a:off x="0" y="0"/>
              <a:ext cx="5882132" cy="1160145"/>
            </a:xfrm>
            <a:custGeom>
              <a:avLst/>
              <a:gdLst/>
              <a:ahLst/>
              <a:cxnLst/>
              <a:rect r="r" b="b" t="t" l="l"/>
              <a:pathLst>
                <a:path h="1160145" w="5882132">
                  <a:moveTo>
                    <a:pt x="0" y="93599"/>
                  </a:moveTo>
                  <a:cubicBezTo>
                    <a:pt x="0" y="41910"/>
                    <a:pt x="41910" y="0"/>
                    <a:pt x="93599" y="0"/>
                  </a:cubicBezTo>
                  <a:lnTo>
                    <a:pt x="5788533" y="0"/>
                  </a:lnTo>
                  <a:cubicBezTo>
                    <a:pt x="5840222" y="0"/>
                    <a:pt x="5882132" y="41910"/>
                    <a:pt x="5882132" y="93599"/>
                  </a:cubicBezTo>
                  <a:lnTo>
                    <a:pt x="5882132" y="1066546"/>
                  </a:lnTo>
                  <a:cubicBezTo>
                    <a:pt x="5882132" y="1118235"/>
                    <a:pt x="5840222" y="1160145"/>
                    <a:pt x="5788533" y="1160145"/>
                  </a:cubicBezTo>
                  <a:lnTo>
                    <a:pt x="93599" y="1160145"/>
                  </a:lnTo>
                  <a:cubicBezTo>
                    <a:pt x="41910" y="1160145"/>
                    <a:pt x="0" y="1118235"/>
                    <a:pt x="0" y="1066546"/>
                  </a:cubicBezTo>
                  <a:close/>
                </a:path>
              </a:pathLst>
            </a:custGeom>
            <a:solidFill>
              <a:srgbClr val="F5D4D4"/>
            </a:solidFill>
            <a:ln w="19065" cap="sq">
              <a:solidFill>
                <a:srgbClr val="C0392B"/>
              </a:solidFill>
              <a:prstDash val="solid"/>
              <a:miter/>
            </a:ln>
          </p:spPr>
        </p:sp>
      </p:grpSp>
      <p:grpSp>
        <p:nvGrpSpPr>
          <p:cNvPr name="Group 73" id="73"/>
          <p:cNvGrpSpPr/>
          <p:nvPr/>
        </p:nvGrpSpPr>
        <p:grpSpPr>
          <a:xfrm rot="0">
            <a:off x="11393176" y="7618333"/>
            <a:ext cx="4392549" cy="851059"/>
            <a:chOff x="0" y="0"/>
            <a:chExt cx="5856732" cy="1134745"/>
          </a:xfrm>
        </p:grpSpPr>
        <p:sp>
          <p:nvSpPr>
            <p:cNvPr name="Freeform 74" id="74"/>
            <p:cNvSpPr/>
            <p:nvPr/>
          </p:nvSpPr>
          <p:spPr>
            <a:xfrm flipH="false" flipV="false" rot="0">
              <a:off x="0" y="0"/>
              <a:ext cx="5856736" cy="1134743"/>
            </a:xfrm>
            <a:custGeom>
              <a:avLst/>
              <a:gdLst/>
              <a:ahLst/>
              <a:cxnLst/>
              <a:rect r="r" b="b" t="t" l="l"/>
              <a:pathLst>
                <a:path h="1134743" w="5856736">
                  <a:moveTo>
                    <a:pt x="0" y="0"/>
                  </a:moveTo>
                  <a:lnTo>
                    <a:pt x="5856736" y="0"/>
                  </a:lnTo>
                  <a:lnTo>
                    <a:pt x="5856736" y="1134743"/>
                  </a:lnTo>
                  <a:lnTo>
                    <a:pt x="0" y="1134743"/>
                  </a:lnTo>
                  <a:close/>
                </a:path>
              </a:pathLst>
            </a:custGeom>
            <a:blipFill>
              <a:blip r:embed="rId4">
                <a:alphaModFix amt="0"/>
              </a:blip>
              <a:stretch>
                <a:fillRect l="0" t="-50567" r="0" b="-50567"/>
              </a:stretch>
            </a:blipFill>
          </p:spPr>
        </p:sp>
        <p:sp>
          <p:nvSpPr>
            <p:cNvPr name="TextBox 75" id="75"/>
            <p:cNvSpPr txBox="true"/>
            <p:nvPr/>
          </p:nvSpPr>
          <p:spPr>
            <a:xfrm>
              <a:off x="0" y="0"/>
              <a:ext cx="5856732" cy="1134745"/>
            </a:xfrm>
            <a:prstGeom prst="rect">
              <a:avLst/>
            </a:prstGeom>
          </p:spPr>
          <p:txBody>
            <a:bodyPr anchor="ctr" rtlCol="false" tIns="0" lIns="0" bIns="0" rIns="0"/>
            <a:lstStyle/>
            <a:p>
              <a:pPr algn="ctr">
                <a:lnSpc>
                  <a:spcPts val="2071"/>
                </a:lnSpc>
              </a:pPr>
              <a:r>
                <a:rPr lang="en-US" sz="1726">
                  <a:solidFill>
                    <a:srgbClr val="B22222"/>
                  </a:solidFill>
                  <a:latin typeface="Cabin"/>
                  <a:ea typeface="Cabin"/>
                  <a:cs typeface="Cabin"/>
                  <a:sym typeface="Cabin"/>
                </a:rPr>
                <a:t>Action → Disk</a:t>
              </a:r>
            </a:p>
          </p:txBody>
        </p:sp>
      </p:grpSp>
      <p:grpSp>
        <p:nvGrpSpPr>
          <p:cNvPr name="Group 76" id="76"/>
          <p:cNvGrpSpPr/>
          <p:nvPr/>
        </p:nvGrpSpPr>
        <p:grpSpPr>
          <a:xfrm rot="0">
            <a:off x="686333" y="8716470"/>
            <a:ext cx="16952500" cy="754971"/>
            <a:chOff x="0" y="0"/>
            <a:chExt cx="22603333" cy="1006627"/>
          </a:xfrm>
        </p:grpSpPr>
        <p:sp>
          <p:nvSpPr>
            <p:cNvPr name="Freeform 77" id="77"/>
            <p:cNvSpPr/>
            <p:nvPr/>
          </p:nvSpPr>
          <p:spPr>
            <a:xfrm flipH="false" flipV="false" rot="0">
              <a:off x="0" y="0"/>
              <a:ext cx="22603340" cy="1006626"/>
            </a:xfrm>
            <a:custGeom>
              <a:avLst/>
              <a:gdLst/>
              <a:ahLst/>
              <a:cxnLst/>
              <a:rect r="r" b="b" t="t" l="l"/>
              <a:pathLst>
                <a:path h="1006626" w="22603340">
                  <a:moveTo>
                    <a:pt x="0" y="0"/>
                  </a:moveTo>
                  <a:lnTo>
                    <a:pt x="22603340" y="0"/>
                  </a:lnTo>
                  <a:lnTo>
                    <a:pt x="22603340" y="1006626"/>
                  </a:lnTo>
                  <a:lnTo>
                    <a:pt x="0" y="1006626"/>
                  </a:lnTo>
                  <a:close/>
                </a:path>
              </a:pathLst>
            </a:custGeom>
            <a:blipFill>
              <a:blip r:embed="rId4">
                <a:alphaModFix amt="0"/>
              </a:blip>
              <a:stretch>
                <a:fillRect l="0" t="-387527" r="0" b="-387527"/>
              </a:stretch>
            </a:blipFill>
          </p:spPr>
        </p:sp>
        <p:sp>
          <p:nvSpPr>
            <p:cNvPr name="TextBox 78" id="78"/>
            <p:cNvSpPr txBox="true"/>
            <p:nvPr/>
          </p:nvSpPr>
          <p:spPr>
            <a:xfrm>
              <a:off x="0" y="0"/>
              <a:ext cx="22603333" cy="1006627"/>
            </a:xfrm>
            <a:prstGeom prst="rect">
              <a:avLst/>
            </a:prstGeom>
          </p:spPr>
          <p:txBody>
            <a:bodyPr anchor="ctr" rtlCol="false" tIns="0" lIns="0" bIns="0" rIns="0"/>
            <a:lstStyle/>
            <a:p>
              <a:pPr algn="ctr">
                <a:lnSpc>
                  <a:spcPts val="1891"/>
                </a:lnSpc>
              </a:pPr>
              <a:r>
                <a:rPr lang="en-US" sz="1576" i="true">
                  <a:solidFill>
                    <a:srgbClr val="4A4A4A"/>
                  </a:solidFill>
                  <a:latin typeface="Cabin Italics"/>
                  <a:ea typeface="Cabin Italics"/>
                  <a:cs typeface="Cabin Italics"/>
                  <a:sym typeface="Cabin Italics"/>
                </a:rPr>
                <a:t>MapReduce ghi kết quả trung gian xuống đĩa sau mỗi bước (đánh dấu đỏ) → tốn thời gian I/O. Spark giữ dữ liệu trong bộ nhớ giữa các Transformation → nhanh hơn đáng kể.</a:t>
              </a:r>
            </a:p>
          </p:txBody>
        </p:sp>
      </p:grpSp>
      <p:grpSp>
        <p:nvGrpSpPr>
          <p:cNvPr name="Group 79" id="79"/>
          <p:cNvGrpSpPr/>
          <p:nvPr/>
        </p:nvGrpSpPr>
        <p:grpSpPr>
          <a:xfrm rot="0">
            <a:off x="0" y="9677343"/>
            <a:ext cx="18301840" cy="617706"/>
            <a:chOff x="0" y="0"/>
            <a:chExt cx="24402453" cy="823608"/>
          </a:xfrm>
        </p:grpSpPr>
        <p:sp>
          <p:nvSpPr>
            <p:cNvPr name="Freeform 80" id="80"/>
            <p:cNvSpPr/>
            <p:nvPr/>
          </p:nvSpPr>
          <p:spPr>
            <a:xfrm flipH="false" flipV="false" rot="0">
              <a:off x="0" y="0"/>
              <a:ext cx="24402414" cy="823595"/>
            </a:xfrm>
            <a:custGeom>
              <a:avLst/>
              <a:gdLst/>
              <a:ahLst/>
              <a:cxnLst/>
              <a:rect r="r" b="b" t="t" l="l"/>
              <a:pathLst>
                <a:path h="823595" w="24402414">
                  <a:moveTo>
                    <a:pt x="0" y="0"/>
                  </a:moveTo>
                  <a:lnTo>
                    <a:pt x="24402414" y="0"/>
                  </a:lnTo>
                  <a:lnTo>
                    <a:pt x="24402414" y="823595"/>
                  </a:lnTo>
                  <a:lnTo>
                    <a:pt x="0" y="823595"/>
                  </a:lnTo>
                  <a:close/>
                </a:path>
              </a:pathLst>
            </a:custGeom>
            <a:solidFill>
              <a:srgbClr val="1F4E79"/>
            </a:solidFill>
          </p:spPr>
        </p:sp>
      </p:grpSp>
      <p:grpSp>
        <p:nvGrpSpPr>
          <p:cNvPr name="Group 81" id="81"/>
          <p:cNvGrpSpPr/>
          <p:nvPr/>
        </p:nvGrpSpPr>
        <p:grpSpPr>
          <a:xfrm rot="0">
            <a:off x="480431" y="9677343"/>
            <a:ext cx="10981382" cy="617706"/>
            <a:chOff x="0" y="0"/>
            <a:chExt cx="14641843" cy="823608"/>
          </a:xfrm>
        </p:grpSpPr>
        <p:sp>
          <p:nvSpPr>
            <p:cNvPr name="Freeform 82" id="82"/>
            <p:cNvSpPr/>
            <p:nvPr/>
          </p:nvSpPr>
          <p:spPr>
            <a:xfrm flipH="false" flipV="false" rot="0">
              <a:off x="0" y="0"/>
              <a:ext cx="14641840" cy="823603"/>
            </a:xfrm>
            <a:custGeom>
              <a:avLst/>
              <a:gdLst/>
              <a:ahLst/>
              <a:cxnLst/>
              <a:rect r="r" b="b" t="t" l="l"/>
              <a:pathLst>
                <a:path h="823603" w="14641840">
                  <a:moveTo>
                    <a:pt x="0" y="0"/>
                  </a:moveTo>
                  <a:lnTo>
                    <a:pt x="14641840" y="0"/>
                  </a:lnTo>
                  <a:lnTo>
                    <a:pt x="14641840" y="823603"/>
                  </a:lnTo>
                  <a:lnTo>
                    <a:pt x="0" y="823603"/>
                  </a:lnTo>
                  <a:close/>
                </a:path>
              </a:pathLst>
            </a:custGeom>
            <a:blipFill>
              <a:blip r:embed="rId4">
                <a:alphaModFix amt="0"/>
              </a:blip>
              <a:stretch>
                <a:fillRect l="0" t="-296400" r="0" b="-296401"/>
              </a:stretch>
            </a:blipFill>
          </p:spPr>
        </p:sp>
        <p:sp>
          <p:nvSpPr>
            <p:cNvPr name="TextBox 83" id="83"/>
            <p:cNvSpPr txBox="true"/>
            <p:nvPr/>
          </p:nvSpPr>
          <p:spPr>
            <a:xfrm>
              <a:off x="0" y="0"/>
              <a:ext cx="14641843" cy="823608"/>
            </a:xfrm>
            <a:prstGeom prst="rect">
              <a:avLst/>
            </a:prstGeom>
          </p:spPr>
          <p:txBody>
            <a:bodyPr anchor="ctr" rtlCol="false" tIns="0" lIns="0" bIns="0" rIns="0"/>
            <a:lstStyle/>
            <a:p>
              <a:pPr algn="l">
                <a:lnSpc>
                  <a:spcPts val="1621"/>
                </a:lnSpc>
              </a:pPr>
              <a:r>
                <a:rPr lang="en-US" sz="1351">
                  <a:solidFill>
                    <a:srgbClr val="FFFFFF"/>
                  </a:solidFill>
                  <a:latin typeface="Cabin"/>
                  <a:ea typeface="Cabin"/>
                  <a:cs typeface="Cabin"/>
                  <a:sym typeface="Cabin"/>
                </a:rPr>
                <a:t>VNU UET – Institute for Artificial Intelligence</a:t>
              </a:r>
            </a:p>
          </p:txBody>
        </p:sp>
      </p:grpSp>
      <p:grpSp>
        <p:nvGrpSpPr>
          <p:cNvPr name="Group 84" id="84"/>
          <p:cNvGrpSpPr/>
          <p:nvPr/>
        </p:nvGrpSpPr>
        <p:grpSpPr>
          <a:xfrm rot="0">
            <a:off x="17066438" y="9677343"/>
            <a:ext cx="823608" cy="617706"/>
            <a:chOff x="0" y="0"/>
            <a:chExt cx="1098144" cy="823608"/>
          </a:xfrm>
        </p:grpSpPr>
        <p:sp>
          <p:nvSpPr>
            <p:cNvPr name="Freeform 85" id="85"/>
            <p:cNvSpPr/>
            <p:nvPr/>
          </p:nvSpPr>
          <p:spPr>
            <a:xfrm flipH="false" flipV="false" rot="0">
              <a:off x="0" y="0"/>
              <a:ext cx="1098138" cy="823603"/>
            </a:xfrm>
            <a:custGeom>
              <a:avLst/>
              <a:gdLst/>
              <a:ahLst/>
              <a:cxnLst/>
              <a:rect r="r" b="b" t="t" l="l"/>
              <a:pathLst>
                <a:path h="823603" w="1098138">
                  <a:moveTo>
                    <a:pt x="0" y="0"/>
                  </a:moveTo>
                  <a:lnTo>
                    <a:pt x="1098138" y="0"/>
                  </a:lnTo>
                  <a:lnTo>
                    <a:pt x="1098138" y="823603"/>
                  </a:lnTo>
                  <a:lnTo>
                    <a:pt x="0" y="823603"/>
                  </a:lnTo>
                  <a:close/>
                </a:path>
              </a:pathLst>
            </a:custGeom>
            <a:blipFill>
              <a:blip r:embed="rId4">
                <a:alphaModFix amt="0"/>
              </a:blip>
              <a:stretch>
                <a:fillRect l="-46227" t="0" r="-46228" b="0"/>
              </a:stretch>
            </a:blipFill>
          </p:spPr>
        </p:sp>
        <p:sp>
          <p:nvSpPr>
            <p:cNvPr name="TextBox 86" id="86"/>
            <p:cNvSpPr txBox="true"/>
            <p:nvPr/>
          </p:nvSpPr>
          <p:spPr>
            <a:xfrm>
              <a:off x="0" y="0"/>
              <a:ext cx="1098144" cy="823608"/>
            </a:xfrm>
            <a:prstGeom prst="rect">
              <a:avLst/>
            </a:prstGeom>
          </p:spPr>
          <p:txBody>
            <a:bodyPr anchor="ctr" rtlCol="false" tIns="0" lIns="0" bIns="0" rIns="0"/>
            <a:lstStyle/>
            <a:p>
              <a:pPr algn="r">
                <a:lnSpc>
                  <a:spcPts val="1621"/>
                </a:lnSpc>
              </a:pPr>
              <a:r>
                <a:rPr lang="en-US" sz="1351">
                  <a:solidFill>
                    <a:srgbClr val="FFFFFF"/>
                  </a:solidFill>
                  <a:latin typeface="Cabin"/>
                  <a:ea typeface="Cabin"/>
                  <a:cs typeface="Cabin"/>
                  <a:sym typeface="Cabin"/>
                </a:rPr>
                <a:t>6</a:t>
              </a:r>
            </a:p>
          </p:txBody>
        </p:sp>
      </p:grpSp>
      <p:grpSp>
        <p:nvGrpSpPr>
          <p:cNvPr name="Group 87" id="87"/>
          <p:cNvGrpSpPr/>
          <p:nvPr/>
        </p:nvGrpSpPr>
        <p:grpSpPr>
          <a:xfrm rot="0">
            <a:off x="0" y="0"/>
            <a:ext cx="18288000" cy="315468"/>
            <a:chOff x="0" y="0"/>
            <a:chExt cx="24384000" cy="420624"/>
          </a:xfrm>
        </p:grpSpPr>
        <p:sp>
          <p:nvSpPr>
            <p:cNvPr name="Freeform 88" id="88"/>
            <p:cNvSpPr/>
            <p:nvPr/>
          </p:nvSpPr>
          <p:spPr>
            <a:xfrm flipH="false" flipV="false" rot="0">
              <a:off x="0" y="0"/>
              <a:ext cx="24384000" cy="420624"/>
            </a:xfrm>
            <a:custGeom>
              <a:avLst/>
              <a:gdLst/>
              <a:ahLst/>
              <a:cxnLst/>
              <a:rect r="r" b="b" t="t" l="l"/>
              <a:pathLst>
                <a:path h="420624" w="24384000">
                  <a:moveTo>
                    <a:pt x="0" y="0"/>
                  </a:moveTo>
                  <a:lnTo>
                    <a:pt x="24384000" y="0"/>
                  </a:lnTo>
                  <a:lnTo>
                    <a:pt x="24384000" y="420624"/>
                  </a:lnTo>
                  <a:lnTo>
                    <a:pt x="0" y="420624"/>
                  </a:lnTo>
                  <a:close/>
                </a:path>
              </a:pathLst>
            </a:custGeom>
            <a:solidFill>
              <a:srgbClr val="0F3F6F"/>
            </a:solidFill>
          </p:spPr>
        </p:sp>
      </p:grpSp>
      <p:grpSp>
        <p:nvGrpSpPr>
          <p:cNvPr name="Group 89" id="89"/>
          <p:cNvGrpSpPr/>
          <p:nvPr/>
        </p:nvGrpSpPr>
        <p:grpSpPr>
          <a:xfrm rot="0">
            <a:off x="13098780" y="0"/>
            <a:ext cx="1453896" cy="1508760"/>
            <a:chOff x="0" y="0"/>
            <a:chExt cx="1938528" cy="2011680"/>
          </a:xfrm>
        </p:grpSpPr>
        <p:sp>
          <p:nvSpPr>
            <p:cNvPr name="Freeform 90" id="90"/>
            <p:cNvSpPr/>
            <p:nvPr/>
          </p:nvSpPr>
          <p:spPr>
            <a:xfrm flipH="false" flipV="false" rot="0">
              <a:off x="0" y="0"/>
              <a:ext cx="1938528" cy="2011680"/>
            </a:xfrm>
            <a:custGeom>
              <a:avLst/>
              <a:gdLst/>
              <a:ahLst/>
              <a:cxnLst/>
              <a:rect r="r" b="b" t="t" l="l"/>
              <a:pathLst>
                <a:path h="2011680" w="1938528">
                  <a:moveTo>
                    <a:pt x="0" y="2011680"/>
                  </a:moveTo>
                  <a:lnTo>
                    <a:pt x="484632" y="0"/>
                  </a:lnTo>
                  <a:lnTo>
                    <a:pt x="1938528" y="0"/>
                  </a:lnTo>
                  <a:lnTo>
                    <a:pt x="1453896" y="2011680"/>
                  </a:lnTo>
                  <a:close/>
                </a:path>
              </a:pathLst>
            </a:custGeom>
            <a:solidFill>
              <a:srgbClr val="85B518"/>
            </a:solidFill>
          </p:spPr>
        </p:sp>
      </p:grpSp>
      <p:grpSp>
        <p:nvGrpSpPr>
          <p:cNvPr name="Group 91" id="91"/>
          <p:cNvGrpSpPr/>
          <p:nvPr/>
        </p:nvGrpSpPr>
        <p:grpSpPr>
          <a:xfrm rot="0">
            <a:off x="14621256" y="0"/>
            <a:ext cx="1508760" cy="1508760"/>
            <a:chOff x="0" y="0"/>
            <a:chExt cx="2011680" cy="2011680"/>
          </a:xfrm>
        </p:grpSpPr>
        <p:sp>
          <p:nvSpPr>
            <p:cNvPr name="Freeform 92" id="92"/>
            <p:cNvSpPr/>
            <p:nvPr/>
          </p:nvSpPr>
          <p:spPr>
            <a:xfrm flipH="false" flipV="false" rot="0">
              <a:off x="0" y="0"/>
              <a:ext cx="2011680" cy="2011680"/>
            </a:xfrm>
            <a:custGeom>
              <a:avLst/>
              <a:gdLst/>
              <a:ahLst/>
              <a:cxnLst/>
              <a:rect r="r" b="b" t="t" l="l"/>
              <a:pathLst>
                <a:path h="2011680" w="2011680">
                  <a:moveTo>
                    <a:pt x="0" y="2011680"/>
                  </a:moveTo>
                  <a:lnTo>
                    <a:pt x="502920" y="0"/>
                  </a:lnTo>
                  <a:lnTo>
                    <a:pt x="2011680" y="0"/>
                  </a:lnTo>
                  <a:lnTo>
                    <a:pt x="1508760" y="2011680"/>
                  </a:lnTo>
                  <a:close/>
                </a:path>
              </a:pathLst>
            </a:custGeom>
            <a:solidFill>
              <a:srgbClr val="0F3F6F"/>
            </a:solid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97801" y="384353"/>
            <a:ext cx="851059" cy="851059"/>
            <a:chOff x="0" y="0"/>
            <a:chExt cx="1134745" cy="1134745"/>
          </a:xfrm>
        </p:grpSpPr>
        <p:sp>
          <p:nvSpPr>
            <p:cNvPr name="Freeform 3" id="3" descr="/home/claude/work/assets/logo.png"/>
            <p:cNvSpPr/>
            <p:nvPr/>
          </p:nvSpPr>
          <p:spPr>
            <a:xfrm flipH="false" flipV="false" rot="0">
              <a:off x="0" y="0"/>
              <a:ext cx="1134745" cy="1134745"/>
            </a:xfrm>
            <a:custGeom>
              <a:avLst/>
              <a:gdLst/>
              <a:ahLst/>
              <a:cxnLst/>
              <a:rect r="r" b="b" t="t" l="l"/>
              <a:pathLst>
                <a:path h="1134745" w="1134745">
                  <a:moveTo>
                    <a:pt x="0" y="0"/>
                  </a:moveTo>
                  <a:lnTo>
                    <a:pt x="1134745" y="0"/>
                  </a:lnTo>
                  <a:lnTo>
                    <a:pt x="1134745" y="1134745"/>
                  </a:lnTo>
                  <a:lnTo>
                    <a:pt x="0" y="1134745"/>
                  </a:lnTo>
                  <a:lnTo>
                    <a:pt x="0" y="0"/>
                  </a:lnTo>
                  <a:close/>
                </a:path>
              </a:pathLst>
            </a:custGeom>
            <a:blipFill>
              <a:blip r:embed="rId3"/>
              <a:stretch>
                <a:fillRect l="0" t="0" r="0" b="0"/>
              </a:stretch>
            </a:blipFill>
          </p:spPr>
        </p:sp>
      </p:grpSp>
      <p:grpSp>
        <p:nvGrpSpPr>
          <p:cNvPr name="Group 4" id="4"/>
          <p:cNvGrpSpPr/>
          <p:nvPr/>
        </p:nvGrpSpPr>
        <p:grpSpPr>
          <a:xfrm rot="0">
            <a:off x="5949173" y="1835840"/>
            <a:ext cx="6321131" cy="6321131"/>
            <a:chOff x="0" y="0"/>
            <a:chExt cx="6954876" cy="6954876"/>
          </a:xfrm>
        </p:grpSpPr>
        <p:sp>
          <p:nvSpPr>
            <p:cNvPr name="Freeform 5" id="5"/>
            <p:cNvSpPr/>
            <p:nvPr/>
          </p:nvSpPr>
          <p:spPr>
            <a:xfrm flipH="false" flipV="false" rot="0">
              <a:off x="0" y="0"/>
              <a:ext cx="6954901" cy="6954901"/>
            </a:xfrm>
            <a:custGeom>
              <a:avLst/>
              <a:gdLst/>
              <a:ahLst/>
              <a:cxnLst/>
              <a:rect r="r" b="b" t="t" l="l"/>
              <a:pathLst>
                <a:path h="6954901" w="6954901">
                  <a:moveTo>
                    <a:pt x="0" y="3477387"/>
                  </a:moveTo>
                  <a:cubicBezTo>
                    <a:pt x="0" y="1556893"/>
                    <a:pt x="1556893" y="0"/>
                    <a:pt x="3477387" y="0"/>
                  </a:cubicBezTo>
                  <a:cubicBezTo>
                    <a:pt x="5397881" y="0"/>
                    <a:pt x="6954901" y="1556893"/>
                    <a:pt x="6954901" y="3477387"/>
                  </a:cubicBezTo>
                  <a:cubicBezTo>
                    <a:pt x="6954901" y="5397881"/>
                    <a:pt x="5398008" y="6954901"/>
                    <a:pt x="3477387" y="6954901"/>
                  </a:cubicBezTo>
                  <a:cubicBezTo>
                    <a:pt x="1556766" y="6954901"/>
                    <a:pt x="0" y="5398008"/>
                    <a:pt x="0" y="3477387"/>
                  </a:cubicBezTo>
                  <a:close/>
                </a:path>
              </a:pathLst>
            </a:custGeom>
            <a:solidFill>
              <a:srgbClr val="1F4E79"/>
            </a:solidFill>
          </p:spPr>
        </p:sp>
      </p:grpSp>
      <p:grpSp>
        <p:nvGrpSpPr>
          <p:cNvPr name="Group 6" id="6"/>
          <p:cNvGrpSpPr/>
          <p:nvPr/>
        </p:nvGrpSpPr>
        <p:grpSpPr>
          <a:xfrm rot="0">
            <a:off x="5949173" y="2534488"/>
            <a:ext cx="6321131" cy="499039"/>
            <a:chOff x="0" y="0"/>
            <a:chExt cx="6954876" cy="549072"/>
          </a:xfrm>
        </p:grpSpPr>
        <p:sp>
          <p:nvSpPr>
            <p:cNvPr name="Freeform 7" id="7"/>
            <p:cNvSpPr/>
            <p:nvPr/>
          </p:nvSpPr>
          <p:spPr>
            <a:xfrm flipH="false" flipV="false" rot="0">
              <a:off x="0" y="0"/>
              <a:ext cx="6954873" cy="549069"/>
            </a:xfrm>
            <a:custGeom>
              <a:avLst/>
              <a:gdLst/>
              <a:ahLst/>
              <a:cxnLst/>
              <a:rect r="r" b="b" t="t" l="l"/>
              <a:pathLst>
                <a:path h="549069" w="6954873">
                  <a:moveTo>
                    <a:pt x="0" y="0"/>
                  </a:moveTo>
                  <a:lnTo>
                    <a:pt x="6954873" y="0"/>
                  </a:lnTo>
                  <a:lnTo>
                    <a:pt x="6954873" y="549069"/>
                  </a:lnTo>
                  <a:lnTo>
                    <a:pt x="0" y="549069"/>
                  </a:lnTo>
                  <a:close/>
                </a:path>
              </a:pathLst>
            </a:custGeom>
            <a:blipFill>
              <a:blip r:embed="rId4">
                <a:alphaModFix amt="0"/>
              </a:blip>
              <a:stretch>
                <a:fillRect l="0" t="-196810" r="0" b="-196810"/>
              </a:stretch>
            </a:blipFill>
          </p:spPr>
        </p:sp>
        <p:sp>
          <p:nvSpPr>
            <p:cNvPr name="TextBox 8" id="8"/>
            <p:cNvSpPr txBox="true"/>
            <p:nvPr/>
          </p:nvSpPr>
          <p:spPr>
            <a:xfrm>
              <a:off x="0" y="0"/>
              <a:ext cx="6954876" cy="549072"/>
            </a:xfrm>
            <a:prstGeom prst="rect">
              <a:avLst/>
            </a:prstGeom>
          </p:spPr>
          <p:txBody>
            <a:bodyPr anchor="ctr" rtlCol="false" tIns="0" lIns="0" bIns="0" rIns="0"/>
            <a:lstStyle/>
            <a:p>
              <a:pPr algn="ctr">
                <a:lnSpc>
                  <a:spcPts val="1981"/>
                </a:lnSpc>
              </a:pPr>
              <a:r>
                <a:rPr lang="en-US" sz="1651" spc="300">
                  <a:solidFill>
                    <a:srgbClr val="9FB8D4"/>
                  </a:solidFill>
                  <a:latin typeface="Cabin"/>
                  <a:ea typeface="Cabin"/>
                  <a:cs typeface="Cabin"/>
                  <a:sym typeface="Cabin"/>
                </a:rPr>
                <a:t>PHẦN 5.2</a:t>
              </a:r>
            </a:p>
          </p:txBody>
        </p:sp>
      </p:grpSp>
      <p:grpSp>
        <p:nvGrpSpPr>
          <p:cNvPr name="Group 9" id="9"/>
          <p:cNvGrpSpPr/>
          <p:nvPr/>
        </p:nvGrpSpPr>
        <p:grpSpPr>
          <a:xfrm rot="0">
            <a:off x="5949173" y="2966983"/>
            <a:ext cx="6321131" cy="1247586"/>
            <a:chOff x="0" y="0"/>
            <a:chExt cx="6954876" cy="1372667"/>
          </a:xfrm>
        </p:grpSpPr>
        <p:sp>
          <p:nvSpPr>
            <p:cNvPr name="Freeform 10" id="10"/>
            <p:cNvSpPr/>
            <p:nvPr/>
          </p:nvSpPr>
          <p:spPr>
            <a:xfrm flipH="false" flipV="false" rot="0">
              <a:off x="0" y="0"/>
              <a:ext cx="6954873" cy="1372672"/>
            </a:xfrm>
            <a:custGeom>
              <a:avLst/>
              <a:gdLst/>
              <a:ahLst/>
              <a:cxnLst/>
              <a:rect r="r" b="b" t="t" l="l"/>
              <a:pathLst>
                <a:path h="1372672" w="6954873">
                  <a:moveTo>
                    <a:pt x="0" y="0"/>
                  </a:moveTo>
                  <a:lnTo>
                    <a:pt x="6954873" y="0"/>
                  </a:lnTo>
                  <a:lnTo>
                    <a:pt x="6954873" y="1372672"/>
                  </a:lnTo>
                  <a:lnTo>
                    <a:pt x="0" y="1372672"/>
                  </a:lnTo>
                  <a:close/>
                </a:path>
              </a:pathLst>
            </a:custGeom>
            <a:blipFill>
              <a:blip r:embed="rId4">
                <a:alphaModFix amt="0"/>
              </a:blip>
              <a:stretch>
                <a:fillRect l="0" t="-48724" r="0" b="-48724"/>
              </a:stretch>
            </a:blipFill>
          </p:spPr>
        </p:sp>
        <p:sp>
          <p:nvSpPr>
            <p:cNvPr name="TextBox 11" id="11"/>
            <p:cNvSpPr txBox="true"/>
            <p:nvPr/>
          </p:nvSpPr>
          <p:spPr>
            <a:xfrm>
              <a:off x="0" y="-9525"/>
              <a:ext cx="6954876" cy="1382192"/>
            </a:xfrm>
            <a:prstGeom prst="rect">
              <a:avLst/>
            </a:prstGeom>
          </p:spPr>
          <p:txBody>
            <a:bodyPr anchor="ctr" rtlCol="false" tIns="0" lIns="0" bIns="0" rIns="0"/>
            <a:lstStyle/>
            <a:p>
              <a:pPr algn="ctr">
                <a:lnSpc>
                  <a:spcPts val="6124"/>
                </a:lnSpc>
              </a:pPr>
              <a:r>
                <a:rPr lang="en-US" sz="5103" b="true">
                  <a:solidFill>
                    <a:srgbClr val="FFFFFF"/>
                  </a:solidFill>
                  <a:latin typeface="TT Rounds Condensed Bold"/>
                  <a:ea typeface="TT Rounds Condensed Bold"/>
                  <a:cs typeface="TT Rounds Condensed Bold"/>
                  <a:sym typeface="TT Rounds Condensed Bold"/>
                </a:rPr>
                <a:t>5.2</a:t>
              </a:r>
            </a:p>
          </p:txBody>
        </p:sp>
      </p:grpSp>
      <p:sp>
        <p:nvSpPr>
          <p:cNvPr name="TextBox 12" id="12"/>
          <p:cNvSpPr txBox="true"/>
          <p:nvPr/>
        </p:nvSpPr>
        <p:spPr>
          <a:xfrm rot="0">
            <a:off x="6309503" y="4253353"/>
            <a:ext cx="5600471" cy="1053610"/>
          </a:xfrm>
          <a:prstGeom prst="rect">
            <a:avLst/>
          </a:prstGeom>
        </p:spPr>
        <p:txBody>
          <a:bodyPr anchor="t" rtlCol="false" tIns="0" lIns="0" bIns="0" rIns="0">
            <a:spAutoFit/>
          </a:bodyPr>
          <a:lstStyle/>
          <a:p>
            <a:pPr algn="ctr">
              <a:lnSpc>
                <a:spcPts val="3274"/>
              </a:lnSpc>
            </a:pPr>
            <a:r>
              <a:rPr lang="en-US" sz="2728" b="true">
                <a:solidFill>
                  <a:srgbClr val="FFFFFF"/>
                </a:solidFill>
                <a:latin typeface="Cabin Bold"/>
                <a:ea typeface="Cabin Bold"/>
                <a:cs typeface="Cabin Bold"/>
                <a:sym typeface="Cabin Bold"/>
              </a:rPr>
              <a:t>Tổng quan Apache Spark</a:t>
            </a:r>
          </a:p>
        </p:txBody>
      </p:sp>
      <p:sp>
        <p:nvSpPr>
          <p:cNvPr name="TextBox 13" id="13"/>
          <p:cNvSpPr txBox="true"/>
          <p:nvPr/>
        </p:nvSpPr>
        <p:spPr>
          <a:xfrm rot="0">
            <a:off x="6392668" y="5634015"/>
            <a:ext cx="5434129" cy="1552649"/>
          </a:xfrm>
          <a:prstGeom prst="rect">
            <a:avLst/>
          </a:prstGeom>
        </p:spPr>
        <p:txBody>
          <a:bodyPr anchor="t" rtlCol="false" tIns="0" lIns="0" bIns="0" rIns="0">
            <a:spAutoFit/>
          </a:bodyPr>
          <a:lstStyle/>
          <a:p>
            <a:pPr algn="ctr">
              <a:lnSpc>
                <a:spcPts val="2073"/>
              </a:lnSpc>
            </a:pPr>
            <a:r>
              <a:rPr lang="en-US" sz="1728">
                <a:solidFill>
                  <a:srgbClr val="D7E3F0"/>
                </a:solidFill>
                <a:latin typeface="Cabin"/>
                <a:ea typeface="Cabin"/>
                <a:cs typeface="Cabin"/>
                <a:sym typeface="Cabin"/>
              </a:rPr>
              <a:t>Spark là gì và được thiết kế để giải quyết những bài toán nào</a:t>
            </a:r>
          </a:p>
        </p:txBody>
      </p:sp>
      <p:grpSp>
        <p:nvGrpSpPr>
          <p:cNvPr name="Group 14" id="14"/>
          <p:cNvGrpSpPr/>
          <p:nvPr/>
        </p:nvGrpSpPr>
        <p:grpSpPr>
          <a:xfrm rot="0">
            <a:off x="480431" y="9087088"/>
            <a:ext cx="1692916" cy="411804"/>
            <a:chOff x="0" y="0"/>
            <a:chExt cx="2257222" cy="549072"/>
          </a:xfrm>
        </p:grpSpPr>
        <p:sp>
          <p:nvSpPr>
            <p:cNvPr name="Freeform 15" id="15"/>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16" id="16"/>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5.1 MR→Spark</a:t>
              </a:r>
            </a:p>
          </p:txBody>
        </p:sp>
      </p:grpSp>
      <p:grpSp>
        <p:nvGrpSpPr>
          <p:cNvPr name="Group 17" id="17"/>
          <p:cNvGrpSpPr/>
          <p:nvPr/>
        </p:nvGrpSpPr>
        <p:grpSpPr>
          <a:xfrm rot="0">
            <a:off x="2214534" y="9087088"/>
            <a:ext cx="1692916" cy="411804"/>
            <a:chOff x="0" y="0"/>
            <a:chExt cx="2257222" cy="549072"/>
          </a:xfrm>
        </p:grpSpPr>
        <p:sp>
          <p:nvSpPr>
            <p:cNvPr name="Freeform 18" id="18"/>
            <p:cNvSpPr/>
            <p:nvPr/>
          </p:nvSpPr>
          <p:spPr>
            <a:xfrm flipH="false" flipV="false" rot="0">
              <a:off x="0" y="0"/>
              <a:ext cx="2257171" cy="549021"/>
            </a:xfrm>
            <a:custGeom>
              <a:avLst/>
              <a:gdLst/>
              <a:ahLst/>
              <a:cxnLst/>
              <a:rect r="r" b="b" t="t" l="l"/>
              <a:pathLst>
                <a:path h="549021" w="2257171">
                  <a:moveTo>
                    <a:pt x="0" y="0"/>
                  </a:moveTo>
                  <a:lnTo>
                    <a:pt x="2257171" y="0"/>
                  </a:lnTo>
                  <a:lnTo>
                    <a:pt x="2257171" y="549021"/>
                  </a:lnTo>
                  <a:lnTo>
                    <a:pt x="0" y="549021"/>
                  </a:lnTo>
                  <a:close/>
                </a:path>
              </a:pathLst>
            </a:custGeom>
            <a:solidFill>
              <a:srgbClr val="85B518"/>
            </a:solidFill>
          </p:spPr>
        </p:sp>
        <p:sp>
          <p:nvSpPr>
            <p:cNvPr name="TextBox 19" id="19"/>
            <p:cNvSpPr txBox="true"/>
            <p:nvPr/>
          </p:nvSpPr>
          <p:spPr>
            <a:xfrm>
              <a:off x="0" y="0"/>
              <a:ext cx="2257222" cy="549072"/>
            </a:xfrm>
            <a:prstGeom prst="rect">
              <a:avLst/>
            </a:prstGeom>
          </p:spPr>
          <p:txBody>
            <a:bodyPr anchor="ctr" rtlCol="false" tIns="50800" lIns="50800" bIns="50800" rIns="50800"/>
            <a:lstStyle/>
            <a:p>
              <a:pPr algn="ctr">
                <a:lnSpc>
                  <a:spcPts val="1170"/>
                </a:lnSpc>
              </a:pPr>
              <a:r>
                <a:rPr lang="en-US" sz="975" b="true">
                  <a:solidFill>
                    <a:srgbClr val="FFFFFF"/>
                  </a:solidFill>
                  <a:latin typeface="Cabin Bold"/>
                  <a:ea typeface="Cabin Bold"/>
                  <a:cs typeface="Cabin Bold"/>
                  <a:sym typeface="Cabin Bold"/>
                </a:rPr>
                <a:t>5.2 Spark</a:t>
              </a:r>
            </a:p>
          </p:txBody>
        </p:sp>
      </p:grpSp>
      <p:grpSp>
        <p:nvGrpSpPr>
          <p:cNvPr name="Group 20" id="20"/>
          <p:cNvGrpSpPr/>
          <p:nvPr/>
        </p:nvGrpSpPr>
        <p:grpSpPr>
          <a:xfrm rot="0">
            <a:off x="3948627" y="9087088"/>
            <a:ext cx="1692916" cy="411804"/>
            <a:chOff x="0" y="0"/>
            <a:chExt cx="2257222" cy="549072"/>
          </a:xfrm>
        </p:grpSpPr>
        <p:sp>
          <p:nvSpPr>
            <p:cNvPr name="Freeform 21" id="21"/>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22" id="22"/>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5.3 So sánh</a:t>
              </a:r>
            </a:p>
          </p:txBody>
        </p:sp>
      </p:grpSp>
      <p:grpSp>
        <p:nvGrpSpPr>
          <p:cNvPr name="Group 23" id="23"/>
          <p:cNvGrpSpPr/>
          <p:nvPr/>
        </p:nvGrpSpPr>
        <p:grpSpPr>
          <a:xfrm rot="0">
            <a:off x="5682729" y="9087088"/>
            <a:ext cx="1692916" cy="411804"/>
            <a:chOff x="0" y="0"/>
            <a:chExt cx="2257222" cy="549072"/>
          </a:xfrm>
        </p:grpSpPr>
        <p:sp>
          <p:nvSpPr>
            <p:cNvPr name="Freeform 24" id="24"/>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25" id="25"/>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5.4 Kiến trúc</a:t>
              </a:r>
            </a:p>
          </p:txBody>
        </p:sp>
      </p:grpSp>
      <p:grpSp>
        <p:nvGrpSpPr>
          <p:cNvPr name="Group 26" id="26"/>
          <p:cNvGrpSpPr/>
          <p:nvPr/>
        </p:nvGrpSpPr>
        <p:grpSpPr>
          <a:xfrm rot="0">
            <a:off x="7416822" y="9087088"/>
            <a:ext cx="1692916" cy="411804"/>
            <a:chOff x="0" y="0"/>
            <a:chExt cx="2257222" cy="549072"/>
          </a:xfrm>
        </p:grpSpPr>
        <p:sp>
          <p:nvSpPr>
            <p:cNvPr name="Freeform 27" id="27"/>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28" id="28"/>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5.5 Thực thi</a:t>
              </a:r>
            </a:p>
          </p:txBody>
        </p:sp>
      </p:grpSp>
      <p:grpSp>
        <p:nvGrpSpPr>
          <p:cNvPr name="Group 29" id="29"/>
          <p:cNvGrpSpPr/>
          <p:nvPr/>
        </p:nvGrpSpPr>
        <p:grpSpPr>
          <a:xfrm rot="0">
            <a:off x="9150925" y="9087088"/>
            <a:ext cx="1692916" cy="411804"/>
            <a:chOff x="0" y="0"/>
            <a:chExt cx="2257222" cy="549072"/>
          </a:xfrm>
        </p:grpSpPr>
        <p:sp>
          <p:nvSpPr>
            <p:cNvPr name="Freeform 30" id="30"/>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31" id="31"/>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5.6 Transform/Action</a:t>
              </a:r>
            </a:p>
          </p:txBody>
        </p:sp>
      </p:grpSp>
      <p:grpSp>
        <p:nvGrpSpPr>
          <p:cNvPr name="Group 32" id="32"/>
          <p:cNvGrpSpPr/>
          <p:nvPr/>
        </p:nvGrpSpPr>
        <p:grpSpPr>
          <a:xfrm rot="0">
            <a:off x="10885018" y="9087088"/>
            <a:ext cx="1692916" cy="411804"/>
            <a:chOff x="0" y="0"/>
            <a:chExt cx="2257222" cy="549072"/>
          </a:xfrm>
        </p:grpSpPr>
        <p:sp>
          <p:nvSpPr>
            <p:cNvPr name="Freeform 33" id="33"/>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34" id="34"/>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5.7 Partition</a:t>
              </a:r>
            </a:p>
          </p:txBody>
        </p:sp>
      </p:grpSp>
      <p:grpSp>
        <p:nvGrpSpPr>
          <p:cNvPr name="Group 35" id="35"/>
          <p:cNvGrpSpPr/>
          <p:nvPr/>
        </p:nvGrpSpPr>
        <p:grpSpPr>
          <a:xfrm rot="0">
            <a:off x="12619111" y="9087088"/>
            <a:ext cx="1692916" cy="411804"/>
            <a:chOff x="0" y="0"/>
            <a:chExt cx="2257222" cy="549072"/>
          </a:xfrm>
        </p:grpSpPr>
        <p:sp>
          <p:nvSpPr>
            <p:cNvPr name="Freeform 36" id="36"/>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37" id="37"/>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5.8 RDD/DF</a:t>
              </a:r>
            </a:p>
          </p:txBody>
        </p:sp>
      </p:grpSp>
      <p:grpSp>
        <p:nvGrpSpPr>
          <p:cNvPr name="Group 38" id="38"/>
          <p:cNvGrpSpPr/>
          <p:nvPr/>
        </p:nvGrpSpPr>
        <p:grpSpPr>
          <a:xfrm rot="0">
            <a:off x="14353213" y="9087088"/>
            <a:ext cx="1692916" cy="411804"/>
            <a:chOff x="0" y="0"/>
            <a:chExt cx="2257222" cy="549072"/>
          </a:xfrm>
        </p:grpSpPr>
        <p:sp>
          <p:nvSpPr>
            <p:cNvPr name="Freeform 39" id="39"/>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40" id="40"/>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5.9 PySpark</a:t>
              </a:r>
            </a:p>
          </p:txBody>
        </p:sp>
      </p:grpSp>
      <p:grpSp>
        <p:nvGrpSpPr>
          <p:cNvPr name="Group 41" id="41"/>
          <p:cNvGrpSpPr/>
          <p:nvPr/>
        </p:nvGrpSpPr>
        <p:grpSpPr>
          <a:xfrm rot="0">
            <a:off x="16087306" y="9087088"/>
            <a:ext cx="1692916" cy="411804"/>
            <a:chOff x="0" y="0"/>
            <a:chExt cx="2257222" cy="549072"/>
          </a:xfrm>
        </p:grpSpPr>
        <p:sp>
          <p:nvSpPr>
            <p:cNvPr name="Freeform 42" id="42"/>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43" id="43"/>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TH Thực hành</a:t>
              </a:r>
            </a:p>
          </p:txBody>
        </p:sp>
      </p:grpSp>
      <p:grpSp>
        <p:nvGrpSpPr>
          <p:cNvPr name="Group 44" id="44"/>
          <p:cNvGrpSpPr/>
          <p:nvPr/>
        </p:nvGrpSpPr>
        <p:grpSpPr>
          <a:xfrm rot="0">
            <a:off x="0" y="9677343"/>
            <a:ext cx="18301840" cy="617706"/>
            <a:chOff x="0" y="0"/>
            <a:chExt cx="24402453" cy="823608"/>
          </a:xfrm>
        </p:grpSpPr>
        <p:sp>
          <p:nvSpPr>
            <p:cNvPr name="Freeform 45" id="45"/>
            <p:cNvSpPr/>
            <p:nvPr/>
          </p:nvSpPr>
          <p:spPr>
            <a:xfrm flipH="false" flipV="false" rot="0">
              <a:off x="0" y="0"/>
              <a:ext cx="24402414" cy="823595"/>
            </a:xfrm>
            <a:custGeom>
              <a:avLst/>
              <a:gdLst/>
              <a:ahLst/>
              <a:cxnLst/>
              <a:rect r="r" b="b" t="t" l="l"/>
              <a:pathLst>
                <a:path h="823595" w="24402414">
                  <a:moveTo>
                    <a:pt x="0" y="0"/>
                  </a:moveTo>
                  <a:lnTo>
                    <a:pt x="24402414" y="0"/>
                  </a:lnTo>
                  <a:lnTo>
                    <a:pt x="24402414" y="823595"/>
                  </a:lnTo>
                  <a:lnTo>
                    <a:pt x="0" y="823595"/>
                  </a:lnTo>
                  <a:close/>
                </a:path>
              </a:pathLst>
            </a:custGeom>
            <a:solidFill>
              <a:srgbClr val="1F4E79"/>
            </a:solidFill>
          </p:spPr>
        </p:sp>
      </p:grpSp>
      <p:grpSp>
        <p:nvGrpSpPr>
          <p:cNvPr name="Group 46" id="46"/>
          <p:cNvGrpSpPr/>
          <p:nvPr/>
        </p:nvGrpSpPr>
        <p:grpSpPr>
          <a:xfrm rot="0">
            <a:off x="480431" y="9677343"/>
            <a:ext cx="10981382" cy="617706"/>
            <a:chOff x="0" y="0"/>
            <a:chExt cx="14641843" cy="823608"/>
          </a:xfrm>
        </p:grpSpPr>
        <p:sp>
          <p:nvSpPr>
            <p:cNvPr name="Freeform 47" id="47"/>
            <p:cNvSpPr/>
            <p:nvPr/>
          </p:nvSpPr>
          <p:spPr>
            <a:xfrm flipH="false" flipV="false" rot="0">
              <a:off x="0" y="0"/>
              <a:ext cx="14641840" cy="823603"/>
            </a:xfrm>
            <a:custGeom>
              <a:avLst/>
              <a:gdLst/>
              <a:ahLst/>
              <a:cxnLst/>
              <a:rect r="r" b="b" t="t" l="l"/>
              <a:pathLst>
                <a:path h="823603" w="14641840">
                  <a:moveTo>
                    <a:pt x="0" y="0"/>
                  </a:moveTo>
                  <a:lnTo>
                    <a:pt x="14641840" y="0"/>
                  </a:lnTo>
                  <a:lnTo>
                    <a:pt x="14641840" y="823603"/>
                  </a:lnTo>
                  <a:lnTo>
                    <a:pt x="0" y="823603"/>
                  </a:lnTo>
                  <a:close/>
                </a:path>
              </a:pathLst>
            </a:custGeom>
            <a:blipFill>
              <a:blip r:embed="rId4">
                <a:alphaModFix amt="0"/>
              </a:blip>
              <a:stretch>
                <a:fillRect l="0" t="-296400" r="0" b="-296401"/>
              </a:stretch>
            </a:blipFill>
          </p:spPr>
        </p:sp>
        <p:sp>
          <p:nvSpPr>
            <p:cNvPr name="TextBox 48" id="48"/>
            <p:cNvSpPr txBox="true"/>
            <p:nvPr/>
          </p:nvSpPr>
          <p:spPr>
            <a:xfrm>
              <a:off x="0" y="0"/>
              <a:ext cx="14641843" cy="823608"/>
            </a:xfrm>
            <a:prstGeom prst="rect">
              <a:avLst/>
            </a:prstGeom>
          </p:spPr>
          <p:txBody>
            <a:bodyPr anchor="ctr" rtlCol="false" tIns="0" lIns="0" bIns="0" rIns="0"/>
            <a:lstStyle/>
            <a:p>
              <a:pPr algn="l">
                <a:lnSpc>
                  <a:spcPts val="1621"/>
                </a:lnSpc>
              </a:pPr>
              <a:r>
                <a:rPr lang="en-US" sz="1351">
                  <a:solidFill>
                    <a:srgbClr val="FFFFFF"/>
                  </a:solidFill>
                  <a:latin typeface="Cabin"/>
                  <a:ea typeface="Cabin"/>
                  <a:cs typeface="Cabin"/>
                  <a:sym typeface="Cabin"/>
                </a:rPr>
                <a:t>VNU UET – Institute for Artificial Intelligence</a:t>
              </a:r>
            </a:p>
          </p:txBody>
        </p:sp>
      </p:grpSp>
      <p:grpSp>
        <p:nvGrpSpPr>
          <p:cNvPr name="Group 49" id="49"/>
          <p:cNvGrpSpPr/>
          <p:nvPr/>
        </p:nvGrpSpPr>
        <p:grpSpPr>
          <a:xfrm rot="0">
            <a:off x="17066438" y="9677343"/>
            <a:ext cx="823608" cy="617706"/>
            <a:chOff x="0" y="0"/>
            <a:chExt cx="1098144" cy="823608"/>
          </a:xfrm>
        </p:grpSpPr>
        <p:sp>
          <p:nvSpPr>
            <p:cNvPr name="Freeform 50" id="50"/>
            <p:cNvSpPr/>
            <p:nvPr/>
          </p:nvSpPr>
          <p:spPr>
            <a:xfrm flipH="false" flipV="false" rot="0">
              <a:off x="0" y="0"/>
              <a:ext cx="1098138" cy="823603"/>
            </a:xfrm>
            <a:custGeom>
              <a:avLst/>
              <a:gdLst/>
              <a:ahLst/>
              <a:cxnLst/>
              <a:rect r="r" b="b" t="t" l="l"/>
              <a:pathLst>
                <a:path h="823603" w="1098138">
                  <a:moveTo>
                    <a:pt x="0" y="0"/>
                  </a:moveTo>
                  <a:lnTo>
                    <a:pt x="1098138" y="0"/>
                  </a:lnTo>
                  <a:lnTo>
                    <a:pt x="1098138" y="823603"/>
                  </a:lnTo>
                  <a:lnTo>
                    <a:pt x="0" y="823603"/>
                  </a:lnTo>
                  <a:close/>
                </a:path>
              </a:pathLst>
            </a:custGeom>
            <a:blipFill>
              <a:blip r:embed="rId4">
                <a:alphaModFix amt="0"/>
              </a:blip>
              <a:stretch>
                <a:fillRect l="-46227" t="0" r="-46228" b="0"/>
              </a:stretch>
            </a:blipFill>
          </p:spPr>
        </p:sp>
        <p:sp>
          <p:nvSpPr>
            <p:cNvPr name="TextBox 51" id="51"/>
            <p:cNvSpPr txBox="true"/>
            <p:nvPr/>
          </p:nvSpPr>
          <p:spPr>
            <a:xfrm>
              <a:off x="0" y="0"/>
              <a:ext cx="1098144" cy="823608"/>
            </a:xfrm>
            <a:prstGeom prst="rect">
              <a:avLst/>
            </a:prstGeom>
          </p:spPr>
          <p:txBody>
            <a:bodyPr anchor="ctr" rtlCol="false" tIns="0" lIns="0" bIns="0" rIns="0"/>
            <a:lstStyle/>
            <a:p>
              <a:pPr algn="r">
                <a:lnSpc>
                  <a:spcPts val="1621"/>
                </a:lnSpc>
              </a:pPr>
              <a:r>
                <a:rPr lang="en-US" sz="1351">
                  <a:solidFill>
                    <a:srgbClr val="FFFFFF"/>
                  </a:solidFill>
                  <a:latin typeface="Cabin"/>
                  <a:ea typeface="Cabin"/>
                  <a:cs typeface="Cabin"/>
                  <a:sym typeface="Cabin"/>
                </a:rPr>
                <a:t>7</a:t>
              </a:r>
            </a:p>
          </p:txBody>
        </p:sp>
      </p:grpSp>
      <p:grpSp>
        <p:nvGrpSpPr>
          <p:cNvPr name="Group 52" id="52"/>
          <p:cNvGrpSpPr/>
          <p:nvPr/>
        </p:nvGrpSpPr>
        <p:grpSpPr>
          <a:xfrm rot="0">
            <a:off x="0" y="0"/>
            <a:ext cx="18288000" cy="315468"/>
            <a:chOff x="0" y="0"/>
            <a:chExt cx="24384000" cy="420624"/>
          </a:xfrm>
        </p:grpSpPr>
        <p:sp>
          <p:nvSpPr>
            <p:cNvPr name="Freeform 53" id="53"/>
            <p:cNvSpPr/>
            <p:nvPr/>
          </p:nvSpPr>
          <p:spPr>
            <a:xfrm flipH="false" flipV="false" rot="0">
              <a:off x="0" y="0"/>
              <a:ext cx="24384000" cy="420624"/>
            </a:xfrm>
            <a:custGeom>
              <a:avLst/>
              <a:gdLst/>
              <a:ahLst/>
              <a:cxnLst/>
              <a:rect r="r" b="b" t="t" l="l"/>
              <a:pathLst>
                <a:path h="420624" w="24384000">
                  <a:moveTo>
                    <a:pt x="0" y="0"/>
                  </a:moveTo>
                  <a:lnTo>
                    <a:pt x="24384000" y="0"/>
                  </a:lnTo>
                  <a:lnTo>
                    <a:pt x="24384000" y="420624"/>
                  </a:lnTo>
                  <a:lnTo>
                    <a:pt x="0" y="420624"/>
                  </a:lnTo>
                  <a:close/>
                </a:path>
              </a:pathLst>
            </a:custGeom>
            <a:solidFill>
              <a:srgbClr val="0F3F6F"/>
            </a:solidFill>
          </p:spPr>
        </p:sp>
      </p:grpSp>
      <p:grpSp>
        <p:nvGrpSpPr>
          <p:cNvPr name="Group 54" id="54"/>
          <p:cNvGrpSpPr/>
          <p:nvPr/>
        </p:nvGrpSpPr>
        <p:grpSpPr>
          <a:xfrm rot="0">
            <a:off x="13098780" y="0"/>
            <a:ext cx="1453896" cy="1508760"/>
            <a:chOff x="0" y="0"/>
            <a:chExt cx="1938528" cy="2011680"/>
          </a:xfrm>
        </p:grpSpPr>
        <p:sp>
          <p:nvSpPr>
            <p:cNvPr name="Freeform 55" id="55"/>
            <p:cNvSpPr/>
            <p:nvPr/>
          </p:nvSpPr>
          <p:spPr>
            <a:xfrm flipH="false" flipV="false" rot="0">
              <a:off x="0" y="0"/>
              <a:ext cx="1938528" cy="2011680"/>
            </a:xfrm>
            <a:custGeom>
              <a:avLst/>
              <a:gdLst/>
              <a:ahLst/>
              <a:cxnLst/>
              <a:rect r="r" b="b" t="t" l="l"/>
              <a:pathLst>
                <a:path h="2011680" w="1938528">
                  <a:moveTo>
                    <a:pt x="0" y="2011680"/>
                  </a:moveTo>
                  <a:lnTo>
                    <a:pt x="484632" y="0"/>
                  </a:lnTo>
                  <a:lnTo>
                    <a:pt x="1938528" y="0"/>
                  </a:lnTo>
                  <a:lnTo>
                    <a:pt x="1453896" y="2011680"/>
                  </a:lnTo>
                  <a:close/>
                </a:path>
              </a:pathLst>
            </a:custGeom>
            <a:solidFill>
              <a:srgbClr val="85B518"/>
            </a:solidFill>
          </p:spPr>
        </p:sp>
      </p:grpSp>
      <p:grpSp>
        <p:nvGrpSpPr>
          <p:cNvPr name="Group 56" id="56"/>
          <p:cNvGrpSpPr/>
          <p:nvPr/>
        </p:nvGrpSpPr>
        <p:grpSpPr>
          <a:xfrm rot="0">
            <a:off x="14621256" y="0"/>
            <a:ext cx="1508760" cy="1508760"/>
            <a:chOff x="0" y="0"/>
            <a:chExt cx="2011680" cy="2011680"/>
          </a:xfrm>
        </p:grpSpPr>
        <p:sp>
          <p:nvSpPr>
            <p:cNvPr name="Freeform 57" id="57"/>
            <p:cNvSpPr/>
            <p:nvPr/>
          </p:nvSpPr>
          <p:spPr>
            <a:xfrm flipH="false" flipV="false" rot="0">
              <a:off x="0" y="0"/>
              <a:ext cx="2011680" cy="2011680"/>
            </a:xfrm>
            <a:custGeom>
              <a:avLst/>
              <a:gdLst/>
              <a:ahLst/>
              <a:cxnLst/>
              <a:rect r="r" b="b" t="t" l="l"/>
              <a:pathLst>
                <a:path h="2011680" w="2011680">
                  <a:moveTo>
                    <a:pt x="0" y="2011680"/>
                  </a:moveTo>
                  <a:lnTo>
                    <a:pt x="502920" y="0"/>
                  </a:lnTo>
                  <a:lnTo>
                    <a:pt x="2011680" y="0"/>
                  </a:lnTo>
                  <a:lnTo>
                    <a:pt x="1508760" y="2011680"/>
                  </a:lnTo>
                  <a:close/>
                </a:path>
              </a:pathLst>
            </a:custGeom>
            <a:solidFill>
              <a:srgbClr val="0F3F6F"/>
            </a:solid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97801" y="384353"/>
            <a:ext cx="851059" cy="851059"/>
            <a:chOff x="0" y="0"/>
            <a:chExt cx="1134745" cy="1134745"/>
          </a:xfrm>
        </p:grpSpPr>
        <p:sp>
          <p:nvSpPr>
            <p:cNvPr name="Freeform 3" id="3" descr="/home/claude/work/assets/logo.png"/>
            <p:cNvSpPr/>
            <p:nvPr/>
          </p:nvSpPr>
          <p:spPr>
            <a:xfrm flipH="false" flipV="false" rot="0">
              <a:off x="0" y="0"/>
              <a:ext cx="1134745" cy="1134745"/>
            </a:xfrm>
            <a:custGeom>
              <a:avLst/>
              <a:gdLst/>
              <a:ahLst/>
              <a:cxnLst/>
              <a:rect r="r" b="b" t="t" l="l"/>
              <a:pathLst>
                <a:path h="1134745" w="1134745">
                  <a:moveTo>
                    <a:pt x="0" y="0"/>
                  </a:moveTo>
                  <a:lnTo>
                    <a:pt x="1134745" y="0"/>
                  </a:lnTo>
                  <a:lnTo>
                    <a:pt x="1134745" y="1134745"/>
                  </a:lnTo>
                  <a:lnTo>
                    <a:pt x="0" y="1134745"/>
                  </a:lnTo>
                  <a:lnTo>
                    <a:pt x="0" y="0"/>
                  </a:lnTo>
                  <a:close/>
                </a:path>
              </a:pathLst>
            </a:custGeom>
            <a:blipFill>
              <a:blip r:embed="rId3"/>
              <a:stretch>
                <a:fillRect l="0" t="0" r="0" b="0"/>
              </a:stretch>
            </a:blipFill>
          </p:spPr>
        </p:sp>
      </p:grpSp>
      <p:grpSp>
        <p:nvGrpSpPr>
          <p:cNvPr name="Group 4" id="4"/>
          <p:cNvGrpSpPr/>
          <p:nvPr/>
        </p:nvGrpSpPr>
        <p:grpSpPr>
          <a:xfrm rot="0">
            <a:off x="686333" y="384353"/>
            <a:ext cx="10981382" cy="411804"/>
            <a:chOff x="0" y="0"/>
            <a:chExt cx="14641843" cy="549072"/>
          </a:xfrm>
        </p:grpSpPr>
        <p:sp>
          <p:nvSpPr>
            <p:cNvPr name="Freeform 5" id="5"/>
            <p:cNvSpPr/>
            <p:nvPr/>
          </p:nvSpPr>
          <p:spPr>
            <a:xfrm flipH="false" flipV="false" rot="0">
              <a:off x="0" y="0"/>
              <a:ext cx="14641840" cy="549069"/>
            </a:xfrm>
            <a:custGeom>
              <a:avLst/>
              <a:gdLst/>
              <a:ahLst/>
              <a:cxnLst/>
              <a:rect r="r" b="b" t="t" l="l"/>
              <a:pathLst>
                <a:path h="549069" w="14641840">
                  <a:moveTo>
                    <a:pt x="0" y="0"/>
                  </a:moveTo>
                  <a:lnTo>
                    <a:pt x="14641840" y="0"/>
                  </a:lnTo>
                  <a:lnTo>
                    <a:pt x="14641840" y="549069"/>
                  </a:lnTo>
                  <a:lnTo>
                    <a:pt x="0" y="549069"/>
                  </a:lnTo>
                  <a:close/>
                </a:path>
              </a:pathLst>
            </a:custGeom>
            <a:blipFill>
              <a:blip r:embed="rId4">
                <a:alphaModFix amt="0"/>
              </a:blip>
              <a:stretch>
                <a:fillRect l="0" t="-469600" r="0" b="-469601"/>
              </a:stretch>
            </a:blipFill>
          </p:spPr>
        </p:sp>
        <p:sp>
          <p:nvSpPr>
            <p:cNvPr name="TextBox 6" id="6"/>
            <p:cNvSpPr txBox="true"/>
            <p:nvPr/>
          </p:nvSpPr>
          <p:spPr>
            <a:xfrm>
              <a:off x="0" y="0"/>
              <a:ext cx="14641843" cy="549072"/>
            </a:xfrm>
            <a:prstGeom prst="rect">
              <a:avLst/>
            </a:prstGeom>
          </p:spPr>
          <p:txBody>
            <a:bodyPr anchor="ctr" rtlCol="false" tIns="0" lIns="0" bIns="0" rIns="0"/>
            <a:lstStyle/>
            <a:p>
              <a:pPr algn="l">
                <a:lnSpc>
                  <a:spcPts val="1981"/>
                </a:lnSpc>
              </a:pPr>
              <a:r>
                <a:rPr lang="en-US" sz="1651" i="true">
                  <a:solidFill>
                    <a:srgbClr val="4A4A4A"/>
                  </a:solidFill>
                  <a:latin typeface="Cabin Italics"/>
                  <a:ea typeface="Cabin Italics"/>
                  <a:cs typeface="Cabin Italics"/>
                  <a:sym typeface="Cabin Italics"/>
                </a:rPr>
                <a:t>5.2. Tổng quan Apache Spark · Bài 05</a:t>
              </a:r>
            </a:p>
          </p:txBody>
        </p:sp>
      </p:grpSp>
      <p:grpSp>
        <p:nvGrpSpPr>
          <p:cNvPr name="Group 7" id="7"/>
          <p:cNvGrpSpPr/>
          <p:nvPr/>
        </p:nvGrpSpPr>
        <p:grpSpPr>
          <a:xfrm rot="0">
            <a:off x="674418" y="839143"/>
            <a:ext cx="710165" cy="710165"/>
            <a:chOff x="0" y="0"/>
            <a:chExt cx="946887" cy="946887"/>
          </a:xfrm>
        </p:grpSpPr>
        <p:sp>
          <p:nvSpPr>
            <p:cNvPr name="Freeform 8" id="8"/>
            <p:cNvSpPr/>
            <p:nvPr/>
          </p:nvSpPr>
          <p:spPr>
            <a:xfrm flipH="false" flipV="false" rot="0">
              <a:off x="0" y="0"/>
              <a:ext cx="946912" cy="946912"/>
            </a:xfrm>
            <a:custGeom>
              <a:avLst/>
              <a:gdLst/>
              <a:ahLst/>
              <a:cxnLst/>
              <a:rect r="r" b="b" t="t" l="l"/>
              <a:pathLst>
                <a:path h="946912" w="946912">
                  <a:moveTo>
                    <a:pt x="0" y="473456"/>
                  </a:moveTo>
                  <a:cubicBezTo>
                    <a:pt x="0" y="211963"/>
                    <a:pt x="211963" y="0"/>
                    <a:pt x="473456" y="0"/>
                  </a:cubicBezTo>
                  <a:cubicBezTo>
                    <a:pt x="734949" y="0"/>
                    <a:pt x="946912" y="211963"/>
                    <a:pt x="946912" y="473456"/>
                  </a:cubicBezTo>
                  <a:cubicBezTo>
                    <a:pt x="946912" y="734949"/>
                    <a:pt x="734949" y="946912"/>
                    <a:pt x="473456" y="946912"/>
                  </a:cubicBezTo>
                  <a:cubicBezTo>
                    <a:pt x="211963" y="946912"/>
                    <a:pt x="0" y="734949"/>
                    <a:pt x="0" y="473456"/>
                  </a:cubicBezTo>
                  <a:close/>
                </a:path>
              </a:pathLst>
            </a:custGeom>
            <a:solidFill>
              <a:srgbClr val="FFFFFF"/>
            </a:solidFill>
            <a:ln w="23831" cap="sq">
              <a:solidFill>
                <a:srgbClr val="1F4E79"/>
              </a:solidFill>
              <a:prstDash val="solid"/>
              <a:miter/>
            </a:ln>
          </p:spPr>
        </p:sp>
      </p:grpSp>
      <p:grpSp>
        <p:nvGrpSpPr>
          <p:cNvPr name="Group 9" id="9"/>
          <p:cNvGrpSpPr/>
          <p:nvPr/>
        </p:nvGrpSpPr>
        <p:grpSpPr>
          <a:xfrm rot="0">
            <a:off x="686333" y="851059"/>
            <a:ext cx="686333" cy="686333"/>
            <a:chOff x="0" y="0"/>
            <a:chExt cx="915111" cy="915111"/>
          </a:xfrm>
        </p:grpSpPr>
        <p:sp>
          <p:nvSpPr>
            <p:cNvPr name="Freeform 10" id="10"/>
            <p:cNvSpPr/>
            <p:nvPr/>
          </p:nvSpPr>
          <p:spPr>
            <a:xfrm flipH="false" flipV="false" rot="0">
              <a:off x="0" y="0"/>
              <a:ext cx="915115" cy="915115"/>
            </a:xfrm>
            <a:custGeom>
              <a:avLst/>
              <a:gdLst/>
              <a:ahLst/>
              <a:cxnLst/>
              <a:rect r="r" b="b" t="t" l="l"/>
              <a:pathLst>
                <a:path h="915115" w="915115">
                  <a:moveTo>
                    <a:pt x="0" y="0"/>
                  </a:moveTo>
                  <a:lnTo>
                    <a:pt x="915115" y="0"/>
                  </a:lnTo>
                  <a:lnTo>
                    <a:pt x="915115" y="915115"/>
                  </a:lnTo>
                  <a:lnTo>
                    <a:pt x="0" y="915115"/>
                  </a:lnTo>
                  <a:close/>
                </a:path>
              </a:pathLst>
            </a:custGeom>
            <a:blipFill>
              <a:blip r:embed="rId4">
                <a:alphaModFix amt="0"/>
              </a:blip>
              <a:stretch>
                <a:fillRect l="-78303" t="0" r="-78302" b="0"/>
              </a:stretch>
            </a:blipFill>
          </p:spPr>
        </p:sp>
        <p:sp>
          <p:nvSpPr>
            <p:cNvPr name="TextBox 11" id="11"/>
            <p:cNvSpPr txBox="true"/>
            <p:nvPr/>
          </p:nvSpPr>
          <p:spPr>
            <a:xfrm>
              <a:off x="0" y="0"/>
              <a:ext cx="915111" cy="915111"/>
            </a:xfrm>
            <a:prstGeom prst="rect">
              <a:avLst/>
            </a:prstGeom>
          </p:spPr>
          <p:txBody>
            <a:bodyPr anchor="ctr" rtlCol="false" tIns="0" lIns="0" bIns="0" rIns="0"/>
            <a:lstStyle/>
            <a:p>
              <a:pPr algn="ctr">
                <a:lnSpc>
                  <a:spcPts val="2521"/>
                </a:lnSpc>
              </a:pPr>
              <a:r>
                <a:rPr lang="en-US" sz="2101" b="true">
                  <a:solidFill>
                    <a:srgbClr val="1F4E79"/>
                  </a:solidFill>
                  <a:latin typeface="Cabin Bold"/>
                  <a:ea typeface="Cabin Bold"/>
                  <a:cs typeface="Cabin Bold"/>
                  <a:sym typeface="Cabin Bold"/>
                </a:rPr>
                <a:t>02</a:t>
              </a:r>
            </a:p>
          </p:txBody>
        </p:sp>
      </p:grpSp>
      <p:grpSp>
        <p:nvGrpSpPr>
          <p:cNvPr name="Group 12" id="12"/>
          <p:cNvGrpSpPr/>
          <p:nvPr/>
        </p:nvGrpSpPr>
        <p:grpSpPr>
          <a:xfrm rot="0">
            <a:off x="1578569" y="823608"/>
            <a:ext cx="82363" cy="754971"/>
            <a:chOff x="0" y="0"/>
            <a:chExt cx="109817" cy="1006627"/>
          </a:xfrm>
        </p:grpSpPr>
        <p:sp>
          <p:nvSpPr>
            <p:cNvPr name="Freeform 13" id="13"/>
            <p:cNvSpPr/>
            <p:nvPr/>
          </p:nvSpPr>
          <p:spPr>
            <a:xfrm flipH="false" flipV="false" rot="0">
              <a:off x="0" y="0"/>
              <a:ext cx="109855" cy="1006602"/>
            </a:xfrm>
            <a:custGeom>
              <a:avLst/>
              <a:gdLst/>
              <a:ahLst/>
              <a:cxnLst/>
              <a:rect r="r" b="b" t="t" l="l"/>
              <a:pathLst>
                <a:path h="1006602" w="109855">
                  <a:moveTo>
                    <a:pt x="0" y="0"/>
                  </a:moveTo>
                  <a:lnTo>
                    <a:pt x="109855" y="0"/>
                  </a:lnTo>
                  <a:lnTo>
                    <a:pt x="109855" y="1006602"/>
                  </a:lnTo>
                  <a:lnTo>
                    <a:pt x="0" y="1006602"/>
                  </a:lnTo>
                  <a:close/>
                </a:path>
              </a:pathLst>
            </a:custGeom>
            <a:solidFill>
              <a:srgbClr val="85B518"/>
            </a:solidFill>
          </p:spPr>
        </p:sp>
      </p:grpSp>
      <p:grpSp>
        <p:nvGrpSpPr>
          <p:cNvPr name="Group 14" id="14"/>
          <p:cNvGrpSpPr/>
          <p:nvPr/>
        </p:nvGrpSpPr>
        <p:grpSpPr>
          <a:xfrm rot="0">
            <a:off x="1853108" y="796147"/>
            <a:ext cx="14938791" cy="823608"/>
            <a:chOff x="0" y="0"/>
            <a:chExt cx="19918388" cy="1098144"/>
          </a:xfrm>
        </p:grpSpPr>
        <p:sp>
          <p:nvSpPr>
            <p:cNvPr name="Freeform 15" id="15"/>
            <p:cNvSpPr/>
            <p:nvPr/>
          </p:nvSpPr>
          <p:spPr>
            <a:xfrm flipH="false" flipV="false" rot="0">
              <a:off x="0" y="0"/>
              <a:ext cx="19918392" cy="1098138"/>
            </a:xfrm>
            <a:custGeom>
              <a:avLst/>
              <a:gdLst/>
              <a:ahLst/>
              <a:cxnLst/>
              <a:rect r="r" b="b" t="t" l="l"/>
              <a:pathLst>
                <a:path h="1098138" w="19918392">
                  <a:moveTo>
                    <a:pt x="0" y="0"/>
                  </a:moveTo>
                  <a:lnTo>
                    <a:pt x="19918392" y="0"/>
                  </a:lnTo>
                  <a:lnTo>
                    <a:pt x="19918392" y="1098138"/>
                  </a:lnTo>
                  <a:lnTo>
                    <a:pt x="0" y="1098138"/>
                  </a:lnTo>
                  <a:close/>
                </a:path>
              </a:pathLst>
            </a:custGeom>
            <a:blipFill>
              <a:blip r:embed="rId4">
                <a:alphaModFix amt="0"/>
              </a:blip>
              <a:stretch>
                <a:fillRect l="0" t="-303425" r="0" b="-303426"/>
              </a:stretch>
            </a:blipFill>
          </p:spPr>
        </p:sp>
        <p:sp>
          <p:nvSpPr>
            <p:cNvPr name="TextBox 16" id="16"/>
            <p:cNvSpPr txBox="true"/>
            <p:nvPr/>
          </p:nvSpPr>
          <p:spPr>
            <a:xfrm>
              <a:off x="0" y="0"/>
              <a:ext cx="19918388" cy="1098144"/>
            </a:xfrm>
            <a:prstGeom prst="rect">
              <a:avLst/>
            </a:prstGeom>
          </p:spPr>
          <p:txBody>
            <a:bodyPr anchor="ctr" rtlCol="false" tIns="0" lIns="0" bIns="0" rIns="0"/>
            <a:lstStyle/>
            <a:p>
              <a:pPr algn="l">
                <a:lnSpc>
                  <a:spcPts val="3782"/>
                </a:lnSpc>
              </a:pPr>
              <a:r>
                <a:rPr lang="en-US" sz="3152" b="true">
                  <a:solidFill>
                    <a:srgbClr val="1F4E79"/>
                  </a:solidFill>
                  <a:latin typeface="Cabin Bold"/>
                  <a:ea typeface="Cabin Bold"/>
                  <a:cs typeface="Cabin Bold"/>
                  <a:sym typeface="Cabin Bold"/>
                </a:rPr>
                <a:t>Spark là gì? Spark giải quyết vấn đề gì?</a:t>
              </a:r>
            </a:p>
          </p:txBody>
        </p:sp>
      </p:grpSp>
      <p:grpSp>
        <p:nvGrpSpPr>
          <p:cNvPr name="Group 17" id="17"/>
          <p:cNvGrpSpPr/>
          <p:nvPr/>
        </p:nvGrpSpPr>
        <p:grpSpPr>
          <a:xfrm rot="0">
            <a:off x="686333" y="2059010"/>
            <a:ext cx="16952500" cy="1029500"/>
            <a:chOff x="0" y="0"/>
            <a:chExt cx="22603333" cy="1372667"/>
          </a:xfrm>
        </p:grpSpPr>
        <p:sp>
          <p:nvSpPr>
            <p:cNvPr name="Freeform 18" id="18"/>
            <p:cNvSpPr/>
            <p:nvPr/>
          </p:nvSpPr>
          <p:spPr>
            <a:xfrm flipH="false" flipV="false" rot="0">
              <a:off x="0" y="0"/>
              <a:ext cx="22603340" cy="1372672"/>
            </a:xfrm>
            <a:custGeom>
              <a:avLst/>
              <a:gdLst/>
              <a:ahLst/>
              <a:cxnLst/>
              <a:rect r="r" b="b" t="t" l="l"/>
              <a:pathLst>
                <a:path h="1372672" w="22603340">
                  <a:moveTo>
                    <a:pt x="0" y="0"/>
                  </a:moveTo>
                  <a:lnTo>
                    <a:pt x="22603340" y="0"/>
                  </a:lnTo>
                  <a:lnTo>
                    <a:pt x="22603340" y="1372672"/>
                  </a:lnTo>
                  <a:lnTo>
                    <a:pt x="0" y="1372672"/>
                  </a:lnTo>
                  <a:close/>
                </a:path>
              </a:pathLst>
            </a:custGeom>
            <a:blipFill>
              <a:blip r:embed="rId4">
                <a:alphaModFix amt="0"/>
              </a:blip>
              <a:stretch>
                <a:fillRect l="0" t="-270853" r="0" b="-270853"/>
              </a:stretch>
            </a:blipFill>
          </p:spPr>
        </p:sp>
        <p:sp>
          <p:nvSpPr>
            <p:cNvPr name="TextBox 19" id="19"/>
            <p:cNvSpPr txBox="true"/>
            <p:nvPr/>
          </p:nvSpPr>
          <p:spPr>
            <a:xfrm>
              <a:off x="0" y="-9525"/>
              <a:ext cx="22603333" cy="1382192"/>
            </a:xfrm>
            <a:prstGeom prst="rect">
              <a:avLst/>
            </a:prstGeom>
          </p:spPr>
          <p:txBody>
            <a:bodyPr anchor="ctr" rtlCol="false" tIns="0" lIns="0" bIns="0" rIns="0"/>
            <a:lstStyle/>
            <a:p>
              <a:pPr algn="l">
                <a:lnSpc>
                  <a:spcPts val="2341"/>
                </a:lnSpc>
              </a:pPr>
              <a:r>
                <a:rPr lang="en-US" sz="1951">
                  <a:solidFill>
                    <a:srgbClr val="000000"/>
                  </a:solidFill>
                  <a:latin typeface="Cabin"/>
                  <a:ea typeface="Cabin"/>
                  <a:cs typeface="Cabin"/>
                  <a:sym typeface="Cabin"/>
                </a:rPr>
                <a:t>Apache Spark là engine xử lý dữ liệu phân tán, tốc độ cao, xử lý chủ yếu trong bộ nhớ, hỗ trợ nhiều dạng workload trên cùng một nền tảng thống nhất.</a:t>
              </a:r>
            </a:p>
          </p:txBody>
        </p:sp>
      </p:grpSp>
      <p:grpSp>
        <p:nvGrpSpPr>
          <p:cNvPr name="Group 20" id="20"/>
          <p:cNvGrpSpPr/>
          <p:nvPr/>
        </p:nvGrpSpPr>
        <p:grpSpPr>
          <a:xfrm rot="0">
            <a:off x="686333" y="3363049"/>
            <a:ext cx="10981382" cy="549069"/>
            <a:chOff x="0" y="0"/>
            <a:chExt cx="14641843" cy="732092"/>
          </a:xfrm>
        </p:grpSpPr>
        <p:sp>
          <p:nvSpPr>
            <p:cNvPr name="Freeform 21" id="21"/>
            <p:cNvSpPr/>
            <p:nvPr/>
          </p:nvSpPr>
          <p:spPr>
            <a:xfrm flipH="false" flipV="false" rot="0">
              <a:off x="0" y="0"/>
              <a:ext cx="14641840" cy="732092"/>
            </a:xfrm>
            <a:custGeom>
              <a:avLst/>
              <a:gdLst/>
              <a:ahLst/>
              <a:cxnLst/>
              <a:rect r="r" b="b" t="t" l="l"/>
              <a:pathLst>
                <a:path h="732092" w="14641840">
                  <a:moveTo>
                    <a:pt x="0" y="0"/>
                  </a:moveTo>
                  <a:lnTo>
                    <a:pt x="14641840" y="0"/>
                  </a:lnTo>
                  <a:lnTo>
                    <a:pt x="14641840" y="732092"/>
                  </a:lnTo>
                  <a:lnTo>
                    <a:pt x="0" y="732092"/>
                  </a:lnTo>
                  <a:close/>
                </a:path>
              </a:pathLst>
            </a:custGeom>
            <a:blipFill>
              <a:blip r:embed="rId4">
                <a:alphaModFix amt="0"/>
              </a:blip>
              <a:stretch>
                <a:fillRect l="0" t="-339700" r="0" b="-339700"/>
              </a:stretch>
            </a:blipFill>
          </p:spPr>
        </p:sp>
        <p:sp>
          <p:nvSpPr>
            <p:cNvPr name="TextBox 22" id="22"/>
            <p:cNvSpPr txBox="true"/>
            <p:nvPr/>
          </p:nvSpPr>
          <p:spPr>
            <a:xfrm>
              <a:off x="0" y="-9525"/>
              <a:ext cx="14641843" cy="741617"/>
            </a:xfrm>
            <a:prstGeom prst="rect">
              <a:avLst/>
            </a:prstGeom>
          </p:spPr>
          <p:txBody>
            <a:bodyPr anchor="ctr" rtlCol="false" tIns="0" lIns="0" bIns="0" rIns="0"/>
            <a:lstStyle/>
            <a:p>
              <a:pPr algn="l">
                <a:lnSpc>
                  <a:spcPts val="2341"/>
                </a:lnSpc>
              </a:pPr>
              <a:r>
                <a:rPr lang="en-US" sz="1951" b="true">
                  <a:solidFill>
                    <a:srgbClr val="1F4E79"/>
                  </a:solidFill>
                  <a:latin typeface="Cabin Bold"/>
                  <a:ea typeface="Cabin Bold"/>
                  <a:cs typeface="Cabin Bold"/>
                  <a:sym typeface="Cabin Bold"/>
                </a:rPr>
                <a:t>Spark được thiết kế để giải quyết</a:t>
              </a:r>
            </a:p>
          </p:txBody>
        </p:sp>
      </p:grpSp>
      <p:grpSp>
        <p:nvGrpSpPr>
          <p:cNvPr name="Group 23" id="23"/>
          <p:cNvGrpSpPr/>
          <p:nvPr/>
        </p:nvGrpSpPr>
        <p:grpSpPr>
          <a:xfrm rot="0">
            <a:off x="679190" y="4110866"/>
            <a:ext cx="5367718" cy="1455601"/>
            <a:chOff x="0" y="0"/>
            <a:chExt cx="7156958" cy="1940801"/>
          </a:xfrm>
        </p:grpSpPr>
        <p:sp>
          <p:nvSpPr>
            <p:cNvPr name="Freeform 24" id="24"/>
            <p:cNvSpPr/>
            <p:nvPr/>
          </p:nvSpPr>
          <p:spPr>
            <a:xfrm flipH="false" flipV="false" rot="0">
              <a:off x="0" y="0"/>
              <a:ext cx="7156958" cy="1940814"/>
            </a:xfrm>
            <a:custGeom>
              <a:avLst/>
              <a:gdLst/>
              <a:ahLst/>
              <a:cxnLst/>
              <a:rect r="r" b="b" t="t" l="l"/>
              <a:pathLst>
                <a:path h="1940814" w="7156958">
                  <a:moveTo>
                    <a:pt x="0" y="147828"/>
                  </a:moveTo>
                  <a:cubicBezTo>
                    <a:pt x="0" y="66167"/>
                    <a:pt x="66167" y="0"/>
                    <a:pt x="147828" y="0"/>
                  </a:cubicBezTo>
                  <a:lnTo>
                    <a:pt x="7009130" y="0"/>
                  </a:lnTo>
                  <a:cubicBezTo>
                    <a:pt x="7090791" y="0"/>
                    <a:pt x="7156958" y="66167"/>
                    <a:pt x="7156958" y="147828"/>
                  </a:cubicBezTo>
                  <a:lnTo>
                    <a:pt x="7156958" y="1792986"/>
                  </a:lnTo>
                  <a:cubicBezTo>
                    <a:pt x="7156958" y="1874647"/>
                    <a:pt x="7090791" y="1940814"/>
                    <a:pt x="7009130" y="1940814"/>
                  </a:cubicBezTo>
                  <a:lnTo>
                    <a:pt x="147828" y="1940814"/>
                  </a:lnTo>
                  <a:cubicBezTo>
                    <a:pt x="66167" y="1940814"/>
                    <a:pt x="0" y="1874647"/>
                    <a:pt x="0" y="1792986"/>
                  </a:cubicBezTo>
                  <a:close/>
                </a:path>
              </a:pathLst>
            </a:custGeom>
            <a:solidFill>
              <a:srgbClr val="F2F5F8"/>
            </a:solidFill>
            <a:ln w="14299" cap="sq">
              <a:solidFill>
                <a:srgbClr val="D9D9D9"/>
              </a:solidFill>
              <a:prstDash val="solid"/>
              <a:miter/>
            </a:ln>
          </p:spPr>
        </p:sp>
      </p:grpSp>
      <p:grpSp>
        <p:nvGrpSpPr>
          <p:cNvPr name="Group 25" id="25"/>
          <p:cNvGrpSpPr/>
          <p:nvPr/>
        </p:nvGrpSpPr>
        <p:grpSpPr>
          <a:xfrm rot="0">
            <a:off x="686333" y="4118019"/>
            <a:ext cx="5353421" cy="1441304"/>
            <a:chOff x="0" y="0"/>
            <a:chExt cx="7137895" cy="1921739"/>
          </a:xfrm>
        </p:grpSpPr>
        <p:sp>
          <p:nvSpPr>
            <p:cNvPr name="Freeform 26" id="26"/>
            <p:cNvSpPr/>
            <p:nvPr/>
          </p:nvSpPr>
          <p:spPr>
            <a:xfrm flipH="false" flipV="false" rot="0">
              <a:off x="0" y="0"/>
              <a:ext cx="7137897" cy="1921741"/>
            </a:xfrm>
            <a:custGeom>
              <a:avLst/>
              <a:gdLst/>
              <a:ahLst/>
              <a:cxnLst/>
              <a:rect r="r" b="b" t="t" l="l"/>
              <a:pathLst>
                <a:path h="1921741" w="7137897">
                  <a:moveTo>
                    <a:pt x="0" y="0"/>
                  </a:moveTo>
                  <a:lnTo>
                    <a:pt x="7137897" y="0"/>
                  </a:lnTo>
                  <a:lnTo>
                    <a:pt x="7137897" y="1921741"/>
                  </a:lnTo>
                  <a:lnTo>
                    <a:pt x="0" y="1921741"/>
                  </a:lnTo>
                  <a:close/>
                </a:path>
              </a:pathLst>
            </a:custGeom>
            <a:blipFill>
              <a:blip r:embed="rId4">
                <a:alphaModFix amt="0"/>
              </a:blip>
              <a:stretch>
                <a:fillRect l="0" t="-22373" r="0" b="-22372"/>
              </a:stretch>
            </a:blipFill>
          </p:spPr>
        </p:sp>
        <p:sp>
          <p:nvSpPr>
            <p:cNvPr name="TextBox 27" id="27"/>
            <p:cNvSpPr txBox="true"/>
            <p:nvPr/>
          </p:nvSpPr>
          <p:spPr>
            <a:xfrm>
              <a:off x="0" y="-9525"/>
              <a:ext cx="7137895" cy="1931264"/>
            </a:xfrm>
            <a:prstGeom prst="rect">
              <a:avLst/>
            </a:prstGeom>
          </p:spPr>
          <p:txBody>
            <a:bodyPr anchor="ctr" rtlCol="false" tIns="0" lIns="0" bIns="0" rIns="0"/>
            <a:lstStyle/>
            <a:p>
              <a:pPr algn="ctr">
                <a:lnSpc>
                  <a:spcPts val="2341"/>
                </a:lnSpc>
              </a:pPr>
              <a:r>
                <a:rPr lang="en-US" sz="1951" b="true">
                  <a:solidFill>
                    <a:srgbClr val="1F4E79"/>
                  </a:solidFill>
                  <a:latin typeface="Cabin Bold"/>
                  <a:ea typeface="Cabin Bold"/>
                  <a:cs typeface="Cabin Bold"/>
                  <a:sym typeface="Cabin Bold"/>
                </a:rPr>
                <a:t>Distributed Computing</a:t>
              </a:r>
            </a:p>
          </p:txBody>
        </p:sp>
      </p:grpSp>
      <p:grpSp>
        <p:nvGrpSpPr>
          <p:cNvPr name="Group 28" id="28"/>
          <p:cNvGrpSpPr/>
          <p:nvPr/>
        </p:nvGrpSpPr>
        <p:grpSpPr>
          <a:xfrm rot="0">
            <a:off x="6375778" y="4110866"/>
            <a:ext cx="5367718" cy="1455601"/>
            <a:chOff x="0" y="0"/>
            <a:chExt cx="7156958" cy="1940801"/>
          </a:xfrm>
        </p:grpSpPr>
        <p:sp>
          <p:nvSpPr>
            <p:cNvPr name="Freeform 29" id="29"/>
            <p:cNvSpPr/>
            <p:nvPr/>
          </p:nvSpPr>
          <p:spPr>
            <a:xfrm flipH="false" flipV="false" rot="0">
              <a:off x="0" y="0"/>
              <a:ext cx="7156958" cy="1940814"/>
            </a:xfrm>
            <a:custGeom>
              <a:avLst/>
              <a:gdLst/>
              <a:ahLst/>
              <a:cxnLst/>
              <a:rect r="r" b="b" t="t" l="l"/>
              <a:pathLst>
                <a:path h="1940814" w="7156958">
                  <a:moveTo>
                    <a:pt x="0" y="147828"/>
                  </a:moveTo>
                  <a:cubicBezTo>
                    <a:pt x="0" y="66167"/>
                    <a:pt x="66167" y="0"/>
                    <a:pt x="147828" y="0"/>
                  </a:cubicBezTo>
                  <a:lnTo>
                    <a:pt x="7009130" y="0"/>
                  </a:lnTo>
                  <a:cubicBezTo>
                    <a:pt x="7090791" y="0"/>
                    <a:pt x="7156958" y="66167"/>
                    <a:pt x="7156958" y="147828"/>
                  </a:cubicBezTo>
                  <a:lnTo>
                    <a:pt x="7156958" y="1792986"/>
                  </a:lnTo>
                  <a:cubicBezTo>
                    <a:pt x="7156958" y="1874647"/>
                    <a:pt x="7090791" y="1940814"/>
                    <a:pt x="7009130" y="1940814"/>
                  </a:cubicBezTo>
                  <a:lnTo>
                    <a:pt x="147828" y="1940814"/>
                  </a:lnTo>
                  <a:cubicBezTo>
                    <a:pt x="66167" y="1940814"/>
                    <a:pt x="0" y="1874647"/>
                    <a:pt x="0" y="1792986"/>
                  </a:cubicBezTo>
                  <a:close/>
                </a:path>
              </a:pathLst>
            </a:custGeom>
            <a:solidFill>
              <a:srgbClr val="F2F5F8"/>
            </a:solidFill>
            <a:ln w="14299" cap="sq">
              <a:solidFill>
                <a:srgbClr val="D9D9D9"/>
              </a:solidFill>
              <a:prstDash val="solid"/>
              <a:miter/>
            </a:ln>
          </p:spPr>
        </p:sp>
      </p:grpSp>
      <p:grpSp>
        <p:nvGrpSpPr>
          <p:cNvPr name="Group 30" id="30"/>
          <p:cNvGrpSpPr/>
          <p:nvPr/>
        </p:nvGrpSpPr>
        <p:grpSpPr>
          <a:xfrm rot="0">
            <a:off x="6382931" y="4118019"/>
            <a:ext cx="5353421" cy="1441304"/>
            <a:chOff x="0" y="0"/>
            <a:chExt cx="7137895" cy="1921739"/>
          </a:xfrm>
        </p:grpSpPr>
        <p:sp>
          <p:nvSpPr>
            <p:cNvPr name="Freeform 31" id="31"/>
            <p:cNvSpPr/>
            <p:nvPr/>
          </p:nvSpPr>
          <p:spPr>
            <a:xfrm flipH="false" flipV="false" rot="0">
              <a:off x="0" y="0"/>
              <a:ext cx="7137897" cy="1921741"/>
            </a:xfrm>
            <a:custGeom>
              <a:avLst/>
              <a:gdLst/>
              <a:ahLst/>
              <a:cxnLst/>
              <a:rect r="r" b="b" t="t" l="l"/>
              <a:pathLst>
                <a:path h="1921741" w="7137897">
                  <a:moveTo>
                    <a:pt x="0" y="0"/>
                  </a:moveTo>
                  <a:lnTo>
                    <a:pt x="7137897" y="0"/>
                  </a:lnTo>
                  <a:lnTo>
                    <a:pt x="7137897" y="1921741"/>
                  </a:lnTo>
                  <a:lnTo>
                    <a:pt x="0" y="1921741"/>
                  </a:lnTo>
                  <a:close/>
                </a:path>
              </a:pathLst>
            </a:custGeom>
            <a:blipFill>
              <a:blip r:embed="rId4">
                <a:alphaModFix amt="0"/>
              </a:blip>
              <a:stretch>
                <a:fillRect l="0" t="-22373" r="0" b="-22372"/>
              </a:stretch>
            </a:blipFill>
          </p:spPr>
        </p:sp>
        <p:sp>
          <p:nvSpPr>
            <p:cNvPr name="TextBox 32" id="32"/>
            <p:cNvSpPr txBox="true"/>
            <p:nvPr/>
          </p:nvSpPr>
          <p:spPr>
            <a:xfrm>
              <a:off x="0" y="-9525"/>
              <a:ext cx="7137895" cy="1931264"/>
            </a:xfrm>
            <a:prstGeom prst="rect">
              <a:avLst/>
            </a:prstGeom>
          </p:spPr>
          <p:txBody>
            <a:bodyPr anchor="ctr" rtlCol="false" tIns="0" lIns="0" bIns="0" rIns="0"/>
            <a:lstStyle/>
            <a:p>
              <a:pPr algn="ctr">
                <a:lnSpc>
                  <a:spcPts val="2341"/>
                </a:lnSpc>
              </a:pPr>
              <a:r>
                <a:rPr lang="en-US" sz="1951" b="true">
                  <a:solidFill>
                    <a:srgbClr val="1F4E79"/>
                  </a:solidFill>
                  <a:latin typeface="Cabin Bold"/>
                  <a:ea typeface="Cabin Bold"/>
                  <a:cs typeface="Cabin Bold"/>
                  <a:sym typeface="Cabin Bold"/>
                </a:rPr>
                <a:t>In-memory Processing</a:t>
              </a:r>
            </a:p>
          </p:txBody>
        </p:sp>
      </p:grpSp>
      <p:grpSp>
        <p:nvGrpSpPr>
          <p:cNvPr name="Group 33" id="33"/>
          <p:cNvGrpSpPr/>
          <p:nvPr/>
        </p:nvGrpSpPr>
        <p:grpSpPr>
          <a:xfrm rot="0">
            <a:off x="12072366" y="4110866"/>
            <a:ext cx="5367718" cy="1455601"/>
            <a:chOff x="0" y="0"/>
            <a:chExt cx="7156958" cy="1940801"/>
          </a:xfrm>
        </p:grpSpPr>
        <p:sp>
          <p:nvSpPr>
            <p:cNvPr name="Freeform 34" id="34"/>
            <p:cNvSpPr/>
            <p:nvPr/>
          </p:nvSpPr>
          <p:spPr>
            <a:xfrm flipH="false" flipV="false" rot="0">
              <a:off x="0" y="0"/>
              <a:ext cx="7156958" cy="1940814"/>
            </a:xfrm>
            <a:custGeom>
              <a:avLst/>
              <a:gdLst/>
              <a:ahLst/>
              <a:cxnLst/>
              <a:rect r="r" b="b" t="t" l="l"/>
              <a:pathLst>
                <a:path h="1940814" w="7156958">
                  <a:moveTo>
                    <a:pt x="0" y="147828"/>
                  </a:moveTo>
                  <a:cubicBezTo>
                    <a:pt x="0" y="66167"/>
                    <a:pt x="66167" y="0"/>
                    <a:pt x="147828" y="0"/>
                  </a:cubicBezTo>
                  <a:lnTo>
                    <a:pt x="7009130" y="0"/>
                  </a:lnTo>
                  <a:cubicBezTo>
                    <a:pt x="7090791" y="0"/>
                    <a:pt x="7156958" y="66167"/>
                    <a:pt x="7156958" y="147828"/>
                  </a:cubicBezTo>
                  <a:lnTo>
                    <a:pt x="7156958" y="1792986"/>
                  </a:lnTo>
                  <a:cubicBezTo>
                    <a:pt x="7156958" y="1874647"/>
                    <a:pt x="7090791" y="1940814"/>
                    <a:pt x="7009130" y="1940814"/>
                  </a:cubicBezTo>
                  <a:lnTo>
                    <a:pt x="147828" y="1940814"/>
                  </a:lnTo>
                  <a:cubicBezTo>
                    <a:pt x="66167" y="1940814"/>
                    <a:pt x="0" y="1874647"/>
                    <a:pt x="0" y="1792986"/>
                  </a:cubicBezTo>
                  <a:close/>
                </a:path>
              </a:pathLst>
            </a:custGeom>
            <a:solidFill>
              <a:srgbClr val="F2F5F8"/>
            </a:solidFill>
            <a:ln w="14299" cap="sq">
              <a:solidFill>
                <a:srgbClr val="D9D9D9"/>
              </a:solidFill>
              <a:prstDash val="solid"/>
              <a:miter/>
            </a:ln>
          </p:spPr>
        </p:sp>
      </p:grpSp>
      <p:grpSp>
        <p:nvGrpSpPr>
          <p:cNvPr name="Group 35" id="35"/>
          <p:cNvGrpSpPr/>
          <p:nvPr/>
        </p:nvGrpSpPr>
        <p:grpSpPr>
          <a:xfrm rot="0">
            <a:off x="12079519" y="4118019"/>
            <a:ext cx="5353421" cy="1441304"/>
            <a:chOff x="0" y="0"/>
            <a:chExt cx="7137895" cy="1921739"/>
          </a:xfrm>
        </p:grpSpPr>
        <p:sp>
          <p:nvSpPr>
            <p:cNvPr name="Freeform 36" id="36"/>
            <p:cNvSpPr/>
            <p:nvPr/>
          </p:nvSpPr>
          <p:spPr>
            <a:xfrm flipH="false" flipV="false" rot="0">
              <a:off x="0" y="0"/>
              <a:ext cx="7137897" cy="1921741"/>
            </a:xfrm>
            <a:custGeom>
              <a:avLst/>
              <a:gdLst/>
              <a:ahLst/>
              <a:cxnLst/>
              <a:rect r="r" b="b" t="t" l="l"/>
              <a:pathLst>
                <a:path h="1921741" w="7137897">
                  <a:moveTo>
                    <a:pt x="0" y="0"/>
                  </a:moveTo>
                  <a:lnTo>
                    <a:pt x="7137897" y="0"/>
                  </a:lnTo>
                  <a:lnTo>
                    <a:pt x="7137897" y="1921741"/>
                  </a:lnTo>
                  <a:lnTo>
                    <a:pt x="0" y="1921741"/>
                  </a:lnTo>
                  <a:close/>
                </a:path>
              </a:pathLst>
            </a:custGeom>
            <a:blipFill>
              <a:blip r:embed="rId4">
                <a:alphaModFix amt="0"/>
              </a:blip>
              <a:stretch>
                <a:fillRect l="0" t="-22373" r="0" b="-22372"/>
              </a:stretch>
            </a:blipFill>
          </p:spPr>
        </p:sp>
        <p:sp>
          <p:nvSpPr>
            <p:cNvPr name="TextBox 37" id="37"/>
            <p:cNvSpPr txBox="true"/>
            <p:nvPr/>
          </p:nvSpPr>
          <p:spPr>
            <a:xfrm>
              <a:off x="0" y="-9525"/>
              <a:ext cx="7137895" cy="1931264"/>
            </a:xfrm>
            <a:prstGeom prst="rect">
              <a:avLst/>
            </a:prstGeom>
          </p:spPr>
          <p:txBody>
            <a:bodyPr anchor="ctr" rtlCol="false" tIns="0" lIns="0" bIns="0" rIns="0"/>
            <a:lstStyle/>
            <a:p>
              <a:pPr algn="ctr">
                <a:lnSpc>
                  <a:spcPts val="2341"/>
                </a:lnSpc>
              </a:pPr>
              <a:r>
                <a:rPr lang="en-US" sz="1951" b="true">
                  <a:solidFill>
                    <a:srgbClr val="1F4E79"/>
                  </a:solidFill>
                  <a:latin typeface="Cabin Bold"/>
                  <a:ea typeface="Cabin Bold"/>
                  <a:cs typeface="Cabin Bold"/>
                  <a:sym typeface="Cabin Bold"/>
                </a:rPr>
                <a:t>Batch Analytics</a:t>
              </a:r>
            </a:p>
          </p:txBody>
        </p:sp>
      </p:grpSp>
      <p:grpSp>
        <p:nvGrpSpPr>
          <p:cNvPr name="Group 38" id="38"/>
          <p:cNvGrpSpPr/>
          <p:nvPr/>
        </p:nvGrpSpPr>
        <p:grpSpPr>
          <a:xfrm rot="0">
            <a:off x="679190" y="5895346"/>
            <a:ext cx="5367718" cy="1455601"/>
            <a:chOff x="0" y="0"/>
            <a:chExt cx="7156958" cy="1940801"/>
          </a:xfrm>
        </p:grpSpPr>
        <p:sp>
          <p:nvSpPr>
            <p:cNvPr name="Freeform 39" id="39"/>
            <p:cNvSpPr/>
            <p:nvPr/>
          </p:nvSpPr>
          <p:spPr>
            <a:xfrm flipH="false" flipV="false" rot="0">
              <a:off x="0" y="0"/>
              <a:ext cx="7156958" cy="1940814"/>
            </a:xfrm>
            <a:custGeom>
              <a:avLst/>
              <a:gdLst/>
              <a:ahLst/>
              <a:cxnLst/>
              <a:rect r="r" b="b" t="t" l="l"/>
              <a:pathLst>
                <a:path h="1940814" w="7156958">
                  <a:moveTo>
                    <a:pt x="0" y="147828"/>
                  </a:moveTo>
                  <a:cubicBezTo>
                    <a:pt x="0" y="66167"/>
                    <a:pt x="66167" y="0"/>
                    <a:pt x="147828" y="0"/>
                  </a:cubicBezTo>
                  <a:lnTo>
                    <a:pt x="7009130" y="0"/>
                  </a:lnTo>
                  <a:cubicBezTo>
                    <a:pt x="7090791" y="0"/>
                    <a:pt x="7156958" y="66167"/>
                    <a:pt x="7156958" y="147828"/>
                  </a:cubicBezTo>
                  <a:lnTo>
                    <a:pt x="7156958" y="1792986"/>
                  </a:lnTo>
                  <a:cubicBezTo>
                    <a:pt x="7156958" y="1874647"/>
                    <a:pt x="7090791" y="1940814"/>
                    <a:pt x="7009130" y="1940814"/>
                  </a:cubicBezTo>
                  <a:lnTo>
                    <a:pt x="147828" y="1940814"/>
                  </a:lnTo>
                  <a:cubicBezTo>
                    <a:pt x="66167" y="1940814"/>
                    <a:pt x="0" y="1874647"/>
                    <a:pt x="0" y="1792986"/>
                  </a:cubicBezTo>
                  <a:close/>
                </a:path>
              </a:pathLst>
            </a:custGeom>
            <a:solidFill>
              <a:srgbClr val="F2F5F8"/>
            </a:solidFill>
            <a:ln w="14299" cap="sq">
              <a:solidFill>
                <a:srgbClr val="D9D9D9"/>
              </a:solidFill>
              <a:prstDash val="solid"/>
              <a:miter/>
            </a:ln>
          </p:spPr>
        </p:sp>
      </p:grpSp>
      <p:grpSp>
        <p:nvGrpSpPr>
          <p:cNvPr name="Group 40" id="40"/>
          <p:cNvGrpSpPr/>
          <p:nvPr/>
        </p:nvGrpSpPr>
        <p:grpSpPr>
          <a:xfrm rot="0">
            <a:off x="686333" y="5902490"/>
            <a:ext cx="5353421" cy="1441304"/>
            <a:chOff x="0" y="0"/>
            <a:chExt cx="7137895" cy="1921739"/>
          </a:xfrm>
        </p:grpSpPr>
        <p:sp>
          <p:nvSpPr>
            <p:cNvPr name="Freeform 41" id="41"/>
            <p:cNvSpPr/>
            <p:nvPr/>
          </p:nvSpPr>
          <p:spPr>
            <a:xfrm flipH="false" flipV="false" rot="0">
              <a:off x="0" y="0"/>
              <a:ext cx="7137897" cy="1921741"/>
            </a:xfrm>
            <a:custGeom>
              <a:avLst/>
              <a:gdLst/>
              <a:ahLst/>
              <a:cxnLst/>
              <a:rect r="r" b="b" t="t" l="l"/>
              <a:pathLst>
                <a:path h="1921741" w="7137897">
                  <a:moveTo>
                    <a:pt x="0" y="0"/>
                  </a:moveTo>
                  <a:lnTo>
                    <a:pt x="7137897" y="0"/>
                  </a:lnTo>
                  <a:lnTo>
                    <a:pt x="7137897" y="1921741"/>
                  </a:lnTo>
                  <a:lnTo>
                    <a:pt x="0" y="1921741"/>
                  </a:lnTo>
                  <a:close/>
                </a:path>
              </a:pathLst>
            </a:custGeom>
            <a:blipFill>
              <a:blip r:embed="rId4">
                <a:alphaModFix amt="0"/>
              </a:blip>
              <a:stretch>
                <a:fillRect l="0" t="-22373" r="0" b="-22372"/>
              </a:stretch>
            </a:blipFill>
          </p:spPr>
        </p:sp>
        <p:sp>
          <p:nvSpPr>
            <p:cNvPr name="TextBox 42" id="42"/>
            <p:cNvSpPr txBox="true"/>
            <p:nvPr/>
          </p:nvSpPr>
          <p:spPr>
            <a:xfrm>
              <a:off x="0" y="-9525"/>
              <a:ext cx="7137895" cy="1931264"/>
            </a:xfrm>
            <a:prstGeom prst="rect">
              <a:avLst/>
            </a:prstGeom>
          </p:spPr>
          <p:txBody>
            <a:bodyPr anchor="ctr" rtlCol="false" tIns="0" lIns="0" bIns="0" rIns="0"/>
            <a:lstStyle/>
            <a:p>
              <a:pPr algn="ctr">
                <a:lnSpc>
                  <a:spcPts val="2341"/>
                </a:lnSpc>
              </a:pPr>
              <a:r>
                <a:rPr lang="en-US" sz="1951" b="true">
                  <a:solidFill>
                    <a:srgbClr val="1F4E79"/>
                  </a:solidFill>
                  <a:latin typeface="Cabin Bold"/>
                  <a:ea typeface="Cabin Bold"/>
                  <a:cs typeface="Cabin Bold"/>
                  <a:sym typeface="Cabin Bold"/>
                </a:rPr>
                <a:t>SQL</a:t>
              </a:r>
            </a:p>
          </p:txBody>
        </p:sp>
      </p:grpSp>
      <p:grpSp>
        <p:nvGrpSpPr>
          <p:cNvPr name="Group 43" id="43"/>
          <p:cNvGrpSpPr/>
          <p:nvPr/>
        </p:nvGrpSpPr>
        <p:grpSpPr>
          <a:xfrm rot="0">
            <a:off x="6375778" y="5895346"/>
            <a:ext cx="5367718" cy="1455601"/>
            <a:chOff x="0" y="0"/>
            <a:chExt cx="7156958" cy="1940801"/>
          </a:xfrm>
        </p:grpSpPr>
        <p:sp>
          <p:nvSpPr>
            <p:cNvPr name="Freeform 44" id="44"/>
            <p:cNvSpPr/>
            <p:nvPr/>
          </p:nvSpPr>
          <p:spPr>
            <a:xfrm flipH="false" flipV="false" rot="0">
              <a:off x="0" y="0"/>
              <a:ext cx="7156958" cy="1940814"/>
            </a:xfrm>
            <a:custGeom>
              <a:avLst/>
              <a:gdLst/>
              <a:ahLst/>
              <a:cxnLst/>
              <a:rect r="r" b="b" t="t" l="l"/>
              <a:pathLst>
                <a:path h="1940814" w="7156958">
                  <a:moveTo>
                    <a:pt x="0" y="147828"/>
                  </a:moveTo>
                  <a:cubicBezTo>
                    <a:pt x="0" y="66167"/>
                    <a:pt x="66167" y="0"/>
                    <a:pt x="147828" y="0"/>
                  </a:cubicBezTo>
                  <a:lnTo>
                    <a:pt x="7009130" y="0"/>
                  </a:lnTo>
                  <a:cubicBezTo>
                    <a:pt x="7090791" y="0"/>
                    <a:pt x="7156958" y="66167"/>
                    <a:pt x="7156958" y="147828"/>
                  </a:cubicBezTo>
                  <a:lnTo>
                    <a:pt x="7156958" y="1792986"/>
                  </a:lnTo>
                  <a:cubicBezTo>
                    <a:pt x="7156958" y="1874647"/>
                    <a:pt x="7090791" y="1940814"/>
                    <a:pt x="7009130" y="1940814"/>
                  </a:cubicBezTo>
                  <a:lnTo>
                    <a:pt x="147828" y="1940814"/>
                  </a:lnTo>
                  <a:cubicBezTo>
                    <a:pt x="66167" y="1940814"/>
                    <a:pt x="0" y="1874647"/>
                    <a:pt x="0" y="1792986"/>
                  </a:cubicBezTo>
                  <a:close/>
                </a:path>
              </a:pathLst>
            </a:custGeom>
            <a:solidFill>
              <a:srgbClr val="F2F5F8"/>
            </a:solidFill>
            <a:ln w="14299" cap="sq">
              <a:solidFill>
                <a:srgbClr val="D9D9D9"/>
              </a:solidFill>
              <a:prstDash val="solid"/>
              <a:miter/>
            </a:ln>
          </p:spPr>
        </p:sp>
      </p:grpSp>
      <p:grpSp>
        <p:nvGrpSpPr>
          <p:cNvPr name="Group 45" id="45"/>
          <p:cNvGrpSpPr/>
          <p:nvPr/>
        </p:nvGrpSpPr>
        <p:grpSpPr>
          <a:xfrm rot="0">
            <a:off x="6382931" y="5902490"/>
            <a:ext cx="5353421" cy="1441304"/>
            <a:chOff x="0" y="0"/>
            <a:chExt cx="7137895" cy="1921739"/>
          </a:xfrm>
        </p:grpSpPr>
        <p:sp>
          <p:nvSpPr>
            <p:cNvPr name="Freeform 46" id="46"/>
            <p:cNvSpPr/>
            <p:nvPr/>
          </p:nvSpPr>
          <p:spPr>
            <a:xfrm flipH="false" flipV="false" rot="0">
              <a:off x="0" y="0"/>
              <a:ext cx="7137897" cy="1921741"/>
            </a:xfrm>
            <a:custGeom>
              <a:avLst/>
              <a:gdLst/>
              <a:ahLst/>
              <a:cxnLst/>
              <a:rect r="r" b="b" t="t" l="l"/>
              <a:pathLst>
                <a:path h="1921741" w="7137897">
                  <a:moveTo>
                    <a:pt x="0" y="0"/>
                  </a:moveTo>
                  <a:lnTo>
                    <a:pt x="7137897" y="0"/>
                  </a:lnTo>
                  <a:lnTo>
                    <a:pt x="7137897" y="1921741"/>
                  </a:lnTo>
                  <a:lnTo>
                    <a:pt x="0" y="1921741"/>
                  </a:lnTo>
                  <a:close/>
                </a:path>
              </a:pathLst>
            </a:custGeom>
            <a:blipFill>
              <a:blip r:embed="rId4">
                <a:alphaModFix amt="0"/>
              </a:blip>
              <a:stretch>
                <a:fillRect l="0" t="-22373" r="0" b="-22372"/>
              </a:stretch>
            </a:blipFill>
          </p:spPr>
        </p:sp>
        <p:sp>
          <p:nvSpPr>
            <p:cNvPr name="TextBox 47" id="47"/>
            <p:cNvSpPr txBox="true"/>
            <p:nvPr/>
          </p:nvSpPr>
          <p:spPr>
            <a:xfrm>
              <a:off x="0" y="-9525"/>
              <a:ext cx="7137895" cy="1931264"/>
            </a:xfrm>
            <a:prstGeom prst="rect">
              <a:avLst/>
            </a:prstGeom>
          </p:spPr>
          <p:txBody>
            <a:bodyPr anchor="ctr" rtlCol="false" tIns="0" lIns="0" bIns="0" rIns="0"/>
            <a:lstStyle/>
            <a:p>
              <a:pPr algn="ctr">
                <a:lnSpc>
                  <a:spcPts val="2341"/>
                </a:lnSpc>
              </a:pPr>
              <a:r>
                <a:rPr lang="en-US" sz="1951" b="true">
                  <a:solidFill>
                    <a:srgbClr val="1F4E79"/>
                  </a:solidFill>
                  <a:latin typeface="Cabin Bold"/>
                  <a:ea typeface="Cabin Bold"/>
                  <a:cs typeface="Cabin Bold"/>
                  <a:sym typeface="Cabin Bold"/>
                </a:rPr>
                <a:t>Streaming</a:t>
              </a:r>
            </a:p>
          </p:txBody>
        </p:sp>
      </p:grpSp>
      <p:grpSp>
        <p:nvGrpSpPr>
          <p:cNvPr name="Group 48" id="48"/>
          <p:cNvGrpSpPr/>
          <p:nvPr/>
        </p:nvGrpSpPr>
        <p:grpSpPr>
          <a:xfrm rot="0">
            <a:off x="12072366" y="5895346"/>
            <a:ext cx="5367718" cy="1455601"/>
            <a:chOff x="0" y="0"/>
            <a:chExt cx="7156958" cy="1940801"/>
          </a:xfrm>
        </p:grpSpPr>
        <p:sp>
          <p:nvSpPr>
            <p:cNvPr name="Freeform 49" id="49"/>
            <p:cNvSpPr/>
            <p:nvPr/>
          </p:nvSpPr>
          <p:spPr>
            <a:xfrm flipH="false" flipV="false" rot="0">
              <a:off x="0" y="0"/>
              <a:ext cx="7156958" cy="1940814"/>
            </a:xfrm>
            <a:custGeom>
              <a:avLst/>
              <a:gdLst/>
              <a:ahLst/>
              <a:cxnLst/>
              <a:rect r="r" b="b" t="t" l="l"/>
              <a:pathLst>
                <a:path h="1940814" w="7156958">
                  <a:moveTo>
                    <a:pt x="0" y="147828"/>
                  </a:moveTo>
                  <a:cubicBezTo>
                    <a:pt x="0" y="66167"/>
                    <a:pt x="66167" y="0"/>
                    <a:pt x="147828" y="0"/>
                  </a:cubicBezTo>
                  <a:lnTo>
                    <a:pt x="7009130" y="0"/>
                  </a:lnTo>
                  <a:cubicBezTo>
                    <a:pt x="7090791" y="0"/>
                    <a:pt x="7156958" y="66167"/>
                    <a:pt x="7156958" y="147828"/>
                  </a:cubicBezTo>
                  <a:lnTo>
                    <a:pt x="7156958" y="1792986"/>
                  </a:lnTo>
                  <a:cubicBezTo>
                    <a:pt x="7156958" y="1874647"/>
                    <a:pt x="7090791" y="1940814"/>
                    <a:pt x="7009130" y="1940814"/>
                  </a:cubicBezTo>
                  <a:lnTo>
                    <a:pt x="147828" y="1940814"/>
                  </a:lnTo>
                  <a:cubicBezTo>
                    <a:pt x="66167" y="1940814"/>
                    <a:pt x="0" y="1874647"/>
                    <a:pt x="0" y="1792986"/>
                  </a:cubicBezTo>
                  <a:close/>
                </a:path>
              </a:pathLst>
            </a:custGeom>
            <a:solidFill>
              <a:srgbClr val="F2F5F8"/>
            </a:solidFill>
            <a:ln w="14299" cap="sq">
              <a:solidFill>
                <a:srgbClr val="D9D9D9"/>
              </a:solidFill>
              <a:prstDash val="solid"/>
              <a:miter/>
            </a:ln>
          </p:spPr>
        </p:sp>
      </p:grpSp>
      <p:grpSp>
        <p:nvGrpSpPr>
          <p:cNvPr name="Group 50" id="50"/>
          <p:cNvGrpSpPr/>
          <p:nvPr/>
        </p:nvGrpSpPr>
        <p:grpSpPr>
          <a:xfrm rot="0">
            <a:off x="12079519" y="5902490"/>
            <a:ext cx="5353421" cy="1441304"/>
            <a:chOff x="0" y="0"/>
            <a:chExt cx="7137895" cy="1921739"/>
          </a:xfrm>
        </p:grpSpPr>
        <p:sp>
          <p:nvSpPr>
            <p:cNvPr name="Freeform 51" id="51"/>
            <p:cNvSpPr/>
            <p:nvPr/>
          </p:nvSpPr>
          <p:spPr>
            <a:xfrm flipH="false" flipV="false" rot="0">
              <a:off x="0" y="0"/>
              <a:ext cx="7137897" cy="1921741"/>
            </a:xfrm>
            <a:custGeom>
              <a:avLst/>
              <a:gdLst/>
              <a:ahLst/>
              <a:cxnLst/>
              <a:rect r="r" b="b" t="t" l="l"/>
              <a:pathLst>
                <a:path h="1921741" w="7137897">
                  <a:moveTo>
                    <a:pt x="0" y="0"/>
                  </a:moveTo>
                  <a:lnTo>
                    <a:pt x="7137897" y="0"/>
                  </a:lnTo>
                  <a:lnTo>
                    <a:pt x="7137897" y="1921741"/>
                  </a:lnTo>
                  <a:lnTo>
                    <a:pt x="0" y="1921741"/>
                  </a:lnTo>
                  <a:close/>
                </a:path>
              </a:pathLst>
            </a:custGeom>
            <a:blipFill>
              <a:blip r:embed="rId4">
                <a:alphaModFix amt="0"/>
              </a:blip>
              <a:stretch>
                <a:fillRect l="0" t="-22373" r="0" b="-22372"/>
              </a:stretch>
            </a:blipFill>
          </p:spPr>
        </p:sp>
        <p:sp>
          <p:nvSpPr>
            <p:cNvPr name="TextBox 52" id="52"/>
            <p:cNvSpPr txBox="true"/>
            <p:nvPr/>
          </p:nvSpPr>
          <p:spPr>
            <a:xfrm>
              <a:off x="0" y="-9525"/>
              <a:ext cx="7137895" cy="1931264"/>
            </a:xfrm>
            <a:prstGeom prst="rect">
              <a:avLst/>
            </a:prstGeom>
          </p:spPr>
          <p:txBody>
            <a:bodyPr anchor="ctr" rtlCol="false" tIns="0" lIns="0" bIns="0" rIns="0"/>
            <a:lstStyle/>
            <a:p>
              <a:pPr algn="ctr">
                <a:lnSpc>
                  <a:spcPts val="2341"/>
                </a:lnSpc>
              </a:pPr>
              <a:r>
                <a:rPr lang="en-US" sz="1951" b="true">
                  <a:solidFill>
                    <a:srgbClr val="1F4E79"/>
                  </a:solidFill>
                  <a:latin typeface="Cabin Bold"/>
                  <a:ea typeface="Cabin Bold"/>
                  <a:cs typeface="Cabin Bold"/>
                  <a:sym typeface="Cabin Bold"/>
                </a:rPr>
                <a:t>Machine Learning</a:t>
              </a:r>
            </a:p>
          </p:txBody>
        </p:sp>
      </p:grpSp>
      <p:grpSp>
        <p:nvGrpSpPr>
          <p:cNvPr name="Group 53" id="53"/>
          <p:cNvGrpSpPr/>
          <p:nvPr/>
        </p:nvGrpSpPr>
        <p:grpSpPr>
          <a:xfrm rot="0">
            <a:off x="0" y="9677343"/>
            <a:ext cx="18301840" cy="617706"/>
            <a:chOff x="0" y="0"/>
            <a:chExt cx="24402453" cy="823608"/>
          </a:xfrm>
        </p:grpSpPr>
        <p:sp>
          <p:nvSpPr>
            <p:cNvPr name="Freeform 54" id="54"/>
            <p:cNvSpPr/>
            <p:nvPr/>
          </p:nvSpPr>
          <p:spPr>
            <a:xfrm flipH="false" flipV="false" rot="0">
              <a:off x="0" y="0"/>
              <a:ext cx="24402414" cy="823595"/>
            </a:xfrm>
            <a:custGeom>
              <a:avLst/>
              <a:gdLst/>
              <a:ahLst/>
              <a:cxnLst/>
              <a:rect r="r" b="b" t="t" l="l"/>
              <a:pathLst>
                <a:path h="823595" w="24402414">
                  <a:moveTo>
                    <a:pt x="0" y="0"/>
                  </a:moveTo>
                  <a:lnTo>
                    <a:pt x="24402414" y="0"/>
                  </a:lnTo>
                  <a:lnTo>
                    <a:pt x="24402414" y="823595"/>
                  </a:lnTo>
                  <a:lnTo>
                    <a:pt x="0" y="823595"/>
                  </a:lnTo>
                  <a:close/>
                </a:path>
              </a:pathLst>
            </a:custGeom>
            <a:solidFill>
              <a:srgbClr val="1F4E79"/>
            </a:solidFill>
          </p:spPr>
        </p:sp>
      </p:grpSp>
      <p:grpSp>
        <p:nvGrpSpPr>
          <p:cNvPr name="Group 55" id="55"/>
          <p:cNvGrpSpPr/>
          <p:nvPr/>
        </p:nvGrpSpPr>
        <p:grpSpPr>
          <a:xfrm rot="0">
            <a:off x="480431" y="9677343"/>
            <a:ext cx="10981382" cy="617706"/>
            <a:chOff x="0" y="0"/>
            <a:chExt cx="14641843" cy="823608"/>
          </a:xfrm>
        </p:grpSpPr>
        <p:sp>
          <p:nvSpPr>
            <p:cNvPr name="Freeform 56" id="56"/>
            <p:cNvSpPr/>
            <p:nvPr/>
          </p:nvSpPr>
          <p:spPr>
            <a:xfrm flipH="false" flipV="false" rot="0">
              <a:off x="0" y="0"/>
              <a:ext cx="14641840" cy="823603"/>
            </a:xfrm>
            <a:custGeom>
              <a:avLst/>
              <a:gdLst/>
              <a:ahLst/>
              <a:cxnLst/>
              <a:rect r="r" b="b" t="t" l="l"/>
              <a:pathLst>
                <a:path h="823603" w="14641840">
                  <a:moveTo>
                    <a:pt x="0" y="0"/>
                  </a:moveTo>
                  <a:lnTo>
                    <a:pt x="14641840" y="0"/>
                  </a:lnTo>
                  <a:lnTo>
                    <a:pt x="14641840" y="823603"/>
                  </a:lnTo>
                  <a:lnTo>
                    <a:pt x="0" y="823603"/>
                  </a:lnTo>
                  <a:close/>
                </a:path>
              </a:pathLst>
            </a:custGeom>
            <a:blipFill>
              <a:blip r:embed="rId4">
                <a:alphaModFix amt="0"/>
              </a:blip>
              <a:stretch>
                <a:fillRect l="0" t="-296400" r="0" b="-296401"/>
              </a:stretch>
            </a:blipFill>
          </p:spPr>
        </p:sp>
        <p:sp>
          <p:nvSpPr>
            <p:cNvPr name="TextBox 57" id="57"/>
            <p:cNvSpPr txBox="true"/>
            <p:nvPr/>
          </p:nvSpPr>
          <p:spPr>
            <a:xfrm>
              <a:off x="0" y="0"/>
              <a:ext cx="14641843" cy="823608"/>
            </a:xfrm>
            <a:prstGeom prst="rect">
              <a:avLst/>
            </a:prstGeom>
          </p:spPr>
          <p:txBody>
            <a:bodyPr anchor="ctr" rtlCol="false" tIns="0" lIns="0" bIns="0" rIns="0"/>
            <a:lstStyle/>
            <a:p>
              <a:pPr algn="l">
                <a:lnSpc>
                  <a:spcPts val="1621"/>
                </a:lnSpc>
              </a:pPr>
              <a:r>
                <a:rPr lang="en-US" sz="1351">
                  <a:solidFill>
                    <a:srgbClr val="FFFFFF"/>
                  </a:solidFill>
                  <a:latin typeface="Cabin"/>
                  <a:ea typeface="Cabin"/>
                  <a:cs typeface="Cabin"/>
                  <a:sym typeface="Cabin"/>
                </a:rPr>
                <a:t>VNU UET – Institute for Artificial Intelligence</a:t>
              </a:r>
            </a:p>
          </p:txBody>
        </p:sp>
      </p:grpSp>
      <p:grpSp>
        <p:nvGrpSpPr>
          <p:cNvPr name="Group 58" id="58"/>
          <p:cNvGrpSpPr/>
          <p:nvPr/>
        </p:nvGrpSpPr>
        <p:grpSpPr>
          <a:xfrm rot="0">
            <a:off x="17066438" y="9677343"/>
            <a:ext cx="823608" cy="617706"/>
            <a:chOff x="0" y="0"/>
            <a:chExt cx="1098144" cy="823608"/>
          </a:xfrm>
        </p:grpSpPr>
        <p:sp>
          <p:nvSpPr>
            <p:cNvPr name="Freeform 59" id="59"/>
            <p:cNvSpPr/>
            <p:nvPr/>
          </p:nvSpPr>
          <p:spPr>
            <a:xfrm flipH="false" flipV="false" rot="0">
              <a:off x="0" y="0"/>
              <a:ext cx="1098138" cy="823603"/>
            </a:xfrm>
            <a:custGeom>
              <a:avLst/>
              <a:gdLst/>
              <a:ahLst/>
              <a:cxnLst/>
              <a:rect r="r" b="b" t="t" l="l"/>
              <a:pathLst>
                <a:path h="823603" w="1098138">
                  <a:moveTo>
                    <a:pt x="0" y="0"/>
                  </a:moveTo>
                  <a:lnTo>
                    <a:pt x="1098138" y="0"/>
                  </a:lnTo>
                  <a:lnTo>
                    <a:pt x="1098138" y="823603"/>
                  </a:lnTo>
                  <a:lnTo>
                    <a:pt x="0" y="823603"/>
                  </a:lnTo>
                  <a:close/>
                </a:path>
              </a:pathLst>
            </a:custGeom>
            <a:blipFill>
              <a:blip r:embed="rId4">
                <a:alphaModFix amt="0"/>
              </a:blip>
              <a:stretch>
                <a:fillRect l="-46227" t="0" r="-46228" b="0"/>
              </a:stretch>
            </a:blipFill>
          </p:spPr>
        </p:sp>
        <p:sp>
          <p:nvSpPr>
            <p:cNvPr name="TextBox 60" id="60"/>
            <p:cNvSpPr txBox="true"/>
            <p:nvPr/>
          </p:nvSpPr>
          <p:spPr>
            <a:xfrm>
              <a:off x="0" y="0"/>
              <a:ext cx="1098144" cy="823608"/>
            </a:xfrm>
            <a:prstGeom prst="rect">
              <a:avLst/>
            </a:prstGeom>
          </p:spPr>
          <p:txBody>
            <a:bodyPr anchor="ctr" rtlCol="false" tIns="0" lIns="0" bIns="0" rIns="0"/>
            <a:lstStyle/>
            <a:p>
              <a:pPr algn="r">
                <a:lnSpc>
                  <a:spcPts val="1621"/>
                </a:lnSpc>
              </a:pPr>
              <a:r>
                <a:rPr lang="en-US" sz="1351">
                  <a:solidFill>
                    <a:srgbClr val="FFFFFF"/>
                  </a:solidFill>
                  <a:latin typeface="Cabin"/>
                  <a:ea typeface="Cabin"/>
                  <a:cs typeface="Cabin"/>
                  <a:sym typeface="Cabin"/>
                </a:rPr>
                <a:t>8</a:t>
              </a:r>
            </a:p>
          </p:txBody>
        </p:sp>
      </p:grpSp>
      <p:grpSp>
        <p:nvGrpSpPr>
          <p:cNvPr name="Group 61" id="61"/>
          <p:cNvGrpSpPr/>
          <p:nvPr/>
        </p:nvGrpSpPr>
        <p:grpSpPr>
          <a:xfrm rot="0">
            <a:off x="0" y="0"/>
            <a:ext cx="18288000" cy="315468"/>
            <a:chOff x="0" y="0"/>
            <a:chExt cx="24384000" cy="420624"/>
          </a:xfrm>
        </p:grpSpPr>
        <p:sp>
          <p:nvSpPr>
            <p:cNvPr name="Freeform 62" id="62"/>
            <p:cNvSpPr/>
            <p:nvPr/>
          </p:nvSpPr>
          <p:spPr>
            <a:xfrm flipH="false" flipV="false" rot="0">
              <a:off x="0" y="0"/>
              <a:ext cx="24384000" cy="420624"/>
            </a:xfrm>
            <a:custGeom>
              <a:avLst/>
              <a:gdLst/>
              <a:ahLst/>
              <a:cxnLst/>
              <a:rect r="r" b="b" t="t" l="l"/>
              <a:pathLst>
                <a:path h="420624" w="24384000">
                  <a:moveTo>
                    <a:pt x="0" y="0"/>
                  </a:moveTo>
                  <a:lnTo>
                    <a:pt x="24384000" y="0"/>
                  </a:lnTo>
                  <a:lnTo>
                    <a:pt x="24384000" y="420624"/>
                  </a:lnTo>
                  <a:lnTo>
                    <a:pt x="0" y="420624"/>
                  </a:lnTo>
                  <a:close/>
                </a:path>
              </a:pathLst>
            </a:custGeom>
            <a:solidFill>
              <a:srgbClr val="0F3F6F"/>
            </a:solidFill>
          </p:spPr>
        </p:sp>
      </p:grpSp>
      <p:grpSp>
        <p:nvGrpSpPr>
          <p:cNvPr name="Group 63" id="63"/>
          <p:cNvGrpSpPr/>
          <p:nvPr/>
        </p:nvGrpSpPr>
        <p:grpSpPr>
          <a:xfrm rot="0">
            <a:off x="13098780" y="0"/>
            <a:ext cx="1453896" cy="1508760"/>
            <a:chOff x="0" y="0"/>
            <a:chExt cx="1938528" cy="2011680"/>
          </a:xfrm>
        </p:grpSpPr>
        <p:sp>
          <p:nvSpPr>
            <p:cNvPr name="Freeform 64" id="64"/>
            <p:cNvSpPr/>
            <p:nvPr/>
          </p:nvSpPr>
          <p:spPr>
            <a:xfrm flipH="false" flipV="false" rot="0">
              <a:off x="0" y="0"/>
              <a:ext cx="1938528" cy="2011680"/>
            </a:xfrm>
            <a:custGeom>
              <a:avLst/>
              <a:gdLst/>
              <a:ahLst/>
              <a:cxnLst/>
              <a:rect r="r" b="b" t="t" l="l"/>
              <a:pathLst>
                <a:path h="2011680" w="1938528">
                  <a:moveTo>
                    <a:pt x="0" y="2011680"/>
                  </a:moveTo>
                  <a:lnTo>
                    <a:pt x="484632" y="0"/>
                  </a:lnTo>
                  <a:lnTo>
                    <a:pt x="1938528" y="0"/>
                  </a:lnTo>
                  <a:lnTo>
                    <a:pt x="1453896" y="2011680"/>
                  </a:lnTo>
                  <a:close/>
                </a:path>
              </a:pathLst>
            </a:custGeom>
            <a:solidFill>
              <a:srgbClr val="85B518"/>
            </a:solidFill>
          </p:spPr>
        </p:sp>
      </p:grpSp>
      <p:grpSp>
        <p:nvGrpSpPr>
          <p:cNvPr name="Group 65" id="65"/>
          <p:cNvGrpSpPr/>
          <p:nvPr/>
        </p:nvGrpSpPr>
        <p:grpSpPr>
          <a:xfrm rot="0">
            <a:off x="14621256" y="0"/>
            <a:ext cx="1508760" cy="1508760"/>
            <a:chOff x="0" y="0"/>
            <a:chExt cx="2011680" cy="2011680"/>
          </a:xfrm>
        </p:grpSpPr>
        <p:sp>
          <p:nvSpPr>
            <p:cNvPr name="Freeform 66" id="66"/>
            <p:cNvSpPr/>
            <p:nvPr/>
          </p:nvSpPr>
          <p:spPr>
            <a:xfrm flipH="false" flipV="false" rot="0">
              <a:off x="0" y="0"/>
              <a:ext cx="2011680" cy="2011680"/>
            </a:xfrm>
            <a:custGeom>
              <a:avLst/>
              <a:gdLst/>
              <a:ahLst/>
              <a:cxnLst/>
              <a:rect r="r" b="b" t="t" l="l"/>
              <a:pathLst>
                <a:path h="2011680" w="2011680">
                  <a:moveTo>
                    <a:pt x="0" y="2011680"/>
                  </a:moveTo>
                  <a:lnTo>
                    <a:pt x="502920" y="0"/>
                  </a:lnTo>
                  <a:lnTo>
                    <a:pt x="2011680" y="0"/>
                  </a:lnTo>
                  <a:lnTo>
                    <a:pt x="1508760" y="2011680"/>
                  </a:lnTo>
                  <a:close/>
                </a:path>
              </a:pathLst>
            </a:custGeom>
            <a:solidFill>
              <a:srgbClr val="0F3F6F"/>
            </a:solid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97801" y="384353"/>
            <a:ext cx="851059" cy="851059"/>
            <a:chOff x="0" y="0"/>
            <a:chExt cx="1134745" cy="1134745"/>
          </a:xfrm>
        </p:grpSpPr>
        <p:sp>
          <p:nvSpPr>
            <p:cNvPr name="Freeform 3" id="3" descr="/home/claude/work/assets/logo.png"/>
            <p:cNvSpPr/>
            <p:nvPr/>
          </p:nvSpPr>
          <p:spPr>
            <a:xfrm flipH="false" flipV="false" rot="0">
              <a:off x="0" y="0"/>
              <a:ext cx="1134745" cy="1134745"/>
            </a:xfrm>
            <a:custGeom>
              <a:avLst/>
              <a:gdLst/>
              <a:ahLst/>
              <a:cxnLst/>
              <a:rect r="r" b="b" t="t" l="l"/>
              <a:pathLst>
                <a:path h="1134745" w="1134745">
                  <a:moveTo>
                    <a:pt x="0" y="0"/>
                  </a:moveTo>
                  <a:lnTo>
                    <a:pt x="1134745" y="0"/>
                  </a:lnTo>
                  <a:lnTo>
                    <a:pt x="1134745" y="1134745"/>
                  </a:lnTo>
                  <a:lnTo>
                    <a:pt x="0" y="1134745"/>
                  </a:lnTo>
                  <a:lnTo>
                    <a:pt x="0" y="0"/>
                  </a:lnTo>
                  <a:close/>
                </a:path>
              </a:pathLst>
            </a:custGeom>
            <a:blipFill>
              <a:blip r:embed="rId3"/>
              <a:stretch>
                <a:fillRect l="0" t="0" r="0" b="0"/>
              </a:stretch>
            </a:blipFill>
          </p:spPr>
        </p:sp>
      </p:grpSp>
      <p:grpSp>
        <p:nvGrpSpPr>
          <p:cNvPr name="Group 4" id="4"/>
          <p:cNvGrpSpPr/>
          <p:nvPr/>
        </p:nvGrpSpPr>
        <p:grpSpPr>
          <a:xfrm rot="0">
            <a:off x="5682729" y="1718439"/>
            <a:ext cx="6555934" cy="6555934"/>
            <a:chOff x="0" y="0"/>
            <a:chExt cx="6954876" cy="6954876"/>
          </a:xfrm>
        </p:grpSpPr>
        <p:sp>
          <p:nvSpPr>
            <p:cNvPr name="Freeform 5" id="5"/>
            <p:cNvSpPr/>
            <p:nvPr/>
          </p:nvSpPr>
          <p:spPr>
            <a:xfrm flipH="false" flipV="false" rot="0">
              <a:off x="0" y="0"/>
              <a:ext cx="6954901" cy="6954901"/>
            </a:xfrm>
            <a:custGeom>
              <a:avLst/>
              <a:gdLst/>
              <a:ahLst/>
              <a:cxnLst/>
              <a:rect r="r" b="b" t="t" l="l"/>
              <a:pathLst>
                <a:path h="6954901" w="6954901">
                  <a:moveTo>
                    <a:pt x="0" y="3477387"/>
                  </a:moveTo>
                  <a:cubicBezTo>
                    <a:pt x="0" y="1556893"/>
                    <a:pt x="1556893" y="0"/>
                    <a:pt x="3477387" y="0"/>
                  </a:cubicBezTo>
                  <a:cubicBezTo>
                    <a:pt x="5397881" y="0"/>
                    <a:pt x="6954901" y="1556893"/>
                    <a:pt x="6954901" y="3477387"/>
                  </a:cubicBezTo>
                  <a:cubicBezTo>
                    <a:pt x="6954901" y="5397881"/>
                    <a:pt x="5398008" y="6954901"/>
                    <a:pt x="3477387" y="6954901"/>
                  </a:cubicBezTo>
                  <a:cubicBezTo>
                    <a:pt x="1556766" y="6954901"/>
                    <a:pt x="0" y="5398008"/>
                    <a:pt x="0" y="3477387"/>
                  </a:cubicBezTo>
                  <a:close/>
                </a:path>
              </a:pathLst>
            </a:custGeom>
            <a:solidFill>
              <a:srgbClr val="1F4E79"/>
            </a:solidFill>
          </p:spPr>
        </p:sp>
      </p:grpSp>
      <p:grpSp>
        <p:nvGrpSpPr>
          <p:cNvPr name="Group 6" id="6"/>
          <p:cNvGrpSpPr/>
          <p:nvPr/>
        </p:nvGrpSpPr>
        <p:grpSpPr>
          <a:xfrm rot="0">
            <a:off x="5682729" y="2443038"/>
            <a:ext cx="6555934" cy="517576"/>
            <a:chOff x="0" y="0"/>
            <a:chExt cx="6954876" cy="549072"/>
          </a:xfrm>
        </p:grpSpPr>
        <p:sp>
          <p:nvSpPr>
            <p:cNvPr name="Freeform 7" id="7"/>
            <p:cNvSpPr/>
            <p:nvPr/>
          </p:nvSpPr>
          <p:spPr>
            <a:xfrm flipH="false" flipV="false" rot="0">
              <a:off x="0" y="0"/>
              <a:ext cx="6954873" cy="549069"/>
            </a:xfrm>
            <a:custGeom>
              <a:avLst/>
              <a:gdLst/>
              <a:ahLst/>
              <a:cxnLst/>
              <a:rect r="r" b="b" t="t" l="l"/>
              <a:pathLst>
                <a:path h="549069" w="6954873">
                  <a:moveTo>
                    <a:pt x="0" y="0"/>
                  </a:moveTo>
                  <a:lnTo>
                    <a:pt x="6954873" y="0"/>
                  </a:lnTo>
                  <a:lnTo>
                    <a:pt x="6954873" y="549069"/>
                  </a:lnTo>
                  <a:lnTo>
                    <a:pt x="0" y="549069"/>
                  </a:lnTo>
                  <a:close/>
                </a:path>
              </a:pathLst>
            </a:custGeom>
            <a:blipFill>
              <a:blip r:embed="rId4">
                <a:alphaModFix amt="0"/>
              </a:blip>
              <a:stretch>
                <a:fillRect l="0" t="-196810" r="0" b="-196810"/>
              </a:stretch>
            </a:blipFill>
          </p:spPr>
        </p:sp>
        <p:sp>
          <p:nvSpPr>
            <p:cNvPr name="TextBox 8" id="8"/>
            <p:cNvSpPr txBox="true"/>
            <p:nvPr/>
          </p:nvSpPr>
          <p:spPr>
            <a:xfrm>
              <a:off x="0" y="0"/>
              <a:ext cx="6954876" cy="549072"/>
            </a:xfrm>
            <a:prstGeom prst="rect">
              <a:avLst/>
            </a:prstGeom>
          </p:spPr>
          <p:txBody>
            <a:bodyPr anchor="ctr" rtlCol="false" tIns="0" lIns="0" bIns="0" rIns="0"/>
            <a:lstStyle/>
            <a:p>
              <a:pPr algn="ctr">
                <a:lnSpc>
                  <a:spcPts val="1981"/>
                </a:lnSpc>
              </a:pPr>
              <a:r>
                <a:rPr lang="en-US" sz="1651" spc="300">
                  <a:solidFill>
                    <a:srgbClr val="9FB8D4"/>
                  </a:solidFill>
                  <a:latin typeface="Cabin"/>
                  <a:ea typeface="Cabin"/>
                  <a:cs typeface="Cabin"/>
                  <a:sym typeface="Cabin"/>
                </a:rPr>
                <a:t>PHẦN 5.3</a:t>
              </a:r>
            </a:p>
          </p:txBody>
        </p:sp>
      </p:grpSp>
      <p:grpSp>
        <p:nvGrpSpPr>
          <p:cNvPr name="Group 9" id="9"/>
          <p:cNvGrpSpPr/>
          <p:nvPr/>
        </p:nvGrpSpPr>
        <p:grpSpPr>
          <a:xfrm rot="0">
            <a:off x="5682729" y="2891599"/>
            <a:ext cx="6555934" cy="1293929"/>
            <a:chOff x="0" y="0"/>
            <a:chExt cx="6954876" cy="1372667"/>
          </a:xfrm>
        </p:grpSpPr>
        <p:sp>
          <p:nvSpPr>
            <p:cNvPr name="Freeform 10" id="10"/>
            <p:cNvSpPr/>
            <p:nvPr/>
          </p:nvSpPr>
          <p:spPr>
            <a:xfrm flipH="false" flipV="false" rot="0">
              <a:off x="0" y="0"/>
              <a:ext cx="6954873" cy="1372672"/>
            </a:xfrm>
            <a:custGeom>
              <a:avLst/>
              <a:gdLst/>
              <a:ahLst/>
              <a:cxnLst/>
              <a:rect r="r" b="b" t="t" l="l"/>
              <a:pathLst>
                <a:path h="1372672" w="6954873">
                  <a:moveTo>
                    <a:pt x="0" y="0"/>
                  </a:moveTo>
                  <a:lnTo>
                    <a:pt x="6954873" y="0"/>
                  </a:lnTo>
                  <a:lnTo>
                    <a:pt x="6954873" y="1372672"/>
                  </a:lnTo>
                  <a:lnTo>
                    <a:pt x="0" y="1372672"/>
                  </a:lnTo>
                  <a:close/>
                </a:path>
              </a:pathLst>
            </a:custGeom>
            <a:blipFill>
              <a:blip r:embed="rId4">
                <a:alphaModFix amt="0"/>
              </a:blip>
              <a:stretch>
                <a:fillRect l="0" t="-48724" r="0" b="-48724"/>
              </a:stretch>
            </a:blipFill>
          </p:spPr>
        </p:sp>
        <p:sp>
          <p:nvSpPr>
            <p:cNvPr name="TextBox 11" id="11"/>
            <p:cNvSpPr txBox="true"/>
            <p:nvPr/>
          </p:nvSpPr>
          <p:spPr>
            <a:xfrm>
              <a:off x="0" y="-9525"/>
              <a:ext cx="6954876" cy="1382192"/>
            </a:xfrm>
            <a:prstGeom prst="rect">
              <a:avLst/>
            </a:prstGeom>
          </p:spPr>
          <p:txBody>
            <a:bodyPr anchor="ctr" rtlCol="false" tIns="0" lIns="0" bIns="0" rIns="0"/>
            <a:lstStyle/>
            <a:p>
              <a:pPr algn="ctr">
                <a:lnSpc>
                  <a:spcPts val="6124"/>
                </a:lnSpc>
              </a:pPr>
              <a:r>
                <a:rPr lang="en-US" sz="5103" b="true">
                  <a:solidFill>
                    <a:srgbClr val="FFFFFF"/>
                  </a:solidFill>
                  <a:latin typeface="TT Rounds Condensed Bold"/>
                  <a:ea typeface="TT Rounds Condensed Bold"/>
                  <a:cs typeface="TT Rounds Condensed Bold"/>
                  <a:sym typeface="TT Rounds Condensed Bold"/>
                </a:rPr>
                <a:t>5.3</a:t>
              </a:r>
            </a:p>
          </p:txBody>
        </p:sp>
      </p:grpSp>
      <p:sp>
        <p:nvSpPr>
          <p:cNvPr name="TextBox 12" id="12"/>
          <p:cNvSpPr txBox="true"/>
          <p:nvPr/>
        </p:nvSpPr>
        <p:spPr>
          <a:xfrm rot="0">
            <a:off x="6056444" y="4235276"/>
            <a:ext cx="5808504" cy="1083222"/>
          </a:xfrm>
          <a:prstGeom prst="rect">
            <a:avLst/>
          </a:prstGeom>
        </p:spPr>
        <p:txBody>
          <a:bodyPr anchor="t" rtlCol="false" tIns="0" lIns="0" bIns="0" rIns="0">
            <a:spAutoFit/>
          </a:bodyPr>
          <a:lstStyle/>
          <a:p>
            <a:pPr algn="ctr">
              <a:lnSpc>
                <a:spcPts val="3396"/>
              </a:lnSpc>
            </a:pPr>
            <a:r>
              <a:rPr lang="en-US" sz="2830" b="true">
                <a:solidFill>
                  <a:srgbClr val="FFFFFF"/>
                </a:solidFill>
                <a:latin typeface="Cabin Bold"/>
                <a:ea typeface="Cabin Bold"/>
                <a:cs typeface="Cabin Bold"/>
                <a:sym typeface="Cabin Bold"/>
              </a:rPr>
              <a:t>Spark và MapReduce</a:t>
            </a:r>
          </a:p>
        </p:txBody>
      </p:sp>
      <p:sp>
        <p:nvSpPr>
          <p:cNvPr name="TextBox 13" id="13"/>
          <p:cNvSpPr txBox="true"/>
          <p:nvPr/>
        </p:nvSpPr>
        <p:spPr>
          <a:xfrm rot="0">
            <a:off x="6142699" y="5657700"/>
            <a:ext cx="5635983" cy="1610324"/>
          </a:xfrm>
          <a:prstGeom prst="rect">
            <a:avLst/>
          </a:prstGeom>
        </p:spPr>
        <p:txBody>
          <a:bodyPr anchor="t" rtlCol="false" tIns="0" lIns="0" bIns="0" rIns="0">
            <a:spAutoFit/>
          </a:bodyPr>
          <a:lstStyle/>
          <a:p>
            <a:pPr algn="ctr">
              <a:lnSpc>
                <a:spcPts val="2150"/>
              </a:lnSpc>
            </a:pPr>
            <a:r>
              <a:rPr lang="en-US" sz="1792">
                <a:solidFill>
                  <a:srgbClr val="D7E3F0"/>
                </a:solidFill>
                <a:latin typeface="Cabin"/>
                <a:ea typeface="Cabin"/>
                <a:cs typeface="Cabin"/>
                <a:sym typeface="Cabin"/>
              </a:rPr>
              <a:t>So sánh trực diện — không phải mọi workload Spark đều nhanh hơn</a:t>
            </a:r>
          </a:p>
        </p:txBody>
      </p:sp>
      <p:grpSp>
        <p:nvGrpSpPr>
          <p:cNvPr name="Group 14" id="14"/>
          <p:cNvGrpSpPr/>
          <p:nvPr/>
        </p:nvGrpSpPr>
        <p:grpSpPr>
          <a:xfrm rot="0">
            <a:off x="480431" y="9087088"/>
            <a:ext cx="1692916" cy="411804"/>
            <a:chOff x="0" y="0"/>
            <a:chExt cx="2257222" cy="549072"/>
          </a:xfrm>
        </p:grpSpPr>
        <p:sp>
          <p:nvSpPr>
            <p:cNvPr name="Freeform 15" id="15"/>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16" id="16"/>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5.1 MR→Spark</a:t>
              </a:r>
            </a:p>
          </p:txBody>
        </p:sp>
      </p:grpSp>
      <p:grpSp>
        <p:nvGrpSpPr>
          <p:cNvPr name="Group 17" id="17"/>
          <p:cNvGrpSpPr/>
          <p:nvPr/>
        </p:nvGrpSpPr>
        <p:grpSpPr>
          <a:xfrm rot="0">
            <a:off x="2214534" y="9087088"/>
            <a:ext cx="1692916" cy="411804"/>
            <a:chOff x="0" y="0"/>
            <a:chExt cx="2257222" cy="549072"/>
          </a:xfrm>
        </p:grpSpPr>
        <p:sp>
          <p:nvSpPr>
            <p:cNvPr name="Freeform 18" id="18"/>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19" id="19"/>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5.2 Spark</a:t>
              </a:r>
            </a:p>
          </p:txBody>
        </p:sp>
      </p:grpSp>
      <p:grpSp>
        <p:nvGrpSpPr>
          <p:cNvPr name="Group 20" id="20"/>
          <p:cNvGrpSpPr/>
          <p:nvPr/>
        </p:nvGrpSpPr>
        <p:grpSpPr>
          <a:xfrm rot="0">
            <a:off x="3948627" y="9087088"/>
            <a:ext cx="1692916" cy="411804"/>
            <a:chOff x="0" y="0"/>
            <a:chExt cx="2257222" cy="549072"/>
          </a:xfrm>
        </p:grpSpPr>
        <p:sp>
          <p:nvSpPr>
            <p:cNvPr name="Freeform 21" id="21"/>
            <p:cNvSpPr/>
            <p:nvPr/>
          </p:nvSpPr>
          <p:spPr>
            <a:xfrm flipH="false" flipV="false" rot="0">
              <a:off x="0" y="0"/>
              <a:ext cx="2257171" cy="549021"/>
            </a:xfrm>
            <a:custGeom>
              <a:avLst/>
              <a:gdLst/>
              <a:ahLst/>
              <a:cxnLst/>
              <a:rect r="r" b="b" t="t" l="l"/>
              <a:pathLst>
                <a:path h="549021" w="2257171">
                  <a:moveTo>
                    <a:pt x="0" y="0"/>
                  </a:moveTo>
                  <a:lnTo>
                    <a:pt x="2257171" y="0"/>
                  </a:lnTo>
                  <a:lnTo>
                    <a:pt x="2257171" y="549021"/>
                  </a:lnTo>
                  <a:lnTo>
                    <a:pt x="0" y="549021"/>
                  </a:lnTo>
                  <a:close/>
                </a:path>
              </a:pathLst>
            </a:custGeom>
            <a:solidFill>
              <a:srgbClr val="85B518"/>
            </a:solidFill>
          </p:spPr>
        </p:sp>
        <p:sp>
          <p:nvSpPr>
            <p:cNvPr name="TextBox 22" id="22"/>
            <p:cNvSpPr txBox="true"/>
            <p:nvPr/>
          </p:nvSpPr>
          <p:spPr>
            <a:xfrm>
              <a:off x="0" y="0"/>
              <a:ext cx="2257222" cy="549072"/>
            </a:xfrm>
            <a:prstGeom prst="rect">
              <a:avLst/>
            </a:prstGeom>
          </p:spPr>
          <p:txBody>
            <a:bodyPr anchor="ctr" rtlCol="false" tIns="50800" lIns="50800" bIns="50800" rIns="50800"/>
            <a:lstStyle/>
            <a:p>
              <a:pPr algn="ctr">
                <a:lnSpc>
                  <a:spcPts val="1170"/>
                </a:lnSpc>
              </a:pPr>
              <a:r>
                <a:rPr lang="en-US" sz="975" b="true">
                  <a:solidFill>
                    <a:srgbClr val="FFFFFF"/>
                  </a:solidFill>
                  <a:latin typeface="Cabin Bold"/>
                  <a:ea typeface="Cabin Bold"/>
                  <a:cs typeface="Cabin Bold"/>
                  <a:sym typeface="Cabin Bold"/>
                </a:rPr>
                <a:t>5.3 So sánh</a:t>
              </a:r>
            </a:p>
          </p:txBody>
        </p:sp>
      </p:grpSp>
      <p:grpSp>
        <p:nvGrpSpPr>
          <p:cNvPr name="Group 23" id="23"/>
          <p:cNvGrpSpPr/>
          <p:nvPr/>
        </p:nvGrpSpPr>
        <p:grpSpPr>
          <a:xfrm rot="0">
            <a:off x="5682729" y="9087088"/>
            <a:ext cx="1692916" cy="411804"/>
            <a:chOff x="0" y="0"/>
            <a:chExt cx="2257222" cy="549072"/>
          </a:xfrm>
        </p:grpSpPr>
        <p:sp>
          <p:nvSpPr>
            <p:cNvPr name="Freeform 24" id="24"/>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25" id="25"/>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5.4 Kiến trúc</a:t>
              </a:r>
            </a:p>
          </p:txBody>
        </p:sp>
      </p:grpSp>
      <p:grpSp>
        <p:nvGrpSpPr>
          <p:cNvPr name="Group 26" id="26"/>
          <p:cNvGrpSpPr/>
          <p:nvPr/>
        </p:nvGrpSpPr>
        <p:grpSpPr>
          <a:xfrm rot="0">
            <a:off x="7416822" y="9087088"/>
            <a:ext cx="1692916" cy="411804"/>
            <a:chOff x="0" y="0"/>
            <a:chExt cx="2257222" cy="549072"/>
          </a:xfrm>
        </p:grpSpPr>
        <p:sp>
          <p:nvSpPr>
            <p:cNvPr name="Freeform 27" id="27"/>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28" id="28"/>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5.5 Thực thi</a:t>
              </a:r>
            </a:p>
          </p:txBody>
        </p:sp>
      </p:grpSp>
      <p:grpSp>
        <p:nvGrpSpPr>
          <p:cNvPr name="Group 29" id="29"/>
          <p:cNvGrpSpPr/>
          <p:nvPr/>
        </p:nvGrpSpPr>
        <p:grpSpPr>
          <a:xfrm rot="0">
            <a:off x="9150925" y="9087088"/>
            <a:ext cx="1692916" cy="411804"/>
            <a:chOff x="0" y="0"/>
            <a:chExt cx="2257222" cy="549072"/>
          </a:xfrm>
        </p:grpSpPr>
        <p:sp>
          <p:nvSpPr>
            <p:cNvPr name="Freeform 30" id="30"/>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31" id="31"/>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5.6 Transform/Action</a:t>
              </a:r>
            </a:p>
          </p:txBody>
        </p:sp>
      </p:grpSp>
      <p:grpSp>
        <p:nvGrpSpPr>
          <p:cNvPr name="Group 32" id="32"/>
          <p:cNvGrpSpPr/>
          <p:nvPr/>
        </p:nvGrpSpPr>
        <p:grpSpPr>
          <a:xfrm rot="0">
            <a:off x="10885018" y="9087088"/>
            <a:ext cx="1692916" cy="411804"/>
            <a:chOff x="0" y="0"/>
            <a:chExt cx="2257222" cy="549072"/>
          </a:xfrm>
        </p:grpSpPr>
        <p:sp>
          <p:nvSpPr>
            <p:cNvPr name="Freeform 33" id="33"/>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34" id="34"/>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5.7 Partition</a:t>
              </a:r>
            </a:p>
          </p:txBody>
        </p:sp>
      </p:grpSp>
      <p:grpSp>
        <p:nvGrpSpPr>
          <p:cNvPr name="Group 35" id="35"/>
          <p:cNvGrpSpPr/>
          <p:nvPr/>
        </p:nvGrpSpPr>
        <p:grpSpPr>
          <a:xfrm rot="0">
            <a:off x="12619111" y="9087088"/>
            <a:ext cx="1692916" cy="411804"/>
            <a:chOff x="0" y="0"/>
            <a:chExt cx="2257222" cy="549072"/>
          </a:xfrm>
        </p:grpSpPr>
        <p:sp>
          <p:nvSpPr>
            <p:cNvPr name="Freeform 36" id="36"/>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37" id="37"/>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5.8 RDD/DF</a:t>
              </a:r>
            </a:p>
          </p:txBody>
        </p:sp>
      </p:grpSp>
      <p:grpSp>
        <p:nvGrpSpPr>
          <p:cNvPr name="Group 38" id="38"/>
          <p:cNvGrpSpPr/>
          <p:nvPr/>
        </p:nvGrpSpPr>
        <p:grpSpPr>
          <a:xfrm rot="0">
            <a:off x="14353213" y="9087088"/>
            <a:ext cx="1692916" cy="411804"/>
            <a:chOff x="0" y="0"/>
            <a:chExt cx="2257222" cy="549072"/>
          </a:xfrm>
        </p:grpSpPr>
        <p:sp>
          <p:nvSpPr>
            <p:cNvPr name="Freeform 39" id="39"/>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40" id="40"/>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5.9 PySpark</a:t>
              </a:r>
            </a:p>
          </p:txBody>
        </p:sp>
      </p:grpSp>
      <p:grpSp>
        <p:nvGrpSpPr>
          <p:cNvPr name="Group 41" id="41"/>
          <p:cNvGrpSpPr/>
          <p:nvPr/>
        </p:nvGrpSpPr>
        <p:grpSpPr>
          <a:xfrm rot="0">
            <a:off x="16087306" y="9087088"/>
            <a:ext cx="1692916" cy="411804"/>
            <a:chOff x="0" y="0"/>
            <a:chExt cx="2257222" cy="549072"/>
          </a:xfrm>
        </p:grpSpPr>
        <p:sp>
          <p:nvSpPr>
            <p:cNvPr name="Freeform 42" id="42"/>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43" id="43"/>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TH Thực hành</a:t>
              </a:r>
            </a:p>
          </p:txBody>
        </p:sp>
      </p:grpSp>
      <p:grpSp>
        <p:nvGrpSpPr>
          <p:cNvPr name="Group 44" id="44"/>
          <p:cNvGrpSpPr/>
          <p:nvPr/>
        </p:nvGrpSpPr>
        <p:grpSpPr>
          <a:xfrm rot="0">
            <a:off x="0" y="9677343"/>
            <a:ext cx="18301840" cy="617706"/>
            <a:chOff x="0" y="0"/>
            <a:chExt cx="24402453" cy="823608"/>
          </a:xfrm>
        </p:grpSpPr>
        <p:sp>
          <p:nvSpPr>
            <p:cNvPr name="Freeform 45" id="45"/>
            <p:cNvSpPr/>
            <p:nvPr/>
          </p:nvSpPr>
          <p:spPr>
            <a:xfrm flipH="false" flipV="false" rot="0">
              <a:off x="0" y="0"/>
              <a:ext cx="24402414" cy="823595"/>
            </a:xfrm>
            <a:custGeom>
              <a:avLst/>
              <a:gdLst/>
              <a:ahLst/>
              <a:cxnLst/>
              <a:rect r="r" b="b" t="t" l="l"/>
              <a:pathLst>
                <a:path h="823595" w="24402414">
                  <a:moveTo>
                    <a:pt x="0" y="0"/>
                  </a:moveTo>
                  <a:lnTo>
                    <a:pt x="24402414" y="0"/>
                  </a:lnTo>
                  <a:lnTo>
                    <a:pt x="24402414" y="823595"/>
                  </a:lnTo>
                  <a:lnTo>
                    <a:pt x="0" y="823595"/>
                  </a:lnTo>
                  <a:close/>
                </a:path>
              </a:pathLst>
            </a:custGeom>
            <a:solidFill>
              <a:srgbClr val="1F4E79"/>
            </a:solidFill>
          </p:spPr>
        </p:sp>
      </p:grpSp>
      <p:grpSp>
        <p:nvGrpSpPr>
          <p:cNvPr name="Group 46" id="46"/>
          <p:cNvGrpSpPr/>
          <p:nvPr/>
        </p:nvGrpSpPr>
        <p:grpSpPr>
          <a:xfrm rot="0">
            <a:off x="480431" y="9677343"/>
            <a:ext cx="10981382" cy="617706"/>
            <a:chOff x="0" y="0"/>
            <a:chExt cx="14641843" cy="823608"/>
          </a:xfrm>
        </p:grpSpPr>
        <p:sp>
          <p:nvSpPr>
            <p:cNvPr name="Freeform 47" id="47"/>
            <p:cNvSpPr/>
            <p:nvPr/>
          </p:nvSpPr>
          <p:spPr>
            <a:xfrm flipH="false" flipV="false" rot="0">
              <a:off x="0" y="0"/>
              <a:ext cx="14641840" cy="823603"/>
            </a:xfrm>
            <a:custGeom>
              <a:avLst/>
              <a:gdLst/>
              <a:ahLst/>
              <a:cxnLst/>
              <a:rect r="r" b="b" t="t" l="l"/>
              <a:pathLst>
                <a:path h="823603" w="14641840">
                  <a:moveTo>
                    <a:pt x="0" y="0"/>
                  </a:moveTo>
                  <a:lnTo>
                    <a:pt x="14641840" y="0"/>
                  </a:lnTo>
                  <a:lnTo>
                    <a:pt x="14641840" y="823603"/>
                  </a:lnTo>
                  <a:lnTo>
                    <a:pt x="0" y="823603"/>
                  </a:lnTo>
                  <a:close/>
                </a:path>
              </a:pathLst>
            </a:custGeom>
            <a:blipFill>
              <a:blip r:embed="rId4">
                <a:alphaModFix amt="0"/>
              </a:blip>
              <a:stretch>
                <a:fillRect l="0" t="-296400" r="0" b="-296401"/>
              </a:stretch>
            </a:blipFill>
          </p:spPr>
        </p:sp>
        <p:sp>
          <p:nvSpPr>
            <p:cNvPr name="TextBox 48" id="48"/>
            <p:cNvSpPr txBox="true"/>
            <p:nvPr/>
          </p:nvSpPr>
          <p:spPr>
            <a:xfrm>
              <a:off x="0" y="0"/>
              <a:ext cx="14641843" cy="823608"/>
            </a:xfrm>
            <a:prstGeom prst="rect">
              <a:avLst/>
            </a:prstGeom>
          </p:spPr>
          <p:txBody>
            <a:bodyPr anchor="ctr" rtlCol="false" tIns="0" lIns="0" bIns="0" rIns="0"/>
            <a:lstStyle/>
            <a:p>
              <a:pPr algn="l">
                <a:lnSpc>
                  <a:spcPts val="1621"/>
                </a:lnSpc>
              </a:pPr>
              <a:r>
                <a:rPr lang="en-US" sz="1351">
                  <a:solidFill>
                    <a:srgbClr val="FFFFFF"/>
                  </a:solidFill>
                  <a:latin typeface="Cabin"/>
                  <a:ea typeface="Cabin"/>
                  <a:cs typeface="Cabin"/>
                  <a:sym typeface="Cabin"/>
                </a:rPr>
                <a:t>VNU UET – Institute for Artificial Intelligence</a:t>
              </a:r>
            </a:p>
          </p:txBody>
        </p:sp>
      </p:grpSp>
      <p:grpSp>
        <p:nvGrpSpPr>
          <p:cNvPr name="Group 49" id="49"/>
          <p:cNvGrpSpPr/>
          <p:nvPr/>
        </p:nvGrpSpPr>
        <p:grpSpPr>
          <a:xfrm rot="0">
            <a:off x="17066438" y="9677343"/>
            <a:ext cx="823608" cy="617706"/>
            <a:chOff x="0" y="0"/>
            <a:chExt cx="1098144" cy="823608"/>
          </a:xfrm>
        </p:grpSpPr>
        <p:sp>
          <p:nvSpPr>
            <p:cNvPr name="Freeform 50" id="50"/>
            <p:cNvSpPr/>
            <p:nvPr/>
          </p:nvSpPr>
          <p:spPr>
            <a:xfrm flipH="false" flipV="false" rot="0">
              <a:off x="0" y="0"/>
              <a:ext cx="1098138" cy="823603"/>
            </a:xfrm>
            <a:custGeom>
              <a:avLst/>
              <a:gdLst/>
              <a:ahLst/>
              <a:cxnLst/>
              <a:rect r="r" b="b" t="t" l="l"/>
              <a:pathLst>
                <a:path h="823603" w="1098138">
                  <a:moveTo>
                    <a:pt x="0" y="0"/>
                  </a:moveTo>
                  <a:lnTo>
                    <a:pt x="1098138" y="0"/>
                  </a:lnTo>
                  <a:lnTo>
                    <a:pt x="1098138" y="823603"/>
                  </a:lnTo>
                  <a:lnTo>
                    <a:pt x="0" y="823603"/>
                  </a:lnTo>
                  <a:close/>
                </a:path>
              </a:pathLst>
            </a:custGeom>
            <a:blipFill>
              <a:blip r:embed="rId4">
                <a:alphaModFix amt="0"/>
              </a:blip>
              <a:stretch>
                <a:fillRect l="-46227" t="0" r="-46228" b="0"/>
              </a:stretch>
            </a:blipFill>
          </p:spPr>
        </p:sp>
        <p:sp>
          <p:nvSpPr>
            <p:cNvPr name="TextBox 51" id="51"/>
            <p:cNvSpPr txBox="true"/>
            <p:nvPr/>
          </p:nvSpPr>
          <p:spPr>
            <a:xfrm>
              <a:off x="0" y="0"/>
              <a:ext cx="1098144" cy="823608"/>
            </a:xfrm>
            <a:prstGeom prst="rect">
              <a:avLst/>
            </a:prstGeom>
          </p:spPr>
          <p:txBody>
            <a:bodyPr anchor="ctr" rtlCol="false" tIns="0" lIns="0" bIns="0" rIns="0"/>
            <a:lstStyle/>
            <a:p>
              <a:pPr algn="r">
                <a:lnSpc>
                  <a:spcPts val="1621"/>
                </a:lnSpc>
              </a:pPr>
              <a:r>
                <a:rPr lang="en-US" sz="1351">
                  <a:solidFill>
                    <a:srgbClr val="FFFFFF"/>
                  </a:solidFill>
                  <a:latin typeface="Cabin"/>
                  <a:ea typeface="Cabin"/>
                  <a:cs typeface="Cabin"/>
                  <a:sym typeface="Cabin"/>
                </a:rPr>
                <a:t>9</a:t>
              </a:r>
            </a:p>
          </p:txBody>
        </p:sp>
      </p:grpSp>
      <p:grpSp>
        <p:nvGrpSpPr>
          <p:cNvPr name="Group 52" id="52"/>
          <p:cNvGrpSpPr/>
          <p:nvPr/>
        </p:nvGrpSpPr>
        <p:grpSpPr>
          <a:xfrm rot="0">
            <a:off x="0" y="0"/>
            <a:ext cx="18288000" cy="315468"/>
            <a:chOff x="0" y="0"/>
            <a:chExt cx="24384000" cy="420624"/>
          </a:xfrm>
        </p:grpSpPr>
        <p:sp>
          <p:nvSpPr>
            <p:cNvPr name="Freeform 53" id="53"/>
            <p:cNvSpPr/>
            <p:nvPr/>
          </p:nvSpPr>
          <p:spPr>
            <a:xfrm flipH="false" flipV="false" rot="0">
              <a:off x="0" y="0"/>
              <a:ext cx="24384000" cy="420624"/>
            </a:xfrm>
            <a:custGeom>
              <a:avLst/>
              <a:gdLst/>
              <a:ahLst/>
              <a:cxnLst/>
              <a:rect r="r" b="b" t="t" l="l"/>
              <a:pathLst>
                <a:path h="420624" w="24384000">
                  <a:moveTo>
                    <a:pt x="0" y="0"/>
                  </a:moveTo>
                  <a:lnTo>
                    <a:pt x="24384000" y="0"/>
                  </a:lnTo>
                  <a:lnTo>
                    <a:pt x="24384000" y="420624"/>
                  </a:lnTo>
                  <a:lnTo>
                    <a:pt x="0" y="420624"/>
                  </a:lnTo>
                  <a:close/>
                </a:path>
              </a:pathLst>
            </a:custGeom>
            <a:solidFill>
              <a:srgbClr val="0F3F6F"/>
            </a:solidFill>
          </p:spPr>
        </p:sp>
      </p:grpSp>
      <p:grpSp>
        <p:nvGrpSpPr>
          <p:cNvPr name="Group 54" id="54"/>
          <p:cNvGrpSpPr/>
          <p:nvPr/>
        </p:nvGrpSpPr>
        <p:grpSpPr>
          <a:xfrm rot="0">
            <a:off x="13098780" y="0"/>
            <a:ext cx="1453896" cy="1508760"/>
            <a:chOff x="0" y="0"/>
            <a:chExt cx="1938528" cy="2011680"/>
          </a:xfrm>
        </p:grpSpPr>
        <p:sp>
          <p:nvSpPr>
            <p:cNvPr name="Freeform 55" id="55"/>
            <p:cNvSpPr/>
            <p:nvPr/>
          </p:nvSpPr>
          <p:spPr>
            <a:xfrm flipH="false" flipV="false" rot="0">
              <a:off x="0" y="0"/>
              <a:ext cx="1938528" cy="2011680"/>
            </a:xfrm>
            <a:custGeom>
              <a:avLst/>
              <a:gdLst/>
              <a:ahLst/>
              <a:cxnLst/>
              <a:rect r="r" b="b" t="t" l="l"/>
              <a:pathLst>
                <a:path h="2011680" w="1938528">
                  <a:moveTo>
                    <a:pt x="0" y="2011680"/>
                  </a:moveTo>
                  <a:lnTo>
                    <a:pt x="484632" y="0"/>
                  </a:lnTo>
                  <a:lnTo>
                    <a:pt x="1938528" y="0"/>
                  </a:lnTo>
                  <a:lnTo>
                    <a:pt x="1453896" y="2011680"/>
                  </a:lnTo>
                  <a:close/>
                </a:path>
              </a:pathLst>
            </a:custGeom>
            <a:solidFill>
              <a:srgbClr val="85B518"/>
            </a:solidFill>
          </p:spPr>
        </p:sp>
      </p:grpSp>
      <p:grpSp>
        <p:nvGrpSpPr>
          <p:cNvPr name="Group 56" id="56"/>
          <p:cNvGrpSpPr/>
          <p:nvPr/>
        </p:nvGrpSpPr>
        <p:grpSpPr>
          <a:xfrm rot="0">
            <a:off x="14621256" y="0"/>
            <a:ext cx="1508760" cy="1508760"/>
            <a:chOff x="0" y="0"/>
            <a:chExt cx="2011680" cy="2011680"/>
          </a:xfrm>
        </p:grpSpPr>
        <p:sp>
          <p:nvSpPr>
            <p:cNvPr name="Freeform 57" id="57"/>
            <p:cNvSpPr/>
            <p:nvPr/>
          </p:nvSpPr>
          <p:spPr>
            <a:xfrm flipH="false" flipV="false" rot="0">
              <a:off x="0" y="0"/>
              <a:ext cx="2011680" cy="2011680"/>
            </a:xfrm>
            <a:custGeom>
              <a:avLst/>
              <a:gdLst/>
              <a:ahLst/>
              <a:cxnLst/>
              <a:rect r="r" b="b" t="t" l="l"/>
              <a:pathLst>
                <a:path h="2011680" w="2011680">
                  <a:moveTo>
                    <a:pt x="0" y="2011680"/>
                  </a:moveTo>
                  <a:lnTo>
                    <a:pt x="502920" y="0"/>
                  </a:lnTo>
                  <a:lnTo>
                    <a:pt x="2011680" y="0"/>
                  </a:lnTo>
                  <a:lnTo>
                    <a:pt x="1508760" y="2011680"/>
                  </a:lnTo>
                  <a:close/>
                </a:path>
              </a:pathLst>
            </a:custGeom>
            <a:solidFill>
              <a:srgbClr val="0F3F6F"/>
            </a:solid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97801" y="384353"/>
            <a:ext cx="851059" cy="851059"/>
            <a:chOff x="0" y="0"/>
            <a:chExt cx="1134745" cy="1134745"/>
          </a:xfrm>
        </p:grpSpPr>
        <p:sp>
          <p:nvSpPr>
            <p:cNvPr name="Freeform 3" id="3" descr="/home/claude/work/assets/logo.png"/>
            <p:cNvSpPr/>
            <p:nvPr/>
          </p:nvSpPr>
          <p:spPr>
            <a:xfrm flipH="false" flipV="false" rot="0">
              <a:off x="0" y="0"/>
              <a:ext cx="1134745" cy="1134745"/>
            </a:xfrm>
            <a:custGeom>
              <a:avLst/>
              <a:gdLst/>
              <a:ahLst/>
              <a:cxnLst/>
              <a:rect r="r" b="b" t="t" l="l"/>
              <a:pathLst>
                <a:path h="1134745" w="1134745">
                  <a:moveTo>
                    <a:pt x="0" y="0"/>
                  </a:moveTo>
                  <a:lnTo>
                    <a:pt x="1134745" y="0"/>
                  </a:lnTo>
                  <a:lnTo>
                    <a:pt x="1134745" y="1134745"/>
                  </a:lnTo>
                  <a:lnTo>
                    <a:pt x="0" y="1134745"/>
                  </a:lnTo>
                  <a:lnTo>
                    <a:pt x="0" y="0"/>
                  </a:lnTo>
                  <a:close/>
                </a:path>
              </a:pathLst>
            </a:custGeom>
            <a:blipFill>
              <a:blip r:embed="rId3"/>
              <a:stretch>
                <a:fillRect l="0" t="0" r="0" b="0"/>
              </a:stretch>
            </a:blipFill>
          </p:spPr>
        </p:sp>
      </p:grpSp>
      <p:grpSp>
        <p:nvGrpSpPr>
          <p:cNvPr name="Group 4" id="4"/>
          <p:cNvGrpSpPr/>
          <p:nvPr/>
        </p:nvGrpSpPr>
        <p:grpSpPr>
          <a:xfrm rot="0">
            <a:off x="686333" y="384353"/>
            <a:ext cx="10981382" cy="411804"/>
            <a:chOff x="0" y="0"/>
            <a:chExt cx="14641843" cy="549072"/>
          </a:xfrm>
        </p:grpSpPr>
        <p:sp>
          <p:nvSpPr>
            <p:cNvPr name="Freeform 5" id="5"/>
            <p:cNvSpPr/>
            <p:nvPr/>
          </p:nvSpPr>
          <p:spPr>
            <a:xfrm flipH="false" flipV="false" rot="0">
              <a:off x="0" y="0"/>
              <a:ext cx="14641840" cy="549069"/>
            </a:xfrm>
            <a:custGeom>
              <a:avLst/>
              <a:gdLst/>
              <a:ahLst/>
              <a:cxnLst/>
              <a:rect r="r" b="b" t="t" l="l"/>
              <a:pathLst>
                <a:path h="549069" w="14641840">
                  <a:moveTo>
                    <a:pt x="0" y="0"/>
                  </a:moveTo>
                  <a:lnTo>
                    <a:pt x="14641840" y="0"/>
                  </a:lnTo>
                  <a:lnTo>
                    <a:pt x="14641840" y="549069"/>
                  </a:lnTo>
                  <a:lnTo>
                    <a:pt x="0" y="549069"/>
                  </a:lnTo>
                  <a:close/>
                </a:path>
              </a:pathLst>
            </a:custGeom>
            <a:blipFill>
              <a:blip r:embed="rId4">
                <a:alphaModFix amt="0"/>
              </a:blip>
              <a:stretch>
                <a:fillRect l="0" t="-469600" r="0" b="-469601"/>
              </a:stretch>
            </a:blipFill>
          </p:spPr>
        </p:sp>
        <p:sp>
          <p:nvSpPr>
            <p:cNvPr name="TextBox 6" id="6"/>
            <p:cNvSpPr txBox="true"/>
            <p:nvPr/>
          </p:nvSpPr>
          <p:spPr>
            <a:xfrm>
              <a:off x="0" y="0"/>
              <a:ext cx="14641843" cy="549072"/>
            </a:xfrm>
            <a:prstGeom prst="rect">
              <a:avLst/>
            </a:prstGeom>
          </p:spPr>
          <p:txBody>
            <a:bodyPr anchor="ctr" rtlCol="false" tIns="0" lIns="0" bIns="0" rIns="0"/>
            <a:lstStyle/>
            <a:p>
              <a:pPr algn="l">
                <a:lnSpc>
                  <a:spcPts val="1981"/>
                </a:lnSpc>
              </a:pPr>
              <a:r>
                <a:rPr lang="en-US" sz="1651" i="true">
                  <a:solidFill>
                    <a:srgbClr val="4A4A4A"/>
                  </a:solidFill>
                  <a:latin typeface="Cabin Italics"/>
                  <a:ea typeface="Cabin Italics"/>
                  <a:cs typeface="Cabin Italics"/>
                  <a:sym typeface="Cabin Italics"/>
                </a:rPr>
                <a:t>5.3. Spark và MapReduce · Bài 05</a:t>
              </a:r>
            </a:p>
          </p:txBody>
        </p:sp>
      </p:grpSp>
      <p:grpSp>
        <p:nvGrpSpPr>
          <p:cNvPr name="Group 7" id="7"/>
          <p:cNvGrpSpPr/>
          <p:nvPr/>
        </p:nvGrpSpPr>
        <p:grpSpPr>
          <a:xfrm rot="0">
            <a:off x="674418" y="839143"/>
            <a:ext cx="710165" cy="710165"/>
            <a:chOff x="0" y="0"/>
            <a:chExt cx="946887" cy="946887"/>
          </a:xfrm>
        </p:grpSpPr>
        <p:sp>
          <p:nvSpPr>
            <p:cNvPr name="Freeform 8" id="8"/>
            <p:cNvSpPr/>
            <p:nvPr/>
          </p:nvSpPr>
          <p:spPr>
            <a:xfrm flipH="false" flipV="false" rot="0">
              <a:off x="0" y="0"/>
              <a:ext cx="946912" cy="946912"/>
            </a:xfrm>
            <a:custGeom>
              <a:avLst/>
              <a:gdLst/>
              <a:ahLst/>
              <a:cxnLst/>
              <a:rect r="r" b="b" t="t" l="l"/>
              <a:pathLst>
                <a:path h="946912" w="946912">
                  <a:moveTo>
                    <a:pt x="0" y="473456"/>
                  </a:moveTo>
                  <a:cubicBezTo>
                    <a:pt x="0" y="211963"/>
                    <a:pt x="211963" y="0"/>
                    <a:pt x="473456" y="0"/>
                  </a:cubicBezTo>
                  <a:cubicBezTo>
                    <a:pt x="734949" y="0"/>
                    <a:pt x="946912" y="211963"/>
                    <a:pt x="946912" y="473456"/>
                  </a:cubicBezTo>
                  <a:cubicBezTo>
                    <a:pt x="946912" y="734949"/>
                    <a:pt x="734949" y="946912"/>
                    <a:pt x="473456" y="946912"/>
                  </a:cubicBezTo>
                  <a:cubicBezTo>
                    <a:pt x="211963" y="946912"/>
                    <a:pt x="0" y="734949"/>
                    <a:pt x="0" y="473456"/>
                  </a:cubicBezTo>
                  <a:close/>
                </a:path>
              </a:pathLst>
            </a:custGeom>
            <a:solidFill>
              <a:srgbClr val="FFFFFF"/>
            </a:solidFill>
            <a:ln w="23831" cap="sq">
              <a:solidFill>
                <a:srgbClr val="1F4E79"/>
              </a:solidFill>
              <a:prstDash val="solid"/>
              <a:miter/>
            </a:ln>
          </p:spPr>
        </p:sp>
      </p:grpSp>
      <p:grpSp>
        <p:nvGrpSpPr>
          <p:cNvPr name="Group 9" id="9"/>
          <p:cNvGrpSpPr/>
          <p:nvPr/>
        </p:nvGrpSpPr>
        <p:grpSpPr>
          <a:xfrm rot="0">
            <a:off x="686333" y="851059"/>
            <a:ext cx="686333" cy="686333"/>
            <a:chOff x="0" y="0"/>
            <a:chExt cx="915111" cy="915111"/>
          </a:xfrm>
        </p:grpSpPr>
        <p:sp>
          <p:nvSpPr>
            <p:cNvPr name="Freeform 10" id="10"/>
            <p:cNvSpPr/>
            <p:nvPr/>
          </p:nvSpPr>
          <p:spPr>
            <a:xfrm flipH="false" flipV="false" rot="0">
              <a:off x="0" y="0"/>
              <a:ext cx="915115" cy="915115"/>
            </a:xfrm>
            <a:custGeom>
              <a:avLst/>
              <a:gdLst/>
              <a:ahLst/>
              <a:cxnLst/>
              <a:rect r="r" b="b" t="t" l="l"/>
              <a:pathLst>
                <a:path h="915115" w="915115">
                  <a:moveTo>
                    <a:pt x="0" y="0"/>
                  </a:moveTo>
                  <a:lnTo>
                    <a:pt x="915115" y="0"/>
                  </a:lnTo>
                  <a:lnTo>
                    <a:pt x="915115" y="915115"/>
                  </a:lnTo>
                  <a:lnTo>
                    <a:pt x="0" y="915115"/>
                  </a:lnTo>
                  <a:close/>
                </a:path>
              </a:pathLst>
            </a:custGeom>
            <a:blipFill>
              <a:blip r:embed="rId4">
                <a:alphaModFix amt="0"/>
              </a:blip>
              <a:stretch>
                <a:fillRect l="-78303" t="0" r="-78302" b="0"/>
              </a:stretch>
            </a:blipFill>
          </p:spPr>
        </p:sp>
        <p:sp>
          <p:nvSpPr>
            <p:cNvPr name="TextBox 11" id="11"/>
            <p:cNvSpPr txBox="true"/>
            <p:nvPr/>
          </p:nvSpPr>
          <p:spPr>
            <a:xfrm>
              <a:off x="0" y="0"/>
              <a:ext cx="915111" cy="915111"/>
            </a:xfrm>
            <a:prstGeom prst="rect">
              <a:avLst/>
            </a:prstGeom>
          </p:spPr>
          <p:txBody>
            <a:bodyPr anchor="ctr" rtlCol="false" tIns="0" lIns="0" bIns="0" rIns="0"/>
            <a:lstStyle/>
            <a:p>
              <a:pPr algn="ctr">
                <a:lnSpc>
                  <a:spcPts val="2521"/>
                </a:lnSpc>
              </a:pPr>
              <a:r>
                <a:rPr lang="en-US" sz="2101" b="true">
                  <a:solidFill>
                    <a:srgbClr val="1F4E79"/>
                  </a:solidFill>
                  <a:latin typeface="Cabin Bold"/>
                  <a:ea typeface="Cabin Bold"/>
                  <a:cs typeface="Cabin Bold"/>
                  <a:sym typeface="Cabin Bold"/>
                </a:rPr>
                <a:t>03</a:t>
              </a:r>
            </a:p>
          </p:txBody>
        </p:sp>
      </p:grpSp>
      <p:grpSp>
        <p:nvGrpSpPr>
          <p:cNvPr name="Group 12" id="12"/>
          <p:cNvGrpSpPr/>
          <p:nvPr/>
        </p:nvGrpSpPr>
        <p:grpSpPr>
          <a:xfrm rot="0">
            <a:off x="1578569" y="823608"/>
            <a:ext cx="82363" cy="754971"/>
            <a:chOff x="0" y="0"/>
            <a:chExt cx="109817" cy="1006627"/>
          </a:xfrm>
        </p:grpSpPr>
        <p:sp>
          <p:nvSpPr>
            <p:cNvPr name="Freeform 13" id="13"/>
            <p:cNvSpPr/>
            <p:nvPr/>
          </p:nvSpPr>
          <p:spPr>
            <a:xfrm flipH="false" flipV="false" rot="0">
              <a:off x="0" y="0"/>
              <a:ext cx="109855" cy="1006602"/>
            </a:xfrm>
            <a:custGeom>
              <a:avLst/>
              <a:gdLst/>
              <a:ahLst/>
              <a:cxnLst/>
              <a:rect r="r" b="b" t="t" l="l"/>
              <a:pathLst>
                <a:path h="1006602" w="109855">
                  <a:moveTo>
                    <a:pt x="0" y="0"/>
                  </a:moveTo>
                  <a:lnTo>
                    <a:pt x="109855" y="0"/>
                  </a:lnTo>
                  <a:lnTo>
                    <a:pt x="109855" y="1006602"/>
                  </a:lnTo>
                  <a:lnTo>
                    <a:pt x="0" y="1006602"/>
                  </a:lnTo>
                  <a:close/>
                </a:path>
              </a:pathLst>
            </a:custGeom>
            <a:solidFill>
              <a:srgbClr val="85B518"/>
            </a:solidFill>
          </p:spPr>
        </p:sp>
      </p:grpSp>
      <p:grpSp>
        <p:nvGrpSpPr>
          <p:cNvPr name="Group 14" id="14"/>
          <p:cNvGrpSpPr/>
          <p:nvPr/>
        </p:nvGrpSpPr>
        <p:grpSpPr>
          <a:xfrm rot="0">
            <a:off x="1853108" y="796147"/>
            <a:ext cx="14938791" cy="823608"/>
            <a:chOff x="0" y="0"/>
            <a:chExt cx="19918388" cy="1098144"/>
          </a:xfrm>
        </p:grpSpPr>
        <p:sp>
          <p:nvSpPr>
            <p:cNvPr name="Freeform 15" id="15"/>
            <p:cNvSpPr/>
            <p:nvPr/>
          </p:nvSpPr>
          <p:spPr>
            <a:xfrm flipH="false" flipV="false" rot="0">
              <a:off x="0" y="0"/>
              <a:ext cx="19918392" cy="1098138"/>
            </a:xfrm>
            <a:custGeom>
              <a:avLst/>
              <a:gdLst/>
              <a:ahLst/>
              <a:cxnLst/>
              <a:rect r="r" b="b" t="t" l="l"/>
              <a:pathLst>
                <a:path h="1098138" w="19918392">
                  <a:moveTo>
                    <a:pt x="0" y="0"/>
                  </a:moveTo>
                  <a:lnTo>
                    <a:pt x="19918392" y="0"/>
                  </a:lnTo>
                  <a:lnTo>
                    <a:pt x="19918392" y="1098138"/>
                  </a:lnTo>
                  <a:lnTo>
                    <a:pt x="0" y="1098138"/>
                  </a:lnTo>
                  <a:close/>
                </a:path>
              </a:pathLst>
            </a:custGeom>
            <a:blipFill>
              <a:blip r:embed="rId4">
                <a:alphaModFix amt="0"/>
              </a:blip>
              <a:stretch>
                <a:fillRect l="0" t="-303425" r="0" b="-303426"/>
              </a:stretch>
            </a:blipFill>
          </p:spPr>
        </p:sp>
        <p:sp>
          <p:nvSpPr>
            <p:cNvPr name="TextBox 16" id="16"/>
            <p:cNvSpPr txBox="true"/>
            <p:nvPr/>
          </p:nvSpPr>
          <p:spPr>
            <a:xfrm>
              <a:off x="0" y="0"/>
              <a:ext cx="19918388" cy="1098144"/>
            </a:xfrm>
            <a:prstGeom prst="rect">
              <a:avLst/>
            </a:prstGeom>
          </p:spPr>
          <p:txBody>
            <a:bodyPr anchor="ctr" rtlCol="false" tIns="0" lIns="0" bIns="0" rIns="0"/>
            <a:lstStyle/>
            <a:p>
              <a:pPr algn="l">
                <a:lnSpc>
                  <a:spcPts val="3782"/>
                </a:lnSpc>
              </a:pPr>
              <a:r>
                <a:rPr lang="en-US" sz="3152" b="true">
                  <a:solidFill>
                    <a:srgbClr val="1F4E79"/>
                  </a:solidFill>
                  <a:latin typeface="Cabin Bold"/>
                  <a:ea typeface="Cabin Bold"/>
                  <a:cs typeface="Cabin Bold"/>
                  <a:sym typeface="Cabin Bold"/>
                </a:rPr>
                <a:t>So sánh trực diện: Hadoop MapReduce và Apache Spark</a:t>
              </a:r>
            </a:p>
          </p:txBody>
        </p:sp>
      </p:grpSp>
      <p:graphicFrame>
        <p:nvGraphicFramePr>
          <p:cNvPr name="Table 17" id="17"/>
          <p:cNvGraphicFramePr>
            <a:graphicFrameLocks noGrp="true"/>
          </p:cNvGraphicFramePr>
          <p:nvPr/>
        </p:nvGraphicFramePr>
        <p:xfrm>
          <a:off x="686336" y="1990375"/>
          <a:ext cx="16910561" cy="5871987"/>
        </p:xfrm>
        <a:graphic>
          <a:graphicData uri="http://schemas.openxmlformats.org/drawingml/2006/table">
            <a:tbl>
              <a:tblPr/>
              <a:tblGrid>
                <a:gridCol w="3502456"/>
                <a:gridCol w="6022862"/>
                <a:gridCol w="7385243"/>
              </a:tblGrid>
              <a:tr h="838855">
                <a:tc>
                  <a:txBody>
                    <a:bodyPr anchor="t" rtlCol="false"/>
                    <a:lstStyle/>
                    <a:p>
                      <a:pPr algn="l">
                        <a:lnSpc>
                          <a:spcPts val="1981"/>
                        </a:lnSpc>
                        <a:defRPr/>
                      </a:pPr>
                      <a:r>
                        <a:rPr lang="en-US" sz="1651" b="true">
                          <a:solidFill>
                            <a:srgbClr val="FFFFFF"/>
                          </a:solidFill>
                          <a:latin typeface="Cabin Bold"/>
                          <a:ea typeface="Cabin Bold"/>
                          <a:cs typeface="Cabin Bold"/>
                          <a:sym typeface="Cabin Bold"/>
                        </a:rPr>
                        <a:t>Tiêu chí</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1F4E79"/>
                    </a:solidFill>
                  </a:tcPr>
                </a:tc>
                <a:tc>
                  <a:txBody>
                    <a:bodyPr anchor="t" rtlCol="false"/>
                    <a:lstStyle/>
                    <a:p>
                      <a:pPr algn="l">
                        <a:lnSpc>
                          <a:spcPts val="1981"/>
                        </a:lnSpc>
                        <a:defRPr/>
                      </a:pPr>
                      <a:r>
                        <a:rPr lang="en-US" sz="1651" b="true">
                          <a:solidFill>
                            <a:srgbClr val="FFFFFF"/>
                          </a:solidFill>
                          <a:latin typeface="Cabin Bold"/>
                          <a:ea typeface="Cabin Bold"/>
                          <a:cs typeface="Cabin Bold"/>
                          <a:sym typeface="Cabin Bold"/>
                        </a:rPr>
                        <a:t>Hadoop MapReduce</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1F4E79"/>
                    </a:solidFill>
                  </a:tcPr>
                </a:tc>
                <a:tc>
                  <a:txBody>
                    <a:bodyPr anchor="t" rtlCol="false"/>
                    <a:lstStyle/>
                    <a:p>
                      <a:pPr algn="l">
                        <a:lnSpc>
                          <a:spcPts val="1981"/>
                        </a:lnSpc>
                        <a:defRPr/>
                      </a:pPr>
                      <a:r>
                        <a:rPr lang="en-US" sz="1651" b="true">
                          <a:solidFill>
                            <a:srgbClr val="FFFFFF"/>
                          </a:solidFill>
                          <a:latin typeface="Cabin Bold"/>
                          <a:ea typeface="Cabin Bold"/>
                          <a:cs typeface="Cabin Bold"/>
                          <a:sym typeface="Cabin Bold"/>
                        </a:rPr>
                        <a:t>Apache Spark</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1F4E79"/>
                    </a:solidFill>
                  </a:tcPr>
                </a:tc>
              </a:tr>
              <a:tr h="838855">
                <a:tc>
                  <a:txBody>
                    <a:bodyPr anchor="t" rtlCol="false"/>
                    <a:lstStyle/>
                    <a:p>
                      <a:pPr algn="l">
                        <a:lnSpc>
                          <a:spcPts val="1981"/>
                        </a:lnSpc>
                        <a:defRPr/>
                      </a:pPr>
                      <a:r>
                        <a:rPr lang="en-US" sz="1651" b="true">
                          <a:solidFill>
                            <a:srgbClr val="1F4E79"/>
                          </a:solidFill>
                          <a:latin typeface="Cabin Bold"/>
                          <a:ea typeface="Cabin Bold"/>
                          <a:cs typeface="Cabin Bold"/>
                          <a:sym typeface="Cabin Bold"/>
                        </a:rPr>
                        <a:t>Mô hình xử lý</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l">
                        <a:lnSpc>
                          <a:spcPts val="1981"/>
                        </a:lnSpc>
                        <a:defRPr/>
                      </a:pPr>
                      <a:r>
                        <a:rPr lang="en-US" sz="1651">
                          <a:solidFill>
                            <a:srgbClr val="000000"/>
                          </a:solidFill>
                          <a:latin typeface="Cabin"/>
                          <a:ea typeface="Cabin"/>
                          <a:cs typeface="Cabin"/>
                          <a:sym typeface="Cabin"/>
                        </a:rPr>
                        <a:t>Disk-oriented</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l">
                        <a:lnSpc>
                          <a:spcPts val="1981"/>
                        </a:lnSpc>
                        <a:defRPr/>
                      </a:pPr>
                      <a:r>
                        <a:rPr lang="en-US" sz="1651">
                          <a:solidFill>
                            <a:srgbClr val="000000"/>
                          </a:solidFill>
                          <a:latin typeface="Cabin"/>
                          <a:ea typeface="Cabin"/>
                          <a:cs typeface="Cabin"/>
                          <a:sym typeface="Cabin"/>
                        </a:rPr>
                        <a:t>In-memory oriented</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r>
              <a:tr h="838855">
                <a:tc>
                  <a:txBody>
                    <a:bodyPr anchor="t" rtlCol="false"/>
                    <a:lstStyle/>
                    <a:p>
                      <a:pPr algn="l">
                        <a:lnSpc>
                          <a:spcPts val="1981"/>
                        </a:lnSpc>
                        <a:defRPr/>
                      </a:pPr>
                      <a:r>
                        <a:rPr lang="en-US" sz="1651" b="true">
                          <a:solidFill>
                            <a:srgbClr val="1F4E79"/>
                          </a:solidFill>
                          <a:latin typeface="Cabin Bold"/>
                          <a:ea typeface="Cabin Bold"/>
                          <a:cs typeface="Cabin Bold"/>
                          <a:sym typeface="Cabin Bold"/>
                        </a:rPr>
                        <a:t>Luồng tính toán</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2F5F8"/>
                    </a:solidFill>
                  </a:tcPr>
                </a:tc>
                <a:tc>
                  <a:txBody>
                    <a:bodyPr anchor="t" rtlCol="false"/>
                    <a:lstStyle/>
                    <a:p>
                      <a:pPr algn="l">
                        <a:lnSpc>
                          <a:spcPts val="1981"/>
                        </a:lnSpc>
                        <a:defRPr/>
                      </a:pPr>
                      <a:r>
                        <a:rPr lang="en-US" sz="1651">
                          <a:solidFill>
                            <a:srgbClr val="000000"/>
                          </a:solidFill>
                          <a:latin typeface="Cabin"/>
                          <a:ea typeface="Cabin"/>
                          <a:cs typeface="Cabin"/>
                          <a:sym typeface="Cabin"/>
                        </a:rPr>
                        <a:t>Map → Reduce</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2F5F8"/>
                    </a:solidFill>
                  </a:tcPr>
                </a:tc>
                <a:tc>
                  <a:txBody>
                    <a:bodyPr anchor="t" rtlCol="false"/>
                    <a:lstStyle/>
                    <a:p>
                      <a:pPr algn="l">
                        <a:lnSpc>
                          <a:spcPts val="1981"/>
                        </a:lnSpc>
                        <a:defRPr/>
                      </a:pPr>
                      <a:r>
                        <a:rPr lang="en-US" sz="1651">
                          <a:solidFill>
                            <a:srgbClr val="000000"/>
                          </a:solidFill>
                          <a:latin typeface="Cabin"/>
                          <a:ea typeface="Cabin"/>
                          <a:cs typeface="Cabin"/>
                          <a:sym typeface="Cabin"/>
                        </a:rPr>
                        <a:t>DAG (Directed Acyclic Graph)</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2F5F8"/>
                    </a:solidFill>
                  </a:tcPr>
                </a:tc>
              </a:tr>
              <a:tr h="838855">
                <a:tc>
                  <a:txBody>
                    <a:bodyPr anchor="t" rtlCol="false"/>
                    <a:lstStyle/>
                    <a:p>
                      <a:pPr algn="l">
                        <a:lnSpc>
                          <a:spcPts val="1981"/>
                        </a:lnSpc>
                        <a:defRPr/>
                      </a:pPr>
                      <a:r>
                        <a:rPr lang="en-US" sz="1651" b="true">
                          <a:solidFill>
                            <a:srgbClr val="1F4E79"/>
                          </a:solidFill>
                          <a:latin typeface="Cabin Bold"/>
                          <a:ea typeface="Cabin Bold"/>
                          <a:cs typeface="Cabin Bold"/>
                          <a:sym typeface="Cabin Bold"/>
                        </a:rPr>
                        <a:t>Đọc/ghi dữ liệu</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l">
                        <a:lnSpc>
                          <a:spcPts val="1981"/>
                        </a:lnSpc>
                        <a:defRPr/>
                      </a:pPr>
                      <a:r>
                        <a:rPr lang="en-US" sz="1651">
                          <a:solidFill>
                            <a:srgbClr val="000000"/>
                          </a:solidFill>
                          <a:latin typeface="Cabin"/>
                          <a:ea typeface="Cabin"/>
                          <a:cs typeface="Cabin"/>
                          <a:sym typeface="Cabin"/>
                        </a:rPr>
                        <a:t>Nhiều bước đọc/ghi đĩa</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l">
                        <a:lnSpc>
                          <a:spcPts val="1981"/>
                        </a:lnSpc>
                        <a:defRPr/>
                      </a:pPr>
                      <a:r>
                        <a:rPr lang="en-US" sz="1651">
                          <a:solidFill>
                            <a:srgbClr val="000000"/>
                          </a:solidFill>
                          <a:latin typeface="Cabin"/>
                          <a:ea typeface="Cabin"/>
                          <a:cs typeface="Cabin"/>
                          <a:sym typeface="Cabin"/>
                        </a:rPr>
                        <a:t>Tái sử dụng intermediate data trong RAM</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r>
              <a:tr h="838855">
                <a:tc>
                  <a:txBody>
                    <a:bodyPr anchor="t" rtlCol="false"/>
                    <a:lstStyle/>
                    <a:p>
                      <a:pPr algn="l">
                        <a:lnSpc>
                          <a:spcPts val="1981"/>
                        </a:lnSpc>
                        <a:defRPr/>
                      </a:pPr>
                      <a:r>
                        <a:rPr lang="en-US" sz="1651" b="true">
                          <a:solidFill>
                            <a:srgbClr val="1F4E79"/>
                          </a:solidFill>
                          <a:latin typeface="Cabin Bold"/>
                          <a:ea typeface="Cabin Bold"/>
                          <a:cs typeface="Cabin Bold"/>
                          <a:sym typeface="Cabin Bold"/>
                        </a:rPr>
                        <a:t>Phạm vi xử lý</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2F5F8"/>
                    </a:solidFill>
                  </a:tcPr>
                </a:tc>
                <a:tc>
                  <a:txBody>
                    <a:bodyPr anchor="t" rtlCol="false"/>
                    <a:lstStyle/>
                    <a:p>
                      <a:pPr algn="l">
                        <a:lnSpc>
                          <a:spcPts val="1981"/>
                        </a:lnSpc>
                        <a:defRPr/>
                      </a:pPr>
                      <a:r>
                        <a:rPr lang="en-US" sz="1651">
                          <a:solidFill>
                            <a:srgbClr val="000000"/>
                          </a:solidFill>
                          <a:latin typeface="Cabin"/>
                          <a:ea typeface="Cabin"/>
                          <a:cs typeface="Cabin"/>
                          <a:sym typeface="Cabin"/>
                        </a:rPr>
                        <a:t>Batch processing</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2F5F8"/>
                    </a:solidFill>
                  </a:tcPr>
                </a:tc>
                <a:tc>
                  <a:txBody>
                    <a:bodyPr anchor="t" rtlCol="false"/>
                    <a:lstStyle/>
                    <a:p>
                      <a:pPr algn="l">
                        <a:lnSpc>
                          <a:spcPts val="1981"/>
                        </a:lnSpc>
                        <a:defRPr/>
                      </a:pPr>
                      <a:r>
                        <a:rPr lang="en-US" sz="1651">
                          <a:solidFill>
                            <a:srgbClr val="000000"/>
                          </a:solidFill>
                          <a:latin typeface="Cabin"/>
                          <a:ea typeface="Cabin"/>
                          <a:cs typeface="Cabin"/>
                          <a:sym typeface="Cabin"/>
                        </a:rPr>
                        <a:t>Batch + Streaming + SQL + ML</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2F5F8"/>
                    </a:solidFill>
                  </a:tcPr>
                </a:tc>
              </a:tr>
              <a:tr h="838855">
                <a:tc>
                  <a:txBody>
                    <a:bodyPr anchor="t" rtlCol="false"/>
                    <a:lstStyle/>
                    <a:p>
                      <a:pPr algn="l">
                        <a:lnSpc>
                          <a:spcPts val="1981"/>
                        </a:lnSpc>
                        <a:defRPr/>
                      </a:pPr>
                      <a:r>
                        <a:rPr lang="en-US" sz="1651" b="true">
                          <a:solidFill>
                            <a:srgbClr val="1F4E79"/>
                          </a:solidFill>
                          <a:latin typeface="Cabin Bold"/>
                          <a:ea typeface="Cabin Bold"/>
                          <a:cs typeface="Cabin Bold"/>
                          <a:sym typeface="Cabin Bold"/>
                        </a:rPr>
                        <a:t>Lập trình</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l">
                        <a:lnSpc>
                          <a:spcPts val="1981"/>
                        </a:lnSpc>
                        <a:defRPr/>
                      </a:pPr>
                      <a:r>
                        <a:rPr lang="en-US" sz="1651">
                          <a:solidFill>
                            <a:srgbClr val="000000"/>
                          </a:solidFill>
                          <a:latin typeface="Cabin"/>
                          <a:ea typeface="Cabin"/>
                          <a:cs typeface="Cabin"/>
                          <a:sym typeface="Cabin"/>
                        </a:rPr>
                        <a:t>Code phức tạp hơn</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l">
                        <a:lnSpc>
                          <a:spcPts val="1981"/>
                        </a:lnSpc>
                        <a:defRPr/>
                      </a:pPr>
                      <a:r>
                        <a:rPr lang="en-US" sz="1651">
                          <a:solidFill>
                            <a:srgbClr val="000000"/>
                          </a:solidFill>
                          <a:latin typeface="Cabin"/>
                          <a:ea typeface="Cabin"/>
                          <a:cs typeface="Cabin"/>
                          <a:sym typeface="Cabin"/>
                        </a:rPr>
                        <a:t>API thuận tiện hơn</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r>
              <a:tr h="838855">
                <a:tc>
                  <a:txBody>
                    <a:bodyPr anchor="t" rtlCol="false"/>
                    <a:lstStyle/>
                    <a:p>
                      <a:pPr algn="l">
                        <a:lnSpc>
                          <a:spcPts val="1981"/>
                        </a:lnSpc>
                        <a:defRPr/>
                      </a:pPr>
                      <a:r>
                        <a:rPr lang="en-US" sz="1651" b="true">
                          <a:solidFill>
                            <a:srgbClr val="1F4E79"/>
                          </a:solidFill>
                          <a:latin typeface="Cabin Bold"/>
                          <a:ea typeface="Cabin Bold"/>
                          <a:cs typeface="Cabin Bold"/>
                          <a:sym typeface="Cabin Bold"/>
                        </a:rPr>
                        <a:t>Độ trễ</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2F5F8"/>
                    </a:solidFill>
                  </a:tcPr>
                </a:tc>
                <a:tc>
                  <a:txBody>
                    <a:bodyPr anchor="t" rtlCol="false"/>
                    <a:lstStyle/>
                    <a:p>
                      <a:pPr algn="l">
                        <a:lnSpc>
                          <a:spcPts val="1981"/>
                        </a:lnSpc>
                        <a:defRPr/>
                      </a:pPr>
                      <a:r>
                        <a:rPr lang="en-US" sz="1651">
                          <a:solidFill>
                            <a:srgbClr val="000000"/>
                          </a:solidFill>
                          <a:latin typeface="Cabin"/>
                          <a:ea typeface="Cabin"/>
                          <a:cs typeface="Cabin"/>
                          <a:sym typeface="Cabin"/>
                        </a:rPr>
                        <a:t>Latency cao hơn</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2F5F8"/>
                    </a:solidFill>
                  </a:tcPr>
                </a:tc>
                <a:tc>
                  <a:txBody>
                    <a:bodyPr anchor="t" rtlCol="false"/>
                    <a:lstStyle/>
                    <a:p>
                      <a:pPr algn="l">
                        <a:lnSpc>
                          <a:spcPts val="1981"/>
                        </a:lnSpc>
                        <a:defRPr/>
                      </a:pPr>
                      <a:r>
                        <a:rPr lang="en-US" sz="1651">
                          <a:solidFill>
                            <a:srgbClr val="000000"/>
                          </a:solidFill>
                          <a:latin typeface="Cabin"/>
                          <a:ea typeface="Cabin"/>
                          <a:cs typeface="Cabin"/>
                          <a:sym typeface="Cabin"/>
                        </a:rPr>
                        <a:t>Thường phù hợp hơn cho iterative analytics</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2F5F8"/>
                    </a:solidFill>
                  </a:tcPr>
                </a:tc>
              </a:tr>
            </a:tbl>
          </a:graphicData>
        </a:graphic>
      </p:graphicFrame>
      <p:grpSp>
        <p:nvGrpSpPr>
          <p:cNvPr name="Group 18" id="18"/>
          <p:cNvGrpSpPr/>
          <p:nvPr/>
        </p:nvGrpSpPr>
        <p:grpSpPr>
          <a:xfrm rot="0">
            <a:off x="679190" y="8434788"/>
            <a:ext cx="16966806" cy="769268"/>
            <a:chOff x="0" y="0"/>
            <a:chExt cx="22622408" cy="1025690"/>
          </a:xfrm>
        </p:grpSpPr>
        <p:sp>
          <p:nvSpPr>
            <p:cNvPr name="Freeform 19" id="19"/>
            <p:cNvSpPr/>
            <p:nvPr/>
          </p:nvSpPr>
          <p:spPr>
            <a:xfrm flipH="false" flipV="false" rot="0">
              <a:off x="0" y="0"/>
              <a:ext cx="22622383" cy="1025652"/>
            </a:xfrm>
            <a:custGeom>
              <a:avLst/>
              <a:gdLst/>
              <a:ahLst/>
              <a:cxnLst/>
              <a:rect r="r" b="b" t="t" l="l"/>
              <a:pathLst>
                <a:path h="1025652" w="22622383">
                  <a:moveTo>
                    <a:pt x="0" y="111887"/>
                  </a:moveTo>
                  <a:cubicBezTo>
                    <a:pt x="0" y="50038"/>
                    <a:pt x="50038" y="0"/>
                    <a:pt x="111887" y="0"/>
                  </a:cubicBezTo>
                  <a:lnTo>
                    <a:pt x="22510496" y="0"/>
                  </a:lnTo>
                  <a:cubicBezTo>
                    <a:pt x="22572345" y="0"/>
                    <a:pt x="22622383" y="50038"/>
                    <a:pt x="22622383" y="111887"/>
                  </a:cubicBezTo>
                  <a:lnTo>
                    <a:pt x="22622383" y="913765"/>
                  </a:lnTo>
                  <a:cubicBezTo>
                    <a:pt x="22622383" y="975614"/>
                    <a:pt x="22572345" y="1025652"/>
                    <a:pt x="22510496" y="1025652"/>
                  </a:cubicBezTo>
                  <a:lnTo>
                    <a:pt x="111887" y="1025652"/>
                  </a:lnTo>
                  <a:cubicBezTo>
                    <a:pt x="50038" y="1025652"/>
                    <a:pt x="0" y="975614"/>
                    <a:pt x="0" y="913765"/>
                  </a:cubicBezTo>
                  <a:close/>
                </a:path>
              </a:pathLst>
            </a:custGeom>
            <a:solidFill>
              <a:srgbClr val="FDF2E9"/>
            </a:solidFill>
            <a:ln w="14299" cap="sq">
              <a:solidFill>
                <a:srgbClr val="E67E22"/>
              </a:solidFill>
              <a:prstDash val="solid"/>
              <a:miter/>
            </a:ln>
          </p:spPr>
        </p:sp>
      </p:grpSp>
      <p:grpSp>
        <p:nvGrpSpPr>
          <p:cNvPr name="Group 20" id="20"/>
          <p:cNvGrpSpPr/>
          <p:nvPr/>
        </p:nvGrpSpPr>
        <p:grpSpPr>
          <a:xfrm rot="0">
            <a:off x="960872" y="8441931"/>
            <a:ext cx="16472068" cy="754971"/>
            <a:chOff x="0" y="0"/>
            <a:chExt cx="21962758" cy="1006627"/>
          </a:xfrm>
        </p:grpSpPr>
        <p:sp>
          <p:nvSpPr>
            <p:cNvPr name="Freeform 21" id="21"/>
            <p:cNvSpPr/>
            <p:nvPr/>
          </p:nvSpPr>
          <p:spPr>
            <a:xfrm flipH="false" flipV="false" rot="0">
              <a:off x="0" y="0"/>
              <a:ext cx="21962759" cy="1006626"/>
            </a:xfrm>
            <a:custGeom>
              <a:avLst/>
              <a:gdLst/>
              <a:ahLst/>
              <a:cxnLst/>
              <a:rect r="r" b="b" t="t" l="l"/>
              <a:pathLst>
                <a:path h="1006626" w="21962759">
                  <a:moveTo>
                    <a:pt x="0" y="0"/>
                  </a:moveTo>
                  <a:lnTo>
                    <a:pt x="21962759" y="0"/>
                  </a:lnTo>
                  <a:lnTo>
                    <a:pt x="21962759" y="1006626"/>
                  </a:lnTo>
                  <a:lnTo>
                    <a:pt x="0" y="1006626"/>
                  </a:lnTo>
                  <a:close/>
                </a:path>
              </a:pathLst>
            </a:custGeom>
            <a:blipFill>
              <a:blip r:embed="rId4">
                <a:alphaModFix amt="0"/>
              </a:blip>
              <a:stretch>
                <a:fillRect l="0" t="-375128" r="0" b="-375128"/>
              </a:stretch>
            </a:blipFill>
          </p:spPr>
        </p:sp>
        <p:sp>
          <p:nvSpPr>
            <p:cNvPr name="TextBox 22" id="22"/>
            <p:cNvSpPr txBox="true"/>
            <p:nvPr/>
          </p:nvSpPr>
          <p:spPr>
            <a:xfrm>
              <a:off x="0" y="0"/>
              <a:ext cx="21962758" cy="1006627"/>
            </a:xfrm>
            <a:prstGeom prst="rect">
              <a:avLst/>
            </a:prstGeom>
          </p:spPr>
          <p:txBody>
            <a:bodyPr anchor="ctr" rtlCol="false" tIns="0" lIns="0" bIns="0" rIns="0"/>
            <a:lstStyle/>
            <a:p>
              <a:pPr algn="l">
                <a:lnSpc>
                  <a:spcPts val="1891"/>
                </a:lnSpc>
              </a:pPr>
              <a:r>
                <a:rPr lang="en-US" sz="1576" i="true">
                  <a:solidFill>
                    <a:srgbClr val="A04000"/>
                  </a:solidFill>
                  <a:latin typeface="Cabin Italics"/>
                  <a:ea typeface="Cabin Italics"/>
                  <a:cs typeface="Cabin Italics"/>
                  <a:sym typeface="Cabin Italics"/>
                </a:rPr>
                <a:t>Lưu ý: không nên nói đơn giản "Spark luôn nhanh hơn Hadoop" — không phải mọi workload đều như vậy.</a:t>
              </a:r>
            </a:p>
          </p:txBody>
        </p:sp>
      </p:grpSp>
      <p:grpSp>
        <p:nvGrpSpPr>
          <p:cNvPr name="Group 23" id="23"/>
          <p:cNvGrpSpPr/>
          <p:nvPr/>
        </p:nvGrpSpPr>
        <p:grpSpPr>
          <a:xfrm rot="0">
            <a:off x="0" y="9677343"/>
            <a:ext cx="18301840" cy="617706"/>
            <a:chOff x="0" y="0"/>
            <a:chExt cx="24402453" cy="823608"/>
          </a:xfrm>
        </p:grpSpPr>
        <p:sp>
          <p:nvSpPr>
            <p:cNvPr name="Freeform 24" id="24"/>
            <p:cNvSpPr/>
            <p:nvPr/>
          </p:nvSpPr>
          <p:spPr>
            <a:xfrm flipH="false" flipV="false" rot="0">
              <a:off x="0" y="0"/>
              <a:ext cx="24402414" cy="823595"/>
            </a:xfrm>
            <a:custGeom>
              <a:avLst/>
              <a:gdLst/>
              <a:ahLst/>
              <a:cxnLst/>
              <a:rect r="r" b="b" t="t" l="l"/>
              <a:pathLst>
                <a:path h="823595" w="24402414">
                  <a:moveTo>
                    <a:pt x="0" y="0"/>
                  </a:moveTo>
                  <a:lnTo>
                    <a:pt x="24402414" y="0"/>
                  </a:lnTo>
                  <a:lnTo>
                    <a:pt x="24402414" y="823595"/>
                  </a:lnTo>
                  <a:lnTo>
                    <a:pt x="0" y="823595"/>
                  </a:lnTo>
                  <a:close/>
                </a:path>
              </a:pathLst>
            </a:custGeom>
            <a:solidFill>
              <a:srgbClr val="1F4E79"/>
            </a:solidFill>
          </p:spPr>
        </p:sp>
      </p:grpSp>
      <p:grpSp>
        <p:nvGrpSpPr>
          <p:cNvPr name="Group 25" id="25"/>
          <p:cNvGrpSpPr/>
          <p:nvPr/>
        </p:nvGrpSpPr>
        <p:grpSpPr>
          <a:xfrm rot="0">
            <a:off x="480431" y="9677343"/>
            <a:ext cx="10981382" cy="617706"/>
            <a:chOff x="0" y="0"/>
            <a:chExt cx="14641843" cy="823608"/>
          </a:xfrm>
        </p:grpSpPr>
        <p:sp>
          <p:nvSpPr>
            <p:cNvPr name="Freeform 26" id="26"/>
            <p:cNvSpPr/>
            <p:nvPr/>
          </p:nvSpPr>
          <p:spPr>
            <a:xfrm flipH="false" flipV="false" rot="0">
              <a:off x="0" y="0"/>
              <a:ext cx="14641840" cy="823603"/>
            </a:xfrm>
            <a:custGeom>
              <a:avLst/>
              <a:gdLst/>
              <a:ahLst/>
              <a:cxnLst/>
              <a:rect r="r" b="b" t="t" l="l"/>
              <a:pathLst>
                <a:path h="823603" w="14641840">
                  <a:moveTo>
                    <a:pt x="0" y="0"/>
                  </a:moveTo>
                  <a:lnTo>
                    <a:pt x="14641840" y="0"/>
                  </a:lnTo>
                  <a:lnTo>
                    <a:pt x="14641840" y="823603"/>
                  </a:lnTo>
                  <a:lnTo>
                    <a:pt x="0" y="823603"/>
                  </a:lnTo>
                  <a:close/>
                </a:path>
              </a:pathLst>
            </a:custGeom>
            <a:blipFill>
              <a:blip r:embed="rId4">
                <a:alphaModFix amt="0"/>
              </a:blip>
              <a:stretch>
                <a:fillRect l="0" t="-296400" r="0" b="-296401"/>
              </a:stretch>
            </a:blipFill>
          </p:spPr>
        </p:sp>
        <p:sp>
          <p:nvSpPr>
            <p:cNvPr name="TextBox 27" id="27"/>
            <p:cNvSpPr txBox="true"/>
            <p:nvPr/>
          </p:nvSpPr>
          <p:spPr>
            <a:xfrm>
              <a:off x="0" y="0"/>
              <a:ext cx="14641843" cy="823608"/>
            </a:xfrm>
            <a:prstGeom prst="rect">
              <a:avLst/>
            </a:prstGeom>
          </p:spPr>
          <p:txBody>
            <a:bodyPr anchor="ctr" rtlCol="false" tIns="0" lIns="0" bIns="0" rIns="0"/>
            <a:lstStyle/>
            <a:p>
              <a:pPr algn="l">
                <a:lnSpc>
                  <a:spcPts val="1621"/>
                </a:lnSpc>
              </a:pPr>
              <a:r>
                <a:rPr lang="en-US" sz="1351">
                  <a:solidFill>
                    <a:srgbClr val="FFFFFF"/>
                  </a:solidFill>
                  <a:latin typeface="Cabin"/>
                  <a:ea typeface="Cabin"/>
                  <a:cs typeface="Cabin"/>
                  <a:sym typeface="Cabin"/>
                </a:rPr>
                <a:t>VNU UET – Institute for Artificial Intelligence</a:t>
              </a:r>
            </a:p>
          </p:txBody>
        </p:sp>
      </p:grpSp>
      <p:grpSp>
        <p:nvGrpSpPr>
          <p:cNvPr name="Group 28" id="28"/>
          <p:cNvGrpSpPr/>
          <p:nvPr/>
        </p:nvGrpSpPr>
        <p:grpSpPr>
          <a:xfrm rot="0">
            <a:off x="17066438" y="9677343"/>
            <a:ext cx="823608" cy="617706"/>
            <a:chOff x="0" y="0"/>
            <a:chExt cx="1098144" cy="823608"/>
          </a:xfrm>
        </p:grpSpPr>
        <p:sp>
          <p:nvSpPr>
            <p:cNvPr name="Freeform 29" id="29"/>
            <p:cNvSpPr/>
            <p:nvPr/>
          </p:nvSpPr>
          <p:spPr>
            <a:xfrm flipH="false" flipV="false" rot="0">
              <a:off x="0" y="0"/>
              <a:ext cx="1098138" cy="823603"/>
            </a:xfrm>
            <a:custGeom>
              <a:avLst/>
              <a:gdLst/>
              <a:ahLst/>
              <a:cxnLst/>
              <a:rect r="r" b="b" t="t" l="l"/>
              <a:pathLst>
                <a:path h="823603" w="1098138">
                  <a:moveTo>
                    <a:pt x="0" y="0"/>
                  </a:moveTo>
                  <a:lnTo>
                    <a:pt x="1098138" y="0"/>
                  </a:lnTo>
                  <a:lnTo>
                    <a:pt x="1098138" y="823603"/>
                  </a:lnTo>
                  <a:lnTo>
                    <a:pt x="0" y="823603"/>
                  </a:lnTo>
                  <a:close/>
                </a:path>
              </a:pathLst>
            </a:custGeom>
            <a:blipFill>
              <a:blip r:embed="rId4">
                <a:alphaModFix amt="0"/>
              </a:blip>
              <a:stretch>
                <a:fillRect l="-46227" t="0" r="-46228" b="0"/>
              </a:stretch>
            </a:blipFill>
          </p:spPr>
        </p:sp>
        <p:sp>
          <p:nvSpPr>
            <p:cNvPr name="TextBox 30" id="30"/>
            <p:cNvSpPr txBox="true"/>
            <p:nvPr/>
          </p:nvSpPr>
          <p:spPr>
            <a:xfrm>
              <a:off x="0" y="0"/>
              <a:ext cx="1098144" cy="823608"/>
            </a:xfrm>
            <a:prstGeom prst="rect">
              <a:avLst/>
            </a:prstGeom>
          </p:spPr>
          <p:txBody>
            <a:bodyPr anchor="ctr" rtlCol="false" tIns="0" lIns="0" bIns="0" rIns="0"/>
            <a:lstStyle/>
            <a:p>
              <a:pPr algn="r">
                <a:lnSpc>
                  <a:spcPts val="1621"/>
                </a:lnSpc>
              </a:pPr>
              <a:r>
                <a:rPr lang="en-US" sz="1351">
                  <a:solidFill>
                    <a:srgbClr val="FFFFFF"/>
                  </a:solidFill>
                  <a:latin typeface="Cabin"/>
                  <a:ea typeface="Cabin"/>
                  <a:cs typeface="Cabin"/>
                  <a:sym typeface="Cabin"/>
                </a:rPr>
                <a:t>10</a:t>
              </a:r>
            </a:p>
          </p:txBody>
        </p:sp>
      </p:grpSp>
      <p:grpSp>
        <p:nvGrpSpPr>
          <p:cNvPr name="Group 31" id="31"/>
          <p:cNvGrpSpPr/>
          <p:nvPr/>
        </p:nvGrpSpPr>
        <p:grpSpPr>
          <a:xfrm rot="0">
            <a:off x="0" y="0"/>
            <a:ext cx="18288000" cy="315468"/>
            <a:chOff x="0" y="0"/>
            <a:chExt cx="24384000" cy="420624"/>
          </a:xfrm>
        </p:grpSpPr>
        <p:sp>
          <p:nvSpPr>
            <p:cNvPr name="Freeform 32" id="32"/>
            <p:cNvSpPr/>
            <p:nvPr/>
          </p:nvSpPr>
          <p:spPr>
            <a:xfrm flipH="false" flipV="false" rot="0">
              <a:off x="0" y="0"/>
              <a:ext cx="24384000" cy="420624"/>
            </a:xfrm>
            <a:custGeom>
              <a:avLst/>
              <a:gdLst/>
              <a:ahLst/>
              <a:cxnLst/>
              <a:rect r="r" b="b" t="t" l="l"/>
              <a:pathLst>
                <a:path h="420624" w="24384000">
                  <a:moveTo>
                    <a:pt x="0" y="0"/>
                  </a:moveTo>
                  <a:lnTo>
                    <a:pt x="24384000" y="0"/>
                  </a:lnTo>
                  <a:lnTo>
                    <a:pt x="24384000" y="420624"/>
                  </a:lnTo>
                  <a:lnTo>
                    <a:pt x="0" y="420624"/>
                  </a:lnTo>
                  <a:close/>
                </a:path>
              </a:pathLst>
            </a:custGeom>
            <a:solidFill>
              <a:srgbClr val="0F3F6F"/>
            </a:solidFill>
          </p:spPr>
        </p:sp>
      </p:grpSp>
      <p:grpSp>
        <p:nvGrpSpPr>
          <p:cNvPr name="Group 33" id="33"/>
          <p:cNvGrpSpPr/>
          <p:nvPr/>
        </p:nvGrpSpPr>
        <p:grpSpPr>
          <a:xfrm rot="0">
            <a:off x="13098780" y="0"/>
            <a:ext cx="1453896" cy="1508760"/>
            <a:chOff x="0" y="0"/>
            <a:chExt cx="1938528" cy="2011680"/>
          </a:xfrm>
        </p:grpSpPr>
        <p:sp>
          <p:nvSpPr>
            <p:cNvPr name="Freeform 34" id="34"/>
            <p:cNvSpPr/>
            <p:nvPr/>
          </p:nvSpPr>
          <p:spPr>
            <a:xfrm flipH="false" flipV="false" rot="0">
              <a:off x="0" y="0"/>
              <a:ext cx="1938528" cy="2011680"/>
            </a:xfrm>
            <a:custGeom>
              <a:avLst/>
              <a:gdLst/>
              <a:ahLst/>
              <a:cxnLst/>
              <a:rect r="r" b="b" t="t" l="l"/>
              <a:pathLst>
                <a:path h="2011680" w="1938528">
                  <a:moveTo>
                    <a:pt x="0" y="2011680"/>
                  </a:moveTo>
                  <a:lnTo>
                    <a:pt x="484632" y="0"/>
                  </a:lnTo>
                  <a:lnTo>
                    <a:pt x="1938528" y="0"/>
                  </a:lnTo>
                  <a:lnTo>
                    <a:pt x="1453896" y="2011680"/>
                  </a:lnTo>
                  <a:close/>
                </a:path>
              </a:pathLst>
            </a:custGeom>
            <a:solidFill>
              <a:srgbClr val="85B518"/>
            </a:solidFill>
          </p:spPr>
        </p:sp>
      </p:grpSp>
      <p:grpSp>
        <p:nvGrpSpPr>
          <p:cNvPr name="Group 35" id="35"/>
          <p:cNvGrpSpPr/>
          <p:nvPr/>
        </p:nvGrpSpPr>
        <p:grpSpPr>
          <a:xfrm rot="0">
            <a:off x="14621256" y="0"/>
            <a:ext cx="1508760" cy="1508760"/>
            <a:chOff x="0" y="0"/>
            <a:chExt cx="2011680" cy="2011680"/>
          </a:xfrm>
        </p:grpSpPr>
        <p:sp>
          <p:nvSpPr>
            <p:cNvPr name="Freeform 36" id="36"/>
            <p:cNvSpPr/>
            <p:nvPr/>
          </p:nvSpPr>
          <p:spPr>
            <a:xfrm flipH="false" flipV="false" rot="0">
              <a:off x="0" y="0"/>
              <a:ext cx="2011680" cy="2011680"/>
            </a:xfrm>
            <a:custGeom>
              <a:avLst/>
              <a:gdLst/>
              <a:ahLst/>
              <a:cxnLst/>
              <a:rect r="r" b="b" t="t" l="l"/>
              <a:pathLst>
                <a:path h="2011680" w="2011680">
                  <a:moveTo>
                    <a:pt x="0" y="2011680"/>
                  </a:moveTo>
                  <a:lnTo>
                    <a:pt x="502920" y="0"/>
                  </a:lnTo>
                  <a:lnTo>
                    <a:pt x="2011680" y="0"/>
                  </a:lnTo>
                  <a:lnTo>
                    <a:pt x="1508760" y="2011680"/>
                  </a:lnTo>
                  <a:close/>
                </a:path>
              </a:pathLst>
            </a:custGeom>
            <a:solidFill>
              <a:srgbClr val="0F3F6F"/>
            </a:solid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97801" y="384353"/>
            <a:ext cx="851059" cy="851059"/>
            <a:chOff x="0" y="0"/>
            <a:chExt cx="1134745" cy="1134745"/>
          </a:xfrm>
        </p:grpSpPr>
        <p:sp>
          <p:nvSpPr>
            <p:cNvPr name="Freeform 3" id="3" descr="/home/claude/work/assets/logo.png"/>
            <p:cNvSpPr/>
            <p:nvPr/>
          </p:nvSpPr>
          <p:spPr>
            <a:xfrm flipH="false" flipV="false" rot="0">
              <a:off x="0" y="0"/>
              <a:ext cx="1134745" cy="1134745"/>
            </a:xfrm>
            <a:custGeom>
              <a:avLst/>
              <a:gdLst/>
              <a:ahLst/>
              <a:cxnLst/>
              <a:rect r="r" b="b" t="t" l="l"/>
              <a:pathLst>
                <a:path h="1134745" w="1134745">
                  <a:moveTo>
                    <a:pt x="0" y="0"/>
                  </a:moveTo>
                  <a:lnTo>
                    <a:pt x="1134745" y="0"/>
                  </a:lnTo>
                  <a:lnTo>
                    <a:pt x="1134745" y="1134745"/>
                  </a:lnTo>
                  <a:lnTo>
                    <a:pt x="0" y="1134745"/>
                  </a:lnTo>
                  <a:lnTo>
                    <a:pt x="0" y="0"/>
                  </a:lnTo>
                  <a:close/>
                </a:path>
              </a:pathLst>
            </a:custGeom>
            <a:blipFill>
              <a:blip r:embed="rId3"/>
              <a:stretch>
                <a:fillRect l="0" t="0" r="0" b="0"/>
              </a:stretch>
            </a:blipFill>
          </p:spPr>
        </p:sp>
      </p:grpSp>
      <p:grpSp>
        <p:nvGrpSpPr>
          <p:cNvPr name="Group 4" id="4"/>
          <p:cNvGrpSpPr/>
          <p:nvPr/>
        </p:nvGrpSpPr>
        <p:grpSpPr>
          <a:xfrm rot="0">
            <a:off x="5971122" y="1894511"/>
            <a:ext cx="6203789" cy="6203789"/>
            <a:chOff x="0" y="0"/>
            <a:chExt cx="6954876" cy="6954876"/>
          </a:xfrm>
        </p:grpSpPr>
        <p:sp>
          <p:nvSpPr>
            <p:cNvPr name="Freeform 5" id="5"/>
            <p:cNvSpPr/>
            <p:nvPr/>
          </p:nvSpPr>
          <p:spPr>
            <a:xfrm flipH="false" flipV="false" rot="0">
              <a:off x="0" y="0"/>
              <a:ext cx="6954901" cy="6954901"/>
            </a:xfrm>
            <a:custGeom>
              <a:avLst/>
              <a:gdLst/>
              <a:ahLst/>
              <a:cxnLst/>
              <a:rect r="r" b="b" t="t" l="l"/>
              <a:pathLst>
                <a:path h="6954901" w="6954901">
                  <a:moveTo>
                    <a:pt x="0" y="3477387"/>
                  </a:moveTo>
                  <a:cubicBezTo>
                    <a:pt x="0" y="1556893"/>
                    <a:pt x="1556893" y="0"/>
                    <a:pt x="3477387" y="0"/>
                  </a:cubicBezTo>
                  <a:cubicBezTo>
                    <a:pt x="5397881" y="0"/>
                    <a:pt x="6954901" y="1556893"/>
                    <a:pt x="6954901" y="3477387"/>
                  </a:cubicBezTo>
                  <a:cubicBezTo>
                    <a:pt x="6954901" y="5397881"/>
                    <a:pt x="5398008" y="6954901"/>
                    <a:pt x="3477387" y="6954901"/>
                  </a:cubicBezTo>
                  <a:cubicBezTo>
                    <a:pt x="1556766" y="6954901"/>
                    <a:pt x="0" y="5398008"/>
                    <a:pt x="0" y="3477387"/>
                  </a:cubicBezTo>
                  <a:close/>
                </a:path>
              </a:pathLst>
            </a:custGeom>
            <a:solidFill>
              <a:srgbClr val="1F4E79"/>
            </a:solidFill>
          </p:spPr>
        </p:sp>
      </p:grpSp>
      <p:grpSp>
        <p:nvGrpSpPr>
          <p:cNvPr name="Group 6" id="6"/>
          <p:cNvGrpSpPr/>
          <p:nvPr/>
        </p:nvGrpSpPr>
        <p:grpSpPr>
          <a:xfrm rot="0">
            <a:off x="5971122" y="2580190"/>
            <a:ext cx="6203789" cy="489775"/>
            <a:chOff x="0" y="0"/>
            <a:chExt cx="6954876" cy="549072"/>
          </a:xfrm>
        </p:grpSpPr>
        <p:sp>
          <p:nvSpPr>
            <p:cNvPr name="Freeform 7" id="7"/>
            <p:cNvSpPr/>
            <p:nvPr/>
          </p:nvSpPr>
          <p:spPr>
            <a:xfrm flipH="false" flipV="false" rot="0">
              <a:off x="0" y="0"/>
              <a:ext cx="6954873" cy="549069"/>
            </a:xfrm>
            <a:custGeom>
              <a:avLst/>
              <a:gdLst/>
              <a:ahLst/>
              <a:cxnLst/>
              <a:rect r="r" b="b" t="t" l="l"/>
              <a:pathLst>
                <a:path h="549069" w="6954873">
                  <a:moveTo>
                    <a:pt x="0" y="0"/>
                  </a:moveTo>
                  <a:lnTo>
                    <a:pt x="6954873" y="0"/>
                  </a:lnTo>
                  <a:lnTo>
                    <a:pt x="6954873" y="549069"/>
                  </a:lnTo>
                  <a:lnTo>
                    <a:pt x="0" y="549069"/>
                  </a:lnTo>
                  <a:close/>
                </a:path>
              </a:pathLst>
            </a:custGeom>
            <a:blipFill>
              <a:blip r:embed="rId4">
                <a:alphaModFix amt="0"/>
              </a:blip>
              <a:stretch>
                <a:fillRect l="0" t="-196810" r="0" b="-196810"/>
              </a:stretch>
            </a:blipFill>
          </p:spPr>
        </p:sp>
        <p:sp>
          <p:nvSpPr>
            <p:cNvPr name="TextBox 8" id="8"/>
            <p:cNvSpPr txBox="true"/>
            <p:nvPr/>
          </p:nvSpPr>
          <p:spPr>
            <a:xfrm>
              <a:off x="0" y="0"/>
              <a:ext cx="6954876" cy="549072"/>
            </a:xfrm>
            <a:prstGeom prst="rect">
              <a:avLst/>
            </a:prstGeom>
          </p:spPr>
          <p:txBody>
            <a:bodyPr anchor="ctr" rtlCol="false" tIns="0" lIns="0" bIns="0" rIns="0"/>
            <a:lstStyle/>
            <a:p>
              <a:pPr algn="ctr">
                <a:lnSpc>
                  <a:spcPts val="1981"/>
                </a:lnSpc>
              </a:pPr>
              <a:r>
                <a:rPr lang="en-US" sz="1651" spc="300">
                  <a:solidFill>
                    <a:srgbClr val="9FB8D4"/>
                  </a:solidFill>
                  <a:latin typeface="Cabin"/>
                  <a:ea typeface="Cabin"/>
                  <a:cs typeface="Cabin"/>
                  <a:sym typeface="Cabin"/>
                </a:rPr>
                <a:t>PHẦN 5.4</a:t>
              </a:r>
            </a:p>
          </p:txBody>
        </p:sp>
      </p:grpSp>
      <p:grpSp>
        <p:nvGrpSpPr>
          <p:cNvPr name="Group 9" id="9"/>
          <p:cNvGrpSpPr/>
          <p:nvPr/>
        </p:nvGrpSpPr>
        <p:grpSpPr>
          <a:xfrm rot="0">
            <a:off x="5971122" y="3004656"/>
            <a:ext cx="6203789" cy="1224427"/>
            <a:chOff x="0" y="0"/>
            <a:chExt cx="6954876" cy="1372667"/>
          </a:xfrm>
        </p:grpSpPr>
        <p:sp>
          <p:nvSpPr>
            <p:cNvPr name="Freeform 10" id="10"/>
            <p:cNvSpPr/>
            <p:nvPr/>
          </p:nvSpPr>
          <p:spPr>
            <a:xfrm flipH="false" flipV="false" rot="0">
              <a:off x="0" y="0"/>
              <a:ext cx="6954873" cy="1372672"/>
            </a:xfrm>
            <a:custGeom>
              <a:avLst/>
              <a:gdLst/>
              <a:ahLst/>
              <a:cxnLst/>
              <a:rect r="r" b="b" t="t" l="l"/>
              <a:pathLst>
                <a:path h="1372672" w="6954873">
                  <a:moveTo>
                    <a:pt x="0" y="0"/>
                  </a:moveTo>
                  <a:lnTo>
                    <a:pt x="6954873" y="0"/>
                  </a:lnTo>
                  <a:lnTo>
                    <a:pt x="6954873" y="1372672"/>
                  </a:lnTo>
                  <a:lnTo>
                    <a:pt x="0" y="1372672"/>
                  </a:lnTo>
                  <a:close/>
                </a:path>
              </a:pathLst>
            </a:custGeom>
            <a:blipFill>
              <a:blip r:embed="rId4">
                <a:alphaModFix amt="0"/>
              </a:blip>
              <a:stretch>
                <a:fillRect l="0" t="-48724" r="0" b="-48724"/>
              </a:stretch>
            </a:blipFill>
          </p:spPr>
        </p:sp>
        <p:sp>
          <p:nvSpPr>
            <p:cNvPr name="TextBox 11" id="11"/>
            <p:cNvSpPr txBox="true"/>
            <p:nvPr/>
          </p:nvSpPr>
          <p:spPr>
            <a:xfrm>
              <a:off x="0" y="-9525"/>
              <a:ext cx="6954876" cy="1382192"/>
            </a:xfrm>
            <a:prstGeom prst="rect">
              <a:avLst/>
            </a:prstGeom>
          </p:spPr>
          <p:txBody>
            <a:bodyPr anchor="ctr" rtlCol="false" tIns="0" lIns="0" bIns="0" rIns="0"/>
            <a:lstStyle/>
            <a:p>
              <a:pPr algn="ctr">
                <a:lnSpc>
                  <a:spcPts val="6124"/>
                </a:lnSpc>
              </a:pPr>
              <a:r>
                <a:rPr lang="en-US" sz="5103" b="true">
                  <a:solidFill>
                    <a:srgbClr val="FFFFFF"/>
                  </a:solidFill>
                  <a:latin typeface="TT Rounds Condensed Bold"/>
                  <a:ea typeface="TT Rounds Condensed Bold"/>
                  <a:cs typeface="TT Rounds Condensed Bold"/>
                  <a:sym typeface="TT Rounds Condensed Bold"/>
                </a:rPr>
                <a:t>5.4</a:t>
              </a:r>
            </a:p>
          </p:txBody>
        </p:sp>
      </p:grpSp>
      <p:sp>
        <p:nvSpPr>
          <p:cNvPr name="TextBox 12" id="12"/>
          <p:cNvSpPr txBox="true"/>
          <p:nvPr/>
        </p:nvSpPr>
        <p:spPr>
          <a:xfrm rot="0">
            <a:off x="6324763" y="4257621"/>
            <a:ext cx="5496507" cy="1043577"/>
          </a:xfrm>
          <a:prstGeom prst="rect">
            <a:avLst/>
          </a:prstGeom>
        </p:spPr>
        <p:txBody>
          <a:bodyPr anchor="t" rtlCol="false" tIns="0" lIns="0" bIns="0" rIns="0">
            <a:spAutoFit/>
          </a:bodyPr>
          <a:lstStyle/>
          <a:p>
            <a:pPr algn="ctr">
              <a:lnSpc>
                <a:spcPts val="3213"/>
              </a:lnSpc>
            </a:pPr>
            <a:r>
              <a:rPr lang="en-US" sz="2678" b="true">
                <a:solidFill>
                  <a:srgbClr val="FFFFFF"/>
                </a:solidFill>
                <a:latin typeface="Cabin Bold"/>
                <a:ea typeface="Cabin Bold"/>
                <a:cs typeface="Cabin Bold"/>
                <a:sym typeface="Cabin Bold"/>
              </a:rPr>
              <a:t>Kiến trúc Spark</a:t>
            </a:r>
          </a:p>
        </p:txBody>
      </p:sp>
      <p:sp>
        <p:nvSpPr>
          <p:cNvPr name="TextBox 13" id="13"/>
          <p:cNvSpPr txBox="true"/>
          <p:nvPr/>
        </p:nvSpPr>
        <p:spPr>
          <a:xfrm rot="0">
            <a:off x="6406385" y="5622179"/>
            <a:ext cx="5333252" cy="1523827"/>
          </a:xfrm>
          <a:prstGeom prst="rect">
            <a:avLst/>
          </a:prstGeom>
        </p:spPr>
        <p:txBody>
          <a:bodyPr anchor="t" rtlCol="false" tIns="0" lIns="0" bIns="0" rIns="0">
            <a:spAutoFit/>
          </a:bodyPr>
          <a:lstStyle/>
          <a:p>
            <a:pPr algn="ctr">
              <a:lnSpc>
                <a:spcPts val="2035"/>
              </a:lnSpc>
            </a:pPr>
            <a:r>
              <a:rPr lang="en-US" sz="1696">
                <a:solidFill>
                  <a:srgbClr val="D7E3F0"/>
                </a:solidFill>
                <a:latin typeface="Cabin"/>
                <a:ea typeface="Cabin"/>
                <a:cs typeface="Cabin"/>
                <a:sym typeface="Cabin"/>
              </a:rPr>
              <a:t>Driver, Cluster Manager, Worker Node, Executor và Task</a:t>
            </a:r>
          </a:p>
        </p:txBody>
      </p:sp>
      <p:grpSp>
        <p:nvGrpSpPr>
          <p:cNvPr name="Group 14" id="14"/>
          <p:cNvGrpSpPr/>
          <p:nvPr/>
        </p:nvGrpSpPr>
        <p:grpSpPr>
          <a:xfrm rot="0">
            <a:off x="480431" y="9087088"/>
            <a:ext cx="1692916" cy="411804"/>
            <a:chOff x="0" y="0"/>
            <a:chExt cx="2257222" cy="549072"/>
          </a:xfrm>
        </p:grpSpPr>
        <p:sp>
          <p:nvSpPr>
            <p:cNvPr name="Freeform 15" id="15"/>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16" id="16"/>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5.1 MR→Spark</a:t>
              </a:r>
            </a:p>
          </p:txBody>
        </p:sp>
      </p:grpSp>
      <p:grpSp>
        <p:nvGrpSpPr>
          <p:cNvPr name="Group 17" id="17"/>
          <p:cNvGrpSpPr/>
          <p:nvPr/>
        </p:nvGrpSpPr>
        <p:grpSpPr>
          <a:xfrm rot="0">
            <a:off x="2214534" y="9087088"/>
            <a:ext cx="1692916" cy="411804"/>
            <a:chOff x="0" y="0"/>
            <a:chExt cx="2257222" cy="549072"/>
          </a:xfrm>
        </p:grpSpPr>
        <p:sp>
          <p:nvSpPr>
            <p:cNvPr name="Freeform 18" id="18"/>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19" id="19"/>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5.2 Spark</a:t>
              </a:r>
            </a:p>
          </p:txBody>
        </p:sp>
      </p:grpSp>
      <p:grpSp>
        <p:nvGrpSpPr>
          <p:cNvPr name="Group 20" id="20"/>
          <p:cNvGrpSpPr/>
          <p:nvPr/>
        </p:nvGrpSpPr>
        <p:grpSpPr>
          <a:xfrm rot="0">
            <a:off x="3948627" y="9087088"/>
            <a:ext cx="1692916" cy="411804"/>
            <a:chOff x="0" y="0"/>
            <a:chExt cx="2257222" cy="549072"/>
          </a:xfrm>
        </p:grpSpPr>
        <p:sp>
          <p:nvSpPr>
            <p:cNvPr name="Freeform 21" id="21"/>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22" id="22"/>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5.3 So sánh</a:t>
              </a:r>
            </a:p>
          </p:txBody>
        </p:sp>
      </p:grpSp>
      <p:grpSp>
        <p:nvGrpSpPr>
          <p:cNvPr name="Group 23" id="23"/>
          <p:cNvGrpSpPr/>
          <p:nvPr/>
        </p:nvGrpSpPr>
        <p:grpSpPr>
          <a:xfrm rot="0">
            <a:off x="5682729" y="9087088"/>
            <a:ext cx="1692916" cy="411804"/>
            <a:chOff x="0" y="0"/>
            <a:chExt cx="2257222" cy="549072"/>
          </a:xfrm>
        </p:grpSpPr>
        <p:sp>
          <p:nvSpPr>
            <p:cNvPr name="Freeform 24" id="24"/>
            <p:cNvSpPr/>
            <p:nvPr/>
          </p:nvSpPr>
          <p:spPr>
            <a:xfrm flipH="false" flipV="false" rot="0">
              <a:off x="0" y="0"/>
              <a:ext cx="2257171" cy="549021"/>
            </a:xfrm>
            <a:custGeom>
              <a:avLst/>
              <a:gdLst/>
              <a:ahLst/>
              <a:cxnLst/>
              <a:rect r="r" b="b" t="t" l="l"/>
              <a:pathLst>
                <a:path h="549021" w="2257171">
                  <a:moveTo>
                    <a:pt x="0" y="0"/>
                  </a:moveTo>
                  <a:lnTo>
                    <a:pt x="2257171" y="0"/>
                  </a:lnTo>
                  <a:lnTo>
                    <a:pt x="2257171" y="549021"/>
                  </a:lnTo>
                  <a:lnTo>
                    <a:pt x="0" y="549021"/>
                  </a:lnTo>
                  <a:close/>
                </a:path>
              </a:pathLst>
            </a:custGeom>
            <a:solidFill>
              <a:srgbClr val="85B518"/>
            </a:solidFill>
          </p:spPr>
        </p:sp>
        <p:sp>
          <p:nvSpPr>
            <p:cNvPr name="TextBox 25" id="25"/>
            <p:cNvSpPr txBox="true"/>
            <p:nvPr/>
          </p:nvSpPr>
          <p:spPr>
            <a:xfrm>
              <a:off x="0" y="0"/>
              <a:ext cx="2257222" cy="549072"/>
            </a:xfrm>
            <a:prstGeom prst="rect">
              <a:avLst/>
            </a:prstGeom>
          </p:spPr>
          <p:txBody>
            <a:bodyPr anchor="ctr" rtlCol="false" tIns="50800" lIns="50800" bIns="50800" rIns="50800"/>
            <a:lstStyle/>
            <a:p>
              <a:pPr algn="ctr">
                <a:lnSpc>
                  <a:spcPts val="1170"/>
                </a:lnSpc>
              </a:pPr>
              <a:r>
                <a:rPr lang="en-US" sz="975" b="true">
                  <a:solidFill>
                    <a:srgbClr val="FFFFFF"/>
                  </a:solidFill>
                  <a:latin typeface="Cabin Bold"/>
                  <a:ea typeface="Cabin Bold"/>
                  <a:cs typeface="Cabin Bold"/>
                  <a:sym typeface="Cabin Bold"/>
                </a:rPr>
                <a:t>5.4 Kiến trúc</a:t>
              </a:r>
            </a:p>
          </p:txBody>
        </p:sp>
      </p:grpSp>
      <p:grpSp>
        <p:nvGrpSpPr>
          <p:cNvPr name="Group 26" id="26"/>
          <p:cNvGrpSpPr/>
          <p:nvPr/>
        </p:nvGrpSpPr>
        <p:grpSpPr>
          <a:xfrm rot="0">
            <a:off x="7416822" y="9087088"/>
            <a:ext cx="1692916" cy="411804"/>
            <a:chOff x="0" y="0"/>
            <a:chExt cx="2257222" cy="549072"/>
          </a:xfrm>
        </p:grpSpPr>
        <p:sp>
          <p:nvSpPr>
            <p:cNvPr name="Freeform 27" id="27"/>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28" id="28"/>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5.5 Thực thi</a:t>
              </a:r>
            </a:p>
          </p:txBody>
        </p:sp>
      </p:grpSp>
      <p:grpSp>
        <p:nvGrpSpPr>
          <p:cNvPr name="Group 29" id="29"/>
          <p:cNvGrpSpPr/>
          <p:nvPr/>
        </p:nvGrpSpPr>
        <p:grpSpPr>
          <a:xfrm rot="0">
            <a:off x="9150925" y="9087088"/>
            <a:ext cx="1692916" cy="411804"/>
            <a:chOff x="0" y="0"/>
            <a:chExt cx="2257222" cy="549072"/>
          </a:xfrm>
        </p:grpSpPr>
        <p:sp>
          <p:nvSpPr>
            <p:cNvPr name="Freeform 30" id="30"/>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31" id="31"/>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5.6 Transform/Action</a:t>
              </a:r>
            </a:p>
          </p:txBody>
        </p:sp>
      </p:grpSp>
      <p:grpSp>
        <p:nvGrpSpPr>
          <p:cNvPr name="Group 32" id="32"/>
          <p:cNvGrpSpPr/>
          <p:nvPr/>
        </p:nvGrpSpPr>
        <p:grpSpPr>
          <a:xfrm rot="0">
            <a:off x="10885018" y="9087088"/>
            <a:ext cx="1692916" cy="411804"/>
            <a:chOff x="0" y="0"/>
            <a:chExt cx="2257222" cy="549072"/>
          </a:xfrm>
        </p:grpSpPr>
        <p:sp>
          <p:nvSpPr>
            <p:cNvPr name="Freeform 33" id="33"/>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34" id="34"/>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5.7 Partition</a:t>
              </a:r>
            </a:p>
          </p:txBody>
        </p:sp>
      </p:grpSp>
      <p:grpSp>
        <p:nvGrpSpPr>
          <p:cNvPr name="Group 35" id="35"/>
          <p:cNvGrpSpPr/>
          <p:nvPr/>
        </p:nvGrpSpPr>
        <p:grpSpPr>
          <a:xfrm rot="0">
            <a:off x="12619111" y="9087088"/>
            <a:ext cx="1692916" cy="411804"/>
            <a:chOff x="0" y="0"/>
            <a:chExt cx="2257222" cy="549072"/>
          </a:xfrm>
        </p:grpSpPr>
        <p:sp>
          <p:nvSpPr>
            <p:cNvPr name="Freeform 36" id="36"/>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37" id="37"/>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5.8 RDD/DF</a:t>
              </a:r>
            </a:p>
          </p:txBody>
        </p:sp>
      </p:grpSp>
      <p:grpSp>
        <p:nvGrpSpPr>
          <p:cNvPr name="Group 38" id="38"/>
          <p:cNvGrpSpPr/>
          <p:nvPr/>
        </p:nvGrpSpPr>
        <p:grpSpPr>
          <a:xfrm rot="0">
            <a:off x="14353213" y="9087088"/>
            <a:ext cx="1692916" cy="411804"/>
            <a:chOff x="0" y="0"/>
            <a:chExt cx="2257222" cy="549072"/>
          </a:xfrm>
        </p:grpSpPr>
        <p:sp>
          <p:nvSpPr>
            <p:cNvPr name="Freeform 39" id="39"/>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40" id="40"/>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5.9 PySpark</a:t>
              </a:r>
            </a:p>
          </p:txBody>
        </p:sp>
      </p:grpSp>
      <p:grpSp>
        <p:nvGrpSpPr>
          <p:cNvPr name="Group 41" id="41"/>
          <p:cNvGrpSpPr/>
          <p:nvPr/>
        </p:nvGrpSpPr>
        <p:grpSpPr>
          <a:xfrm rot="0">
            <a:off x="16087306" y="9087088"/>
            <a:ext cx="1692916" cy="411804"/>
            <a:chOff x="0" y="0"/>
            <a:chExt cx="2257222" cy="549072"/>
          </a:xfrm>
        </p:grpSpPr>
        <p:sp>
          <p:nvSpPr>
            <p:cNvPr name="Freeform 42" id="42"/>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43" id="43"/>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TH Thực hành</a:t>
              </a:r>
            </a:p>
          </p:txBody>
        </p:sp>
      </p:grpSp>
      <p:grpSp>
        <p:nvGrpSpPr>
          <p:cNvPr name="Group 44" id="44"/>
          <p:cNvGrpSpPr/>
          <p:nvPr/>
        </p:nvGrpSpPr>
        <p:grpSpPr>
          <a:xfrm rot="0">
            <a:off x="0" y="9677343"/>
            <a:ext cx="18301840" cy="617706"/>
            <a:chOff x="0" y="0"/>
            <a:chExt cx="24402453" cy="823608"/>
          </a:xfrm>
        </p:grpSpPr>
        <p:sp>
          <p:nvSpPr>
            <p:cNvPr name="Freeform 45" id="45"/>
            <p:cNvSpPr/>
            <p:nvPr/>
          </p:nvSpPr>
          <p:spPr>
            <a:xfrm flipH="false" flipV="false" rot="0">
              <a:off x="0" y="0"/>
              <a:ext cx="24402414" cy="823595"/>
            </a:xfrm>
            <a:custGeom>
              <a:avLst/>
              <a:gdLst/>
              <a:ahLst/>
              <a:cxnLst/>
              <a:rect r="r" b="b" t="t" l="l"/>
              <a:pathLst>
                <a:path h="823595" w="24402414">
                  <a:moveTo>
                    <a:pt x="0" y="0"/>
                  </a:moveTo>
                  <a:lnTo>
                    <a:pt x="24402414" y="0"/>
                  </a:lnTo>
                  <a:lnTo>
                    <a:pt x="24402414" y="823595"/>
                  </a:lnTo>
                  <a:lnTo>
                    <a:pt x="0" y="823595"/>
                  </a:lnTo>
                  <a:close/>
                </a:path>
              </a:pathLst>
            </a:custGeom>
            <a:solidFill>
              <a:srgbClr val="1F4E79"/>
            </a:solidFill>
          </p:spPr>
        </p:sp>
      </p:grpSp>
      <p:grpSp>
        <p:nvGrpSpPr>
          <p:cNvPr name="Group 46" id="46"/>
          <p:cNvGrpSpPr/>
          <p:nvPr/>
        </p:nvGrpSpPr>
        <p:grpSpPr>
          <a:xfrm rot="0">
            <a:off x="480431" y="9677343"/>
            <a:ext cx="10981382" cy="617706"/>
            <a:chOff x="0" y="0"/>
            <a:chExt cx="14641843" cy="823608"/>
          </a:xfrm>
        </p:grpSpPr>
        <p:sp>
          <p:nvSpPr>
            <p:cNvPr name="Freeform 47" id="47"/>
            <p:cNvSpPr/>
            <p:nvPr/>
          </p:nvSpPr>
          <p:spPr>
            <a:xfrm flipH="false" flipV="false" rot="0">
              <a:off x="0" y="0"/>
              <a:ext cx="14641840" cy="823603"/>
            </a:xfrm>
            <a:custGeom>
              <a:avLst/>
              <a:gdLst/>
              <a:ahLst/>
              <a:cxnLst/>
              <a:rect r="r" b="b" t="t" l="l"/>
              <a:pathLst>
                <a:path h="823603" w="14641840">
                  <a:moveTo>
                    <a:pt x="0" y="0"/>
                  </a:moveTo>
                  <a:lnTo>
                    <a:pt x="14641840" y="0"/>
                  </a:lnTo>
                  <a:lnTo>
                    <a:pt x="14641840" y="823603"/>
                  </a:lnTo>
                  <a:lnTo>
                    <a:pt x="0" y="823603"/>
                  </a:lnTo>
                  <a:close/>
                </a:path>
              </a:pathLst>
            </a:custGeom>
            <a:blipFill>
              <a:blip r:embed="rId4">
                <a:alphaModFix amt="0"/>
              </a:blip>
              <a:stretch>
                <a:fillRect l="0" t="-296400" r="0" b="-296401"/>
              </a:stretch>
            </a:blipFill>
          </p:spPr>
        </p:sp>
        <p:sp>
          <p:nvSpPr>
            <p:cNvPr name="TextBox 48" id="48"/>
            <p:cNvSpPr txBox="true"/>
            <p:nvPr/>
          </p:nvSpPr>
          <p:spPr>
            <a:xfrm>
              <a:off x="0" y="0"/>
              <a:ext cx="14641843" cy="823608"/>
            </a:xfrm>
            <a:prstGeom prst="rect">
              <a:avLst/>
            </a:prstGeom>
          </p:spPr>
          <p:txBody>
            <a:bodyPr anchor="ctr" rtlCol="false" tIns="0" lIns="0" bIns="0" rIns="0"/>
            <a:lstStyle/>
            <a:p>
              <a:pPr algn="l">
                <a:lnSpc>
                  <a:spcPts val="1621"/>
                </a:lnSpc>
              </a:pPr>
              <a:r>
                <a:rPr lang="en-US" sz="1351">
                  <a:solidFill>
                    <a:srgbClr val="FFFFFF"/>
                  </a:solidFill>
                  <a:latin typeface="Cabin"/>
                  <a:ea typeface="Cabin"/>
                  <a:cs typeface="Cabin"/>
                  <a:sym typeface="Cabin"/>
                </a:rPr>
                <a:t>VNU UET – Institute for Artificial Intelligence</a:t>
              </a:r>
            </a:p>
          </p:txBody>
        </p:sp>
      </p:grpSp>
      <p:grpSp>
        <p:nvGrpSpPr>
          <p:cNvPr name="Group 49" id="49"/>
          <p:cNvGrpSpPr/>
          <p:nvPr/>
        </p:nvGrpSpPr>
        <p:grpSpPr>
          <a:xfrm rot="0">
            <a:off x="17066438" y="9677343"/>
            <a:ext cx="823608" cy="617706"/>
            <a:chOff x="0" y="0"/>
            <a:chExt cx="1098144" cy="823608"/>
          </a:xfrm>
        </p:grpSpPr>
        <p:sp>
          <p:nvSpPr>
            <p:cNvPr name="Freeform 50" id="50"/>
            <p:cNvSpPr/>
            <p:nvPr/>
          </p:nvSpPr>
          <p:spPr>
            <a:xfrm flipH="false" flipV="false" rot="0">
              <a:off x="0" y="0"/>
              <a:ext cx="1098138" cy="823603"/>
            </a:xfrm>
            <a:custGeom>
              <a:avLst/>
              <a:gdLst/>
              <a:ahLst/>
              <a:cxnLst/>
              <a:rect r="r" b="b" t="t" l="l"/>
              <a:pathLst>
                <a:path h="823603" w="1098138">
                  <a:moveTo>
                    <a:pt x="0" y="0"/>
                  </a:moveTo>
                  <a:lnTo>
                    <a:pt x="1098138" y="0"/>
                  </a:lnTo>
                  <a:lnTo>
                    <a:pt x="1098138" y="823603"/>
                  </a:lnTo>
                  <a:lnTo>
                    <a:pt x="0" y="823603"/>
                  </a:lnTo>
                  <a:close/>
                </a:path>
              </a:pathLst>
            </a:custGeom>
            <a:blipFill>
              <a:blip r:embed="rId4">
                <a:alphaModFix amt="0"/>
              </a:blip>
              <a:stretch>
                <a:fillRect l="-46227" t="0" r="-46228" b="0"/>
              </a:stretch>
            </a:blipFill>
          </p:spPr>
        </p:sp>
        <p:sp>
          <p:nvSpPr>
            <p:cNvPr name="TextBox 51" id="51"/>
            <p:cNvSpPr txBox="true"/>
            <p:nvPr/>
          </p:nvSpPr>
          <p:spPr>
            <a:xfrm>
              <a:off x="0" y="0"/>
              <a:ext cx="1098144" cy="823608"/>
            </a:xfrm>
            <a:prstGeom prst="rect">
              <a:avLst/>
            </a:prstGeom>
          </p:spPr>
          <p:txBody>
            <a:bodyPr anchor="ctr" rtlCol="false" tIns="0" lIns="0" bIns="0" rIns="0"/>
            <a:lstStyle/>
            <a:p>
              <a:pPr algn="r">
                <a:lnSpc>
                  <a:spcPts val="1621"/>
                </a:lnSpc>
              </a:pPr>
              <a:r>
                <a:rPr lang="en-US" sz="1351">
                  <a:solidFill>
                    <a:srgbClr val="FFFFFF"/>
                  </a:solidFill>
                  <a:latin typeface="Cabin"/>
                  <a:ea typeface="Cabin"/>
                  <a:cs typeface="Cabin"/>
                  <a:sym typeface="Cabin"/>
                </a:rPr>
                <a:t>11</a:t>
              </a:r>
            </a:p>
          </p:txBody>
        </p:sp>
      </p:grpSp>
      <p:grpSp>
        <p:nvGrpSpPr>
          <p:cNvPr name="Group 52" id="52"/>
          <p:cNvGrpSpPr/>
          <p:nvPr/>
        </p:nvGrpSpPr>
        <p:grpSpPr>
          <a:xfrm rot="0">
            <a:off x="0" y="0"/>
            <a:ext cx="18288000" cy="315468"/>
            <a:chOff x="0" y="0"/>
            <a:chExt cx="24384000" cy="420624"/>
          </a:xfrm>
        </p:grpSpPr>
        <p:sp>
          <p:nvSpPr>
            <p:cNvPr name="Freeform 53" id="53"/>
            <p:cNvSpPr/>
            <p:nvPr/>
          </p:nvSpPr>
          <p:spPr>
            <a:xfrm flipH="false" flipV="false" rot="0">
              <a:off x="0" y="0"/>
              <a:ext cx="24384000" cy="420624"/>
            </a:xfrm>
            <a:custGeom>
              <a:avLst/>
              <a:gdLst/>
              <a:ahLst/>
              <a:cxnLst/>
              <a:rect r="r" b="b" t="t" l="l"/>
              <a:pathLst>
                <a:path h="420624" w="24384000">
                  <a:moveTo>
                    <a:pt x="0" y="0"/>
                  </a:moveTo>
                  <a:lnTo>
                    <a:pt x="24384000" y="0"/>
                  </a:lnTo>
                  <a:lnTo>
                    <a:pt x="24384000" y="420624"/>
                  </a:lnTo>
                  <a:lnTo>
                    <a:pt x="0" y="420624"/>
                  </a:lnTo>
                  <a:close/>
                </a:path>
              </a:pathLst>
            </a:custGeom>
            <a:solidFill>
              <a:srgbClr val="0F3F6F"/>
            </a:solidFill>
          </p:spPr>
        </p:sp>
      </p:grpSp>
      <p:grpSp>
        <p:nvGrpSpPr>
          <p:cNvPr name="Group 54" id="54"/>
          <p:cNvGrpSpPr/>
          <p:nvPr/>
        </p:nvGrpSpPr>
        <p:grpSpPr>
          <a:xfrm rot="0">
            <a:off x="13098780" y="0"/>
            <a:ext cx="1453896" cy="1508760"/>
            <a:chOff x="0" y="0"/>
            <a:chExt cx="1938528" cy="2011680"/>
          </a:xfrm>
        </p:grpSpPr>
        <p:sp>
          <p:nvSpPr>
            <p:cNvPr name="Freeform 55" id="55"/>
            <p:cNvSpPr/>
            <p:nvPr/>
          </p:nvSpPr>
          <p:spPr>
            <a:xfrm flipH="false" flipV="false" rot="0">
              <a:off x="0" y="0"/>
              <a:ext cx="1938528" cy="2011680"/>
            </a:xfrm>
            <a:custGeom>
              <a:avLst/>
              <a:gdLst/>
              <a:ahLst/>
              <a:cxnLst/>
              <a:rect r="r" b="b" t="t" l="l"/>
              <a:pathLst>
                <a:path h="2011680" w="1938528">
                  <a:moveTo>
                    <a:pt x="0" y="2011680"/>
                  </a:moveTo>
                  <a:lnTo>
                    <a:pt x="484632" y="0"/>
                  </a:lnTo>
                  <a:lnTo>
                    <a:pt x="1938528" y="0"/>
                  </a:lnTo>
                  <a:lnTo>
                    <a:pt x="1453896" y="2011680"/>
                  </a:lnTo>
                  <a:close/>
                </a:path>
              </a:pathLst>
            </a:custGeom>
            <a:solidFill>
              <a:srgbClr val="85B518"/>
            </a:solidFill>
          </p:spPr>
        </p:sp>
      </p:grpSp>
      <p:grpSp>
        <p:nvGrpSpPr>
          <p:cNvPr name="Group 56" id="56"/>
          <p:cNvGrpSpPr/>
          <p:nvPr/>
        </p:nvGrpSpPr>
        <p:grpSpPr>
          <a:xfrm rot="0">
            <a:off x="14621256" y="0"/>
            <a:ext cx="1508760" cy="1508760"/>
            <a:chOff x="0" y="0"/>
            <a:chExt cx="2011680" cy="2011680"/>
          </a:xfrm>
        </p:grpSpPr>
        <p:sp>
          <p:nvSpPr>
            <p:cNvPr name="Freeform 57" id="57"/>
            <p:cNvSpPr/>
            <p:nvPr/>
          </p:nvSpPr>
          <p:spPr>
            <a:xfrm flipH="false" flipV="false" rot="0">
              <a:off x="0" y="0"/>
              <a:ext cx="2011680" cy="2011680"/>
            </a:xfrm>
            <a:custGeom>
              <a:avLst/>
              <a:gdLst/>
              <a:ahLst/>
              <a:cxnLst/>
              <a:rect r="r" b="b" t="t" l="l"/>
              <a:pathLst>
                <a:path h="2011680" w="2011680">
                  <a:moveTo>
                    <a:pt x="0" y="2011680"/>
                  </a:moveTo>
                  <a:lnTo>
                    <a:pt x="502920" y="0"/>
                  </a:lnTo>
                  <a:lnTo>
                    <a:pt x="2011680" y="0"/>
                  </a:lnTo>
                  <a:lnTo>
                    <a:pt x="1508760" y="2011680"/>
                  </a:lnTo>
                  <a:close/>
                </a:path>
              </a:pathLst>
            </a:custGeom>
            <a:solidFill>
              <a:srgbClr val="0F3F6F"/>
            </a:solid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97801" y="384353"/>
            <a:ext cx="851059" cy="851059"/>
            <a:chOff x="0" y="0"/>
            <a:chExt cx="1134745" cy="1134745"/>
          </a:xfrm>
        </p:grpSpPr>
        <p:sp>
          <p:nvSpPr>
            <p:cNvPr name="Freeform 3" id="3" descr="/home/claude/work/assets/logo.png"/>
            <p:cNvSpPr/>
            <p:nvPr/>
          </p:nvSpPr>
          <p:spPr>
            <a:xfrm flipH="false" flipV="false" rot="0">
              <a:off x="0" y="0"/>
              <a:ext cx="1134745" cy="1134745"/>
            </a:xfrm>
            <a:custGeom>
              <a:avLst/>
              <a:gdLst/>
              <a:ahLst/>
              <a:cxnLst/>
              <a:rect r="r" b="b" t="t" l="l"/>
              <a:pathLst>
                <a:path h="1134745" w="1134745">
                  <a:moveTo>
                    <a:pt x="0" y="0"/>
                  </a:moveTo>
                  <a:lnTo>
                    <a:pt x="1134745" y="0"/>
                  </a:lnTo>
                  <a:lnTo>
                    <a:pt x="1134745" y="1134745"/>
                  </a:lnTo>
                  <a:lnTo>
                    <a:pt x="0" y="1134745"/>
                  </a:lnTo>
                  <a:lnTo>
                    <a:pt x="0" y="0"/>
                  </a:lnTo>
                  <a:close/>
                </a:path>
              </a:pathLst>
            </a:custGeom>
            <a:blipFill>
              <a:blip r:embed="rId3"/>
              <a:stretch>
                <a:fillRect l="0" t="0" r="0" b="0"/>
              </a:stretch>
            </a:blipFill>
          </p:spPr>
        </p:sp>
      </p:grpSp>
      <p:grpSp>
        <p:nvGrpSpPr>
          <p:cNvPr name="Group 4" id="4"/>
          <p:cNvGrpSpPr/>
          <p:nvPr/>
        </p:nvGrpSpPr>
        <p:grpSpPr>
          <a:xfrm rot="0">
            <a:off x="686333" y="384353"/>
            <a:ext cx="10981382" cy="411804"/>
            <a:chOff x="0" y="0"/>
            <a:chExt cx="14641843" cy="549072"/>
          </a:xfrm>
        </p:grpSpPr>
        <p:sp>
          <p:nvSpPr>
            <p:cNvPr name="Freeform 5" id="5"/>
            <p:cNvSpPr/>
            <p:nvPr/>
          </p:nvSpPr>
          <p:spPr>
            <a:xfrm flipH="false" flipV="false" rot="0">
              <a:off x="0" y="0"/>
              <a:ext cx="14641840" cy="549069"/>
            </a:xfrm>
            <a:custGeom>
              <a:avLst/>
              <a:gdLst/>
              <a:ahLst/>
              <a:cxnLst/>
              <a:rect r="r" b="b" t="t" l="l"/>
              <a:pathLst>
                <a:path h="549069" w="14641840">
                  <a:moveTo>
                    <a:pt x="0" y="0"/>
                  </a:moveTo>
                  <a:lnTo>
                    <a:pt x="14641840" y="0"/>
                  </a:lnTo>
                  <a:lnTo>
                    <a:pt x="14641840" y="549069"/>
                  </a:lnTo>
                  <a:lnTo>
                    <a:pt x="0" y="549069"/>
                  </a:lnTo>
                  <a:close/>
                </a:path>
              </a:pathLst>
            </a:custGeom>
            <a:blipFill>
              <a:blip r:embed="rId4">
                <a:alphaModFix amt="0"/>
              </a:blip>
              <a:stretch>
                <a:fillRect l="0" t="-469600" r="0" b="-469601"/>
              </a:stretch>
            </a:blipFill>
          </p:spPr>
        </p:sp>
        <p:sp>
          <p:nvSpPr>
            <p:cNvPr name="TextBox 6" id="6"/>
            <p:cNvSpPr txBox="true"/>
            <p:nvPr/>
          </p:nvSpPr>
          <p:spPr>
            <a:xfrm>
              <a:off x="0" y="0"/>
              <a:ext cx="14641843" cy="549072"/>
            </a:xfrm>
            <a:prstGeom prst="rect">
              <a:avLst/>
            </a:prstGeom>
          </p:spPr>
          <p:txBody>
            <a:bodyPr anchor="ctr" rtlCol="false" tIns="0" lIns="0" bIns="0" rIns="0"/>
            <a:lstStyle/>
            <a:p>
              <a:pPr algn="l">
                <a:lnSpc>
                  <a:spcPts val="1981"/>
                </a:lnSpc>
              </a:pPr>
              <a:r>
                <a:rPr lang="en-US" sz="1651" i="true">
                  <a:solidFill>
                    <a:srgbClr val="4A4A4A"/>
                  </a:solidFill>
                  <a:latin typeface="Cabin Italics"/>
                  <a:ea typeface="Cabin Italics"/>
                  <a:cs typeface="Cabin Italics"/>
                  <a:sym typeface="Cabin Italics"/>
                </a:rPr>
                <a:t>5.4. Kiến trúc Spark · Bài 05</a:t>
              </a:r>
            </a:p>
          </p:txBody>
        </p:sp>
      </p:grpSp>
      <p:grpSp>
        <p:nvGrpSpPr>
          <p:cNvPr name="Group 7" id="7"/>
          <p:cNvGrpSpPr/>
          <p:nvPr/>
        </p:nvGrpSpPr>
        <p:grpSpPr>
          <a:xfrm rot="0">
            <a:off x="674418" y="839143"/>
            <a:ext cx="710165" cy="710165"/>
            <a:chOff x="0" y="0"/>
            <a:chExt cx="946887" cy="946887"/>
          </a:xfrm>
        </p:grpSpPr>
        <p:sp>
          <p:nvSpPr>
            <p:cNvPr name="Freeform 8" id="8"/>
            <p:cNvSpPr/>
            <p:nvPr/>
          </p:nvSpPr>
          <p:spPr>
            <a:xfrm flipH="false" flipV="false" rot="0">
              <a:off x="0" y="0"/>
              <a:ext cx="946912" cy="946912"/>
            </a:xfrm>
            <a:custGeom>
              <a:avLst/>
              <a:gdLst/>
              <a:ahLst/>
              <a:cxnLst/>
              <a:rect r="r" b="b" t="t" l="l"/>
              <a:pathLst>
                <a:path h="946912" w="946912">
                  <a:moveTo>
                    <a:pt x="0" y="473456"/>
                  </a:moveTo>
                  <a:cubicBezTo>
                    <a:pt x="0" y="211963"/>
                    <a:pt x="211963" y="0"/>
                    <a:pt x="473456" y="0"/>
                  </a:cubicBezTo>
                  <a:cubicBezTo>
                    <a:pt x="734949" y="0"/>
                    <a:pt x="946912" y="211963"/>
                    <a:pt x="946912" y="473456"/>
                  </a:cubicBezTo>
                  <a:cubicBezTo>
                    <a:pt x="946912" y="734949"/>
                    <a:pt x="734949" y="946912"/>
                    <a:pt x="473456" y="946912"/>
                  </a:cubicBezTo>
                  <a:cubicBezTo>
                    <a:pt x="211963" y="946912"/>
                    <a:pt x="0" y="734949"/>
                    <a:pt x="0" y="473456"/>
                  </a:cubicBezTo>
                  <a:close/>
                </a:path>
              </a:pathLst>
            </a:custGeom>
            <a:solidFill>
              <a:srgbClr val="FFFFFF"/>
            </a:solidFill>
            <a:ln w="23831" cap="sq">
              <a:solidFill>
                <a:srgbClr val="1F4E79"/>
              </a:solidFill>
              <a:prstDash val="solid"/>
              <a:miter/>
            </a:ln>
          </p:spPr>
        </p:sp>
      </p:grpSp>
      <p:grpSp>
        <p:nvGrpSpPr>
          <p:cNvPr name="Group 9" id="9"/>
          <p:cNvGrpSpPr/>
          <p:nvPr/>
        </p:nvGrpSpPr>
        <p:grpSpPr>
          <a:xfrm rot="0">
            <a:off x="686333" y="851059"/>
            <a:ext cx="686333" cy="686333"/>
            <a:chOff x="0" y="0"/>
            <a:chExt cx="915111" cy="915111"/>
          </a:xfrm>
        </p:grpSpPr>
        <p:sp>
          <p:nvSpPr>
            <p:cNvPr name="Freeform 10" id="10"/>
            <p:cNvSpPr/>
            <p:nvPr/>
          </p:nvSpPr>
          <p:spPr>
            <a:xfrm flipH="false" flipV="false" rot="0">
              <a:off x="0" y="0"/>
              <a:ext cx="915115" cy="915115"/>
            </a:xfrm>
            <a:custGeom>
              <a:avLst/>
              <a:gdLst/>
              <a:ahLst/>
              <a:cxnLst/>
              <a:rect r="r" b="b" t="t" l="l"/>
              <a:pathLst>
                <a:path h="915115" w="915115">
                  <a:moveTo>
                    <a:pt x="0" y="0"/>
                  </a:moveTo>
                  <a:lnTo>
                    <a:pt x="915115" y="0"/>
                  </a:lnTo>
                  <a:lnTo>
                    <a:pt x="915115" y="915115"/>
                  </a:lnTo>
                  <a:lnTo>
                    <a:pt x="0" y="915115"/>
                  </a:lnTo>
                  <a:close/>
                </a:path>
              </a:pathLst>
            </a:custGeom>
            <a:blipFill>
              <a:blip r:embed="rId4">
                <a:alphaModFix amt="0"/>
              </a:blip>
              <a:stretch>
                <a:fillRect l="-78303" t="0" r="-78302" b="0"/>
              </a:stretch>
            </a:blipFill>
          </p:spPr>
        </p:sp>
        <p:sp>
          <p:nvSpPr>
            <p:cNvPr name="TextBox 11" id="11"/>
            <p:cNvSpPr txBox="true"/>
            <p:nvPr/>
          </p:nvSpPr>
          <p:spPr>
            <a:xfrm>
              <a:off x="0" y="0"/>
              <a:ext cx="915111" cy="915111"/>
            </a:xfrm>
            <a:prstGeom prst="rect">
              <a:avLst/>
            </a:prstGeom>
          </p:spPr>
          <p:txBody>
            <a:bodyPr anchor="ctr" rtlCol="false" tIns="0" lIns="0" bIns="0" rIns="0"/>
            <a:lstStyle/>
            <a:p>
              <a:pPr algn="ctr">
                <a:lnSpc>
                  <a:spcPts val="2521"/>
                </a:lnSpc>
              </a:pPr>
              <a:r>
                <a:rPr lang="en-US" sz="2101" b="true">
                  <a:solidFill>
                    <a:srgbClr val="1F4E79"/>
                  </a:solidFill>
                  <a:latin typeface="Cabin Bold"/>
                  <a:ea typeface="Cabin Bold"/>
                  <a:cs typeface="Cabin Bold"/>
                  <a:sym typeface="Cabin Bold"/>
                </a:rPr>
                <a:t>04</a:t>
              </a:r>
            </a:p>
          </p:txBody>
        </p:sp>
      </p:grpSp>
      <p:grpSp>
        <p:nvGrpSpPr>
          <p:cNvPr name="Group 12" id="12"/>
          <p:cNvGrpSpPr/>
          <p:nvPr/>
        </p:nvGrpSpPr>
        <p:grpSpPr>
          <a:xfrm rot="0">
            <a:off x="1578569" y="823608"/>
            <a:ext cx="82363" cy="754971"/>
            <a:chOff x="0" y="0"/>
            <a:chExt cx="109817" cy="1006627"/>
          </a:xfrm>
        </p:grpSpPr>
        <p:sp>
          <p:nvSpPr>
            <p:cNvPr name="Freeform 13" id="13"/>
            <p:cNvSpPr/>
            <p:nvPr/>
          </p:nvSpPr>
          <p:spPr>
            <a:xfrm flipH="false" flipV="false" rot="0">
              <a:off x="0" y="0"/>
              <a:ext cx="109855" cy="1006602"/>
            </a:xfrm>
            <a:custGeom>
              <a:avLst/>
              <a:gdLst/>
              <a:ahLst/>
              <a:cxnLst/>
              <a:rect r="r" b="b" t="t" l="l"/>
              <a:pathLst>
                <a:path h="1006602" w="109855">
                  <a:moveTo>
                    <a:pt x="0" y="0"/>
                  </a:moveTo>
                  <a:lnTo>
                    <a:pt x="109855" y="0"/>
                  </a:lnTo>
                  <a:lnTo>
                    <a:pt x="109855" y="1006602"/>
                  </a:lnTo>
                  <a:lnTo>
                    <a:pt x="0" y="1006602"/>
                  </a:lnTo>
                  <a:close/>
                </a:path>
              </a:pathLst>
            </a:custGeom>
            <a:solidFill>
              <a:srgbClr val="85B518"/>
            </a:solidFill>
          </p:spPr>
        </p:sp>
      </p:grpSp>
      <p:grpSp>
        <p:nvGrpSpPr>
          <p:cNvPr name="Group 14" id="14"/>
          <p:cNvGrpSpPr/>
          <p:nvPr/>
        </p:nvGrpSpPr>
        <p:grpSpPr>
          <a:xfrm rot="0">
            <a:off x="1853108" y="796147"/>
            <a:ext cx="14938791" cy="823608"/>
            <a:chOff x="0" y="0"/>
            <a:chExt cx="19918388" cy="1098144"/>
          </a:xfrm>
        </p:grpSpPr>
        <p:sp>
          <p:nvSpPr>
            <p:cNvPr name="Freeform 15" id="15"/>
            <p:cNvSpPr/>
            <p:nvPr/>
          </p:nvSpPr>
          <p:spPr>
            <a:xfrm flipH="false" flipV="false" rot="0">
              <a:off x="0" y="0"/>
              <a:ext cx="19918392" cy="1098138"/>
            </a:xfrm>
            <a:custGeom>
              <a:avLst/>
              <a:gdLst/>
              <a:ahLst/>
              <a:cxnLst/>
              <a:rect r="r" b="b" t="t" l="l"/>
              <a:pathLst>
                <a:path h="1098138" w="19918392">
                  <a:moveTo>
                    <a:pt x="0" y="0"/>
                  </a:moveTo>
                  <a:lnTo>
                    <a:pt x="19918392" y="0"/>
                  </a:lnTo>
                  <a:lnTo>
                    <a:pt x="19918392" y="1098138"/>
                  </a:lnTo>
                  <a:lnTo>
                    <a:pt x="0" y="1098138"/>
                  </a:lnTo>
                  <a:close/>
                </a:path>
              </a:pathLst>
            </a:custGeom>
            <a:blipFill>
              <a:blip r:embed="rId4">
                <a:alphaModFix amt="0"/>
              </a:blip>
              <a:stretch>
                <a:fillRect l="0" t="-303425" r="0" b="-303426"/>
              </a:stretch>
            </a:blipFill>
          </p:spPr>
        </p:sp>
        <p:sp>
          <p:nvSpPr>
            <p:cNvPr name="TextBox 16" id="16"/>
            <p:cNvSpPr txBox="true"/>
            <p:nvPr/>
          </p:nvSpPr>
          <p:spPr>
            <a:xfrm>
              <a:off x="0" y="0"/>
              <a:ext cx="19918388" cy="1098144"/>
            </a:xfrm>
            <a:prstGeom prst="rect">
              <a:avLst/>
            </a:prstGeom>
          </p:spPr>
          <p:txBody>
            <a:bodyPr anchor="ctr" rtlCol="false" tIns="0" lIns="0" bIns="0" rIns="0"/>
            <a:lstStyle/>
            <a:p>
              <a:pPr algn="l">
                <a:lnSpc>
                  <a:spcPts val="3782"/>
                </a:lnSpc>
              </a:pPr>
              <a:r>
                <a:rPr lang="en-US" sz="3152" b="true">
                  <a:solidFill>
                    <a:srgbClr val="1F4E79"/>
                  </a:solidFill>
                  <a:latin typeface="Cabin Bold"/>
                  <a:ea typeface="Cabin Bold"/>
                  <a:cs typeface="Cabin Bold"/>
                  <a:sym typeface="Cabin Bold"/>
                </a:rPr>
                <a:t>Các thành phần trong kiến trúc Spark</a:t>
              </a:r>
            </a:p>
          </p:txBody>
        </p:sp>
      </p:grpSp>
      <p:grpSp>
        <p:nvGrpSpPr>
          <p:cNvPr name="Group 17" id="17"/>
          <p:cNvGrpSpPr/>
          <p:nvPr/>
        </p:nvGrpSpPr>
        <p:grpSpPr>
          <a:xfrm rot="0">
            <a:off x="679190" y="2120494"/>
            <a:ext cx="5436356" cy="2896914"/>
            <a:chOff x="0" y="0"/>
            <a:chExt cx="7248474" cy="3862553"/>
          </a:xfrm>
        </p:grpSpPr>
        <p:sp>
          <p:nvSpPr>
            <p:cNvPr name="Freeform 18" id="18"/>
            <p:cNvSpPr/>
            <p:nvPr/>
          </p:nvSpPr>
          <p:spPr>
            <a:xfrm flipH="false" flipV="false" rot="0">
              <a:off x="0" y="0"/>
              <a:ext cx="7248525" cy="3862578"/>
            </a:xfrm>
            <a:custGeom>
              <a:avLst/>
              <a:gdLst/>
              <a:ahLst/>
              <a:cxnLst/>
              <a:rect r="r" b="b" t="t" l="l"/>
              <a:pathLst>
                <a:path h="3862578" w="7248525">
                  <a:moveTo>
                    <a:pt x="0" y="147193"/>
                  </a:moveTo>
                  <a:cubicBezTo>
                    <a:pt x="0" y="65913"/>
                    <a:pt x="65913" y="0"/>
                    <a:pt x="147193" y="0"/>
                  </a:cubicBezTo>
                  <a:lnTo>
                    <a:pt x="7101332" y="0"/>
                  </a:lnTo>
                  <a:cubicBezTo>
                    <a:pt x="7182612" y="0"/>
                    <a:pt x="7248525" y="65913"/>
                    <a:pt x="7248525" y="147193"/>
                  </a:cubicBezTo>
                  <a:lnTo>
                    <a:pt x="7248525" y="3715385"/>
                  </a:lnTo>
                  <a:cubicBezTo>
                    <a:pt x="7248525" y="3796665"/>
                    <a:pt x="7182612" y="3862578"/>
                    <a:pt x="7101332" y="3862578"/>
                  </a:cubicBezTo>
                  <a:lnTo>
                    <a:pt x="147193" y="3862578"/>
                  </a:lnTo>
                  <a:cubicBezTo>
                    <a:pt x="65913" y="3862578"/>
                    <a:pt x="0" y="3796665"/>
                    <a:pt x="0" y="3715385"/>
                  </a:cubicBezTo>
                  <a:close/>
                </a:path>
              </a:pathLst>
            </a:custGeom>
            <a:solidFill>
              <a:srgbClr val="F2F5F8"/>
            </a:solidFill>
            <a:ln w="14299" cap="sq">
              <a:solidFill>
                <a:srgbClr val="D9D9D9"/>
              </a:solidFill>
              <a:prstDash val="solid"/>
              <a:miter/>
            </a:ln>
          </p:spPr>
        </p:sp>
      </p:grpSp>
      <p:grpSp>
        <p:nvGrpSpPr>
          <p:cNvPr name="Group 19" id="19"/>
          <p:cNvGrpSpPr/>
          <p:nvPr/>
        </p:nvGrpSpPr>
        <p:grpSpPr>
          <a:xfrm rot="0">
            <a:off x="686333" y="2127647"/>
            <a:ext cx="82363" cy="2882608"/>
            <a:chOff x="0" y="0"/>
            <a:chExt cx="109817" cy="3843477"/>
          </a:xfrm>
        </p:grpSpPr>
        <p:sp>
          <p:nvSpPr>
            <p:cNvPr name="Freeform 20" id="20"/>
            <p:cNvSpPr/>
            <p:nvPr/>
          </p:nvSpPr>
          <p:spPr>
            <a:xfrm flipH="false" flipV="false" rot="0">
              <a:off x="0" y="0"/>
              <a:ext cx="109855" cy="3843528"/>
            </a:xfrm>
            <a:custGeom>
              <a:avLst/>
              <a:gdLst/>
              <a:ahLst/>
              <a:cxnLst/>
              <a:rect r="r" b="b" t="t" l="l"/>
              <a:pathLst>
                <a:path h="3843528" w="109855">
                  <a:moveTo>
                    <a:pt x="0" y="0"/>
                  </a:moveTo>
                  <a:lnTo>
                    <a:pt x="109855" y="0"/>
                  </a:lnTo>
                  <a:lnTo>
                    <a:pt x="109855" y="3843528"/>
                  </a:lnTo>
                  <a:lnTo>
                    <a:pt x="0" y="3843528"/>
                  </a:lnTo>
                  <a:close/>
                </a:path>
              </a:pathLst>
            </a:custGeom>
            <a:solidFill>
              <a:srgbClr val="1F4E79"/>
            </a:solidFill>
          </p:spPr>
        </p:sp>
      </p:grpSp>
      <p:grpSp>
        <p:nvGrpSpPr>
          <p:cNvPr name="Group 21" id="21"/>
          <p:cNvGrpSpPr/>
          <p:nvPr/>
        </p:nvGrpSpPr>
        <p:grpSpPr>
          <a:xfrm rot="0">
            <a:off x="1029500" y="2333539"/>
            <a:ext cx="4804353" cy="823608"/>
            <a:chOff x="0" y="0"/>
            <a:chExt cx="6405804" cy="1098144"/>
          </a:xfrm>
        </p:grpSpPr>
        <p:sp>
          <p:nvSpPr>
            <p:cNvPr name="Freeform 22" id="22"/>
            <p:cNvSpPr/>
            <p:nvPr/>
          </p:nvSpPr>
          <p:spPr>
            <a:xfrm flipH="false" flipV="false" rot="0">
              <a:off x="0" y="0"/>
              <a:ext cx="6405805" cy="1098138"/>
            </a:xfrm>
            <a:custGeom>
              <a:avLst/>
              <a:gdLst/>
              <a:ahLst/>
              <a:cxnLst/>
              <a:rect r="r" b="b" t="t" l="l"/>
              <a:pathLst>
                <a:path h="1098138" w="6405805">
                  <a:moveTo>
                    <a:pt x="0" y="0"/>
                  </a:moveTo>
                  <a:lnTo>
                    <a:pt x="6405805" y="0"/>
                  </a:lnTo>
                  <a:lnTo>
                    <a:pt x="6405805" y="1098138"/>
                  </a:lnTo>
                  <a:lnTo>
                    <a:pt x="0" y="1098138"/>
                  </a:lnTo>
                  <a:close/>
                </a:path>
              </a:pathLst>
            </a:custGeom>
            <a:blipFill>
              <a:blip r:embed="rId4">
                <a:alphaModFix amt="0"/>
              </a:blip>
              <a:stretch>
                <a:fillRect l="0" t="-63662" r="0" b="-63662"/>
              </a:stretch>
            </a:blipFill>
          </p:spPr>
        </p:sp>
        <p:sp>
          <p:nvSpPr>
            <p:cNvPr name="TextBox 23" id="23"/>
            <p:cNvSpPr txBox="true"/>
            <p:nvPr/>
          </p:nvSpPr>
          <p:spPr>
            <a:xfrm>
              <a:off x="0" y="-9525"/>
              <a:ext cx="6405804" cy="1107669"/>
            </a:xfrm>
            <a:prstGeom prst="rect">
              <a:avLst/>
            </a:prstGeom>
          </p:spPr>
          <p:txBody>
            <a:bodyPr anchor="ctr" rtlCol="false" tIns="0" lIns="0" bIns="0" rIns="0"/>
            <a:lstStyle/>
            <a:p>
              <a:pPr algn="l">
                <a:lnSpc>
                  <a:spcPts val="2341"/>
                </a:lnSpc>
              </a:pPr>
              <a:r>
                <a:rPr lang="en-US" sz="1951" b="true">
                  <a:solidFill>
                    <a:srgbClr val="1F4E79"/>
                  </a:solidFill>
                  <a:latin typeface="Cabin Bold"/>
                  <a:ea typeface="Cabin Bold"/>
                  <a:cs typeface="Cabin Bold"/>
                  <a:sym typeface="Cabin Bold"/>
                </a:rPr>
                <a:t>Driver Program</a:t>
              </a:r>
            </a:p>
          </p:txBody>
        </p:sp>
      </p:grpSp>
      <p:sp>
        <p:nvSpPr>
          <p:cNvPr name="TextBox 24" id="24"/>
          <p:cNvSpPr txBox="true"/>
          <p:nvPr/>
        </p:nvSpPr>
        <p:spPr>
          <a:xfrm rot="0">
            <a:off x="1120940" y="3202867"/>
            <a:ext cx="4621473" cy="1555766"/>
          </a:xfrm>
          <a:prstGeom prst="rect">
            <a:avLst/>
          </a:prstGeom>
        </p:spPr>
        <p:txBody>
          <a:bodyPr anchor="t" rtlCol="false" tIns="0" lIns="0" bIns="0" rIns="0">
            <a:spAutoFit/>
          </a:bodyPr>
          <a:lstStyle/>
          <a:p>
            <a:pPr algn="l">
              <a:lnSpc>
                <a:spcPts val="1891"/>
              </a:lnSpc>
            </a:pPr>
            <a:r>
              <a:rPr lang="en-US" sz="1576">
                <a:solidFill>
                  <a:srgbClr val="000000"/>
                </a:solidFill>
                <a:latin typeface="Cabin"/>
                <a:ea typeface="Cabin"/>
                <a:cs typeface="Cabin"/>
                <a:sym typeface="Cabin"/>
              </a:rPr>
              <a:t>Chương trình chính, điều phối toàn bộ ứng dụng Spark</a:t>
            </a:r>
          </a:p>
        </p:txBody>
      </p:sp>
      <p:grpSp>
        <p:nvGrpSpPr>
          <p:cNvPr name="Group 25" id="25"/>
          <p:cNvGrpSpPr/>
          <p:nvPr/>
        </p:nvGrpSpPr>
        <p:grpSpPr>
          <a:xfrm rot="0">
            <a:off x="6444415" y="2120494"/>
            <a:ext cx="5436356" cy="2896914"/>
            <a:chOff x="0" y="0"/>
            <a:chExt cx="7248474" cy="3862553"/>
          </a:xfrm>
        </p:grpSpPr>
        <p:sp>
          <p:nvSpPr>
            <p:cNvPr name="Freeform 26" id="26"/>
            <p:cNvSpPr/>
            <p:nvPr/>
          </p:nvSpPr>
          <p:spPr>
            <a:xfrm flipH="false" flipV="false" rot="0">
              <a:off x="0" y="0"/>
              <a:ext cx="7248525" cy="3862578"/>
            </a:xfrm>
            <a:custGeom>
              <a:avLst/>
              <a:gdLst/>
              <a:ahLst/>
              <a:cxnLst/>
              <a:rect r="r" b="b" t="t" l="l"/>
              <a:pathLst>
                <a:path h="3862578" w="7248525">
                  <a:moveTo>
                    <a:pt x="0" y="147193"/>
                  </a:moveTo>
                  <a:cubicBezTo>
                    <a:pt x="0" y="65913"/>
                    <a:pt x="65913" y="0"/>
                    <a:pt x="147193" y="0"/>
                  </a:cubicBezTo>
                  <a:lnTo>
                    <a:pt x="7101332" y="0"/>
                  </a:lnTo>
                  <a:cubicBezTo>
                    <a:pt x="7182612" y="0"/>
                    <a:pt x="7248525" y="65913"/>
                    <a:pt x="7248525" y="147193"/>
                  </a:cubicBezTo>
                  <a:lnTo>
                    <a:pt x="7248525" y="3715385"/>
                  </a:lnTo>
                  <a:cubicBezTo>
                    <a:pt x="7248525" y="3796665"/>
                    <a:pt x="7182612" y="3862578"/>
                    <a:pt x="7101332" y="3862578"/>
                  </a:cubicBezTo>
                  <a:lnTo>
                    <a:pt x="147193" y="3862578"/>
                  </a:lnTo>
                  <a:cubicBezTo>
                    <a:pt x="65913" y="3862578"/>
                    <a:pt x="0" y="3796665"/>
                    <a:pt x="0" y="3715385"/>
                  </a:cubicBezTo>
                  <a:close/>
                </a:path>
              </a:pathLst>
            </a:custGeom>
            <a:solidFill>
              <a:srgbClr val="F2F5F8"/>
            </a:solidFill>
            <a:ln w="14299" cap="sq">
              <a:solidFill>
                <a:srgbClr val="D9D9D9"/>
              </a:solidFill>
              <a:prstDash val="solid"/>
              <a:miter/>
            </a:ln>
          </p:spPr>
        </p:sp>
      </p:grpSp>
      <p:grpSp>
        <p:nvGrpSpPr>
          <p:cNvPr name="Group 27" id="27"/>
          <p:cNvGrpSpPr/>
          <p:nvPr/>
        </p:nvGrpSpPr>
        <p:grpSpPr>
          <a:xfrm rot="0">
            <a:off x="6451559" y="2127647"/>
            <a:ext cx="82363" cy="2882608"/>
            <a:chOff x="0" y="0"/>
            <a:chExt cx="109817" cy="3843477"/>
          </a:xfrm>
        </p:grpSpPr>
        <p:sp>
          <p:nvSpPr>
            <p:cNvPr name="Freeform 28" id="28"/>
            <p:cNvSpPr/>
            <p:nvPr/>
          </p:nvSpPr>
          <p:spPr>
            <a:xfrm flipH="false" flipV="false" rot="0">
              <a:off x="0" y="0"/>
              <a:ext cx="109855" cy="3843528"/>
            </a:xfrm>
            <a:custGeom>
              <a:avLst/>
              <a:gdLst/>
              <a:ahLst/>
              <a:cxnLst/>
              <a:rect r="r" b="b" t="t" l="l"/>
              <a:pathLst>
                <a:path h="3843528" w="109855">
                  <a:moveTo>
                    <a:pt x="0" y="0"/>
                  </a:moveTo>
                  <a:lnTo>
                    <a:pt x="109855" y="0"/>
                  </a:lnTo>
                  <a:lnTo>
                    <a:pt x="109855" y="3843528"/>
                  </a:lnTo>
                  <a:lnTo>
                    <a:pt x="0" y="3843528"/>
                  </a:lnTo>
                  <a:close/>
                </a:path>
              </a:pathLst>
            </a:custGeom>
            <a:solidFill>
              <a:srgbClr val="1F4E79"/>
            </a:solidFill>
          </p:spPr>
        </p:sp>
      </p:grpSp>
      <p:grpSp>
        <p:nvGrpSpPr>
          <p:cNvPr name="Group 29" id="29"/>
          <p:cNvGrpSpPr/>
          <p:nvPr/>
        </p:nvGrpSpPr>
        <p:grpSpPr>
          <a:xfrm rot="0">
            <a:off x="6794725" y="2333539"/>
            <a:ext cx="4804353" cy="823608"/>
            <a:chOff x="0" y="0"/>
            <a:chExt cx="6405804" cy="1098144"/>
          </a:xfrm>
        </p:grpSpPr>
        <p:sp>
          <p:nvSpPr>
            <p:cNvPr name="Freeform 30" id="30"/>
            <p:cNvSpPr/>
            <p:nvPr/>
          </p:nvSpPr>
          <p:spPr>
            <a:xfrm flipH="false" flipV="false" rot="0">
              <a:off x="0" y="0"/>
              <a:ext cx="6405805" cy="1098138"/>
            </a:xfrm>
            <a:custGeom>
              <a:avLst/>
              <a:gdLst/>
              <a:ahLst/>
              <a:cxnLst/>
              <a:rect r="r" b="b" t="t" l="l"/>
              <a:pathLst>
                <a:path h="1098138" w="6405805">
                  <a:moveTo>
                    <a:pt x="0" y="0"/>
                  </a:moveTo>
                  <a:lnTo>
                    <a:pt x="6405805" y="0"/>
                  </a:lnTo>
                  <a:lnTo>
                    <a:pt x="6405805" y="1098138"/>
                  </a:lnTo>
                  <a:lnTo>
                    <a:pt x="0" y="1098138"/>
                  </a:lnTo>
                  <a:close/>
                </a:path>
              </a:pathLst>
            </a:custGeom>
            <a:blipFill>
              <a:blip r:embed="rId4">
                <a:alphaModFix amt="0"/>
              </a:blip>
              <a:stretch>
                <a:fillRect l="0" t="-63662" r="0" b="-63662"/>
              </a:stretch>
            </a:blipFill>
          </p:spPr>
        </p:sp>
        <p:sp>
          <p:nvSpPr>
            <p:cNvPr name="TextBox 31" id="31"/>
            <p:cNvSpPr txBox="true"/>
            <p:nvPr/>
          </p:nvSpPr>
          <p:spPr>
            <a:xfrm>
              <a:off x="0" y="-9525"/>
              <a:ext cx="6405804" cy="1107669"/>
            </a:xfrm>
            <a:prstGeom prst="rect">
              <a:avLst/>
            </a:prstGeom>
          </p:spPr>
          <p:txBody>
            <a:bodyPr anchor="ctr" rtlCol="false" tIns="0" lIns="0" bIns="0" rIns="0"/>
            <a:lstStyle/>
            <a:p>
              <a:pPr algn="l">
                <a:lnSpc>
                  <a:spcPts val="2341"/>
                </a:lnSpc>
              </a:pPr>
              <a:r>
                <a:rPr lang="en-US" sz="1951" b="true">
                  <a:solidFill>
                    <a:srgbClr val="1F4E79"/>
                  </a:solidFill>
                  <a:latin typeface="Cabin Bold"/>
                  <a:ea typeface="Cabin Bold"/>
                  <a:cs typeface="Cabin Bold"/>
                  <a:sym typeface="Cabin Bold"/>
                </a:rPr>
                <a:t>SparkSession / SparkContext</a:t>
              </a:r>
            </a:p>
          </p:txBody>
        </p:sp>
      </p:grpSp>
      <p:sp>
        <p:nvSpPr>
          <p:cNvPr name="TextBox 32" id="32"/>
          <p:cNvSpPr txBox="true"/>
          <p:nvPr/>
        </p:nvSpPr>
        <p:spPr>
          <a:xfrm rot="0">
            <a:off x="6886165" y="3202867"/>
            <a:ext cx="4621473" cy="1555766"/>
          </a:xfrm>
          <a:prstGeom prst="rect">
            <a:avLst/>
          </a:prstGeom>
        </p:spPr>
        <p:txBody>
          <a:bodyPr anchor="t" rtlCol="false" tIns="0" lIns="0" bIns="0" rIns="0">
            <a:spAutoFit/>
          </a:bodyPr>
          <a:lstStyle/>
          <a:p>
            <a:pPr algn="l">
              <a:lnSpc>
                <a:spcPts val="1891"/>
              </a:lnSpc>
            </a:pPr>
            <a:r>
              <a:rPr lang="en-US" sz="1576">
                <a:solidFill>
                  <a:srgbClr val="000000"/>
                </a:solidFill>
                <a:latin typeface="Cabin"/>
                <a:ea typeface="Cabin"/>
                <a:cs typeface="Cabin"/>
                <a:sym typeface="Cabin"/>
              </a:rPr>
              <a:t>Điểm khởi tạo để tương tác với Spark từ code</a:t>
            </a:r>
          </a:p>
        </p:txBody>
      </p:sp>
      <p:grpSp>
        <p:nvGrpSpPr>
          <p:cNvPr name="Group 33" id="33"/>
          <p:cNvGrpSpPr/>
          <p:nvPr/>
        </p:nvGrpSpPr>
        <p:grpSpPr>
          <a:xfrm rot="0">
            <a:off x="12209631" y="2120494"/>
            <a:ext cx="5436356" cy="2896914"/>
            <a:chOff x="0" y="0"/>
            <a:chExt cx="7248474" cy="3862553"/>
          </a:xfrm>
        </p:grpSpPr>
        <p:sp>
          <p:nvSpPr>
            <p:cNvPr name="Freeform 34" id="34"/>
            <p:cNvSpPr/>
            <p:nvPr/>
          </p:nvSpPr>
          <p:spPr>
            <a:xfrm flipH="false" flipV="false" rot="0">
              <a:off x="0" y="0"/>
              <a:ext cx="7248525" cy="3862578"/>
            </a:xfrm>
            <a:custGeom>
              <a:avLst/>
              <a:gdLst/>
              <a:ahLst/>
              <a:cxnLst/>
              <a:rect r="r" b="b" t="t" l="l"/>
              <a:pathLst>
                <a:path h="3862578" w="7248525">
                  <a:moveTo>
                    <a:pt x="0" y="147193"/>
                  </a:moveTo>
                  <a:cubicBezTo>
                    <a:pt x="0" y="65913"/>
                    <a:pt x="65913" y="0"/>
                    <a:pt x="147193" y="0"/>
                  </a:cubicBezTo>
                  <a:lnTo>
                    <a:pt x="7101332" y="0"/>
                  </a:lnTo>
                  <a:cubicBezTo>
                    <a:pt x="7182612" y="0"/>
                    <a:pt x="7248525" y="65913"/>
                    <a:pt x="7248525" y="147193"/>
                  </a:cubicBezTo>
                  <a:lnTo>
                    <a:pt x="7248525" y="3715385"/>
                  </a:lnTo>
                  <a:cubicBezTo>
                    <a:pt x="7248525" y="3796665"/>
                    <a:pt x="7182612" y="3862578"/>
                    <a:pt x="7101332" y="3862578"/>
                  </a:cubicBezTo>
                  <a:lnTo>
                    <a:pt x="147193" y="3862578"/>
                  </a:lnTo>
                  <a:cubicBezTo>
                    <a:pt x="65913" y="3862578"/>
                    <a:pt x="0" y="3796665"/>
                    <a:pt x="0" y="3715385"/>
                  </a:cubicBezTo>
                  <a:close/>
                </a:path>
              </a:pathLst>
            </a:custGeom>
            <a:solidFill>
              <a:srgbClr val="F2F5F8"/>
            </a:solidFill>
            <a:ln w="14299" cap="sq">
              <a:solidFill>
                <a:srgbClr val="D9D9D9"/>
              </a:solidFill>
              <a:prstDash val="solid"/>
              <a:miter/>
            </a:ln>
          </p:spPr>
        </p:sp>
      </p:grpSp>
      <p:grpSp>
        <p:nvGrpSpPr>
          <p:cNvPr name="Group 35" id="35"/>
          <p:cNvGrpSpPr/>
          <p:nvPr/>
        </p:nvGrpSpPr>
        <p:grpSpPr>
          <a:xfrm rot="0">
            <a:off x="12216784" y="2127647"/>
            <a:ext cx="82363" cy="2882608"/>
            <a:chOff x="0" y="0"/>
            <a:chExt cx="109817" cy="3843477"/>
          </a:xfrm>
        </p:grpSpPr>
        <p:sp>
          <p:nvSpPr>
            <p:cNvPr name="Freeform 36" id="36"/>
            <p:cNvSpPr/>
            <p:nvPr/>
          </p:nvSpPr>
          <p:spPr>
            <a:xfrm flipH="false" flipV="false" rot="0">
              <a:off x="0" y="0"/>
              <a:ext cx="109855" cy="3843528"/>
            </a:xfrm>
            <a:custGeom>
              <a:avLst/>
              <a:gdLst/>
              <a:ahLst/>
              <a:cxnLst/>
              <a:rect r="r" b="b" t="t" l="l"/>
              <a:pathLst>
                <a:path h="3843528" w="109855">
                  <a:moveTo>
                    <a:pt x="0" y="0"/>
                  </a:moveTo>
                  <a:lnTo>
                    <a:pt x="109855" y="0"/>
                  </a:lnTo>
                  <a:lnTo>
                    <a:pt x="109855" y="3843528"/>
                  </a:lnTo>
                  <a:lnTo>
                    <a:pt x="0" y="3843528"/>
                  </a:lnTo>
                  <a:close/>
                </a:path>
              </a:pathLst>
            </a:custGeom>
            <a:solidFill>
              <a:srgbClr val="1F4E79"/>
            </a:solidFill>
          </p:spPr>
        </p:sp>
      </p:grpSp>
      <p:grpSp>
        <p:nvGrpSpPr>
          <p:cNvPr name="Group 37" id="37"/>
          <p:cNvGrpSpPr/>
          <p:nvPr/>
        </p:nvGrpSpPr>
        <p:grpSpPr>
          <a:xfrm rot="0">
            <a:off x="12559951" y="2333539"/>
            <a:ext cx="4804353" cy="823608"/>
            <a:chOff x="0" y="0"/>
            <a:chExt cx="6405804" cy="1098144"/>
          </a:xfrm>
        </p:grpSpPr>
        <p:sp>
          <p:nvSpPr>
            <p:cNvPr name="Freeform 38" id="38"/>
            <p:cNvSpPr/>
            <p:nvPr/>
          </p:nvSpPr>
          <p:spPr>
            <a:xfrm flipH="false" flipV="false" rot="0">
              <a:off x="0" y="0"/>
              <a:ext cx="6405805" cy="1098138"/>
            </a:xfrm>
            <a:custGeom>
              <a:avLst/>
              <a:gdLst/>
              <a:ahLst/>
              <a:cxnLst/>
              <a:rect r="r" b="b" t="t" l="l"/>
              <a:pathLst>
                <a:path h="1098138" w="6405805">
                  <a:moveTo>
                    <a:pt x="0" y="0"/>
                  </a:moveTo>
                  <a:lnTo>
                    <a:pt x="6405805" y="0"/>
                  </a:lnTo>
                  <a:lnTo>
                    <a:pt x="6405805" y="1098138"/>
                  </a:lnTo>
                  <a:lnTo>
                    <a:pt x="0" y="1098138"/>
                  </a:lnTo>
                  <a:close/>
                </a:path>
              </a:pathLst>
            </a:custGeom>
            <a:blipFill>
              <a:blip r:embed="rId4">
                <a:alphaModFix amt="0"/>
              </a:blip>
              <a:stretch>
                <a:fillRect l="0" t="-63662" r="0" b="-63662"/>
              </a:stretch>
            </a:blipFill>
          </p:spPr>
        </p:sp>
        <p:sp>
          <p:nvSpPr>
            <p:cNvPr name="TextBox 39" id="39"/>
            <p:cNvSpPr txBox="true"/>
            <p:nvPr/>
          </p:nvSpPr>
          <p:spPr>
            <a:xfrm>
              <a:off x="0" y="-9525"/>
              <a:ext cx="6405804" cy="1107669"/>
            </a:xfrm>
            <a:prstGeom prst="rect">
              <a:avLst/>
            </a:prstGeom>
          </p:spPr>
          <p:txBody>
            <a:bodyPr anchor="ctr" rtlCol="false" tIns="0" lIns="0" bIns="0" rIns="0"/>
            <a:lstStyle/>
            <a:p>
              <a:pPr algn="l">
                <a:lnSpc>
                  <a:spcPts val="2341"/>
                </a:lnSpc>
              </a:pPr>
              <a:r>
                <a:rPr lang="en-US" sz="1951" b="true">
                  <a:solidFill>
                    <a:srgbClr val="1F4E79"/>
                  </a:solidFill>
                  <a:latin typeface="Cabin Bold"/>
                  <a:ea typeface="Cabin Bold"/>
                  <a:cs typeface="Cabin Bold"/>
                  <a:sym typeface="Cabin Bold"/>
                </a:rPr>
                <a:t>Cluster Manager</a:t>
              </a:r>
            </a:p>
          </p:txBody>
        </p:sp>
      </p:grpSp>
      <p:sp>
        <p:nvSpPr>
          <p:cNvPr name="TextBox 40" id="40"/>
          <p:cNvSpPr txBox="true"/>
          <p:nvPr/>
        </p:nvSpPr>
        <p:spPr>
          <a:xfrm rot="0">
            <a:off x="12651391" y="3202867"/>
            <a:ext cx="4621473" cy="1555766"/>
          </a:xfrm>
          <a:prstGeom prst="rect">
            <a:avLst/>
          </a:prstGeom>
        </p:spPr>
        <p:txBody>
          <a:bodyPr anchor="t" rtlCol="false" tIns="0" lIns="0" bIns="0" rIns="0">
            <a:spAutoFit/>
          </a:bodyPr>
          <a:lstStyle/>
          <a:p>
            <a:pPr algn="l">
              <a:lnSpc>
                <a:spcPts val="1891"/>
              </a:lnSpc>
            </a:pPr>
            <a:r>
              <a:rPr lang="en-US" sz="1576">
                <a:solidFill>
                  <a:srgbClr val="000000"/>
                </a:solidFill>
                <a:latin typeface="Cabin"/>
                <a:ea typeface="Cabin"/>
                <a:cs typeface="Cabin"/>
                <a:sym typeface="Cabin"/>
              </a:rPr>
              <a:t>Cấp phát tài nguyên cho ứng dụng trên cụm</a:t>
            </a:r>
          </a:p>
        </p:txBody>
      </p:sp>
      <p:grpSp>
        <p:nvGrpSpPr>
          <p:cNvPr name="Group 41" id="41"/>
          <p:cNvGrpSpPr/>
          <p:nvPr/>
        </p:nvGrpSpPr>
        <p:grpSpPr>
          <a:xfrm rot="0">
            <a:off x="679190" y="5414905"/>
            <a:ext cx="5436356" cy="2896914"/>
            <a:chOff x="0" y="0"/>
            <a:chExt cx="7248474" cy="3862553"/>
          </a:xfrm>
        </p:grpSpPr>
        <p:sp>
          <p:nvSpPr>
            <p:cNvPr name="Freeform 42" id="42"/>
            <p:cNvSpPr/>
            <p:nvPr/>
          </p:nvSpPr>
          <p:spPr>
            <a:xfrm flipH="false" flipV="false" rot="0">
              <a:off x="0" y="0"/>
              <a:ext cx="7248525" cy="3862578"/>
            </a:xfrm>
            <a:custGeom>
              <a:avLst/>
              <a:gdLst/>
              <a:ahLst/>
              <a:cxnLst/>
              <a:rect r="r" b="b" t="t" l="l"/>
              <a:pathLst>
                <a:path h="3862578" w="7248525">
                  <a:moveTo>
                    <a:pt x="0" y="147193"/>
                  </a:moveTo>
                  <a:cubicBezTo>
                    <a:pt x="0" y="65913"/>
                    <a:pt x="65913" y="0"/>
                    <a:pt x="147193" y="0"/>
                  </a:cubicBezTo>
                  <a:lnTo>
                    <a:pt x="7101332" y="0"/>
                  </a:lnTo>
                  <a:cubicBezTo>
                    <a:pt x="7182612" y="0"/>
                    <a:pt x="7248525" y="65913"/>
                    <a:pt x="7248525" y="147193"/>
                  </a:cubicBezTo>
                  <a:lnTo>
                    <a:pt x="7248525" y="3715385"/>
                  </a:lnTo>
                  <a:cubicBezTo>
                    <a:pt x="7248525" y="3796665"/>
                    <a:pt x="7182612" y="3862578"/>
                    <a:pt x="7101332" y="3862578"/>
                  </a:cubicBezTo>
                  <a:lnTo>
                    <a:pt x="147193" y="3862578"/>
                  </a:lnTo>
                  <a:cubicBezTo>
                    <a:pt x="65913" y="3862578"/>
                    <a:pt x="0" y="3796665"/>
                    <a:pt x="0" y="3715385"/>
                  </a:cubicBezTo>
                  <a:close/>
                </a:path>
              </a:pathLst>
            </a:custGeom>
            <a:solidFill>
              <a:srgbClr val="F2F5F8"/>
            </a:solidFill>
            <a:ln w="14299" cap="sq">
              <a:solidFill>
                <a:srgbClr val="D9D9D9"/>
              </a:solidFill>
              <a:prstDash val="solid"/>
              <a:miter/>
            </a:ln>
          </p:spPr>
        </p:sp>
      </p:grpSp>
      <p:grpSp>
        <p:nvGrpSpPr>
          <p:cNvPr name="Group 43" id="43"/>
          <p:cNvGrpSpPr/>
          <p:nvPr/>
        </p:nvGrpSpPr>
        <p:grpSpPr>
          <a:xfrm rot="0">
            <a:off x="686333" y="5422059"/>
            <a:ext cx="82363" cy="2882608"/>
            <a:chOff x="0" y="0"/>
            <a:chExt cx="109817" cy="3843477"/>
          </a:xfrm>
        </p:grpSpPr>
        <p:sp>
          <p:nvSpPr>
            <p:cNvPr name="Freeform 44" id="44"/>
            <p:cNvSpPr/>
            <p:nvPr/>
          </p:nvSpPr>
          <p:spPr>
            <a:xfrm flipH="false" flipV="false" rot="0">
              <a:off x="0" y="0"/>
              <a:ext cx="109855" cy="3843528"/>
            </a:xfrm>
            <a:custGeom>
              <a:avLst/>
              <a:gdLst/>
              <a:ahLst/>
              <a:cxnLst/>
              <a:rect r="r" b="b" t="t" l="l"/>
              <a:pathLst>
                <a:path h="3843528" w="109855">
                  <a:moveTo>
                    <a:pt x="0" y="0"/>
                  </a:moveTo>
                  <a:lnTo>
                    <a:pt x="109855" y="0"/>
                  </a:lnTo>
                  <a:lnTo>
                    <a:pt x="109855" y="3843528"/>
                  </a:lnTo>
                  <a:lnTo>
                    <a:pt x="0" y="3843528"/>
                  </a:lnTo>
                  <a:close/>
                </a:path>
              </a:pathLst>
            </a:custGeom>
            <a:solidFill>
              <a:srgbClr val="1F4E79"/>
            </a:solidFill>
          </p:spPr>
        </p:sp>
      </p:grpSp>
      <p:grpSp>
        <p:nvGrpSpPr>
          <p:cNvPr name="Group 45" id="45"/>
          <p:cNvGrpSpPr/>
          <p:nvPr/>
        </p:nvGrpSpPr>
        <p:grpSpPr>
          <a:xfrm rot="0">
            <a:off x="1029500" y="5627961"/>
            <a:ext cx="4804353" cy="823608"/>
            <a:chOff x="0" y="0"/>
            <a:chExt cx="6405804" cy="1098144"/>
          </a:xfrm>
        </p:grpSpPr>
        <p:sp>
          <p:nvSpPr>
            <p:cNvPr name="Freeform 46" id="46"/>
            <p:cNvSpPr/>
            <p:nvPr/>
          </p:nvSpPr>
          <p:spPr>
            <a:xfrm flipH="false" flipV="false" rot="0">
              <a:off x="0" y="0"/>
              <a:ext cx="6405805" cy="1098138"/>
            </a:xfrm>
            <a:custGeom>
              <a:avLst/>
              <a:gdLst/>
              <a:ahLst/>
              <a:cxnLst/>
              <a:rect r="r" b="b" t="t" l="l"/>
              <a:pathLst>
                <a:path h="1098138" w="6405805">
                  <a:moveTo>
                    <a:pt x="0" y="0"/>
                  </a:moveTo>
                  <a:lnTo>
                    <a:pt x="6405805" y="0"/>
                  </a:lnTo>
                  <a:lnTo>
                    <a:pt x="6405805" y="1098138"/>
                  </a:lnTo>
                  <a:lnTo>
                    <a:pt x="0" y="1098138"/>
                  </a:lnTo>
                  <a:close/>
                </a:path>
              </a:pathLst>
            </a:custGeom>
            <a:blipFill>
              <a:blip r:embed="rId4">
                <a:alphaModFix amt="0"/>
              </a:blip>
              <a:stretch>
                <a:fillRect l="0" t="-63662" r="0" b="-63662"/>
              </a:stretch>
            </a:blipFill>
          </p:spPr>
        </p:sp>
        <p:sp>
          <p:nvSpPr>
            <p:cNvPr name="TextBox 47" id="47"/>
            <p:cNvSpPr txBox="true"/>
            <p:nvPr/>
          </p:nvSpPr>
          <p:spPr>
            <a:xfrm>
              <a:off x="0" y="-9525"/>
              <a:ext cx="6405804" cy="1107669"/>
            </a:xfrm>
            <a:prstGeom prst="rect">
              <a:avLst/>
            </a:prstGeom>
          </p:spPr>
          <p:txBody>
            <a:bodyPr anchor="ctr" rtlCol="false" tIns="0" lIns="0" bIns="0" rIns="0"/>
            <a:lstStyle/>
            <a:p>
              <a:pPr algn="l">
                <a:lnSpc>
                  <a:spcPts val="2341"/>
                </a:lnSpc>
              </a:pPr>
              <a:r>
                <a:rPr lang="en-US" sz="1951" b="true">
                  <a:solidFill>
                    <a:srgbClr val="1F4E79"/>
                  </a:solidFill>
                  <a:latin typeface="Cabin Bold"/>
                  <a:ea typeface="Cabin Bold"/>
                  <a:cs typeface="Cabin Bold"/>
                  <a:sym typeface="Cabin Bold"/>
                </a:rPr>
                <a:t>Worker Node</a:t>
              </a:r>
            </a:p>
          </p:txBody>
        </p:sp>
      </p:grpSp>
      <p:sp>
        <p:nvSpPr>
          <p:cNvPr name="TextBox 48" id="48"/>
          <p:cNvSpPr txBox="true"/>
          <p:nvPr/>
        </p:nvSpPr>
        <p:spPr>
          <a:xfrm rot="0">
            <a:off x="1120940" y="6497279"/>
            <a:ext cx="4621473" cy="1555766"/>
          </a:xfrm>
          <a:prstGeom prst="rect">
            <a:avLst/>
          </a:prstGeom>
        </p:spPr>
        <p:txBody>
          <a:bodyPr anchor="t" rtlCol="false" tIns="0" lIns="0" bIns="0" rIns="0">
            <a:spAutoFit/>
          </a:bodyPr>
          <a:lstStyle/>
          <a:p>
            <a:pPr algn="l">
              <a:lnSpc>
                <a:spcPts val="1891"/>
              </a:lnSpc>
            </a:pPr>
            <a:r>
              <a:rPr lang="en-US" sz="1576">
                <a:solidFill>
                  <a:srgbClr val="000000"/>
                </a:solidFill>
                <a:latin typeface="Cabin"/>
                <a:ea typeface="Cabin"/>
                <a:cs typeface="Cabin"/>
                <a:sym typeface="Cabin"/>
              </a:rPr>
              <a:t>Máy vật lý/ảo trong cụm, nơi chạy các Executor</a:t>
            </a:r>
          </a:p>
        </p:txBody>
      </p:sp>
      <p:grpSp>
        <p:nvGrpSpPr>
          <p:cNvPr name="Group 49" id="49"/>
          <p:cNvGrpSpPr/>
          <p:nvPr/>
        </p:nvGrpSpPr>
        <p:grpSpPr>
          <a:xfrm rot="0">
            <a:off x="6444415" y="5414905"/>
            <a:ext cx="5436356" cy="2896914"/>
            <a:chOff x="0" y="0"/>
            <a:chExt cx="7248474" cy="3862553"/>
          </a:xfrm>
        </p:grpSpPr>
        <p:sp>
          <p:nvSpPr>
            <p:cNvPr name="Freeform 50" id="50"/>
            <p:cNvSpPr/>
            <p:nvPr/>
          </p:nvSpPr>
          <p:spPr>
            <a:xfrm flipH="false" flipV="false" rot="0">
              <a:off x="0" y="0"/>
              <a:ext cx="7248525" cy="3862578"/>
            </a:xfrm>
            <a:custGeom>
              <a:avLst/>
              <a:gdLst/>
              <a:ahLst/>
              <a:cxnLst/>
              <a:rect r="r" b="b" t="t" l="l"/>
              <a:pathLst>
                <a:path h="3862578" w="7248525">
                  <a:moveTo>
                    <a:pt x="0" y="147193"/>
                  </a:moveTo>
                  <a:cubicBezTo>
                    <a:pt x="0" y="65913"/>
                    <a:pt x="65913" y="0"/>
                    <a:pt x="147193" y="0"/>
                  </a:cubicBezTo>
                  <a:lnTo>
                    <a:pt x="7101332" y="0"/>
                  </a:lnTo>
                  <a:cubicBezTo>
                    <a:pt x="7182612" y="0"/>
                    <a:pt x="7248525" y="65913"/>
                    <a:pt x="7248525" y="147193"/>
                  </a:cubicBezTo>
                  <a:lnTo>
                    <a:pt x="7248525" y="3715385"/>
                  </a:lnTo>
                  <a:cubicBezTo>
                    <a:pt x="7248525" y="3796665"/>
                    <a:pt x="7182612" y="3862578"/>
                    <a:pt x="7101332" y="3862578"/>
                  </a:cubicBezTo>
                  <a:lnTo>
                    <a:pt x="147193" y="3862578"/>
                  </a:lnTo>
                  <a:cubicBezTo>
                    <a:pt x="65913" y="3862578"/>
                    <a:pt x="0" y="3796665"/>
                    <a:pt x="0" y="3715385"/>
                  </a:cubicBezTo>
                  <a:close/>
                </a:path>
              </a:pathLst>
            </a:custGeom>
            <a:solidFill>
              <a:srgbClr val="F2F5F8"/>
            </a:solidFill>
            <a:ln w="14299" cap="sq">
              <a:solidFill>
                <a:srgbClr val="D9D9D9"/>
              </a:solidFill>
              <a:prstDash val="solid"/>
              <a:miter/>
            </a:ln>
          </p:spPr>
        </p:sp>
      </p:grpSp>
      <p:grpSp>
        <p:nvGrpSpPr>
          <p:cNvPr name="Group 51" id="51"/>
          <p:cNvGrpSpPr/>
          <p:nvPr/>
        </p:nvGrpSpPr>
        <p:grpSpPr>
          <a:xfrm rot="0">
            <a:off x="6451559" y="5422059"/>
            <a:ext cx="82363" cy="2882608"/>
            <a:chOff x="0" y="0"/>
            <a:chExt cx="109817" cy="3843477"/>
          </a:xfrm>
        </p:grpSpPr>
        <p:sp>
          <p:nvSpPr>
            <p:cNvPr name="Freeform 52" id="52"/>
            <p:cNvSpPr/>
            <p:nvPr/>
          </p:nvSpPr>
          <p:spPr>
            <a:xfrm flipH="false" flipV="false" rot="0">
              <a:off x="0" y="0"/>
              <a:ext cx="109855" cy="3843528"/>
            </a:xfrm>
            <a:custGeom>
              <a:avLst/>
              <a:gdLst/>
              <a:ahLst/>
              <a:cxnLst/>
              <a:rect r="r" b="b" t="t" l="l"/>
              <a:pathLst>
                <a:path h="3843528" w="109855">
                  <a:moveTo>
                    <a:pt x="0" y="0"/>
                  </a:moveTo>
                  <a:lnTo>
                    <a:pt x="109855" y="0"/>
                  </a:lnTo>
                  <a:lnTo>
                    <a:pt x="109855" y="3843528"/>
                  </a:lnTo>
                  <a:lnTo>
                    <a:pt x="0" y="3843528"/>
                  </a:lnTo>
                  <a:close/>
                </a:path>
              </a:pathLst>
            </a:custGeom>
            <a:solidFill>
              <a:srgbClr val="1F4E79"/>
            </a:solidFill>
          </p:spPr>
        </p:sp>
      </p:grpSp>
      <p:grpSp>
        <p:nvGrpSpPr>
          <p:cNvPr name="Group 53" id="53"/>
          <p:cNvGrpSpPr/>
          <p:nvPr/>
        </p:nvGrpSpPr>
        <p:grpSpPr>
          <a:xfrm rot="0">
            <a:off x="6794725" y="5627961"/>
            <a:ext cx="4804353" cy="823608"/>
            <a:chOff x="0" y="0"/>
            <a:chExt cx="6405804" cy="1098144"/>
          </a:xfrm>
        </p:grpSpPr>
        <p:sp>
          <p:nvSpPr>
            <p:cNvPr name="Freeform 54" id="54"/>
            <p:cNvSpPr/>
            <p:nvPr/>
          </p:nvSpPr>
          <p:spPr>
            <a:xfrm flipH="false" flipV="false" rot="0">
              <a:off x="0" y="0"/>
              <a:ext cx="6405805" cy="1098138"/>
            </a:xfrm>
            <a:custGeom>
              <a:avLst/>
              <a:gdLst/>
              <a:ahLst/>
              <a:cxnLst/>
              <a:rect r="r" b="b" t="t" l="l"/>
              <a:pathLst>
                <a:path h="1098138" w="6405805">
                  <a:moveTo>
                    <a:pt x="0" y="0"/>
                  </a:moveTo>
                  <a:lnTo>
                    <a:pt x="6405805" y="0"/>
                  </a:lnTo>
                  <a:lnTo>
                    <a:pt x="6405805" y="1098138"/>
                  </a:lnTo>
                  <a:lnTo>
                    <a:pt x="0" y="1098138"/>
                  </a:lnTo>
                  <a:close/>
                </a:path>
              </a:pathLst>
            </a:custGeom>
            <a:blipFill>
              <a:blip r:embed="rId4">
                <a:alphaModFix amt="0"/>
              </a:blip>
              <a:stretch>
                <a:fillRect l="0" t="-63662" r="0" b="-63662"/>
              </a:stretch>
            </a:blipFill>
          </p:spPr>
        </p:sp>
        <p:sp>
          <p:nvSpPr>
            <p:cNvPr name="TextBox 55" id="55"/>
            <p:cNvSpPr txBox="true"/>
            <p:nvPr/>
          </p:nvSpPr>
          <p:spPr>
            <a:xfrm>
              <a:off x="0" y="-9525"/>
              <a:ext cx="6405804" cy="1107669"/>
            </a:xfrm>
            <a:prstGeom prst="rect">
              <a:avLst/>
            </a:prstGeom>
          </p:spPr>
          <p:txBody>
            <a:bodyPr anchor="ctr" rtlCol="false" tIns="0" lIns="0" bIns="0" rIns="0"/>
            <a:lstStyle/>
            <a:p>
              <a:pPr algn="l">
                <a:lnSpc>
                  <a:spcPts val="2341"/>
                </a:lnSpc>
              </a:pPr>
              <a:r>
                <a:rPr lang="en-US" sz="1951" b="true">
                  <a:solidFill>
                    <a:srgbClr val="1F4E79"/>
                  </a:solidFill>
                  <a:latin typeface="Cabin Bold"/>
                  <a:ea typeface="Cabin Bold"/>
                  <a:cs typeface="Cabin Bold"/>
                  <a:sym typeface="Cabin Bold"/>
                </a:rPr>
                <a:t>Executor</a:t>
              </a:r>
            </a:p>
          </p:txBody>
        </p:sp>
      </p:grpSp>
      <p:sp>
        <p:nvSpPr>
          <p:cNvPr name="TextBox 56" id="56"/>
          <p:cNvSpPr txBox="true"/>
          <p:nvPr/>
        </p:nvSpPr>
        <p:spPr>
          <a:xfrm rot="0">
            <a:off x="6886165" y="6497279"/>
            <a:ext cx="4621473" cy="1555766"/>
          </a:xfrm>
          <a:prstGeom prst="rect">
            <a:avLst/>
          </a:prstGeom>
        </p:spPr>
        <p:txBody>
          <a:bodyPr anchor="t" rtlCol="false" tIns="0" lIns="0" bIns="0" rIns="0">
            <a:spAutoFit/>
          </a:bodyPr>
          <a:lstStyle/>
          <a:p>
            <a:pPr algn="l">
              <a:lnSpc>
                <a:spcPts val="1891"/>
              </a:lnSpc>
            </a:pPr>
            <a:r>
              <a:rPr lang="en-US" sz="1576">
                <a:solidFill>
                  <a:srgbClr val="000000"/>
                </a:solidFill>
                <a:latin typeface="Cabin"/>
                <a:ea typeface="Cabin"/>
                <a:cs typeface="Cabin"/>
                <a:sym typeface="Cabin"/>
              </a:rPr>
              <a:t>Tiến trình chạy trên Worker Node, thực thi Task</a:t>
            </a:r>
          </a:p>
        </p:txBody>
      </p:sp>
      <p:grpSp>
        <p:nvGrpSpPr>
          <p:cNvPr name="Group 57" id="57"/>
          <p:cNvGrpSpPr/>
          <p:nvPr/>
        </p:nvGrpSpPr>
        <p:grpSpPr>
          <a:xfrm rot="0">
            <a:off x="12209631" y="5414905"/>
            <a:ext cx="5436356" cy="2896914"/>
            <a:chOff x="0" y="0"/>
            <a:chExt cx="7248474" cy="3862553"/>
          </a:xfrm>
        </p:grpSpPr>
        <p:sp>
          <p:nvSpPr>
            <p:cNvPr name="Freeform 58" id="58"/>
            <p:cNvSpPr/>
            <p:nvPr/>
          </p:nvSpPr>
          <p:spPr>
            <a:xfrm flipH="false" flipV="false" rot="0">
              <a:off x="0" y="0"/>
              <a:ext cx="7248525" cy="3862578"/>
            </a:xfrm>
            <a:custGeom>
              <a:avLst/>
              <a:gdLst/>
              <a:ahLst/>
              <a:cxnLst/>
              <a:rect r="r" b="b" t="t" l="l"/>
              <a:pathLst>
                <a:path h="3862578" w="7248525">
                  <a:moveTo>
                    <a:pt x="0" y="147193"/>
                  </a:moveTo>
                  <a:cubicBezTo>
                    <a:pt x="0" y="65913"/>
                    <a:pt x="65913" y="0"/>
                    <a:pt x="147193" y="0"/>
                  </a:cubicBezTo>
                  <a:lnTo>
                    <a:pt x="7101332" y="0"/>
                  </a:lnTo>
                  <a:cubicBezTo>
                    <a:pt x="7182612" y="0"/>
                    <a:pt x="7248525" y="65913"/>
                    <a:pt x="7248525" y="147193"/>
                  </a:cubicBezTo>
                  <a:lnTo>
                    <a:pt x="7248525" y="3715385"/>
                  </a:lnTo>
                  <a:cubicBezTo>
                    <a:pt x="7248525" y="3796665"/>
                    <a:pt x="7182612" y="3862578"/>
                    <a:pt x="7101332" y="3862578"/>
                  </a:cubicBezTo>
                  <a:lnTo>
                    <a:pt x="147193" y="3862578"/>
                  </a:lnTo>
                  <a:cubicBezTo>
                    <a:pt x="65913" y="3862578"/>
                    <a:pt x="0" y="3796665"/>
                    <a:pt x="0" y="3715385"/>
                  </a:cubicBezTo>
                  <a:close/>
                </a:path>
              </a:pathLst>
            </a:custGeom>
            <a:solidFill>
              <a:srgbClr val="F2F5F8"/>
            </a:solidFill>
            <a:ln w="14299" cap="sq">
              <a:solidFill>
                <a:srgbClr val="D9D9D9"/>
              </a:solidFill>
              <a:prstDash val="solid"/>
              <a:miter/>
            </a:ln>
          </p:spPr>
        </p:sp>
      </p:grpSp>
      <p:grpSp>
        <p:nvGrpSpPr>
          <p:cNvPr name="Group 59" id="59"/>
          <p:cNvGrpSpPr/>
          <p:nvPr/>
        </p:nvGrpSpPr>
        <p:grpSpPr>
          <a:xfrm rot="0">
            <a:off x="12216784" y="5422059"/>
            <a:ext cx="82363" cy="2882608"/>
            <a:chOff x="0" y="0"/>
            <a:chExt cx="109817" cy="3843477"/>
          </a:xfrm>
        </p:grpSpPr>
        <p:sp>
          <p:nvSpPr>
            <p:cNvPr name="Freeform 60" id="60"/>
            <p:cNvSpPr/>
            <p:nvPr/>
          </p:nvSpPr>
          <p:spPr>
            <a:xfrm flipH="false" flipV="false" rot="0">
              <a:off x="0" y="0"/>
              <a:ext cx="109855" cy="3843528"/>
            </a:xfrm>
            <a:custGeom>
              <a:avLst/>
              <a:gdLst/>
              <a:ahLst/>
              <a:cxnLst/>
              <a:rect r="r" b="b" t="t" l="l"/>
              <a:pathLst>
                <a:path h="3843528" w="109855">
                  <a:moveTo>
                    <a:pt x="0" y="0"/>
                  </a:moveTo>
                  <a:lnTo>
                    <a:pt x="109855" y="0"/>
                  </a:lnTo>
                  <a:lnTo>
                    <a:pt x="109855" y="3843528"/>
                  </a:lnTo>
                  <a:lnTo>
                    <a:pt x="0" y="3843528"/>
                  </a:lnTo>
                  <a:close/>
                </a:path>
              </a:pathLst>
            </a:custGeom>
            <a:solidFill>
              <a:srgbClr val="1F4E79"/>
            </a:solidFill>
          </p:spPr>
        </p:sp>
      </p:grpSp>
      <p:grpSp>
        <p:nvGrpSpPr>
          <p:cNvPr name="Group 61" id="61"/>
          <p:cNvGrpSpPr/>
          <p:nvPr/>
        </p:nvGrpSpPr>
        <p:grpSpPr>
          <a:xfrm rot="0">
            <a:off x="12559951" y="5627961"/>
            <a:ext cx="4804353" cy="823608"/>
            <a:chOff x="0" y="0"/>
            <a:chExt cx="6405804" cy="1098144"/>
          </a:xfrm>
        </p:grpSpPr>
        <p:sp>
          <p:nvSpPr>
            <p:cNvPr name="Freeform 62" id="62"/>
            <p:cNvSpPr/>
            <p:nvPr/>
          </p:nvSpPr>
          <p:spPr>
            <a:xfrm flipH="false" flipV="false" rot="0">
              <a:off x="0" y="0"/>
              <a:ext cx="6405805" cy="1098138"/>
            </a:xfrm>
            <a:custGeom>
              <a:avLst/>
              <a:gdLst/>
              <a:ahLst/>
              <a:cxnLst/>
              <a:rect r="r" b="b" t="t" l="l"/>
              <a:pathLst>
                <a:path h="1098138" w="6405805">
                  <a:moveTo>
                    <a:pt x="0" y="0"/>
                  </a:moveTo>
                  <a:lnTo>
                    <a:pt x="6405805" y="0"/>
                  </a:lnTo>
                  <a:lnTo>
                    <a:pt x="6405805" y="1098138"/>
                  </a:lnTo>
                  <a:lnTo>
                    <a:pt x="0" y="1098138"/>
                  </a:lnTo>
                  <a:close/>
                </a:path>
              </a:pathLst>
            </a:custGeom>
            <a:blipFill>
              <a:blip r:embed="rId4">
                <a:alphaModFix amt="0"/>
              </a:blip>
              <a:stretch>
                <a:fillRect l="0" t="-63662" r="0" b="-63662"/>
              </a:stretch>
            </a:blipFill>
          </p:spPr>
        </p:sp>
        <p:sp>
          <p:nvSpPr>
            <p:cNvPr name="TextBox 63" id="63"/>
            <p:cNvSpPr txBox="true"/>
            <p:nvPr/>
          </p:nvSpPr>
          <p:spPr>
            <a:xfrm>
              <a:off x="0" y="-9525"/>
              <a:ext cx="6405804" cy="1107669"/>
            </a:xfrm>
            <a:prstGeom prst="rect">
              <a:avLst/>
            </a:prstGeom>
          </p:spPr>
          <p:txBody>
            <a:bodyPr anchor="ctr" rtlCol="false" tIns="0" lIns="0" bIns="0" rIns="0"/>
            <a:lstStyle/>
            <a:p>
              <a:pPr algn="l">
                <a:lnSpc>
                  <a:spcPts val="2341"/>
                </a:lnSpc>
              </a:pPr>
              <a:r>
                <a:rPr lang="en-US" sz="1951" b="true">
                  <a:solidFill>
                    <a:srgbClr val="1F4E79"/>
                  </a:solidFill>
                  <a:latin typeface="Cabin Bold"/>
                  <a:ea typeface="Cabin Bold"/>
                  <a:cs typeface="Cabin Bold"/>
                  <a:sym typeface="Cabin Bold"/>
                </a:rPr>
                <a:t>Task</a:t>
              </a:r>
            </a:p>
          </p:txBody>
        </p:sp>
      </p:grpSp>
      <p:sp>
        <p:nvSpPr>
          <p:cNvPr name="TextBox 64" id="64"/>
          <p:cNvSpPr txBox="true"/>
          <p:nvPr/>
        </p:nvSpPr>
        <p:spPr>
          <a:xfrm rot="0">
            <a:off x="12651391" y="6497279"/>
            <a:ext cx="4621473" cy="1555766"/>
          </a:xfrm>
          <a:prstGeom prst="rect">
            <a:avLst/>
          </a:prstGeom>
        </p:spPr>
        <p:txBody>
          <a:bodyPr anchor="t" rtlCol="false" tIns="0" lIns="0" bIns="0" rIns="0">
            <a:spAutoFit/>
          </a:bodyPr>
          <a:lstStyle/>
          <a:p>
            <a:pPr algn="l">
              <a:lnSpc>
                <a:spcPts val="1891"/>
              </a:lnSpc>
            </a:pPr>
            <a:r>
              <a:rPr lang="en-US" sz="1576">
                <a:solidFill>
                  <a:srgbClr val="000000"/>
                </a:solidFill>
                <a:latin typeface="Cabin"/>
                <a:ea typeface="Cabin"/>
                <a:cs typeface="Cabin"/>
                <a:sym typeface="Cabin"/>
              </a:rPr>
              <a:t>Đơn vị công việc nhỏ nhất, xử lý một Partition dữ liệu</a:t>
            </a:r>
          </a:p>
        </p:txBody>
      </p:sp>
      <p:grpSp>
        <p:nvGrpSpPr>
          <p:cNvPr name="Group 65" id="65"/>
          <p:cNvGrpSpPr/>
          <p:nvPr/>
        </p:nvGrpSpPr>
        <p:grpSpPr>
          <a:xfrm rot="0">
            <a:off x="0" y="9677343"/>
            <a:ext cx="18301840" cy="617706"/>
            <a:chOff x="0" y="0"/>
            <a:chExt cx="24402453" cy="823608"/>
          </a:xfrm>
        </p:grpSpPr>
        <p:sp>
          <p:nvSpPr>
            <p:cNvPr name="Freeform 66" id="66"/>
            <p:cNvSpPr/>
            <p:nvPr/>
          </p:nvSpPr>
          <p:spPr>
            <a:xfrm flipH="false" flipV="false" rot="0">
              <a:off x="0" y="0"/>
              <a:ext cx="24402414" cy="823595"/>
            </a:xfrm>
            <a:custGeom>
              <a:avLst/>
              <a:gdLst/>
              <a:ahLst/>
              <a:cxnLst/>
              <a:rect r="r" b="b" t="t" l="l"/>
              <a:pathLst>
                <a:path h="823595" w="24402414">
                  <a:moveTo>
                    <a:pt x="0" y="0"/>
                  </a:moveTo>
                  <a:lnTo>
                    <a:pt x="24402414" y="0"/>
                  </a:lnTo>
                  <a:lnTo>
                    <a:pt x="24402414" y="823595"/>
                  </a:lnTo>
                  <a:lnTo>
                    <a:pt x="0" y="823595"/>
                  </a:lnTo>
                  <a:close/>
                </a:path>
              </a:pathLst>
            </a:custGeom>
            <a:solidFill>
              <a:srgbClr val="1F4E79"/>
            </a:solidFill>
          </p:spPr>
        </p:sp>
      </p:grpSp>
      <p:grpSp>
        <p:nvGrpSpPr>
          <p:cNvPr name="Group 67" id="67"/>
          <p:cNvGrpSpPr/>
          <p:nvPr/>
        </p:nvGrpSpPr>
        <p:grpSpPr>
          <a:xfrm rot="0">
            <a:off x="480431" y="9677343"/>
            <a:ext cx="10981382" cy="617706"/>
            <a:chOff x="0" y="0"/>
            <a:chExt cx="14641843" cy="823608"/>
          </a:xfrm>
        </p:grpSpPr>
        <p:sp>
          <p:nvSpPr>
            <p:cNvPr name="Freeform 68" id="68"/>
            <p:cNvSpPr/>
            <p:nvPr/>
          </p:nvSpPr>
          <p:spPr>
            <a:xfrm flipH="false" flipV="false" rot="0">
              <a:off x="0" y="0"/>
              <a:ext cx="14641840" cy="823603"/>
            </a:xfrm>
            <a:custGeom>
              <a:avLst/>
              <a:gdLst/>
              <a:ahLst/>
              <a:cxnLst/>
              <a:rect r="r" b="b" t="t" l="l"/>
              <a:pathLst>
                <a:path h="823603" w="14641840">
                  <a:moveTo>
                    <a:pt x="0" y="0"/>
                  </a:moveTo>
                  <a:lnTo>
                    <a:pt x="14641840" y="0"/>
                  </a:lnTo>
                  <a:lnTo>
                    <a:pt x="14641840" y="823603"/>
                  </a:lnTo>
                  <a:lnTo>
                    <a:pt x="0" y="823603"/>
                  </a:lnTo>
                  <a:close/>
                </a:path>
              </a:pathLst>
            </a:custGeom>
            <a:blipFill>
              <a:blip r:embed="rId4">
                <a:alphaModFix amt="0"/>
              </a:blip>
              <a:stretch>
                <a:fillRect l="0" t="-296400" r="0" b="-296401"/>
              </a:stretch>
            </a:blipFill>
          </p:spPr>
        </p:sp>
        <p:sp>
          <p:nvSpPr>
            <p:cNvPr name="TextBox 69" id="69"/>
            <p:cNvSpPr txBox="true"/>
            <p:nvPr/>
          </p:nvSpPr>
          <p:spPr>
            <a:xfrm>
              <a:off x="0" y="0"/>
              <a:ext cx="14641843" cy="823608"/>
            </a:xfrm>
            <a:prstGeom prst="rect">
              <a:avLst/>
            </a:prstGeom>
          </p:spPr>
          <p:txBody>
            <a:bodyPr anchor="ctr" rtlCol="false" tIns="0" lIns="0" bIns="0" rIns="0"/>
            <a:lstStyle/>
            <a:p>
              <a:pPr algn="l">
                <a:lnSpc>
                  <a:spcPts val="1621"/>
                </a:lnSpc>
              </a:pPr>
              <a:r>
                <a:rPr lang="en-US" sz="1351">
                  <a:solidFill>
                    <a:srgbClr val="FFFFFF"/>
                  </a:solidFill>
                  <a:latin typeface="Cabin"/>
                  <a:ea typeface="Cabin"/>
                  <a:cs typeface="Cabin"/>
                  <a:sym typeface="Cabin"/>
                </a:rPr>
                <a:t>VNU UET – Institute for Artificial Intelligence</a:t>
              </a:r>
            </a:p>
          </p:txBody>
        </p:sp>
      </p:grpSp>
      <p:grpSp>
        <p:nvGrpSpPr>
          <p:cNvPr name="Group 70" id="70"/>
          <p:cNvGrpSpPr/>
          <p:nvPr/>
        </p:nvGrpSpPr>
        <p:grpSpPr>
          <a:xfrm rot="0">
            <a:off x="17066438" y="9677343"/>
            <a:ext cx="823608" cy="617706"/>
            <a:chOff x="0" y="0"/>
            <a:chExt cx="1098144" cy="823608"/>
          </a:xfrm>
        </p:grpSpPr>
        <p:sp>
          <p:nvSpPr>
            <p:cNvPr name="Freeform 71" id="71"/>
            <p:cNvSpPr/>
            <p:nvPr/>
          </p:nvSpPr>
          <p:spPr>
            <a:xfrm flipH="false" flipV="false" rot="0">
              <a:off x="0" y="0"/>
              <a:ext cx="1098138" cy="823603"/>
            </a:xfrm>
            <a:custGeom>
              <a:avLst/>
              <a:gdLst/>
              <a:ahLst/>
              <a:cxnLst/>
              <a:rect r="r" b="b" t="t" l="l"/>
              <a:pathLst>
                <a:path h="823603" w="1098138">
                  <a:moveTo>
                    <a:pt x="0" y="0"/>
                  </a:moveTo>
                  <a:lnTo>
                    <a:pt x="1098138" y="0"/>
                  </a:lnTo>
                  <a:lnTo>
                    <a:pt x="1098138" y="823603"/>
                  </a:lnTo>
                  <a:lnTo>
                    <a:pt x="0" y="823603"/>
                  </a:lnTo>
                  <a:close/>
                </a:path>
              </a:pathLst>
            </a:custGeom>
            <a:blipFill>
              <a:blip r:embed="rId4">
                <a:alphaModFix amt="0"/>
              </a:blip>
              <a:stretch>
                <a:fillRect l="-46227" t="0" r="-46228" b="0"/>
              </a:stretch>
            </a:blipFill>
          </p:spPr>
        </p:sp>
        <p:sp>
          <p:nvSpPr>
            <p:cNvPr name="TextBox 72" id="72"/>
            <p:cNvSpPr txBox="true"/>
            <p:nvPr/>
          </p:nvSpPr>
          <p:spPr>
            <a:xfrm>
              <a:off x="0" y="0"/>
              <a:ext cx="1098144" cy="823608"/>
            </a:xfrm>
            <a:prstGeom prst="rect">
              <a:avLst/>
            </a:prstGeom>
          </p:spPr>
          <p:txBody>
            <a:bodyPr anchor="ctr" rtlCol="false" tIns="0" lIns="0" bIns="0" rIns="0"/>
            <a:lstStyle/>
            <a:p>
              <a:pPr algn="r">
                <a:lnSpc>
                  <a:spcPts val="1621"/>
                </a:lnSpc>
              </a:pPr>
              <a:r>
                <a:rPr lang="en-US" sz="1351">
                  <a:solidFill>
                    <a:srgbClr val="FFFFFF"/>
                  </a:solidFill>
                  <a:latin typeface="Cabin"/>
                  <a:ea typeface="Cabin"/>
                  <a:cs typeface="Cabin"/>
                  <a:sym typeface="Cabin"/>
                </a:rPr>
                <a:t>12</a:t>
              </a:r>
            </a:p>
          </p:txBody>
        </p:sp>
      </p:grpSp>
      <p:grpSp>
        <p:nvGrpSpPr>
          <p:cNvPr name="Group 73" id="73"/>
          <p:cNvGrpSpPr/>
          <p:nvPr/>
        </p:nvGrpSpPr>
        <p:grpSpPr>
          <a:xfrm rot="0">
            <a:off x="0" y="0"/>
            <a:ext cx="18288000" cy="315468"/>
            <a:chOff x="0" y="0"/>
            <a:chExt cx="24384000" cy="420624"/>
          </a:xfrm>
        </p:grpSpPr>
        <p:sp>
          <p:nvSpPr>
            <p:cNvPr name="Freeform 74" id="74"/>
            <p:cNvSpPr/>
            <p:nvPr/>
          </p:nvSpPr>
          <p:spPr>
            <a:xfrm flipH="false" flipV="false" rot="0">
              <a:off x="0" y="0"/>
              <a:ext cx="24384000" cy="420624"/>
            </a:xfrm>
            <a:custGeom>
              <a:avLst/>
              <a:gdLst/>
              <a:ahLst/>
              <a:cxnLst/>
              <a:rect r="r" b="b" t="t" l="l"/>
              <a:pathLst>
                <a:path h="420624" w="24384000">
                  <a:moveTo>
                    <a:pt x="0" y="0"/>
                  </a:moveTo>
                  <a:lnTo>
                    <a:pt x="24384000" y="0"/>
                  </a:lnTo>
                  <a:lnTo>
                    <a:pt x="24384000" y="420624"/>
                  </a:lnTo>
                  <a:lnTo>
                    <a:pt x="0" y="420624"/>
                  </a:lnTo>
                  <a:close/>
                </a:path>
              </a:pathLst>
            </a:custGeom>
            <a:solidFill>
              <a:srgbClr val="0F3F6F"/>
            </a:solidFill>
          </p:spPr>
        </p:sp>
      </p:grpSp>
      <p:grpSp>
        <p:nvGrpSpPr>
          <p:cNvPr name="Group 75" id="75"/>
          <p:cNvGrpSpPr/>
          <p:nvPr/>
        </p:nvGrpSpPr>
        <p:grpSpPr>
          <a:xfrm rot="0">
            <a:off x="13098780" y="0"/>
            <a:ext cx="1453896" cy="1508760"/>
            <a:chOff x="0" y="0"/>
            <a:chExt cx="1938528" cy="2011680"/>
          </a:xfrm>
        </p:grpSpPr>
        <p:sp>
          <p:nvSpPr>
            <p:cNvPr name="Freeform 76" id="76"/>
            <p:cNvSpPr/>
            <p:nvPr/>
          </p:nvSpPr>
          <p:spPr>
            <a:xfrm flipH="false" flipV="false" rot="0">
              <a:off x="0" y="0"/>
              <a:ext cx="1938528" cy="2011680"/>
            </a:xfrm>
            <a:custGeom>
              <a:avLst/>
              <a:gdLst/>
              <a:ahLst/>
              <a:cxnLst/>
              <a:rect r="r" b="b" t="t" l="l"/>
              <a:pathLst>
                <a:path h="2011680" w="1938528">
                  <a:moveTo>
                    <a:pt x="0" y="2011680"/>
                  </a:moveTo>
                  <a:lnTo>
                    <a:pt x="484632" y="0"/>
                  </a:lnTo>
                  <a:lnTo>
                    <a:pt x="1938528" y="0"/>
                  </a:lnTo>
                  <a:lnTo>
                    <a:pt x="1453896" y="2011680"/>
                  </a:lnTo>
                  <a:close/>
                </a:path>
              </a:pathLst>
            </a:custGeom>
            <a:solidFill>
              <a:srgbClr val="85B518"/>
            </a:solidFill>
          </p:spPr>
        </p:sp>
      </p:grpSp>
      <p:grpSp>
        <p:nvGrpSpPr>
          <p:cNvPr name="Group 77" id="77"/>
          <p:cNvGrpSpPr/>
          <p:nvPr/>
        </p:nvGrpSpPr>
        <p:grpSpPr>
          <a:xfrm rot="0">
            <a:off x="14621256" y="0"/>
            <a:ext cx="1508760" cy="1508760"/>
            <a:chOff x="0" y="0"/>
            <a:chExt cx="2011680" cy="2011680"/>
          </a:xfrm>
        </p:grpSpPr>
        <p:sp>
          <p:nvSpPr>
            <p:cNvPr name="Freeform 78" id="78"/>
            <p:cNvSpPr/>
            <p:nvPr/>
          </p:nvSpPr>
          <p:spPr>
            <a:xfrm flipH="false" flipV="false" rot="0">
              <a:off x="0" y="0"/>
              <a:ext cx="2011680" cy="2011680"/>
            </a:xfrm>
            <a:custGeom>
              <a:avLst/>
              <a:gdLst/>
              <a:ahLst/>
              <a:cxnLst/>
              <a:rect r="r" b="b" t="t" l="l"/>
              <a:pathLst>
                <a:path h="2011680" w="2011680">
                  <a:moveTo>
                    <a:pt x="0" y="2011680"/>
                  </a:moveTo>
                  <a:lnTo>
                    <a:pt x="502920" y="0"/>
                  </a:lnTo>
                  <a:lnTo>
                    <a:pt x="2011680" y="0"/>
                  </a:lnTo>
                  <a:lnTo>
                    <a:pt x="1508760" y="2011680"/>
                  </a:lnTo>
                  <a:close/>
                </a:path>
              </a:pathLst>
            </a:custGeom>
            <a:solidFill>
              <a:srgbClr val="0F3F6F"/>
            </a:solid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97801" y="384353"/>
            <a:ext cx="851059" cy="851059"/>
            <a:chOff x="0" y="0"/>
            <a:chExt cx="1134745" cy="1134745"/>
          </a:xfrm>
        </p:grpSpPr>
        <p:sp>
          <p:nvSpPr>
            <p:cNvPr name="Freeform 3" id="3" descr="/home/claude/work/assets/logo.png"/>
            <p:cNvSpPr/>
            <p:nvPr/>
          </p:nvSpPr>
          <p:spPr>
            <a:xfrm flipH="false" flipV="false" rot="0">
              <a:off x="0" y="0"/>
              <a:ext cx="1134745" cy="1134745"/>
            </a:xfrm>
            <a:custGeom>
              <a:avLst/>
              <a:gdLst/>
              <a:ahLst/>
              <a:cxnLst/>
              <a:rect r="r" b="b" t="t" l="l"/>
              <a:pathLst>
                <a:path h="1134745" w="1134745">
                  <a:moveTo>
                    <a:pt x="0" y="0"/>
                  </a:moveTo>
                  <a:lnTo>
                    <a:pt x="1134745" y="0"/>
                  </a:lnTo>
                  <a:lnTo>
                    <a:pt x="1134745" y="1134745"/>
                  </a:lnTo>
                  <a:lnTo>
                    <a:pt x="0" y="1134745"/>
                  </a:lnTo>
                  <a:lnTo>
                    <a:pt x="0" y="0"/>
                  </a:lnTo>
                  <a:close/>
                </a:path>
              </a:pathLst>
            </a:custGeom>
            <a:blipFill>
              <a:blip r:embed="rId3"/>
              <a:stretch>
                <a:fillRect l="0" t="0" r="0" b="0"/>
              </a:stretch>
            </a:blipFill>
          </p:spPr>
        </p:sp>
      </p:grpSp>
      <p:grpSp>
        <p:nvGrpSpPr>
          <p:cNvPr name="Group 4" id="4"/>
          <p:cNvGrpSpPr/>
          <p:nvPr/>
        </p:nvGrpSpPr>
        <p:grpSpPr>
          <a:xfrm rot="0">
            <a:off x="686333" y="384353"/>
            <a:ext cx="10981382" cy="411804"/>
            <a:chOff x="0" y="0"/>
            <a:chExt cx="14641843" cy="549072"/>
          </a:xfrm>
        </p:grpSpPr>
        <p:sp>
          <p:nvSpPr>
            <p:cNvPr name="Freeform 5" id="5"/>
            <p:cNvSpPr/>
            <p:nvPr/>
          </p:nvSpPr>
          <p:spPr>
            <a:xfrm flipH="false" flipV="false" rot="0">
              <a:off x="0" y="0"/>
              <a:ext cx="14641840" cy="549069"/>
            </a:xfrm>
            <a:custGeom>
              <a:avLst/>
              <a:gdLst/>
              <a:ahLst/>
              <a:cxnLst/>
              <a:rect r="r" b="b" t="t" l="l"/>
              <a:pathLst>
                <a:path h="549069" w="14641840">
                  <a:moveTo>
                    <a:pt x="0" y="0"/>
                  </a:moveTo>
                  <a:lnTo>
                    <a:pt x="14641840" y="0"/>
                  </a:lnTo>
                  <a:lnTo>
                    <a:pt x="14641840" y="549069"/>
                  </a:lnTo>
                  <a:lnTo>
                    <a:pt x="0" y="549069"/>
                  </a:lnTo>
                  <a:close/>
                </a:path>
              </a:pathLst>
            </a:custGeom>
            <a:blipFill>
              <a:blip r:embed="rId4">
                <a:alphaModFix amt="0"/>
              </a:blip>
              <a:stretch>
                <a:fillRect l="0" t="-469600" r="0" b="-469601"/>
              </a:stretch>
            </a:blipFill>
          </p:spPr>
        </p:sp>
        <p:sp>
          <p:nvSpPr>
            <p:cNvPr name="TextBox 6" id="6"/>
            <p:cNvSpPr txBox="true"/>
            <p:nvPr/>
          </p:nvSpPr>
          <p:spPr>
            <a:xfrm>
              <a:off x="0" y="0"/>
              <a:ext cx="14641843" cy="549072"/>
            </a:xfrm>
            <a:prstGeom prst="rect">
              <a:avLst/>
            </a:prstGeom>
          </p:spPr>
          <p:txBody>
            <a:bodyPr anchor="ctr" rtlCol="false" tIns="0" lIns="0" bIns="0" rIns="0"/>
            <a:lstStyle/>
            <a:p>
              <a:pPr algn="l">
                <a:lnSpc>
                  <a:spcPts val="1981"/>
                </a:lnSpc>
              </a:pPr>
              <a:r>
                <a:rPr lang="en-US" sz="1651" i="true">
                  <a:solidFill>
                    <a:srgbClr val="4A4A4A"/>
                  </a:solidFill>
                  <a:latin typeface="Cabin Italics"/>
                  <a:ea typeface="Cabin Italics"/>
                  <a:cs typeface="Cabin Italics"/>
                  <a:sym typeface="Cabin Italics"/>
                </a:rPr>
                <a:t>5.4. Kiến trúc Spark · Bài 05</a:t>
              </a:r>
            </a:p>
          </p:txBody>
        </p:sp>
      </p:grpSp>
      <p:grpSp>
        <p:nvGrpSpPr>
          <p:cNvPr name="Group 7" id="7"/>
          <p:cNvGrpSpPr/>
          <p:nvPr/>
        </p:nvGrpSpPr>
        <p:grpSpPr>
          <a:xfrm rot="0">
            <a:off x="674418" y="839143"/>
            <a:ext cx="710165" cy="710165"/>
            <a:chOff x="0" y="0"/>
            <a:chExt cx="946887" cy="946887"/>
          </a:xfrm>
        </p:grpSpPr>
        <p:sp>
          <p:nvSpPr>
            <p:cNvPr name="Freeform 8" id="8"/>
            <p:cNvSpPr/>
            <p:nvPr/>
          </p:nvSpPr>
          <p:spPr>
            <a:xfrm flipH="false" flipV="false" rot="0">
              <a:off x="0" y="0"/>
              <a:ext cx="946912" cy="946912"/>
            </a:xfrm>
            <a:custGeom>
              <a:avLst/>
              <a:gdLst/>
              <a:ahLst/>
              <a:cxnLst/>
              <a:rect r="r" b="b" t="t" l="l"/>
              <a:pathLst>
                <a:path h="946912" w="946912">
                  <a:moveTo>
                    <a:pt x="0" y="473456"/>
                  </a:moveTo>
                  <a:cubicBezTo>
                    <a:pt x="0" y="211963"/>
                    <a:pt x="211963" y="0"/>
                    <a:pt x="473456" y="0"/>
                  </a:cubicBezTo>
                  <a:cubicBezTo>
                    <a:pt x="734949" y="0"/>
                    <a:pt x="946912" y="211963"/>
                    <a:pt x="946912" y="473456"/>
                  </a:cubicBezTo>
                  <a:cubicBezTo>
                    <a:pt x="946912" y="734949"/>
                    <a:pt x="734949" y="946912"/>
                    <a:pt x="473456" y="946912"/>
                  </a:cubicBezTo>
                  <a:cubicBezTo>
                    <a:pt x="211963" y="946912"/>
                    <a:pt x="0" y="734949"/>
                    <a:pt x="0" y="473456"/>
                  </a:cubicBezTo>
                  <a:close/>
                </a:path>
              </a:pathLst>
            </a:custGeom>
            <a:solidFill>
              <a:srgbClr val="FFFFFF"/>
            </a:solidFill>
            <a:ln w="23831" cap="sq">
              <a:solidFill>
                <a:srgbClr val="1F4E79"/>
              </a:solidFill>
              <a:prstDash val="solid"/>
              <a:miter/>
            </a:ln>
          </p:spPr>
        </p:sp>
      </p:grpSp>
      <p:grpSp>
        <p:nvGrpSpPr>
          <p:cNvPr name="Group 9" id="9"/>
          <p:cNvGrpSpPr/>
          <p:nvPr/>
        </p:nvGrpSpPr>
        <p:grpSpPr>
          <a:xfrm rot="0">
            <a:off x="686333" y="851059"/>
            <a:ext cx="686333" cy="686333"/>
            <a:chOff x="0" y="0"/>
            <a:chExt cx="915111" cy="915111"/>
          </a:xfrm>
        </p:grpSpPr>
        <p:sp>
          <p:nvSpPr>
            <p:cNvPr name="Freeform 10" id="10"/>
            <p:cNvSpPr/>
            <p:nvPr/>
          </p:nvSpPr>
          <p:spPr>
            <a:xfrm flipH="false" flipV="false" rot="0">
              <a:off x="0" y="0"/>
              <a:ext cx="915115" cy="915115"/>
            </a:xfrm>
            <a:custGeom>
              <a:avLst/>
              <a:gdLst/>
              <a:ahLst/>
              <a:cxnLst/>
              <a:rect r="r" b="b" t="t" l="l"/>
              <a:pathLst>
                <a:path h="915115" w="915115">
                  <a:moveTo>
                    <a:pt x="0" y="0"/>
                  </a:moveTo>
                  <a:lnTo>
                    <a:pt x="915115" y="0"/>
                  </a:lnTo>
                  <a:lnTo>
                    <a:pt x="915115" y="915115"/>
                  </a:lnTo>
                  <a:lnTo>
                    <a:pt x="0" y="915115"/>
                  </a:lnTo>
                  <a:close/>
                </a:path>
              </a:pathLst>
            </a:custGeom>
            <a:blipFill>
              <a:blip r:embed="rId4">
                <a:alphaModFix amt="0"/>
              </a:blip>
              <a:stretch>
                <a:fillRect l="-78303" t="0" r="-78302" b="0"/>
              </a:stretch>
            </a:blipFill>
          </p:spPr>
        </p:sp>
        <p:sp>
          <p:nvSpPr>
            <p:cNvPr name="TextBox 11" id="11"/>
            <p:cNvSpPr txBox="true"/>
            <p:nvPr/>
          </p:nvSpPr>
          <p:spPr>
            <a:xfrm>
              <a:off x="0" y="0"/>
              <a:ext cx="915111" cy="915111"/>
            </a:xfrm>
            <a:prstGeom prst="rect">
              <a:avLst/>
            </a:prstGeom>
          </p:spPr>
          <p:txBody>
            <a:bodyPr anchor="ctr" rtlCol="false" tIns="0" lIns="0" bIns="0" rIns="0"/>
            <a:lstStyle/>
            <a:p>
              <a:pPr algn="ctr">
                <a:lnSpc>
                  <a:spcPts val="2521"/>
                </a:lnSpc>
              </a:pPr>
              <a:r>
                <a:rPr lang="en-US" sz="2101" b="true">
                  <a:solidFill>
                    <a:srgbClr val="1F4E79"/>
                  </a:solidFill>
                  <a:latin typeface="Cabin Bold"/>
                  <a:ea typeface="Cabin Bold"/>
                  <a:cs typeface="Cabin Bold"/>
                  <a:sym typeface="Cabin Bold"/>
                </a:rPr>
                <a:t>04</a:t>
              </a:r>
            </a:p>
          </p:txBody>
        </p:sp>
      </p:grpSp>
      <p:grpSp>
        <p:nvGrpSpPr>
          <p:cNvPr name="Group 12" id="12"/>
          <p:cNvGrpSpPr/>
          <p:nvPr/>
        </p:nvGrpSpPr>
        <p:grpSpPr>
          <a:xfrm rot="0">
            <a:off x="1578569" y="823608"/>
            <a:ext cx="82363" cy="754971"/>
            <a:chOff x="0" y="0"/>
            <a:chExt cx="109817" cy="1006627"/>
          </a:xfrm>
        </p:grpSpPr>
        <p:sp>
          <p:nvSpPr>
            <p:cNvPr name="Freeform 13" id="13"/>
            <p:cNvSpPr/>
            <p:nvPr/>
          </p:nvSpPr>
          <p:spPr>
            <a:xfrm flipH="false" flipV="false" rot="0">
              <a:off x="0" y="0"/>
              <a:ext cx="109855" cy="1006602"/>
            </a:xfrm>
            <a:custGeom>
              <a:avLst/>
              <a:gdLst/>
              <a:ahLst/>
              <a:cxnLst/>
              <a:rect r="r" b="b" t="t" l="l"/>
              <a:pathLst>
                <a:path h="1006602" w="109855">
                  <a:moveTo>
                    <a:pt x="0" y="0"/>
                  </a:moveTo>
                  <a:lnTo>
                    <a:pt x="109855" y="0"/>
                  </a:lnTo>
                  <a:lnTo>
                    <a:pt x="109855" y="1006602"/>
                  </a:lnTo>
                  <a:lnTo>
                    <a:pt x="0" y="1006602"/>
                  </a:lnTo>
                  <a:close/>
                </a:path>
              </a:pathLst>
            </a:custGeom>
            <a:solidFill>
              <a:srgbClr val="85B518"/>
            </a:solidFill>
          </p:spPr>
        </p:sp>
      </p:grpSp>
      <p:grpSp>
        <p:nvGrpSpPr>
          <p:cNvPr name="Group 14" id="14"/>
          <p:cNvGrpSpPr/>
          <p:nvPr/>
        </p:nvGrpSpPr>
        <p:grpSpPr>
          <a:xfrm rot="0">
            <a:off x="1853108" y="796147"/>
            <a:ext cx="14938791" cy="823608"/>
            <a:chOff x="0" y="0"/>
            <a:chExt cx="19918388" cy="1098144"/>
          </a:xfrm>
        </p:grpSpPr>
        <p:sp>
          <p:nvSpPr>
            <p:cNvPr name="Freeform 15" id="15"/>
            <p:cNvSpPr/>
            <p:nvPr/>
          </p:nvSpPr>
          <p:spPr>
            <a:xfrm flipH="false" flipV="false" rot="0">
              <a:off x="0" y="0"/>
              <a:ext cx="19918392" cy="1098138"/>
            </a:xfrm>
            <a:custGeom>
              <a:avLst/>
              <a:gdLst/>
              <a:ahLst/>
              <a:cxnLst/>
              <a:rect r="r" b="b" t="t" l="l"/>
              <a:pathLst>
                <a:path h="1098138" w="19918392">
                  <a:moveTo>
                    <a:pt x="0" y="0"/>
                  </a:moveTo>
                  <a:lnTo>
                    <a:pt x="19918392" y="0"/>
                  </a:lnTo>
                  <a:lnTo>
                    <a:pt x="19918392" y="1098138"/>
                  </a:lnTo>
                  <a:lnTo>
                    <a:pt x="0" y="1098138"/>
                  </a:lnTo>
                  <a:close/>
                </a:path>
              </a:pathLst>
            </a:custGeom>
            <a:blipFill>
              <a:blip r:embed="rId4">
                <a:alphaModFix amt="0"/>
              </a:blip>
              <a:stretch>
                <a:fillRect l="0" t="-303425" r="0" b="-303426"/>
              </a:stretch>
            </a:blipFill>
          </p:spPr>
        </p:sp>
        <p:sp>
          <p:nvSpPr>
            <p:cNvPr name="TextBox 16" id="16"/>
            <p:cNvSpPr txBox="true"/>
            <p:nvPr/>
          </p:nvSpPr>
          <p:spPr>
            <a:xfrm>
              <a:off x="0" y="0"/>
              <a:ext cx="19918388" cy="1098144"/>
            </a:xfrm>
            <a:prstGeom prst="rect">
              <a:avLst/>
            </a:prstGeom>
          </p:spPr>
          <p:txBody>
            <a:bodyPr anchor="ctr" rtlCol="false" tIns="0" lIns="0" bIns="0" rIns="0"/>
            <a:lstStyle/>
            <a:p>
              <a:pPr algn="l">
                <a:lnSpc>
                  <a:spcPts val="3782"/>
                </a:lnSpc>
              </a:pPr>
              <a:r>
                <a:rPr lang="en-US" sz="3152" b="true">
                  <a:solidFill>
                    <a:srgbClr val="1F4E79"/>
                  </a:solidFill>
                  <a:latin typeface="Cabin Bold"/>
                  <a:ea typeface="Cabin Bold"/>
                  <a:cs typeface="Cabin Bold"/>
                  <a:sym typeface="Cabin Bold"/>
                </a:rPr>
                <a:t>Sơ đồ kiến trúc cụm Spark</a:t>
              </a:r>
            </a:p>
          </p:txBody>
        </p:sp>
      </p:grpSp>
      <p:grpSp>
        <p:nvGrpSpPr>
          <p:cNvPr name="Group 17" id="17"/>
          <p:cNvGrpSpPr/>
          <p:nvPr/>
        </p:nvGrpSpPr>
        <p:grpSpPr>
          <a:xfrm rot="0">
            <a:off x="7356910" y="2118112"/>
            <a:ext cx="3588010" cy="842667"/>
            <a:chOff x="0" y="0"/>
            <a:chExt cx="4784014" cy="1123556"/>
          </a:xfrm>
        </p:grpSpPr>
        <p:sp>
          <p:nvSpPr>
            <p:cNvPr name="Freeform 18" id="18"/>
            <p:cNvSpPr/>
            <p:nvPr/>
          </p:nvSpPr>
          <p:spPr>
            <a:xfrm flipH="false" flipV="false" rot="0">
              <a:off x="0" y="0"/>
              <a:ext cx="4784090" cy="1123569"/>
            </a:xfrm>
            <a:custGeom>
              <a:avLst/>
              <a:gdLst/>
              <a:ahLst/>
              <a:cxnLst/>
              <a:rect r="r" b="b" t="t" l="l"/>
              <a:pathLst>
                <a:path h="1123569" w="4784090">
                  <a:moveTo>
                    <a:pt x="0" y="112395"/>
                  </a:moveTo>
                  <a:cubicBezTo>
                    <a:pt x="0" y="50292"/>
                    <a:pt x="50292" y="0"/>
                    <a:pt x="112395" y="0"/>
                  </a:cubicBezTo>
                  <a:lnTo>
                    <a:pt x="4671695" y="0"/>
                  </a:lnTo>
                  <a:cubicBezTo>
                    <a:pt x="4733798" y="0"/>
                    <a:pt x="4784090" y="50292"/>
                    <a:pt x="4784090" y="112395"/>
                  </a:cubicBezTo>
                  <a:lnTo>
                    <a:pt x="4784090" y="1011174"/>
                  </a:lnTo>
                  <a:cubicBezTo>
                    <a:pt x="4784090" y="1073277"/>
                    <a:pt x="4733798" y="1123569"/>
                    <a:pt x="4671695" y="1123569"/>
                  </a:cubicBezTo>
                  <a:lnTo>
                    <a:pt x="112395" y="1123569"/>
                  </a:lnTo>
                  <a:cubicBezTo>
                    <a:pt x="50292" y="1123569"/>
                    <a:pt x="0" y="1073277"/>
                    <a:pt x="0" y="1011174"/>
                  </a:cubicBezTo>
                  <a:close/>
                </a:path>
              </a:pathLst>
            </a:custGeom>
            <a:solidFill>
              <a:srgbClr val="1F4E79"/>
            </a:solidFill>
            <a:ln w="19065" cap="sq">
              <a:solidFill>
                <a:srgbClr val="1F4E79"/>
              </a:solidFill>
              <a:prstDash val="solid"/>
              <a:miter/>
            </a:ln>
          </p:spPr>
        </p:sp>
      </p:grpSp>
      <p:grpSp>
        <p:nvGrpSpPr>
          <p:cNvPr name="Group 19" id="19"/>
          <p:cNvGrpSpPr/>
          <p:nvPr/>
        </p:nvGrpSpPr>
        <p:grpSpPr>
          <a:xfrm rot="0">
            <a:off x="7366444" y="2127647"/>
            <a:ext cx="3568951" cy="823608"/>
            <a:chOff x="0" y="0"/>
            <a:chExt cx="4758601" cy="1098144"/>
          </a:xfrm>
        </p:grpSpPr>
        <p:sp>
          <p:nvSpPr>
            <p:cNvPr name="Freeform 20" id="20"/>
            <p:cNvSpPr/>
            <p:nvPr/>
          </p:nvSpPr>
          <p:spPr>
            <a:xfrm flipH="false" flipV="false" rot="0">
              <a:off x="0" y="0"/>
              <a:ext cx="4758598" cy="1098138"/>
            </a:xfrm>
            <a:custGeom>
              <a:avLst/>
              <a:gdLst/>
              <a:ahLst/>
              <a:cxnLst/>
              <a:rect r="r" b="b" t="t" l="l"/>
              <a:pathLst>
                <a:path h="1098138" w="4758598">
                  <a:moveTo>
                    <a:pt x="0" y="0"/>
                  </a:moveTo>
                  <a:lnTo>
                    <a:pt x="4758598" y="0"/>
                  </a:lnTo>
                  <a:lnTo>
                    <a:pt x="4758598" y="1098138"/>
                  </a:lnTo>
                  <a:lnTo>
                    <a:pt x="0" y="1098138"/>
                  </a:lnTo>
                  <a:close/>
                </a:path>
              </a:pathLst>
            </a:custGeom>
            <a:blipFill>
              <a:blip r:embed="rId4">
                <a:alphaModFix amt="0"/>
              </a:blip>
              <a:stretch>
                <a:fillRect l="0" t="-34434" r="0" b="-34435"/>
              </a:stretch>
            </a:blipFill>
          </p:spPr>
        </p:sp>
        <p:sp>
          <p:nvSpPr>
            <p:cNvPr name="TextBox 21" id="21"/>
            <p:cNvSpPr txBox="true"/>
            <p:nvPr/>
          </p:nvSpPr>
          <p:spPr>
            <a:xfrm>
              <a:off x="0" y="0"/>
              <a:ext cx="4758601" cy="1098144"/>
            </a:xfrm>
            <a:prstGeom prst="rect">
              <a:avLst/>
            </a:prstGeom>
          </p:spPr>
          <p:txBody>
            <a:bodyPr anchor="ctr" rtlCol="false" tIns="0" lIns="0" bIns="0" rIns="0"/>
            <a:lstStyle/>
            <a:p>
              <a:pPr algn="ctr">
                <a:lnSpc>
                  <a:spcPts val="2161"/>
                </a:lnSpc>
              </a:pPr>
              <a:r>
                <a:rPr lang="en-US" sz="1801" b="true">
                  <a:solidFill>
                    <a:srgbClr val="FFFFFF"/>
                  </a:solidFill>
                  <a:latin typeface="Cabin Bold"/>
                  <a:ea typeface="Cabin Bold"/>
                  <a:cs typeface="Cabin Bold"/>
                  <a:sym typeface="Cabin Bold"/>
                </a:rPr>
                <a:t>Driver</a:t>
              </a:r>
            </a:p>
          </p:txBody>
        </p:sp>
      </p:grpSp>
      <p:sp>
        <p:nvSpPr>
          <p:cNvPr name="AutoShape 22" id="22"/>
          <p:cNvSpPr/>
          <p:nvPr/>
        </p:nvSpPr>
        <p:spPr>
          <a:xfrm rot="5237640">
            <a:off x="8898503" y="3186703"/>
            <a:ext cx="504825" cy="0"/>
          </a:xfrm>
          <a:prstGeom prst="line">
            <a:avLst/>
          </a:prstGeom>
          <a:ln cap="rnd" w="9525">
            <a:solidFill>
              <a:srgbClr val="4A4A4A"/>
            </a:solidFill>
            <a:prstDash val="solid"/>
            <a:headEnd type="none" len="sm" w="sm"/>
            <a:tailEnd type="triangle" len="med" w="lg"/>
          </a:ln>
        </p:spPr>
      </p:sp>
      <p:grpSp>
        <p:nvGrpSpPr>
          <p:cNvPr name="Group 23" id="23"/>
          <p:cNvGrpSpPr/>
          <p:nvPr/>
        </p:nvGrpSpPr>
        <p:grpSpPr>
          <a:xfrm rot="0">
            <a:off x="7356910" y="3422152"/>
            <a:ext cx="3588010" cy="842667"/>
            <a:chOff x="0" y="0"/>
            <a:chExt cx="4784014" cy="1123556"/>
          </a:xfrm>
        </p:grpSpPr>
        <p:sp>
          <p:nvSpPr>
            <p:cNvPr name="Freeform 24" id="24"/>
            <p:cNvSpPr/>
            <p:nvPr/>
          </p:nvSpPr>
          <p:spPr>
            <a:xfrm flipH="false" flipV="false" rot="0">
              <a:off x="0" y="0"/>
              <a:ext cx="4784090" cy="1123569"/>
            </a:xfrm>
            <a:custGeom>
              <a:avLst/>
              <a:gdLst/>
              <a:ahLst/>
              <a:cxnLst/>
              <a:rect r="r" b="b" t="t" l="l"/>
              <a:pathLst>
                <a:path h="1123569" w="4784090">
                  <a:moveTo>
                    <a:pt x="0" y="112395"/>
                  </a:moveTo>
                  <a:cubicBezTo>
                    <a:pt x="0" y="50292"/>
                    <a:pt x="50292" y="0"/>
                    <a:pt x="112395" y="0"/>
                  </a:cubicBezTo>
                  <a:lnTo>
                    <a:pt x="4671695" y="0"/>
                  </a:lnTo>
                  <a:cubicBezTo>
                    <a:pt x="4733798" y="0"/>
                    <a:pt x="4784090" y="50292"/>
                    <a:pt x="4784090" y="112395"/>
                  </a:cubicBezTo>
                  <a:lnTo>
                    <a:pt x="4784090" y="1011174"/>
                  </a:lnTo>
                  <a:cubicBezTo>
                    <a:pt x="4784090" y="1073277"/>
                    <a:pt x="4733798" y="1123569"/>
                    <a:pt x="4671695" y="1123569"/>
                  </a:cubicBezTo>
                  <a:lnTo>
                    <a:pt x="112395" y="1123569"/>
                  </a:lnTo>
                  <a:cubicBezTo>
                    <a:pt x="50292" y="1123569"/>
                    <a:pt x="0" y="1073277"/>
                    <a:pt x="0" y="1011174"/>
                  </a:cubicBezTo>
                  <a:close/>
                </a:path>
              </a:pathLst>
            </a:custGeom>
            <a:solidFill>
              <a:srgbClr val="1F4E79"/>
            </a:solidFill>
            <a:ln w="19065" cap="sq">
              <a:solidFill>
                <a:srgbClr val="1F4E79"/>
              </a:solidFill>
              <a:prstDash val="solid"/>
              <a:miter/>
            </a:ln>
          </p:spPr>
        </p:sp>
      </p:grpSp>
      <p:grpSp>
        <p:nvGrpSpPr>
          <p:cNvPr name="Group 25" id="25"/>
          <p:cNvGrpSpPr/>
          <p:nvPr/>
        </p:nvGrpSpPr>
        <p:grpSpPr>
          <a:xfrm rot="0">
            <a:off x="7366444" y="3431677"/>
            <a:ext cx="3568951" cy="823608"/>
            <a:chOff x="0" y="0"/>
            <a:chExt cx="4758601" cy="1098144"/>
          </a:xfrm>
        </p:grpSpPr>
        <p:sp>
          <p:nvSpPr>
            <p:cNvPr name="Freeform 26" id="26"/>
            <p:cNvSpPr/>
            <p:nvPr/>
          </p:nvSpPr>
          <p:spPr>
            <a:xfrm flipH="false" flipV="false" rot="0">
              <a:off x="0" y="0"/>
              <a:ext cx="4758598" cy="1098138"/>
            </a:xfrm>
            <a:custGeom>
              <a:avLst/>
              <a:gdLst/>
              <a:ahLst/>
              <a:cxnLst/>
              <a:rect r="r" b="b" t="t" l="l"/>
              <a:pathLst>
                <a:path h="1098138" w="4758598">
                  <a:moveTo>
                    <a:pt x="0" y="0"/>
                  </a:moveTo>
                  <a:lnTo>
                    <a:pt x="4758598" y="0"/>
                  </a:lnTo>
                  <a:lnTo>
                    <a:pt x="4758598" y="1098138"/>
                  </a:lnTo>
                  <a:lnTo>
                    <a:pt x="0" y="1098138"/>
                  </a:lnTo>
                  <a:close/>
                </a:path>
              </a:pathLst>
            </a:custGeom>
            <a:blipFill>
              <a:blip r:embed="rId4">
                <a:alphaModFix amt="0"/>
              </a:blip>
              <a:stretch>
                <a:fillRect l="0" t="-34434" r="0" b="-34435"/>
              </a:stretch>
            </a:blipFill>
          </p:spPr>
        </p:sp>
        <p:sp>
          <p:nvSpPr>
            <p:cNvPr name="TextBox 27" id="27"/>
            <p:cNvSpPr txBox="true"/>
            <p:nvPr/>
          </p:nvSpPr>
          <p:spPr>
            <a:xfrm>
              <a:off x="0" y="0"/>
              <a:ext cx="4758601" cy="1098144"/>
            </a:xfrm>
            <a:prstGeom prst="rect">
              <a:avLst/>
            </a:prstGeom>
          </p:spPr>
          <p:txBody>
            <a:bodyPr anchor="ctr" rtlCol="false" tIns="0" lIns="0" bIns="0" rIns="0"/>
            <a:lstStyle/>
            <a:p>
              <a:pPr algn="ctr">
                <a:lnSpc>
                  <a:spcPts val="2161"/>
                </a:lnSpc>
              </a:pPr>
              <a:r>
                <a:rPr lang="en-US" sz="1801" b="true">
                  <a:solidFill>
                    <a:srgbClr val="FFFFFF"/>
                  </a:solidFill>
                  <a:latin typeface="Cabin Bold"/>
                  <a:ea typeface="Cabin Bold"/>
                  <a:cs typeface="Cabin Bold"/>
                  <a:sym typeface="Cabin Bold"/>
                </a:rPr>
                <a:t>Cluster Manager</a:t>
              </a:r>
            </a:p>
          </p:txBody>
        </p:sp>
      </p:grpSp>
      <p:sp>
        <p:nvSpPr>
          <p:cNvPr name="AutoShape 28" id="28"/>
          <p:cNvSpPr/>
          <p:nvPr/>
        </p:nvSpPr>
        <p:spPr>
          <a:xfrm rot="587760">
            <a:off x="9114463" y="4525061"/>
            <a:ext cx="3367335" cy="0"/>
          </a:xfrm>
          <a:prstGeom prst="line">
            <a:avLst/>
          </a:prstGeom>
          <a:ln cap="rnd" w="9525">
            <a:solidFill>
              <a:srgbClr val="4A4A4A"/>
            </a:solidFill>
            <a:prstDash val="solid"/>
            <a:headEnd type="none" len="sm" w="sm"/>
            <a:tailEnd type="triangle" len="med" w="lg"/>
          </a:ln>
        </p:spPr>
      </p:sp>
      <p:grpSp>
        <p:nvGrpSpPr>
          <p:cNvPr name="Group 29" id="29"/>
          <p:cNvGrpSpPr/>
          <p:nvPr/>
        </p:nvGrpSpPr>
        <p:grpSpPr>
          <a:xfrm rot="0">
            <a:off x="4062498" y="4794818"/>
            <a:ext cx="3588010" cy="842667"/>
            <a:chOff x="0" y="0"/>
            <a:chExt cx="4784014" cy="1123556"/>
          </a:xfrm>
        </p:grpSpPr>
        <p:sp>
          <p:nvSpPr>
            <p:cNvPr name="Freeform 30" id="30"/>
            <p:cNvSpPr/>
            <p:nvPr/>
          </p:nvSpPr>
          <p:spPr>
            <a:xfrm flipH="false" flipV="false" rot="0">
              <a:off x="0" y="0"/>
              <a:ext cx="4784090" cy="1123569"/>
            </a:xfrm>
            <a:custGeom>
              <a:avLst/>
              <a:gdLst/>
              <a:ahLst/>
              <a:cxnLst/>
              <a:rect r="r" b="b" t="t" l="l"/>
              <a:pathLst>
                <a:path h="1123569" w="4784090">
                  <a:moveTo>
                    <a:pt x="0" y="112395"/>
                  </a:moveTo>
                  <a:cubicBezTo>
                    <a:pt x="0" y="50292"/>
                    <a:pt x="50292" y="0"/>
                    <a:pt x="112395" y="0"/>
                  </a:cubicBezTo>
                  <a:lnTo>
                    <a:pt x="4671695" y="0"/>
                  </a:lnTo>
                  <a:cubicBezTo>
                    <a:pt x="4733798" y="0"/>
                    <a:pt x="4784090" y="50292"/>
                    <a:pt x="4784090" y="112395"/>
                  </a:cubicBezTo>
                  <a:lnTo>
                    <a:pt x="4784090" y="1011174"/>
                  </a:lnTo>
                  <a:cubicBezTo>
                    <a:pt x="4784090" y="1073277"/>
                    <a:pt x="4733798" y="1123569"/>
                    <a:pt x="4671695" y="1123569"/>
                  </a:cubicBezTo>
                  <a:lnTo>
                    <a:pt x="112395" y="1123569"/>
                  </a:lnTo>
                  <a:cubicBezTo>
                    <a:pt x="50292" y="1123569"/>
                    <a:pt x="0" y="1073277"/>
                    <a:pt x="0" y="1011174"/>
                  </a:cubicBezTo>
                  <a:close/>
                </a:path>
              </a:pathLst>
            </a:custGeom>
            <a:solidFill>
              <a:srgbClr val="DCEBFA"/>
            </a:solidFill>
            <a:ln w="19065" cap="sq">
              <a:solidFill>
                <a:srgbClr val="1F4E79"/>
              </a:solidFill>
              <a:prstDash val="solid"/>
              <a:miter/>
            </a:ln>
          </p:spPr>
        </p:sp>
      </p:grpSp>
      <p:grpSp>
        <p:nvGrpSpPr>
          <p:cNvPr name="Group 31" id="31"/>
          <p:cNvGrpSpPr/>
          <p:nvPr/>
        </p:nvGrpSpPr>
        <p:grpSpPr>
          <a:xfrm rot="0">
            <a:off x="4072033" y="4804353"/>
            <a:ext cx="3568951" cy="823608"/>
            <a:chOff x="0" y="0"/>
            <a:chExt cx="4758601" cy="1098144"/>
          </a:xfrm>
        </p:grpSpPr>
        <p:sp>
          <p:nvSpPr>
            <p:cNvPr name="Freeform 32" id="32"/>
            <p:cNvSpPr/>
            <p:nvPr/>
          </p:nvSpPr>
          <p:spPr>
            <a:xfrm flipH="false" flipV="false" rot="0">
              <a:off x="0" y="0"/>
              <a:ext cx="4758598" cy="1098138"/>
            </a:xfrm>
            <a:custGeom>
              <a:avLst/>
              <a:gdLst/>
              <a:ahLst/>
              <a:cxnLst/>
              <a:rect r="r" b="b" t="t" l="l"/>
              <a:pathLst>
                <a:path h="1098138" w="4758598">
                  <a:moveTo>
                    <a:pt x="0" y="0"/>
                  </a:moveTo>
                  <a:lnTo>
                    <a:pt x="4758598" y="0"/>
                  </a:lnTo>
                  <a:lnTo>
                    <a:pt x="4758598" y="1098138"/>
                  </a:lnTo>
                  <a:lnTo>
                    <a:pt x="0" y="1098138"/>
                  </a:lnTo>
                  <a:close/>
                </a:path>
              </a:pathLst>
            </a:custGeom>
            <a:blipFill>
              <a:blip r:embed="rId4">
                <a:alphaModFix amt="0"/>
              </a:blip>
              <a:stretch>
                <a:fillRect l="0" t="-34434" r="0" b="-34435"/>
              </a:stretch>
            </a:blipFill>
          </p:spPr>
        </p:sp>
        <p:sp>
          <p:nvSpPr>
            <p:cNvPr name="TextBox 33" id="33"/>
            <p:cNvSpPr txBox="true"/>
            <p:nvPr/>
          </p:nvSpPr>
          <p:spPr>
            <a:xfrm>
              <a:off x="0" y="0"/>
              <a:ext cx="4758601" cy="1098144"/>
            </a:xfrm>
            <a:prstGeom prst="rect">
              <a:avLst/>
            </a:prstGeom>
          </p:spPr>
          <p:txBody>
            <a:bodyPr anchor="ctr" rtlCol="false" tIns="0" lIns="0" bIns="0" rIns="0"/>
            <a:lstStyle/>
            <a:p>
              <a:pPr algn="ctr">
                <a:lnSpc>
                  <a:spcPts val="2161"/>
                </a:lnSpc>
              </a:pPr>
              <a:r>
                <a:rPr lang="en-US" sz="1801" b="true">
                  <a:solidFill>
                    <a:srgbClr val="1F4E79"/>
                  </a:solidFill>
                  <a:latin typeface="Cabin Bold"/>
                  <a:ea typeface="Cabin Bold"/>
                  <a:cs typeface="Cabin Bold"/>
                  <a:sym typeface="Cabin Bold"/>
                </a:rPr>
                <a:t>Worker 1</a:t>
              </a:r>
            </a:p>
          </p:txBody>
        </p:sp>
      </p:grpSp>
      <p:grpSp>
        <p:nvGrpSpPr>
          <p:cNvPr name="Group 34" id="34"/>
          <p:cNvGrpSpPr/>
          <p:nvPr/>
        </p:nvGrpSpPr>
        <p:grpSpPr>
          <a:xfrm rot="0">
            <a:off x="10651331" y="4794818"/>
            <a:ext cx="3588010" cy="842667"/>
            <a:chOff x="0" y="0"/>
            <a:chExt cx="4784014" cy="1123556"/>
          </a:xfrm>
        </p:grpSpPr>
        <p:sp>
          <p:nvSpPr>
            <p:cNvPr name="Freeform 35" id="35"/>
            <p:cNvSpPr/>
            <p:nvPr/>
          </p:nvSpPr>
          <p:spPr>
            <a:xfrm flipH="false" flipV="false" rot="0">
              <a:off x="0" y="0"/>
              <a:ext cx="4784090" cy="1123569"/>
            </a:xfrm>
            <a:custGeom>
              <a:avLst/>
              <a:gdLst/>
              <a:ahLst/>
              <a:cxnLst/>
              <a:rect r="r" b="b" t="t" l="l"/>
              <a:pathLst>
                <a:path h="1123569" w="4784090">
                  <a:moveTo>
                    <a:pt x="0" y="112395"/>
                  </a:moveTo>
                  <a:cubicBezTo>
                    <a:pt x="0" y="50292"/>
                    <a:pt x="50292" y="0"/>
                    <a:pt x="112395" y="0"/>
                  </a:cubicBezTo>
                  <a:lnTo>
                    <a:pt x="4671695" y="0"/>
                  </a:lnTo>
                  <a:cubicBezTo>
                    <a:pt x="4733798" y="0"/>
                    <a:pt x="4784090" y="50292"/>
                    <a:pt x="4784090" y="112395"/>
                  </a:cubicBezTo>
                  <a:lnTo>
                    <a:pt x="4784090" y="1011174"/>
                  </a:lnTo>
                  <a:cubicBezTo>
                    <a:pt x="4784090" y="1073277"/>
                    <a:pt x="4733798" y="1123569"/>
                    <a:pt x="4671695" y="1123569"/>
                  </a:cubicBezTo>
                  <a:lnTo>
                    <a:pt x="112395" y="1123569"/>
                  </a:lnTo>
                  <a:cubicBezTo>
                    <a:pt x="50292" y="1123569"/>
                    <a:pt x="0" y="1073277"/>
                    <a:pt x="0" y="1011174"/>
                  </a:cubicBezTo>
                  <a:close/>
                </a:path>
              </a:pathLst>
            </a:custGeom>
            <a:solidFill>
              <a:srgbClr val="DCEBFA"/>
            </a:solidFill>
            <a:ln w="19065" cap="sq">
              <a:solidFill>
                <a:srgbClr val="1F4E79"/>
              </a:solidFill>
              <a:prstDash val="solid"/>
              <a:miter/>
            </a:ln>
          </p:spPr>
        </p:sp>
      </p:grpSp>
      <p:grpSp>
        <p:nvGrpSpPr>
          <p:cNvPr name="Group 36" id="36"/>
          <p:cNvGrpSpPr/>
          <p:nvPr/>
        </p:nvGrpSpPr>
        <p:grpSpPr>
          <a:xfrm rot="0">
            <a:off x="10660856" y="4804353"/>
            <a:ext cx="3568951" cy="823608"/>
            <a:chOff x="0" y="0"/>
            <a:chExt cx="4758601" cy="1098144"/>
          </a:xfrm>
        </p:grpSpPr>
        <p:sp>
          <p:nvSpPr>
            <p:cNvPr name="Freeform 37" id="37"/>
            <p:cNvSpPr/>
            <p:nvPr/>
          </p:nvSpPr>
          <p:spPr>
            <a:xfrm flipH="false" flipV="false" rot="0">
              <a:off x="0" y="0"/>
              <a:ext cx="4758598" cy="1098138"/>
            </a:xfrm>
            <a:custGeom>
              <a:avLst/>
              <a:gdLst/>
              <a:ahLst/>
              <a:cxnLst/>
              <a:rect r="r" b="b" t="t" l="l"/>
              <a:pathLst>
                <a:path h="1098138" w="4758598">
                  <a:moveTo>
                    <a:pt x="0" y="0"/>
                  </a:moveTo>
                  <a:lnTo>
                    <a:pt x="4758598" y="0"/>
                  </a:lnTo>
                  <a:lnTo>
                    <a:pt x="4758598" y="1098138"/>
                  </a:lnTo>
                  <a:lnTo>
                    <a:pt x="0" y="1098138"/>
                  </a:lnTo>
                  <a:close/>
                </a:path>
              </a:pathLst>
            </a:custGeom>
            <a:blipFill>
              <a:blip r:embed="rId4">
                <a:alphaModFix amt="0"/>
              </a:blip>
              <a:stretch>
                <a:fillRect l="0" t="-34434" r="0" b="-34435"/>
              </a:stretch>
            </a:blipFill>
          </p:spPr>
        </p:sp>
        <p:sp>
          <p:nvSpPr>
            <p:cNvPr name="TextBox 38" id="38"/>
            <p:cNvSpPr txBox="true"/>
            <p:nvPr/>
          </p:nvSpPr>
          <p:spPr>
            <a:xfrm>
              <a:off x="0" y="0"/>
              <a:ext cx="4758601" cy="1098144"/>
            </a:xfrm>
            <a:prstGeom prst="rect">
              <a:avLst/>
            </a:prstGeom>
          </p:spPr>
          <p:txBody>
            <a:bodyPr anchor="ctr" rtlCol="false" tIns="0" lIns="0" bIns="0" rIns="0"/>
            <a:lstStyle/>
            <a:p>
              <a:pPr algn="ctr">
                <a:lnSpc>
                  <a:spcPts val="2161"/>
                </a:lnSpc>
              </a:pPr>
              <a:r>
                <a:rPr lang="en-US" sz="1801" b="true">
                  <a:solidFill>
                    <a:srgbClr val="1F4E79"/>
                  </a:solidFill>
                  <a:latin typeface="Cabin Bold"/>
                  <a:ea typeface="Cabin Bold"/>
                  <a:cs typeface="Cabin Bold"/>
                  <a:sym typeface="Cabin Bold"/>
                </a:rPr>
                <a:t>Worker 2</a:t>
              </a:r>
            </a:p>
          </p:txBody>
        </p:sp>
      </p:grpSp>
      <p:sp>
        <p:nvSpPr>
          <p:cNvPr name="AutoShape 39" id="39"/>
          <p:cNvSpPr/>
          <p:nvPr/>
        </p:nvSpPr>
        <p:spPr>
          <a:xfrm rot="5237640">
            <a:off x="5604091" y="5863409"/>
            <a:ext cx="504825" cy="0"/>
          </a:xfrm>
          <a:prstGeom prst="line">
            <a:avLst/>
          </a:prstGeom>
          <a:ln cap="rnd" w="9525">
            <a:solidFill>
              <a:srgbClr val="4A4A4A"/>
            </a:solidFill>
            <a:prstDash val="solid"/>
            <a:headEnd type="none" len="sm" w="sm"/>
            <a:tailEnd type="triangle" len="med" w="lg"/>
          </a:ln>
        </p:spPr>
      </p:sp>
      <p:sp>
        <p:nvSpPr>
          <p:cNvPr name="AutoShape 40" id="40"/>
          <p:cNvSpPr/>
          <p:nvPr/>
        </p:nvSpPr>
        <p:spPr>
          <a:xfrm rot="5237640">
            <a:off x="12192924" y="5863409"/>
            <a:ext cx="504825" cy="0"/>
          </a:xfrm>
          <a:prstGeom prst="line">
            <a:avLst/>
          </a:prstGeom>
          <a:ln cap="rnd" w="9525">
            <a:solidFill>
              <a:srgbClr val="4A4A4A"/>
            </a:solidFill>
            <a:prstDash val="solid"/>
            <a:headEnd type="none" len="sm" w="sm"/>
            <a:tailEnd type="triangle" len="med" w="lg"/>
          </a:ln>
        </p:spPr>
      </p:sp>
      <p:grpSp>
        <p:nvGrpSpPr>
          <p:cNvPr name="Group 41" id="41"/>
          <p:cNvGrpSpPr/>
          <p:nvPr/>
        </p:nvGrpSpPr>
        <p:grpSpPr>
          <a:xfrm rot="0">
            <a:off x="4062498" y="6098858"/>
            <a:ext cx="3588010" cy="842667"/>
            <a:chOff x="0" y="0"/>
            <a:chExt cx="4784014" cy="1123556"/>
          </a:xfrm>
        </p:grpSpPr>
        <p:sp>
          <p:nvSpPr>
            <p:cNvPr name="Freeform 42" id="42"/>
            <p:cNvSpPr/>
            <p:nvPr/>
          </p:nvSpPr>
          <p:spPr>
            <a:xfrm flipH="false" flipV="false" rot="0">
              <a:off x="0" y="0"/>
              <a:ext cx="4784090" cy="1123569"/>
            </a:xfrm>
            <a:custGeom>
              <a:avLst/>
              <a:gdLst/>
              <a:ahLst/>
              <a:cxnLst/>
              <a:rect r="r" b="b" t="t" l="l"/>
              <a:pathLst>
                <a:path h="1123569" w="4784090">
                  <a:moveTo>
                    <a:pt x="0" y="112395"/>
                  </a:moveTo>
                  <a:cubicBezTo>
                    <a:pt x="0" y="50292"/>
                    <a:pt x="50292" y="0"/>
                    <a:pt x="112395" y="0"/>
                  </a:cubicBezTo>
                  <a:lnTo>
                    <a:pt x="4671695" y="0"/>
                  </a:lnTo>
                  <a:cubicBezTo>
                    <a:pt x="4733798" y="0"/>
                    <a:pt x="4784090" y="50292"/>
                    <a:pt x="4784090" y="112395"/>
                  </a:cubicBezTo>
                  <a:lnTo>
                    <a:pt x="4784090" y="1011174"/>
                  </a:lnTo>
                  <a:cubicBezTo>
                    <a:pt x="4784090" y="1073277"/>
                    <a:pt x="4733798" y="1123569"/>
                    <a:pt x="4671695" y="1123569"/>
                  </a:cubicBezTo>
                  <a:lnTo>
                    <a:pt x="112395" y="1123569"/>
                  </a:lnTo>
                  <a:cubicBezTo>
                    <a:pt x="50292" y="1123569"/>
                    <a:pt x="0" y="1073277"/>
                    <a:pt x="0" y="1011174"/>
                  </a:cubicBezTo>
                  <a:close/>
                </a:path>
              </a:pathLst>
            </a:custGeom>
            <a:solidFill>
              <a:srgbClr val="F2F5F8"/>
            </a:solidFill>
            <a:ln w="19065" cap="sq">
              <a:solidFill>
                <a:srgbClr val="1F4E79"/>
              </a:solidFill>
              <a:prstDash val="solid"/>
              <a:miter/>
            </a:ln>
          </p:spPr>
        </p:sp>
      </p:grpSp>
      <p:grpSp>
        <p:nvGrpSpPr>
          <p:cNvPr name="Group 43" id="43"/>
          <p:cNvGrpSpPr/>
          <p:nvPr/>
        </p:nvGrpSpPr>
        <p:grpSpPr>
          <a:xfrm rot="0">
            <a:off x="4072033" y="6108392"/>
            <a:ext cx="3568951" cy="823608"/>
            <a:chOff x="0" y="0"/>
            <a:chExt cx="4758601" cy="1098144"/>
          </a:xfrm>
        </p:grpSpPr>
        <p:sp>
          <p:nvSpPr>
            <p:cNvPr name="Freeform 44" id="44"/>
            <p:cNvSpPr/>
            <p:nvPr/>
          </p:nvSpPr>
          <p:spPr>
            <a:xfrm flipH="false" flipV="false" rot="0">
              <a:off x="0" y="0"/>
              <a:ext cx="4758598" cy="1098138"/>
            </a:xfrm>
            <a:custGeom>
              <a:avLst/>
              <a:gdLst/>
              <a:ahLst/>
              <a:cxnLst/>
              <a:rect r="r" b="b" t="t" l="l"/>
              <a:pathLst>
                <a:path h="1098138" w="4758598">
                  <a:moveTo>
                    <a:pt x="0" y="0"/>
                  </a:moveTo>
                  <a:lnTo>
                    <a:pt x="4758598" y="0"/>
                  </a:lnTo>
                  <a:lnTo>
                    <a:pt x="4758598" y="1098138"/>
                  </a:lnTo>
                  <a:lnTo>
                    <a:pt x="0" y="1098138"/>
                  </a:lnTo>
                  <a:close/>
                </a:path>
              </a:pathLst>
            </a:custGeom>
            <a:blipFill>
              <a:blip r:embed="rId4">
                <a:alphaModFix amt="0"/>
              </a:blip>
              <a:stretch>
                <a:fillRect l="0" t="-34434" r="0" b="-34435"/>
              </a:stretch>
            </a:blipFill>
          </p:spPr>
        </p:sp>
        <p:sp>
          <p:nvSpPr>
            <p:cNvPr name="TextBox 45" id="45"/>
            <p:cNvSpPr txBox="true"/>
            <p:nvPr/>
          </p:nvSpPr>
          <p:spPr>
            <a:xfrm>
              <a:off x="0" y="0"/>
              <a:ext cx="4758601" cy="1098144"/>
            </a:xfrm>
            <a:prstGeom prst="rect">
              <a:avLst/>
            </a:prstGeom>
          </p:spPr>
          <p:txBody>
            <a:bodyPr anchor="ctr" rtlCol="false" tIns="0" lIns="0" bIns="0" rIns="0"/>
            <a:lstStyle/>
            <a:p>
              <a:pPr algn="ctr">
                <a:lnSpc>
                  <a:spcPts val="2161"/>
                </a:lnSpc>
              </a:pPr>
              <a:r>
                <a:rPr lang="en-US" sz="1801" b="true">
                  <a:solidFill>
                    <a:srgbClr val="000000"/>
                  </a:solidFill>
                  <a:latin typeface="Cabin Bold"/>
                  <a:ea typeface="Cabin Bold"/>
                  <a:cs typeface="Cabin Bold"/>
                  <a:sym typeface="Cabin Bold"/>
                </a:rPr>
                <a:t>Executor</a:t>
              </a:r>
            </a:p>
          </p:txBody>
        </p:sp>
      </p:grpSp>
      <p:grpSp>
        <p:nvGrpSpPr>
          <p:cNvPr name="Group 46" id="46"/>
          <p:cNvGrpSpPr/>
          <p:nvPr/>
        </p:nvGrpSpPr>
        <p:grpSpPr>
          <a:xfrm rot="0">
            <a:off x="10651331" y="6098858"/>
            <a:ext cx="3588010" cy="842667"/>
            <a:chOff x="0" y="0"/>
            <a:chExt cx="4784014" cy="1123556"/>
          </a:xfrm>
        </p:grpSpPr>
        <p:sp>
          <p:nvSpPr>
            <p:cNvPr name="Freeform 47" id="47"/>
            <p:cNvSpPr/>
            <p:nvPr/>
          </p:nvSpPr>
          <p:spPr>
            <a:xfrm flipH="false" flipV="false" rot="0">
              <a:off x="0" y="0"/>
              <a:ext cx="4784090" cy="1123569"/>
            </a:xfrm>
            <a:custGeom>
              <a:avLst/>
              <a:gdLst/>
              <a:ahLst/>
              <a:cxnLst/>
              <a:rect r="r" b="b" t="t" l="l"/>
              <a:pathLst>
                <a:path h="1123569" w="4784090">
                  <a:moveTo>
                    <a:pt x="0" y="112395"/>
                  </a:moveTo>
                  <a:cubicBezTo>
                    <a:pt x="0" y="50292"/>
                    <a:pt x="50292" y="0"/>
                    <a:pt x="112395" y="0"/>
                  </a:cubicBezTo>
                  <a:lnTo>
                    <a:pt x="4671695" y="0"/>
                  </a:lnTo>
                  <a:cubicBezTo>
                    <a:pt x="4733798" y="0"/>
                    <a:pt x="4784090" y="50292"/>
                    <a:pt x="4784090" y="112395"/>
                  </a:cubicBezTo>
                  <a:lnTo>
                    <a:pt x="4784090" y="1011174"/>
                  </a:lnTo>
                  <a:cubicBezTo>
                    <a:pt x="4784090" y="1073277"/>
                    <a:pt x="4733798" y="1123569"/>
                    <a:pt x="4671695" y="1123569"/>
                  </a:cubicBezTo>
                  <a:lnTo>
                    <a:pt x="112395" y="1123569"/>
                  </a:lnTo>
                  <a:cubicBezTo>
                    <a:pt x="50292" y="1123569"/>
                    <a:pt x="0" y="1073277"/>
                    <a:pt x="0" y="1011174"/>
                  </a:cubicBezTo>
                  <a:close/>
                </a:path>
              </a:pathLst>
            </a:custGeom>
            <a:solidFill>
              <a:srgbClr val="F2F5F8"/>
            </a:solidFill>
            <a:ln w="19065" cap="sq">
              <a:solidFill>
                <a:srgbClr val="1F4E79"/>
              </a:solidFill>
              <a:prstDash val="solid"/>
              <a:miter/>
            </a:ln>
          </p:spPr>
        </p:sp>
      </p:grpSp>
      <p:grpSp>
        <p:nvGrpSpPr>
          <p:cNvPr name="Group 48" id="48"/>
          <p:cNvGrpSpPr/>
          <p:nvPr/>
        </p:nvGrpSpPr>
        <p:grpSpPr>
          <a:xfrm rot="0">
            <a:off x="10660856" y="6108392"/>
            <a:ext cx="3568951" cy="823608"/>
            <a:chOff x="0" y="0"/>
            <a:chExt cx="4758601" cy="1098144"/>
          </a:xfrm>
        </p:grpSpPr>
        <p:sp>
          <p:nvSpPr>
            <p:cNvPr name="Freeform 49" id="49"/>
            <p:cNvSpPr/>
            <p:nvPr/>
          </p:nvSpPr>
          <p:spPr>
            <a:xfrm flipH="false" flipV="false" rot="0">
              <a:off x="0" y="0"/>
              <a:ext cx="4758598" cy="1098138"/>
            </a:xfrm>
            <a:custGeom>
              <a:avLst/>
              <a:gdLst/>
              <a:ahLst/>
              <a:cxnLst/>
              <a:rect r="r" b="b" t="t" l="l"/>
              <a:pathLst>
                <a:path h="1098138" w="4758598">
                  <a:moveTo>
                    <a:pt x="0" y="0"/>
                  </a:moveTo>
                  <a:lnTo>
                    <a:pt x="4758598" y="0"/>
                  </a:lnTo>
                  <a:lnTo>
                    <a:pt x="4758598" y="1098138"/>
                  </a:lnTo>
                  <a:lnTo>
                    <a:pt x="0" y="1098138"/>
                  </a:lnTo>
                  <a:close/>
                </a:path>
              </a:pathLst>
            </a:custGeom>
            <a:blipFill>
              <a:blip r:embed="rId4">
                <a:alphaModFix amt="0"/>
              </a:blip>
              <a:stretch>
                <a:fillRect l="0" t="-34434" r="0" b="-34435"/>
              </a:stretch>
            </a:blipFill>
          </p:spPr>
        </p:sp>
        <p:sp>
          <p:nvSpPr>
            <p:cNvPr name="TextBox 50" id="50"/>
            <p:cNvSpPr txBox="true"/>
            <p:nvPr/>
          </p:nvSpPr>
          <p:spPr>
            <a:xfrm>
              <a:off x="0" y="0"/>
              <a:ext cx="4758601" cy="1098144"/>
            </a:xfrm>
            <a:prstGeom prst="rect">
              <a:avLst/>
            </a:prstGeom>
          </p:spPr>
          <p:txBody>
            <a:bodyPr anchor="ctr" rtlCol="false" tIns="0" lIns="0" bIns="0" rIns="0"/>
            <a:lstStyle/>
            <a:p>
              <a:pPr algn="ctr">
                <a:lnSpc>
                  <a:spcPts val="2161"/>
                </a:lnSpc>
              </a:pPr>
              <a:r>
                <a:rPr lang="en-US" sz="1801" b="true">
                  <a:solidFill>
                    <a:srgbClr val="000000"/>
                  </a:solidFill>
                  <a:latin typeface="Cabin Bold"/>
                  <a:ea typeface="Cabin Bold"/>
                  <a:cs typeface="Cabin Bold"/>
                  <a:sym typeface="Cabin Bold"/>
                </a:rPr>
                <a:t>Executor</a:t>
              </a:r>
            </a:p>
          </p:txBody>
        </p:sp>
      </p:grpSp>
      <p:sp>
        <p:nvSpPr>
          <p:cNvPr name="AutoShape 51" id="51"/>
          <p:cNvSpPr/>
          <p:nvPr/>
        </p:nvSpPr>
        <p:spPr>
          <a:xfrm rot="5212140">
            <a:off x="4746127" y="7133130"/>
            <a:ext cx="436283" cy="0"/>
          </a:xfrm>
          <a:prstGeom prst="line">
            <a:avLst/>
          </a:prstGeom>
          <a:ln cap="rnd" w="9525">
            <a:solidFill>
              <a:srgbClr val="4A4A4A"/>
            </a:solidFill>
            <a:prstDash val="solid"/>
            <a:headEnd type="none" len="sm" w="sm"/>
            <a:tailEnd type="triangle" len="med" w="lg"/>
          </a:ln>
        </p:spPr>
      </p:sp>
      <p:sp>
        <p:nvSpPr>
          <p:cNvPr name="AutoShape 52" id="52"/>
          <p:cNvSpPr/>
          <p:nvPr/>
        </p:nvSpPr>
        <p:spPr>
          <a:xfrm rot="5212140">
            <a:off x="6530607" y="7133130"/>
            <a:ext cx="436283" cy="0"/>
          </a:xfrm>
          <a:prstGeom prst="line">
            <a:avLst/>
          </a:prstGeom>
          <a:ln cap="rnd" w="9525">
            <a:solidFill>
              <a:srgbClr val="4A4A4A"/>
            </a:solidFill>
            <a:prstDash val="solid"/>
            <a:headEnd type="none" len="sm" w="sm"/>
            <a:tailEnd type="triangle" len="med" w="lg"/>
          </a:ln>
        </p:spPr>
      </p:sp>
      <p:sp>
        <p:nvSpPr>
          <p:cNvPr name="AutoShape 53" id="53"/>
          <p:cNvSpPr/>
          <p:nvPr/>
        </p:nvSpPr>
        <p:spPr>
          <a:xfrm rot="5212140">
            <a:off x="11334960" y="7133130"/>
            <a:ext cx="436283" cy="0"/>
          </a:xfrm>
          <a:prstGeom prst="line">
            <a:avLst/>
          </a:prstGeom>
          <a:ln cap="rnd" w="9525">
            <a:solidFill>
              <a:srgbClr val="4A4A4A"/>
            </a:solidFill>
            <a:prstDash val="solid"/>
            <a:headEnd type="none" len="sm" w="sm"/>
            <a:tailEnd type="triangle" len="med" w="lg"/>
          </a:ln>
        </p:spPr>
      </p:sp>
      <p:sp>
        <p:nvSpPr>
          <p:cNvPr name="AutoShape 54" id="54"/>
          <p:cNvSpPr/>
          <p:nvPr/>
        </p:nvSpPr>
        <p:spPr>
          <a:xfrm rot="5212140">
            <a:off x="13119430" y="7133130"/>
            <a:ext cx="436283" cy="0"/>
          </a:xfrm>
          <a:prstGeom prst="line">
            <a:avLst/>
          </a:prstGeom>
          <a:ln cap="rnd" w="9525">
            <a:solidFill>
              <a:srgbClr val="4A4A4A"/>
            </a:solidFill>
            <a:prstDash val="solid"/>
            <a:headEnd type="none" len="sm" w="sm"/>
            <a:tailEnd type="triangle" len="med" w="lg"/>
          </a:ln>
        </p:spPr>
      </p:sp>
      <p:grpSp>
        <p:nvGrpSpPr>
          <p:cNvPr name="Group 55" id="55"/>
          <p:cNvGrpSpPr/>
          <p:nvPr/>
        </p:nvGrpSpPr>
        <p:grpSpPr>
          <a:xfrm rot="0">
            <a:off x="4234082" y="7334269"/>
            <a:ext cx="1460373" cy="842667"/>
            <a:chOff x="0" y="0"/>
            <a:chExt cx="1947164" cy="1123556"/>
          </a:xfrm>
        </p:grpSpPr>
        <p:sp>
          <p:nvSpPr>
            <p:cNvPr name="Freeform 56" id="56"/>
            <p:cNvSpPr/>
            <p:nvPr/>
          </p:nvSpPr>
          <p:spPr>
            <a:xfrm flipH="false" flipV="false" rot="0">
              <a:off x="0" y="0"/>
              <a:ext cx="1947164" cy="1123569"/>
            </a:xfrm>
            <a:custGeom>
              <a:avLst/>
              <a:gdLst/>
              <a:ahLst/>
              <a:cxnLst/>
              <a:rect r="r" b="b" t="t" l="l"/>
              <a:pathLst>
                <a:path h="1123569" w="1947164">
                  <a:moveTo>
                    <a:pt x="0" y="112395"/>
                  </a:moveTo>
                  <a:cubicBezTo>
                    <a:pt x="0" y="50292"/>
                    <a:pt x="50292" y="0"/>
                    <a:pt x="112395" y="0"/>
                  </a:cubicBezTo>
                  <a:lnTo>
                    <a:pt x="1834769" y="0"/>
                  </a:lnTo>
                  <a:cubicBezTo>
                    <a:pt x="1896872" y="0"/>
                    <a:pt x="1947164" y="50292"/>
                    <a:pt x="1947164" y="112395"/>
                  </a:cubicBezTo>
                  <a:lnTo>
                    <a:pt x="1947164" y="1011174"/>
                  </a:lnTo>
                  <a:cubicBezTo>
                    <a:pt x="1947164" y="1073277"/>
                    <a:pt x="1896872" y="1123569"/>
                    <a:pt x="1834769" y="1123569"/>
                  </a:cubicBezTo>
                  <a:lnTo>
                    <a:pt x="112395" y="1123569"/>
                  </a:lnTo>
                  <a:cubicBezTo>
                    <a:pt x="50292" y="1123569"/>
                    <a:pt x="0" y="1073277"/>
                    <a:pt x="0" y="1011174"/>
                  </a:cubicBezTo>
                  <a:close/>
                </a:path>
              </a:pathLst>
            </a:custGeom>
            <a:solidFill>
              <a:srgbClr val="F2F5F8"/>
            </a:solidFill>
            <a:ln w="19065" cap="sq">
              <a:solidFill>
                <a:srgbClr val="1F4E79"/>
              </a:solidFill>
              <a:prstDash val="solid"/>
              <a:miter/>
            </a:ln>
          </p:spPr>
        </p:sp>
      </p:grpSp>
      <p:grpSp>
        <p:nvGrpSpPr>
          <p:cNvPr name="Group 57" id="57"/>
          <p:cNvGrpSpPr/>
          <p:nvPr/>
        </p:nvGrpSpPr>
        <p:grpSpPr>
          <a:xfrm rot="0">
            <a:off x="4243616" y="7343794"/>
            <a:ext cx="1441304" cy="823608"/>
            <a:chOff x="0" y="0"/>
            <a:chExt cx="1921739" cy="1098144"/>
          </a:xfrm>
        </p:grpSpPr>
        <p:sp>
          <p:nvSpPr>
            <p:cNvPr name="Freeform 58" id="58"/>
            <p:cNvSpPr/>
            <p:nvPr/>
          </p:nvSpPr>
          <p:spPr>
            <a:xfrm flipH="false" flipV="false" rot="0">
              <a:off x="0" y="0"/>
              <a:ext cx="1921741" cy="1098138"/>
            </a:xfrm>
            <a:custGeom>
              <a:avLst/>
              <a:gdLst/>
              <a:ahLst/>
              <a:cxnLst/>
              <a:rect r="r" b="b" t="t" l="l"/>
              <a:pathLst>
                <a:path h="1098138" w="1921741">
                  <a:moveTo>
                    <a:pt x="0" y="0"/>
                  </a:moveTo>
                  <a:lnTo>
                    <a:pt x="1921741" y="0"/>
                  </a:lnTo>
                  <a:lnTo>
                    <a:pt x="1921741" y="1098138"/>
                  </a:lnTo>
                  <a:lnTo>
                    <a:pt x="0" y="1098138"/>
                  </a:lnTo>
                  <a:close/>
                </a:path>
              </a:pathLst>
            </a:custGeom>
            <a:blipFill>
              <a:blip r:embed="rId4">
                <a:alphaModFix amt="0"/>
              </a:blip>
              <a:stretch>
                <a:fillRect l="-23316" t="0" r="-23316" b="0"/>
              </a:stretch>
            </a:blipFill>
          </p:spPr>
        </p:sp>
        <p:sp>
          <p:nvSpPr>
            <p:cNvPr name="TextBox 59" id="59"/>
            <p:cNvSpPr txBox="true"/>
            <p:nvPr/>
          </p:nvSpPr>
          <p:spPr>
            <a:xfrm>
              <a:off x="0" y="0"/>
              <a:ext cx="1921739" cy="1098144"/>
            </a:xfrm>
            <a:prstGeom prst="rect">
              <a:avLst/>
            </a:prstGeom>
          </p:spPr>
          <p:txBody>
            <a:bodyPr anchor="ctr" rtlCol="false" tIns="0" lIns="0" bIns="0" rIns="0"/>
            <a:lstStyle/>
            <a:p>
              <a:pPr algn="ctr">
                <a:lnSpc>
                  <a:spcPts val="1981"/>
                </a:lnSpc>
              </a:pPr>
              <a:r>
                <a:rPr lang="en-US" sz="1651" b="true">
                  <a:solidFill>
                    <a:srgbClr val="4A4A4A"/>
                  </a:solidFill>
                  <a:latin typeface="Cabin Bold"/>
                  <a:ea typeface="Cabin Bold"/>
                  <a:cs typeface="Cabin Bold"/>
                  <a:sym typeface="Cabin Bold"/>
                </a:rPr>
                <a:t>Task</a:t>
              </a:r>
            </a:p>
          </p:txBody>
        </p:sp>
      </p:grpSp>
      <p:grpSp>
        <p:nvGrpSpPr>
          <p:cNvPr name="Group 60" id="60"/>
          <p:cNvGrpSpPr/>
          <p:nvPr/>
        </p:nvGrpSpPr>
        <p:grpSpPr>
          <a:xfrm rot="0">
            <a:off x="6018562" y="7334269"/>
            <a:ext cx="1460373" cy="842667"/>
            <a:chOff x="0" y="0"/>
            <a:chExt cx="1947164" cy="1123556"/>
          </a:xfrm>
        </p:grpSpPr>
        <p:sp>
          <p:nvSpPr>
            <p:cNvPr name="Freeform 61" id="61"/>
            <p:cNvSpPr/>
            <p:nvPr/>
          </p:nvSpPr>
          <p:spPr>
            <a:xfrm flipH="false" flipV="false" rot="0">
              <a:off x="0" y="0"/>
              <a:ext cx="1947164" cy="1123569"/>
            </a:xfrm>
            <a:custGeom>
              <a:avLst/>
              <a:gdLst/>
              <a:ahLst/>
              <a:cxnLst/>
              <a:rect r="r" b="b" t="t" l="l"/>
              <a:pathLst>
                <a:path h="1123569" w="1947164">
                  <a:moveTo>
                    <a:pt x="0" y="112395"/>
                  </a:moveTo>
                  <a:cubicBezTo>
                    <a:pt x="0" y="50292"/>
                    <a:pt x="50292" y="0"/>
                    <a:pt x="112395" y="0"/>
                  </a:cubicBezTo>
                  <a:lnTo>
                    <a:pt x="1834769" y="0"/>
                  </a:lnTo>
                  <a:cubicBezTo>
                    <a:pt x="1896872" y="0"/>
                    <a:pt x="1947164" y="50292"/>
                    <a:pt x="1947164" y="112395"/>
                  </a:cubicBezTo>
                  <a:lnTo>
                    <a:pt x="1947164" y="1011174"/>
                  </a:lnTo>
                  <a:cubicBezTo>
                    <a:pt x="1947164" y="1073277"/>
                    <a:pt x="1896872" y="1123569"/>
                    <a:pt x="1834769" y="1123569"/>
                  </a:cubicBezTo>
                  <a:lnTo>
                    <a:pt x="112395" y="1123569"/>
                  </a:lnTo>
                  <a:cubicBezTo>
                    <a:pt x="50292" y="1123569"/>
                    <a:pt x="0" y="1073277"/>
                    <a:pt x="0" y="1011174"/>
                  </a:cubicBezTo>
                  <a:close/>
                </a:path>
              </a:pathLst>
            </a:custGeom>
            <a:solidFill>
              <a:srgbClr val="F2F5F8"/>
            </a:solidFill>
            <a:ln w="19065" cap="sq">
              <a:solidFill>
                <a:srgbClr val="1F4E79"/>
              </a:solidFill>
              <a:prstDash val="solid"/>
              <a:miter/>
            </a:ln>
          </p:spPr>
        </p:sp>
      </p:grpSp>
      <p:grpSp>
        <p:nvGrpSpPr>
          <p:cNvPr name="Group 62" id="62"/>
          <p:cNvGrpSpPr/>
          <p:nvPr/>
        </p:nvGrpSpPr>
        <p:grpSpPr>
          <a:xfrm rot="0">
            <a:off x="6028087" y="7343794"/>
            <a:ext cx="1441304" cy="823608"/>
            <a:chOff x="0" y="0"/>
            <a:chExt cx="1921739" cy="1098144"/>
          </a:xfrm>
        </p:grpSpPr>
        <p:sp>
          <p:nvSpPr>
            <p:cNvPr name="Freeform 63" id="63"/>
            <p:cNvSpPr/>
            <p:nvPr/>
          </p:nvSpPr>
          <p:spPr>
            <a:xfrm flipH="false" flipV="false" rot="0">
              <a:off x="0" y="0"/>
              <a:ext cx="1921741" cy="1098138"/>
            </a:xfrm>
            <a:custGeom>
              <a:avLst/>
              <a:gdLst/>
              <a:ahLst/>
              <a:cxnLst/>
              <a:rect r="r" b="b" t="t" l="l"/>
              <a:pathLst>
                <a:path h="1098138" w="1921741">
                  <a:moveTo>
                    <a:pt x="0" y="0"/>
                  </a:moveTo>
                  <a:lnTo>
                    <a:pt x="1921741" y="0"/>
                  </a:lnTo>
                  <a:lnTo>
                    <a:pt x="1921741" y="1098138"/>
                  </a:lnTo>
                  <a:lnTo>
                    <a:pt x="0" y="1098138"/>
                  </a:lnTo>
                  <a:close/>
                </a:path>
              </a:pathLst>
            </a:custGeom>
            <a:blipFill>
              <a:blip r:embed="rId4">
                <a:alphaModFix amt="0"/>
              </a:blip>
              <a:stretch>
                <a:fillRect l="-23316" t="0" r="-23316" b="0"/>
              </a:stretch>
            </a:blipFill>
          </p:spPr>
        </p:sp>
        <p:sp>
          <p:nvSpPr>
            <p:cNvPr name="TextBox 64" id="64"/>
            <p:cNvSpPr txBox="true"/>
            <p:nvPr/>
          </p:nvSpPr>
          <p:spPr>
            <a:xfrm>
              <a:off x="0" y="0"/>
              <a:ext cx="1921739" cy="1098144"/>
            </a:xfrm>
            <a:prstGeom prst="rect">
              <a:avLst/>
            </a:prstGeom>
          </p:spPr>
          <p:txBody>
            <a:bodyPr anchor="ctr" rtlCol="false" tIns="0" lIns="0" bIns="0" rIns="0"/>
            <a:lstStyle/>
            <a:p>
              <a:pPr algn="ctr">
                <a:lnSpc>
                  <a:spcPts val="1981"/>
                </a:lnSpc>
              </a:pPr>
              <a:r>
                <a:rPr lang="en-US" sz="1651" b="true">
                  <a:solidFill>
                    <a:srgbClr val="4A4A4A"/>
                  </a:solidFill>
                  <a:latin typeface="Cabin Bold"/>
                  <a:ea typeface="Cabin Bold"/>
                  <a:cs typeface="Cabin Bold"/>
                  <a:sym typeface="Cabin Bold"/>
                </a:rPr>
                <a:t>Task</a:t>
              </a:r>
            </a:p>
          </p:txBody>
        </p:sp>
      </p:grpSp>
      <p:grpSp>
        <p:nvGrpSpPr>
          <p:cNvPr name="Group 65" id="65"/>
          <p:cNvGrpSpPr/>
          <p:nvPr/>
        </p:nvGrpSpPr>
        <p:grpSpPr>
          <a:xfrm rot="0">
            <a:off x="10822915" y="7334269"/>
            <a:ext cx="1460373" cy="842667"/>
            <a:chOff x="0" y="0"/>
            <a:chExt cx="1947164" cy="1123556"/>
          </a:xfrm>
        </p:grpSpPr>
        <p:sp>
          <p:nvSpPr>
            <p:cNvPr name="Freeform 66" id="66"/>
            <p:cNvSpPr/>
            <p:nvPr/>
          </p:nvSpPr>
          <p:spPr>
            <a:xfrm flipH="false" flipV="false" rot="0">
              <a:off x="0" y="0"/>
              <a:ext cx="1947164" cy="1123569"/>
            </a:xfrm>
            <a:custGeom>
              <a:avLst/>
              <a:gdLst/>
              <a:ahLst/>
              <a:cxnLst/>
              <a:rect r="r" b="b" t="t" l="l"/>
              <a:pathLst>
                <a:path h="1123569" w="1947164">
                  <a:moveTo>
                    <a:pt x="0" y="112395"/>
                  </a:moveTo>
                  <a:cubicBezTo>
                    <a:pt x="0" y="50292"/>
                    <a:pt x="50292" y="0"/>
                    <a:pt x="112395" y="0"/>
                  </a:cubicBezTo>
                  <a:lnTo>
                    <a:pt x="1834769" y="0"/>
                  </a:lnTo>
                  <a:cubicBezTo>
                    <a:pt x="1896872" y="0"/>
                    <a:pt x="1947164" y="50292"/>
                    <a:pt x="1947164" y="112395"/>
                  </a:cubicBezTo>
                  <a:lnTo>
                    <a:pt x="1947164" y="1011174"/>
                  </a:lnTo>
                  <a:cubicBezTo>
                    <a:pt x="1947164" y="1073277"/>
                    <a:pt x="1896872" y="1123569"/>
                    <a:pt x="1834769" y="1123569"/>
                  </a:cubicBezTo>
                  <a:lnTo>
                    <a:pt x="112395" y="1123569"/>
                  </a:lnTo>
                  <a:cubicBezTo>
                    <a:pt x="50292" y="1123569"/>
                    <a:pt x="0" y="1073277"/>
                    <a:pt x="0" y="1011174"/>
                  </a:cubicBezTo>
                  <a:close/>
                </a:path>
              </a:pathLst>
            </a:custGeom>
            <a:solidFill>
              <a:srgbClr val="F2F5F8"/>
            </a:solidFill>
            <a:ln w="19065" cap="sq">
              <a:solidFill>
                <a:srgbClr val="1F4E79"/>
              </a:solidFill>
              <a:prstDash val="solid"/>
              <a:miter/>
            </a:ln>
          </p:spPr>
        </p:sp>
      </p:grpSp>
      <p:grpSp>
        <p:nvGrpSpPr>
          <p:cNvPr name="Group 67" id="67"/>
          <p:cNvGrpSpPr/>
          <p:nvPr/>
        </p:nvGrpSpPr>
        <p:grpSpPr>
          <a:xfrm rot="0">
            <a:off x="10832449" y="7343794"/>
            <a:ext cx="1441304" cy="823608"/>
            <a:chOff x="0" y="0"/>
            <a:chExt cx="1921739" cy="1098144"/>
          </a:xfrm>
        </p:grpSpPr>
        <p:sp>
          <p:nvSpPr>
            <p:cNvPr name="Freeform 68" id="68"/>
            <p:cNvSpPr/>
            <p:nvPr/>
          </p:nvSpPr>
          <p:spPr>
            <a:xfrm flipH="false" flipV="false" rot="0">
              <a:off x="0" y="0"/>
              <a:ext cx="1921741" cy="1098138"/>
            </a:xfrm>
            <a:custGeom>
              <a:avLst/>
              <a:gdLst/>
              <a:ahLst/>
              <a:cxnLst/>
              <a:rect r="r" b="b" t="t" l="l"/>
              <a:pathLst>
                <a:path h="1098138" w="1921741">
                  <a:moveTo>
                    <a:pt x="0" y="0"/>
                  </a:moveTo>
                  <a:lnTo>
                    <a:pt x="1921741" y="0"/>
                  </a:lnTo>
                  <a:lnTo>
                    <a:pt x="1921741" y="1098138"/>
                  </a:lnTo>
                  <a:lnTo>
                    <a:pt x="0" y="1098138"/>
                  </a:lnTo>
                  <a:close/>
                </a:path>
              </a:pathLst>
            </a:custGeom>
            <a:blipFill>
              <a:blip r:embed="rId4">
                <a:alphaModFix amt="0"/>
              </a:blip>
              <a:stretch>
                <a:fillRect l="-23316" t="0" r="-23316" b="0"/>
              </a:stretch>
            </a:blipFill>
          </p:spPr>
        </p:sp>
        <p:sp>
          <p:nvSpPr>
            <p:cNvPr name="TextBox 69" id="69"/>
            <p:cNvSpPr txBox="true"/>
            <p:nvPr/>
          </p:nvSpPr>
          <p:spPr>
            <a:xfrm>
              <a:off x="0" y="0"/>
              <a:ext cx="1921739" cy="1098144"/>
            </a:xfrm>
            <a:prstGeom prst="rect">
              <a:avLst/>
            </a:prstGeom>
          </p:spPr>
          <p:txBody>
            <a:bodyPr anchor="ctr" rtlCol="false" tIns="0" lIns="0" bIns="0" rIns="0"/>
            <a:lstStyle/>
            <a:p>
              <a:pPr algn="ctr">
                <a:lnSpc>
                  <a:spcPts val="1981"/>
                </a:lnSpc>
              </a:pPr>
              <a:r>
                <a:rPr lang="en-US" sz="1651" b="true">
                  <a:solidFill>
                    <a:srgbClr val="4A4A4A"/>
                  </a:solidFill>
                  <a:latin typeface="Cabin Bold"/>
                  <a:ea typeface="Cabin Bold"/>
                  <a:cs typeface="Cabin Bold"/>
                  <a:sym typeface="Cabin Bold"/>
                </a:rPr>
                <a:t>Task</a:t>
              </a:r>
            </a:p>
          </p:txBody>
        </p:sp>
      </p:grpSp>
      <p:grpSp>
        <p:nvGrpSpPr>
          <p:cNvPr name="Group 70" id="70"/>
          <p:cNvGrpSpPr/>
          <p:nvPr/>
        </p:nvGrpSpPr>
        <p:grpSpPr>
          <a:xfrm rot="0">
            <a:off x="12607385" y="7334269"/>
            <a:ext cx="1460373" cy="842667"/>
            <a:chOff x="0" y="0"/>
            <a:chExt cx="1947164" cy="1123556"/>
          </a:xfrm>
        </p:grpSpPr>
        <p:sp>
          <p:nvSpPr>
            <p:cNvPr name="Freeform 71" id="71"/>
            <p:cNvSpPr/>
            <p:nvPr/>
          </p:nvSpPr>
          <p:spPr>
            <a:xfrm flipH="false" flipV="false" rot="0">
              <a:off x="0" y="0"/>
              <a:ext cx="1947164" cy="1123569"/>
            </a:xfrm>
            <a:custGeom>
              <a:avLst/>
              <a:gdLst/>
              <a:ahLst/>
              <a:cxnLst/>
              <a:rect r="r" b="b" t="t" l="l"/>
              <a:pathLst>
                <a:path h="1123569" w="1947164">
                  <a:moveTo>
                    <a:pt x="0" y="112395"/>
                  </a:moveTo>
                  <a:cubicBezTo>
                    <a:pt x="0" y="50292"/>
                    <a:pt x="50292" y="0"/>
                    <a:pt x="112395" y="0"/>
                  </a:cubicBezTo>
                  <a:lnTo>
                    <a:pt x="1834769" y="0"/>
                  </a:lnTo>
                  <a:cubicBezTo>
                    <a:pt x="1896872" y="0"/>
                    <a:pt x="1947164" y="50292"/>
                    <a:pt x="1947164" y="112395"/>
                  </a:cubicBezTo>
                  <a:lnTo>
                    <a:pt x="1947164" y="1011174"/>
                  </a:lnTo>
                  <a:cubicBezTo>
                    <a:pt x="1947164" y="1073277"/>
                    <a:pt x="1896872" y="1123569"/>
                    <a:pt x="1834769" y="1123569"/>
                  </a:cubicBezTo>
                  <a:lnTo>
                    <a:pt x="112395" y="1123569"/>
                  </a:lnTo>
                  <a:cubicBezTo>
                    <a:pt x="50292" y="1123569"/>
                    <a:pt x="0" y="1073277"/>
                    <a:pt x="0" y="1011174"/>
                  </a:cubicBezTo>
                  <a:close/>
                </a:path>
              </a:pathLst>
            </a:custGeom>
            <a:solidFill>
              <a:srgbClr val="F2F5F8"/>
            </a:solidFill>
            <a:ln w="19065" cap="sq">
              <a:solidFill>
                <a:srgbClr val="1F4E79"/>
              </a:solidFill>
              <a:prstDash val="solid"/>
              <a:miter/>
            </a:ln>
          </p:spPr>
        </p:sp>
      </p:grpSp>
      <p:grpSp>
        <p:nvGrpSpPr>
          <p:cNvPr name="Group 72" id="72"/>
          <p:cNvGrpSpPr/>
          <p:nvPr/>
        </p:nvGrpSpPr>
        <p:grpSpPr>
          <a:xfrm rot="0">
            <a:off x="12616920" y="7343794"/>
            <a:ext cx="1441304" cy="823608"/>
            <a:chOff x="0" y="0"/>
            <a:chExt cx="1921739" cy="1098144"/>
          </a:xfrm>
        </p:grpSpPr>
        <p:sp>
          <p:nvSpPr>
            <p:cNvPr name="Freeform 73" id="73"/>
            <p:cNvSpPr/>
            <p:nvPr/>
          </p:nvSpPr>
          <p:spPr>
            <a:xfrm flipH="false" flipV="false" rot="0">
              <a:off x="0" y="0"/>
              <a:ext cx="1921741" cy="1098138"/>
            </a:xfrm>
            <a:custGeom>
              <a:avLst/>
              <a:gdLst/>
              <a:ahLst/>
              <a:cxnLst/>
              <a:rect r="r" b="b" t="t" l="l"/>
              <a:pathLst>
                <a:path h="1098138" w="1921741">
                  <a:moveTo>
                    <a:pt x="0" y="0"/>
                  </a:moveTo>
                  <a:lnTo>
                    <a:pt x="1921741" y="0"/>
                  </a:lnTo>
                  <a:lnTo>
                    <a:pt x="1921741" y="1098138"/>
                  </a:lnTo>
                  <a:lnTo>
                    <a:pt x="0" y="1098138"/>
                  </a:lnTo>
                  <a:close/>
                </a:path>
              </a:pathLst>
            </a:custGeom>
            <a:blipFill>
              <a:blip r:embed="rId4">
                <a:alphaModFix amt="0"/>
              </a:blip>
              <a:stretch>
                <a:fillRect l="-23316" t="0" r="-23316" b="0"/>
              </a:stretch>
            </a:blipFill>
          </p:spPr>
        </p:sp>
        <p:sp>
          <p:nvSpPr>
            <p:cNvPr name="TextBox 74" id="74"/>
            <p:cNvSpPr txBox="true"/>
            <p:nvPr/>
          </p:nvSpPr>
          <p:spPr>
            <a:xfrm>
              <a:off x="0" y="0"/>
              <a:ext cx="1921739" cy="1098144"/>
            </a:xfrm>
            <a:prstGeom prst="rect">
              <a:avLst/>
            </a:prstGeom>
          </p:spPr>
          <p:txBody>
            <a:bodyPr anchor="ctr" rtlCol="false" tIns="0" lIns="0" bIns="0" rIns="0"/>
            <a:lstStyle/>
            <a:p>
              <a:pPr algn="ctr">
                <a:lnSpc>
                  <a:spcPts val="1981"/>
                </a:lnSpc>
              </a:pPr>
              <a:r>
                <a:rPr lang="en-US" sz="1651" b="true">
                  <a:solidFill>
                    <a:srgbClr val="4A4A4A"/>
                  </a:solidFill>
                  <a:latin typeface="Cabin Bold"/>
                  <a:ea typeface="Cabin Bold"/>
                  <a:cs typeface="Cabin Bold"/>
                  <a:sym typeface="Cabin Bold"/>
                </a:rPr>
                <a:t>Task</a:t>
              </a:r>
            </a:p>
          </p:txBody>
        </p:sp>
      </p:grpSp>
      <p:grpSp>
        <p:nvGrpSpPr>
          <p:cNvPr name="Group 75" id="75"/>
          <p:cNvGrpSpPr/>
          <p:nvPr/>
        </p:nvGrpSpPr>
        <p:grpSpPr>
          <a:xfrm rot="0">
            <a:off x="686333" y="8441931"/>
            <a:ext cx="16952500" cy="686333"/>
            <a:chOff x="0" y="0"/>
            <a:chExt cx="22603333" cy="915111"/>
          </a:xfrm>
        </p:grpSpPr>
        <p:sp>
          <p:nvSpPr>
            <p:cNvPr name="Freeform 76" id="76"/>
            <p:cNvSpPr/>
            <p:nvPr/>
          </p:nvSpPr>
          <p:spPr>
            <a:xfrm flipH="false" flipV="false" rot="0">
              <a:off x="0" y="0"/>
              <a:ext cx="22603340" cy="915115"/>
            </a:xfrm>
            <a:custGeom>
              <a:avLst/>
              <a:gdLst/>
              <a:ahLst/>
              <a:cxnLst/>
              <a:rect r="r" b="b" t="t" l="l"/>
              <a:pathLst>
                <a:path h="915115" w="22603340">
                  <a:moveTo>
                    <a:pt x="0" y="0"/>
                  </a:moveTo>
                  <a:lnTo>
                    <a:pt x="22603340" y="0"/>
                  </a:lnTo>
                  <a:lnTo>
                    <a:pt x="22603340" y="915115"/>
                  </a:lnTo>
                  <a:lnTo>
                    <a:pt x="0" y="915115"/>
                  </a:lnTo>
                  <a:close/>
                </a:path>
              </a:pathLst>
            </a:custGeom>
            <a:blipFill>
              <a:blip r:embed="rId4">
                <a:alphaModFix amt="0"/>
              </a:blip>
              <a:stretch>
                <a:fillRect l="0" t="-431280" r="0" b="-431280"/>
              </a:stretch>
            </a:blipFill>
          </p:spPr>
        </p:sp>
        <p:sp>
          <p:nvSpPr>
            <p:cNvPr name="TextBox 77" id="77"/>
            <p:cNvSpPr txBox="true"/>
            <p:nvPr/>
          </p:nvSpPr>
          <p:spPr>
            <a:xfrm>
              <a:off x="0" y="0"/>
              <a:ext cx="22603333" cy="915111"/>
            </a:xfrm>
            <a:prstGeom prst="rect">
              <a:avLst/>
            </a:prstGeom>
          </p:spPr>
          <p:txBody>
            <a:bodyPr anchor="ctr" rtlCol="false" tIns="0" lIns="0" bIns="0" rIns="0"/>
            <a:lstStyle/>
            <a:p>
              <a:pPr algn="ctr">
                <a:lnSpc>
                  <a:spcPts val="1891"/>
                </a:lnSpc>
              </a:pPr>
              <a:r>
                <a:rPr lang="en-US" sz="1576" i="true">
                  <a:solidFill>
                    <a:srgbClr val="4A4A4A"/>
                  </a:solidFill>
                  <a:latin typeface="Cabin Italics"/>
                  <a:ea typeface="Cabin Italics"/>
                  <a:cs typeface="Cabin Italics"/>
                  <a:sym typeface="Cabin Italics"/>
                </a:rPr>
                <a:t>Driver điều phối qua Cluster Manager; mỗi Worker Node chạy một Executor; mỗi Executor thực thi nhiều Task song song.</a:t>
              </a:r>
            </a:p>
          </p:txBody>
        </p:sp>
      </p:grpSp>
      <p:grpSp>
        <p:nvGrpSpPr>
          <p:cNvPr name="Group 78" id="78"/>
          <p:cNvGrpSpPr/>
          <p:nvPr/>
        </p:nvGrpSpPr>
        <p:grpSpPr>
          <a:xfrm rot="0">
            <a:off x="0" y="9677343"/>
            <a:ext cx="18301840" cy="617706"/>
            <a:chOff x="0" y="0"/>
            <a:chExt cx="24402453" cy="823608"/>
          </a:xfrm>
        </p:grpSpPr>
        <p:sp>
          <p:nvSpPr>
            <p:cNvPr name="Freeform 79" id="79"/>
            <p:cNvSpPr/>
            <p:nvPr/>
          </p:nvSpPr>
          <p:spPr>
            <a:xfrm flipH="false" flipV="false" rot="0">
              <a:off x="0" y="0"/>
              <a:ext cx="24402414" cy="823595"/>
            </a:xfrm>
            <a:custGeom>
              <a:avLst/>
              <a:gdLst/>
              <a:ahLst/>
              <a:cxnLst/>
              <a:rect r="r" b="b" t="t" l="l"/>
              <a:pathLst>
                <a:path h="823595" w="24402414">
                  <a:moveTo>
                    <a:pt x="0" y="0"/>
                  </a:moveTo>
                  <a:lnTo>
                    <a:pt x="24402414" y="0"/>
                  </a:lnTo>
                  <a:lnTo>
                    <a:pt x="24402414" y="823595"/>
                  </a:lnTo>
                  <a:lnTo>
                    <a:pt x="0" y="823595"/>
                  </a:lnTo>
                  <a:close/>
                </a:path>
              </a:pathLst>
            </a:custGeom>
            <a:solidFill>
              <a:srgbClr val="1F4E79"/>
            </a:solidFill>
          </p:spPr>
        </p:sp>
      </p:grpSp>
      <p:grpSp>
        <p:nvGrpSpPr>
          <p:cNvPr name="Group 80" id="80"/>
          <p:cNvGrpSpPr/>
          <p:nvPr/>
        </p:nvGrpSpPr>
        <p:grpSpPr>
          <a:xfrm rot="0">
            <a:off x="480431" y="9677343"/>
            <a:ext cx="10981382" cy="617706"/>
            <a:chOff x="0" y="0"/>
            <a:chExt cx="14641843" cy="823608"/>
          </a:xfrm>
        </p:grpSpPr>
        <p:sp>
          <p:nvSpPr>
            <p:cNvPr name="Freeform 81" id="81"/>
            <p:cNvSpPr/>
            <p:nvPr/>
          </p:nvSpPr>
          <p:spPr>
            <a:xfrm flipH="false" flipV="false" rot="0">
              <a:off x="0" y="0"/>
              <a:ext cx="14641840" cy="823603"/>
            </a:xfrm>
            <a:custGeom>
              <a:avLst/>
              <a:gdLst/>
              <a:ahLst/>
              <a:cxnLst/>
              <a:rect r="r" b="b" t="t" l="l"/>
              <a:pathLst>
                <a:path h="823603" w="14641840">
                  <a:moveTo>
                    <a:pt x="0" y="0"/>
                  </a:moveTo>
                  <a:lnTo>
                    <a:pt x="14641840" y="0"/>
                  </a:lnTo>
                  <a:lnTo>
                    <a:pt x="14641840" y="823603"/>
                  </a:lnTo>
                  <a:lnTo>
                    <a:pt x="0" y="823603"/>
                  </a:lnTo>
                  <a:close/>
                </a:path>
              </a:pathLst>
            </a:custGeom>
            <a:blipFill>
              <a:blip r:embed="rId4">
                <a:alphaModFix amt="0"/>
              </a:blip>
              <a:stretch>
                <a:fillRect l="0" t="-296400" r="0" b="-296401"/>
              </a:stretch>
            </a:blipFill>
          </p:spPr>
        </p:sp>
        <p:sp>
          <p:nvSpPr>
            <p:cNvPr name="TextBox 82" id="82"/>
            <p:cNvSpPr txBox="true"/>
            <p:nvPr/>
          </p:nvSpPr>
          <p:spPr>
            <a:xfrm>
              <a:off x="0" y="0"/>
              <a:ext cx="14641843" cy="823608"/>
            </a:xfrm>
            <a:prstGeom prst="rect">
              <a:avLst/>
            </a:prstGeom>
          </p:spPr>
          <p:txBody>
            <a:bodyPr anchor="ctr" rtlCol="false" tIns="0" lIns="0" bIns="0" rIns="0"/>
            <a:lstStyle/>
            <a:p>
              <a:pPr algn="l">
                <a:lnSpc>
                  <a:spcPts val="1621"/>
                </a:lnSpc>
              </a:pPr>
              <a:r>
                <a:rPr lang="en-US" sz="1351">
                  <a:solidFill>
                    <a:srgbClr val="FFFFFF"/>
                  </a:solidFill>
                  <a:latin typeface="Cabin"/>
                  <a:ea typeface="Cabin"/>
                  <a:cs typeface="Cabin"/>
                  <a:sym typeface="Cabin"/>
                </a:rPr>
                <a:t>VNU UET – Institute for Artificial Intelligence</a:t>
              </a:r>
            </a:p>
          </p:txBody>
        </p:sp>
      </p:grpSp>
      <p:grpSp>
        <p:nvGrpSpPr>
          <p:cNvPr name="Group 83" id="83"/>
          <p:cNvGrpSpPr/>
          <p:nvPr/>
        </p:nvGrpSpPr>
        <p:grpSpPr>
          <a:xfrm rot="0">
            <a:off x="17066438" y="9677343"/>
            <a:ext cx="823608" cy="617706"/>
            <a:chOff x="0" y="0"/>
            <a:chExt cx="1098144" cy="823608"/>
          </a:xfrm>
        </p:grpSpPr>
        <p:sp>
          <p:nvSpPr>
            <p:cNvPr name="Freeform 84" id="84"/>
            <p:cNvSpPr/>
            <p:nvPr/>
          </p:nvSpPr>
          <p:spPr>
            <a:xfrm flipH="false" flipV="false" rot="0">
              <a:off x="0" y="0"/>
              <a:ext cx="1098138" cy="823603"/>
            </a:xfrm>
            <a:custGeom>
              <a:avLst/>
              <a:gdLst/>
              <a:ahLst/>
              <a:cxnLst/>
              <a:rect r="r" b="b" t="t" l="l"/>
              <a:pathLst>
                <a:path h="823603" w="1098138">
                  <a:moveTo>
                    <a:pt x="0" y="0"/>
                  </a:moveTo>
                  <a:lnTo>
                    <a:pt x="1098138" y="0"/>
                  </a:lnTo>
                  <a:lnTo>
                    <a:pt x="1098138" y="823603"/>
                  </a:lnTo>
                  <a:lnTo>
                    <a:pt x="0" y="823603"/>
                  </a:lnTo>
                  <a:close/>
                </a:path>
              </a:pathLst>
            </a:custGeom>
            <a:blipFill>
              <a:blip r:embed="rId4">
                <a:alphaModFix amt="0"/>
              </a:blip>
              <a:stretch>
                <a:fillRect l="-46227" t="0" r="-46228" b="0"/>
              </a:stretch>
            </a:blipFill>
          </p:spPr>
        </p:sp>
        <p:sp>
          <p:nvSpPr>
            <p:cNvPr name="TextBox 85" id="85"/>
            <p:cNvSpPr txBox="true"/>
            <p:nvPr/>
          </p:nvSpPr>
          <p:spPr>
            <a:xfrm>
              <a:off x="0" y="0"/>
              <a:ext cx="1098144" cy="823608"/>
            </a:xfrm>
            <a:prstGeom prst="rect">
              <a:avLst/>
            </a:prstGeom>
          </p:spPr>
          <p:txBody>
            <a:bodyPr anchor="ctr" rtlCol="false" tIns="0" lIns="0" bIns="0" rIns="0"/>
            <a:lstStyle/>
            <a:p>
              <a:pPr algn="r">
                <a:lnSpc>
                  <a:spcPts val="1621"/>
                </a:lnSpc>
              </a:pPr>
              <a:r>
                <a:rPr lang="en-US" sz="1351">
                  <a:solidFill>
                    <a:srgbClr val="FFFFFF"/>
                  </a:solidFill>
                  <a:latin typeface="Cabin"/>
                  <a:ea typeface="Cabin"/>
                  <a:cs typeface="Cabin"/>
                  <a:sym typeface="Cabin"/>
                </a:rPr>
                <a:t>13</a:t>
              </a:r>
            </a:p>
          </p:txBody>
        </p:sp>
      </p:grpSp>
      <p:grpSp>
        <p:nvGrpSpPr>
          <p:cNvPr name="Group 86" id="86"/>
          <p:cNvGrpSpPr/>
          <p:nvPr/>
        </p:nvGrpSpPr>
        <p:grpSpPr>
          <a:xfrm rot="0">
            <a:off x="0" y="0"/>
            <a:ext cx="18288000" cy="315468"/>
            <a:chOff x="0" y="0"/>
            <a:chExt cx="24384000" cy="420624"/>
          </a:xfrm>
        </p:grpSpPr>
        <p:sp>
          <p:nvSpPr>
            <p:cNvPr name="Freeform 87" id="87"/>
            <p:cNvSpPr/>
            <p:nvPr/>
          </p:nvSpPr>
          <p:spPr>
            <a:xfrm flipH="false" flipV="false" rot="0">
              <a:off x="0" y="0"/>
              <a:ext cx="24384000" cy="420624"/>
            </a:xfrm>
            <a:custGeom>
              <a:avLst/>
              <a:gdLst/>
              <a:ahLst/>
              <a:cxnLst/>
              <a:rect r="r" b="b" t="t" l="l"/>
              <a:pathLst>
                <a:path h="420624" w="24384000">
                  <a:moveTo>
                    <a:pt x="0" y="0"/>
                  </a:moveTo>
                  <a:lnTo>
                    <a:pt x="24384000" y="0"/>
                  </a:lnTo>
                  <a:lnTo>
                    <a:pt x="24384000" y="420624"/>
                  </a:lnTo>
                  <a:lnTo>
                    <a:pt x="0" y="420624"/>
                  </a:lnTo>
                  <a:close/>
                </a:path>
              </a:pathLst>
            </a:custGeom>
            <a:solidFill>
              <a:srgbClr val="0F3F6F"/>
            </a:solidFill>
          </p:spPr>
        </p:sp>
      </p:grpSp>
      <p:grpSp>
        <p:nvGrpSpPr>
          <p:cNvPr name="Group 88" id="88"/>
          <p:cNvGrpSpPr/>
          <p:nvPr/>
        </p:nvGrpSpPr>
        <p:grpSpPr>
          <a:xfrm rot="0">
            <a:off x="13098780" y="0"/>
            <a:ext cx="1453896" cy="1508760"/>
            <a:chOff x="0" y="0"/>
            <a:chExt cx="1938528" cy="2011680"/>
          </a:xfrm>
        </p:grpSpPr>
        <p:sp>
          <p:nvSpPr>
            <p:cNvPr name="Freeform 89" id="89"/>
            <p:cNvSpPr/>
            <p:nvPr/>
          </p:nvSpPr>
          <p:spPr>
            <a:xfrm flipH="false" flipV="false" rot="0">
              <a:off x="0" y="0"/>
              <a:ext cx="1938528" cy="2011680"/>
            </a:xfrm>
            <a:custGeom>
              <a:avLst/>
              <a:gdLst/>
              <a:ahLst/>
              <a:cxnLst/>
              <a:rect r="r" b="b" t="t" l="l"/>
              <a:pathLst>
                <a:path h="2011680" w="1938528">
                  <a:moveTo>
                    <a:pt x="0" y="2011680"/>
                  </a:moveTo>
                  <a:lnTo>
                    <a:pt x="484632" y="0"/>
                  </a:lnTo>
                  <a:lnTo>
                    <a:pt x="1938528" y="0"/>
                  </a:lnTo>
                  <a:lnTo>
                    <a:pt x="1453896" y="2011680"/>
                  </a:lnTo>
                  <a:close/>
                </a:path>
              </a:pathLst>
            </a:custGeom>
            <a:solidFill>
              <a:srgbClr val="85B518"/>
            </a:solidFill>
          </p:spPr>
        </p:sp>
      </p:grpSp>
      <p:grpSp>
        <p:nvGrpSpPr>
          <p:cNvPr name="Group 90" id="90"/>
          <p:cNvGrpSpPr/>
          <p:nvPr/>
        </p:nvGrpSpPr>
        <p:grpSpPr>
          <a:xfrm rot="0">
            <a:off x="14621256" y="0"/>
            <a:ext cx="1508760" cy="1508760"/>
            <a:chOff x="0" y="0"/>
            <a:chExt cx="2011680" cy="2011680"/>
          </a:xfrm>
        </p:grpSpPr>
        <p:sp>
          <p:nvSpPr>
            <p:cNvPr name="Freeform 91" id="91"/>
            <p:cNvSpPr/>
            <p:nvPr/>
          </p:nvSpPr>
          <p:spPr>
            <a:xfrm flipH="false" flipV="false" rot="0">
              <a:off x="0" y="0"/>
              <a:ext cx="2011680" cy="2011680"/>
            </a:xfrm>
            <a:custGeom>
              <a:avLst/>
              <a:gdLst/>
              <a:ahLst/>
              <a:cxnLst/>
              <a:rect r="r" b="b" t="t" l="l"/>
              <a:pathLst>
                <a:path h="2011680" w="2011680">
                  <a:moveTo>
                    <a:pt x="0" y="2011680"/>
                  </a:moveTo>
                  <a:lnTo>
                    <a:pt x="502920" y="0"/>
                  </a:lnTo>
                  <a:lnTo>
                    <a:pt x="2011680" y="0"/>
                  </a:lnTo>
                  <a:lnTo>
                    <a:pt x="1508760" y="2011680"/>
                  </a:lnTo>
                  <a:close/>
                </a:path>
              </a:pathLst>
            </a:custGeom>
            <a:solidFill>
              <a:srgbClr val="0F3F6F"/>
            </a:solid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97801" y="384353"/>
            <a:ext cx="851059" cy="851059"/>
            <a:chOff x="0" y="0"/>
            <a:chExt cx="1134745" cy="1134745"/>
          </a:xfrm>
        </p:grpSpPr>
        <p:sp>
          <p:nvSpPr>
            <p:cNvPr name="Freeform 3" id="3" descr="/home/claude/work/assets/logo.png"/>
            <p:cNvSpPr/>
            <p:nvPr/>
          </p:nvSpPr>
          <p:spPr>
            <a:xfrm flipH="false" flipV="false" rot="0">
              <a:off x="0" y="0"/>
              <a:ext cx="1134745" cy="1134745"/>
            </a:xfrm>
            <a:custGeom>
              <a:avLst/>
              <a:gdLst/>
              <a:ahLst/>
              <a:cxnLst/>
              <a:rect r="r" b="b" t="t" l="l"/>
              <a:pathLst>
                <a:path h="1134745" w="1134745">
                  <a:moveTo>
                    <a:pt x="0" y="0"/>
                  </a:moveTo>
                  <a:lnTo>
                    <a:pt x="1134745" y="0"/>
                  </a:lnTo>
                  <a:lnTo>
                    <a:pt x="1134745" y="1134745"/>
                  </a:lnTo>
                  <a:lnTo>
                    <a:pt x="0" y="1134745"/>
                  </a:lnTo>
                  <a:lnTo>
                    <a:pt x="0" y="0"/>
                  </a:lnTo>
                  <a:close/>
                </a:path>
              </a:pathLst>
            </a:custGeom>
            <a:blipFill>
              <a:blip r:embed="rId3"/>
              <a:stretch>
                <a:fillRect l="0" t="0" r="0" b="0"/>
              </a:stretch>
            </a:blipFill>
          </p:spPr>
        </p:sp>
      </p:grpSp>
      <p:grpSp>
        <p:nvGrpSpPr>
          <p:cNvPr name="Group 4" id="4"/>
          <p:cNvGrpSpPr/>
          <p:nvPr/>
        </p:nvGrpSpPr>
        <p:grpSpPr>
          <a:xfrm rot="0">
            <a:off x="5682729" y="1958273"/>
            <a:ext cx="6076264" cy="6076264"/>
            <a:chOff x="0" y="0"/>
            <a:chExt cx="6954876" cy="6954876"/>
          </a:xfrm>
        </p:grpSpPr>
        <p:sp>
          <p:nvSpPr>
            <p:cNvPr name="Freeform 5" id="5"/>
            <p:cNvSpPr/>
            <p:nvPr/>
          </p:nvSpPr>
          <p:spPr>
            <a:xfrm flipH="false" flipV="false" rot="0">
              <a:off x="0" y="0"/>
              <a:ext cx="6954901" cy="6954901"/>
            </a:xfrm>
            <a:custGeom>
              <a:avLst/>
              <a:gdLst/>
              <a:ahLst/>
              <a:cxnLst/>
              <a:rect r="r" b="b" t="t" l="l"/>
              <a:pathLst>
                <a:path h="6954901" w="6954901">
                  <a:moveTo>
                    <a:pt x="0" y="3477387"/>
                  </a:moveTo>
                  <a:cubicBezTo>
                    <a:pt x="0" y="1556893"/>
                    <a:pt x="1556893" y="0"/>
                    <a:pt x="3477387" y="0"/>
                  </a:cubicBezTo>
                  <a:cubicBezTo>
                    <a:pt x="5397881" y="0"/>
                    <a:pt x="6954901" y="1556893"/>
                    <a:pt x="6954901" y="3477387"/>
                  </a:cubicBezTo>
                  <a:cubicBezTo>
                    <a:pt x="6954901" y="5397881"/>
                    <a:pt x="5398008" y="6954901"/>
                    <a:pt x="3477387" y="6954901"/>
                  </a:cubicBezTo>
                  <a:cubicBezTo>
                    <a:pt x="1556766" y="6954901"/>
                    <a:pt x="0" y="5398008"/>
                    <a:pt x="0" y="3477387"/>
                  </a:cubicBezTo>
                  <a:close/>
                </a:path>
              </a:pathLst>
            </a:custGeom>
            <a:solidFill>
              <a:srgbClr val="1F4E79"/>
            </a:solidFill>
          </p:spPr>
        </p:sp>
      </p:grpSp>
      <p:grpSp>
        <p:nvGrpSpPr>
          <p:cNvPr name="Group 6" id="6"/>
          <p:cNvGrpSpPr/>
          <p:nvPr/>
        </p:nvGrpSpPr>
        <p:grpSpPr>
          <a:xfrm rot="0">
            <a:off x="5682729" y="2629857"/>
            <a:ext cx="6076264" cy="479707"/>
            <a:chOff x="0" y="0"/>
            <a:chExt cx="6954876" cy="549072"/>
          </a:xfrm>
        </p:grpSpPr>
        <p:sp>
          <p:nvSpPr>
            <p:cNvPr name="Freeform 7" id="7"/>
            <p:cNvSpPr/>
            <p:nvPr/>
          </p:nvSpPr>
          <p:spPr>
            <a:xfrm flipH="false" flipV="false" rot="0">
              <a:off x="0" y="0"/>
              <a:ext cx="6954873" cy="549069"/>
            </a:xfrm>
            <a:custGeom>
              <a:avLst/>
              <a:gdLst/>
              <a:ahLst/>
              <a:cxnLst/>
              <a:rect r="r" b="b" t="t" l="l"/>
              <a:pathLst>
                <a:path h="549069" w="6954873">
                  <a:moveTo>
                    <a:pt x="0" y="0"/>
                  </a:moveTo>
                  <a:lnTo>
                    <a:pt x="6954873" y="0"/>
                  </a:lnTo>
                  <a:lnTo>
                    <a:pt x="6954873" y="549069"/>
                  </a:lnTo>
                  <a:lnTo>
                    <a:pt x="0" y="549069"/>
                  </a:lnTo>
                  <a:close/>
                </a:path>
              </a:pathLst>
            </a:custGeom>
            <a:blipFill>
              <a:blip r:embed="rId4">
                <a:alphaModFix amt="0"/>
              </a:blip>
              <a:stretch>
                <a:fillRect l="0" t="-196810" r="0" b="-196810"/>
              </a:stretch>
            </a:blipFill>
          </p:spPr>
        </p:sp>
        <p:sp>
          <p:nvSpPr>
            <p:cNvPr name="TextBox 8" id="8"/>
            <p:cNvSpPr txBox="true"/>
            <p:nvPr/>
          </p:nvSpPr>
          <p:spPr>
            <a:xfrm>
              <a:off x="0" y="0"/>
              <a:ext cx="6954876" cy="549072"/>
            </a:xfrm>
            <a:prstGeom prst="rect">
              <a:avLst/>
            </a:prstGeom>
          </p:spPr>
          <p:txBody>
            <a:bodyPr anchor="ctr" rtlCol="false" tIns="0" lIns="0" bIns="0" rIns="0"/>
            <a:lstStyle/>
            <a:p>
              <a:pPr algn="ctr">
                <a:lnSpc>
                  <a:spcPts val="1981"/>
                </a:lnSpc>
              </a:pPr>
              <a:r>
                <a:rPr lang="en-US" sz="1651" spc="300">
                  <a:solidFill>
                    <a:srgbClr val="9FB8D4"/>
                  </a:solidFill>
                  <a:latin typeface="Cabin"/>
                  <a:ea typeface="Cabin"/>
                  <a:cs typeface="Cabin"/>
                  <a:sym typeface="Cabin"/>
                </a:rPr>
                <a:t>PHẦN 5.5</a:t>
              </a:r>
            </a:p>
          </p:txBody>
        </p:sp>
      </p:grpSp>
      <p:grpSp>
        <p:nvGrpSpPr>
          <p:cNvPr name="Group 9" id="9"/>
          <p:cNvGrpSpPr/>
          <p:nvPr/>
        </p:nvGrpSpPr>
        <p:grpSpPr>
          <a:xfrm rot="0">
            <a:off x="5682729" y="3045598"/>
            <a:ext cx="6076264" cy="1199257"/>
            <a:chOff x="0" y="0"/>
            <a:chExt cx="6954876" cy="1372667"/>
          </a:xfrm>
        </p:grpSpPr>
        <p:sp>
          <p:nvSpPr>
            <p:cNvPr name="Freeform 10" id="10"/>
            <p:cNvSpPr/>
            <p:nvPr/>
          </p:nvSpPr>
          <p:spPr>
            <a:xfrm flipH="false" flipV="false" rot="0">
              <a:off x="0" y="0"/>
              <a:ext cx="6954873" cy="1372672"/>
            </a:xfrm>
            <a:custGeom>
              <a:avLst/>
              <a:gdLst/>
              <a:ahLst/>
              <a:cxnLst/>
              <a:rect r="r" b="b" t="t" l="l"/>
              <a:pathLst>
                <a:path h="1372672" w="6954873">
                  <a:moveTo>
                    <a:pt x="0" y="0"/>
                  </a:moveTo>
                  <a:lnTo>
                    <a:pt x="6954873" y="0"/>
                  </a:lnTo>
                  <a:lnTo>
                    <a:pt x="6954873" y="1372672"/>
                  </a:lnTo>
                  <a:lnTo>
                    <a:pt x="0" y="1372672"/>
                  </a:lnTo>
                  <a:close/>
                </a:path>
              </a:pathLst>
            </a:custGeom>
            <a:blipFill>
              <a:blip r:embed="rId4">
                <a:alphaModFix amt="0"/>
              </a:blip>
              <a:stretch>
                <a:fillRect l="0" t="-48724" r="0" b="-48724"/>
              </a:stretch>
            </a:blipFill>
          </p:spPr>
        </p:sp>
        <p:sp>
          <p:nvSpPr>
            <p:cNvPr name="TextBox 11" id="11"/>
            <p:cNvSpPr txBox="true"/>
            <p:nvPr/>
          </p:nvSpPr>
          <p:spPr>
            <a:xfrm>
              <a:off x="0" y="-9525"/>
              <a:ext cx="6954876" cy="1382192"/>
            </a:xfrm>
            <a:prstGeom prst="rect">
              <a:avLst/>
            </a:prstGeom>
          </p:spPr>
          <p:txBody>
            <a:bodyPr anchor="ctr" rtlCol="false" tIns="0" lIns="0" bIns="0" rIns="0"/>
            <a:lstStyle/>
            <a:p>
              <a:pPr algn="ctr">
                <a:lnSpc>
                  <a:spcPts val="6124"/>
                </a:lnSpc>
              </a:pPr>
              <a:r>
                <a:rPr lang="en-US" sz="5103" b="true">
                  <a:solidFill>
                    <a:srgbClr val="FFFFFF"/>
                  </a:solidFill>
                  <a:latin typeface="TT Rounds Condensed Bold"/>
                  <a:ea typeface="TT Rounds Condensed Bold"/>
                  <a:cs typeface="TT Rounds Condensed Bold"/>
                  <a:sym typeface="TT Rounds Condensed Bold"/>
                </a:rPr>
                <a:t>5.5</a:t>
              </a:r>
            </a:p>
          </p:txBody>
        </p:sp>
      </p:grpSp>
      <p:sp>
        <p:nvSpPr>
          <p:cNvPr name="TextBox 12" id="12"/>
          <p:cNvSpPr txBox="true"/>
          <p:nvPr/>
        </p:nvSpPr>
        <p:spPr>
          <a:xfrm rot="0">
            <a:off x="6029101" y="4282137"/>
            <a:ext cx="5383521" cy="1012796"/>
          </a:xfrm>
          <a:prstGeom prst="rect">
            <a:avLst/>
          </a:prstGeom>
        </p:spPr>
        <p:txBody>
          <a:bodyPr anchor="t" rtlCol="false" tIns="0" lIns="0" bIns="0" rIns="0">
            <a:spAutoFit/>
          </a:bodyPr>
          <a:lstStyle/>
          <a:p>
            <a:pPr algn="ctr">
              <a:lnSpc>
                <a:spcPts val="3147"/>
              </a:lnSpc>
            </a:pPr>
            <a:r>
              <a:rPr lang="en-US" sz="2623" b="true">
                <a:solidFill>
                  <a:srgbClr val="FFFFFF"/>
                </a:solidFill>
                <a:latin typeface="Cabin Bold"/>
                <a:ea typeface="Cabin Bold"/>
                <a:cs typeface="Cabin Bold"/>
                <a:sym typeface="Cabin Bold"/>
              </a:rPr>
              <a:t>Cơ chế thực thi Spark</a:t>
            </a:r>
          </a:p>
        </p:txBody>
      </p:sp>
      <p:sp>
        <p:nvSpPr>
          <p:cNvPr name="TextBox 13" id="13"/>
          <p:cNvSpPr txBox="true"/>
          <p:nvPr/>
        </p:nvSpPr>
        <p:spPr>
          <a:xfrm rot="0">
            <a:off x="6109045" y="5618841"/>
            <a:ext cx="5223622" cy="1482978"/>
          </a:xfrm>
          <a:prstGeom prst="rect">
            <a:avLst/>
          </a:prstGeom>
        </p:spPr>
        <p:txBody>
          <a:bodyPr anchor="t" rtlCol="false" tIns="0" lIns="0" bIns="0" rIns="0">
            <a:spAutoFit/>
          </a:bodyPr>
          <a:lstStyle/>
          <a:p>
            <a:pPr algn="ctr">
              <a:lnSpc>
                <a:spcPts val="1993"/>
              </a:lnSpc>
            </a:pPr>
            <a:r>
              <a:rPr lang="en-US" sz="1661">
                <a:solidFill>
                  <a:srgbClr val="D7E3F0"/>
                </a:solidFill>
                <a:latin typeface="Cabin"/>
                <a:ea typeface="Cabin"/>
                <a:cs typeface="Cabin"/>
                <a:sym typeface="Cabin"/>
              </a:rPr>
              <a:t>Trọng tâm lý thuyết của Bài 5: Application – Job – DAG – Stage – Task</a:t>
            </a:r>
          </a:p>
        </p:txBody>
      </p:sp>
      <p:grpSp>
        <p:nvGrpSpPr>
          <p:cNvPr name="Group 14" id="14"/>
          <p:cNvGrpSpPr/>
          <p:nvPr/>
        </p:nvGrpSpPr>
        <p:grpSpPr>
          <a:xfrm rot="0">
            <a:off x="480431" y="9087088"/>
            <a:ext cx="1692916" cy="411804"/>
            <a:chOff x="0" y="0"/>
            <a:chExt cx="2257222" cy="549072"/>
          </a:xfrm>
        </p:grpSpPr>
        <p:sp>
          <p:nvSpPr>
            <p:cNvPr name="Freeform 15" id="15"/>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16" id="16"/>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5.1 MR→Spark</a:t>
              </a:r>
            </a:p>
          </p:txBody>
        </p:sp>
      </p:grpSp>
      <p:grpSp>
        <p:nvGrpSpPr>
          <p:cNvPr name="Group 17" id="17"/>
          <p:cNvGrpSpPr/>
          <p:nvPr/>
        </p:nvGrpSpPr>
        <p:grpSpPr>
          <a:xfrm rot="0">
            <a:off x="2214534" y="9087088"/>
            <a:ext cx="1692916" cy="411804"/>
            <a:chOff x="0" y="0"/>
            <a:chExt cx="2257222" cy="549072"/>
          </a:xfrm>
        </p:grpSpPr>
        <p:sp>
          <p:nvSpPr>
            <p:cNvPr name="Freeform 18" id="18"/>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19" id="19"/>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5.2 Spark</a:t>
              </a:r>
            </a:p>
          </p:txBody>
        </p:sp>
      </p:grpSp>
      <p:grpSp>
        <p:nvGrpSpPr>
          <p:cNvPr name="Group 20" id="20"/>
          <p:cNvGrpSpPr/>
          <p:nvPr/>
        </p:nvGrpSpPr>
        <p:grpSpPr>
          <a:xfrm rot="0">
            <a:off x="3948627" y="9087088"/>
            <a:ext cx="1692916" cy="411804"/>
            <a:chOff x="0" y="0"/>
            <a:chExt cx="2257222" cy="549072"/>
          </a:xfrm>
        </p:grpSpPr>
        <p:sp>
          <p:nvSpPr>
            <p:cNvPr name="Freeform 21" id="21"/>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22" id="22"/>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5.3 So sánh</a:t>
              </a:r>
            </a:p>
          </p:txBody>
        </p:sp>
      </p:grpSp>
      <p:grpSp>
        <p:nvGrpSpPr>
          <p:cNvPr name="Group 23" id="23"/>
          <p:cNvGrpSpPr/>
          <p:nvPr/>
        </p:nvGrpSpPr>
        <p:grpSpPr>
          <a:xfrm rot="0">
            <a:off x="5682729" y="9087088"/>
            <a:ext cx="1692916" cy="411804"/>
            <a:chOff x="0" y="0"/>
            <a:chExt cx="2257222" cy="549072"/>
          </a:xfrm>
        </p:grpSpPr>
        <p:sp>
          <p:nvSpPr>
            <p:cNvPr name="Freeform 24" id="24"/>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25" id="25"/>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5.4 Kiến trúc</a:t>
              </a:r>
            </a:p>
          </p:txBody>
        </p:sp>
      </p:grpSp>
      <p:grpSp>
        <p:nvGrpSpPr>
          <p:cNvPr name="Group 26" id="26"/>
          <p:cNvGrpSpPr/>
          <p:nvPr/>
        </p:nvGrpSpPr>
        <p:grpSpPr>
          <a:xfrm rot="0">
            <a:off x="7416822" y="9087088"/>
            <a:ext cx="1692916" cy="411804"/>
            <a:chOff x="0" y="0"/>
            <a:chExt cx="2257222" cy="549072"/>
          </a:xfrm>
        </p:grpSpPr>
        <p:sp>
          <p:nvSpPr>
            <p:cNvPr name="Freeform 27" id="27"/>
            <p:cNvSpPr/>
            <p:nvPr/>
          </p:nvSpPr>
          <p:spPr>
            <a:xfrm flipH="false" flipV="false" rot="0">
              <a:off x="0" y="0"/>
              <a:ext cx="2257171" cy="549021"/>
            </a:xfrm>
            <a:custGeom>
              <a:avLst/>
              <a:gdLst/>
              <a:ahLst/>
              <a:cxnLst/>
              <a:rect r="r" b="b" t="t" l="l"/>
              <a:pathLst>
                <a:path h="549021" w="2257171">
                  <a:moveTo>
                    <a:pt x="0" y="0"/>
                  </a:moveTo>
                  <a:lnTo>
                    <a:pt x="2257171" y="0"/>
                  </a:lnTo>
                  <a:lnTo>
                    <a:pt x="2257171" y="549021"/>
                  </a:lnTo>
                  <a:lnTo>
                    <a:pt x="0" y="549021"/>
                  </a:lnTo>
                  <a:close/>
                </a:path>
              </a:pathLst>
            </a:custGeom>
            <a:solidFill>
              <a:srgbClr val="85B518"/>
            </a:solidFill>
          </p:spPr>
        </p:sp>
        <p:sp>
          <p:nvSpPr>
            <p:cNvPr name="TextBox 28" id="28"/>
            <p:cNvSpPr txBox="true"/>
            <p:nvPr/>
          </p:nvSpPr>
          <p:spPr>
            <a:xfrm>
              <a:off x="0" y="0"/>
              <a:ext cx="2257222" cy="549072"/>
            </a:xfrm>
            <a:prstGeom prst="rect">
              <a:avLst/>
            </a:prstGeom>
          </p:spPr>
          <p:txBody>
            <a:bodyPr anchor="ctr" rtlCol="false" tIns="50800" lIns="50800" bIns="50800" rIns="50800"/>
            <a:lstStyle/>
            <a:p>
              <a:pPr algn="ctr">
                <a:lnSpc>
                  <a:spcPts val="1170"/>
                </a:lnSpc>
              </a:pPr>
              <a:r>
                <a:rPr lang="en-US" sz="975" b="true">
                  <a:solidFill>
                    <a:srgbClr val="FFFFFF"/>
                  </a:solidFill>
                  <a:latin typeface="Cabin Bold"/>
                  <a:ea typeface="Cabin Bold"/>
                  <a:cs typeface="Cabin Bold"/>
                  <a:sym typeface="Cabin Bold"/>
                </a:rPr>
                <a:t>5.5 Thực thi</a:t>
              </a:r>
            </a:p>
          </p:txBody>
        </p:sp>
      </p:grpSp>
      <p:grpSp>
        <p:nvGrpSpPr>
          <p:cNvPr name="Group 29" id="29"/>
          <p:cNvGrpSpPr/>
          <p:nvPr/>
        </p:nvGrpSpPr>
        <p:grpSpPr>
          <a:xfrm rot="0">
            <a:off x="9150925" y="9087088"/>
            <a:ext cx="1692916" cy="411804"/>
            <a:chOff x="0" y="0"/>
            <a:chExt cx="2257222" cy="549072"/>
          </a:xfrm>
        </p:grpSpPr>
        <p:sp>
          <p:nvSpPr>
            <p:cNvPr name="Freeform 30" id="30"/>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31" id="31"/>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5.6 Transform/Action</a:t>
              </a:r>
            </a:p>
          </p:txBody>
        </p:sp>
      </p:grpSp>
      <p:grpSp>
        <p:nvGrpSpPr>
          <p:cNvPr name="Group 32" id="32"/>
          <p:cNvGrpSpPr/>
          <p:nvPr/>
        </p:nvGrpSpPr>
        <p:grpSpPr>
          <a:xfrm rot="0">
            <a:off x="10885018" y="9087088"/>
            <a:ext cx="1692916" cy="411804"/>
            <a:chOff x="0" y="0"/>
            <a:chExt cx="2257222" cy="549072"/>
          </a:xfrm>
        </p:grpSpPr>
        <p:sp>
          <p:nvSpPr>
            <p:cNvPr name="Freeform 33" id="33"/>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34" id="34"/>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5.7 Partition</a:t>
              </a:r>
            </a:p>
          </p:txBody>
        </p:sp>
      </p:grpSp>
      <p:grpSp>
        <p:nvGrpSpPr>
          <p:cNvPr name="Group 35" id="35"/>
          <p:cNvGrpSpPr/>
          <p:nvPr/>
        </p:nvGrpSpPr>
        <p:grpSpPr>
          <a:xfrm rot="0">
            <a:off x="12619111" y="9087088"/>
            <a:ext cx="1692916" cy="411804"/>
            <a:chOff x="0" y="0"/>
            <a:chExt cx="2257222" cy="549072"/>
          </a:xfrm>
        </p:grpSpPr>
        <p:sp>
          <p:nvSpPr>
            <p:cNvPr name="Freeform 36" id="36"/>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37" id="37"/>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5.8 RDD/DF</a:t>
              </a:r>
            </a:p>
          </p:txBody>
        </p:sp>
      </p:grpSp>
      <p:grpSp>
        <p:nvGrpSpPr>
          <p:cNvPr name="Group 38" id="38"/>
          <p:cNvGrpSpPr/>
          <p:nvPr/>
        </p:nvGrpSpPr>
        <p:grpSpPr>
          <a:xfrm rot="0">
            <a:off x="14353213" y="9087088"/>
            <a:ext cx="1692916" cy="411804"/>
            <a:chOff x="0" y="0"/>
            <a:chExt cx="2257222" cy="549072"/>
          </a:xfrm>
        </p:grpSpPr>
        <p:sp>
          <p:nvSpPr>
            <p:cNvPr name="Freeform 39" id="39"/>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40" id="40"/>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5.9 PySpark</a:t>
              </a:r>
            </a:p>
          </p:txBody>
        </p:sp>
      </p:grpSp>
      <p:grpSp>
        <p:nvGrpSpPr>
          <p:cNvPr name="Group 41" id="41"/>
          <p:cNvGrpSpPr/>
          <p:nvPr/>
        </p:nvGrpSpPr>
        <p:grpSpPr>
          <a:xfrm rot="0">
            <a:off x="16087306" y="9087088"/>
            <a:ext cx="1692916" cy="411804"/>
            <a:chOff x="0" y="0"/>
            <a:chExt cx="2257222" cy="549072"/>
          </a:xfrm>
        </p:grpSpPr>
        <p:sp>
          <p:nvSpPr>
            <p:cNvPr name="Freeform 42" id="42"/>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43" id="43"/>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TH Thực hành</a:t>
              </a:r>
            </a:p>
          </p:txBody>
        </p:sp>
      </p:grpSp>
      <p:grpSp>
        <p:nvGrpSpPr>
          <p:cNvPr name="Group 44" id="44"/>
          <p:cNvGrpSpPr/>
          <p:nvPr/>
        </p:nvGrpSpPr>
        <p:grpSpPr>
          <a:xfrm rot="0">
            <a:off x="0" y="9677343"/>
            <a:ext cx="18301840" cy="617706"/>
            <a:chOff x="0" y="0"/>
            <a:chExt cx="24402453" cy="823608"/>
          </a:xfrm>
        </p:grpSpPr>
        <p:sp>
          <p:nvSpPr>
            <p:cNvPr name="Freeform 45" id="45"/>
            <p:cNvSpPr/>
            <p:nvPr/>
          </p:nvSpPr>
          <p:spPr>
            <a:xfrm flipH="false" flipV="false" rot="0">
              <a:off x="0" y="0"/>
              <a:ext cx="24402414" cy="823595"/>
            </a:xfrm>
            <a:custGeom>
              <a:avLst/>
              <a:gdLst/>
              <a:ahLst/>
              <a:cxnLst/>
              <a:rect r="r" b="b" t="t" l="l"/>
              <a:pathLst>
                <a:path h="823595" w="24402414">
                  <a:moveTo>
                    <a:pt x="0" y="0"/>
                  </a:moveTo>
                  <a:lnTo>
                    <a:pt x="24402414" y="0"/>
                  </a:lnTo>
                  <a:lnTo>
                    <a:pt x="24402414" y="823595"/>
                  </a:lnTo>
                  <a:lnTo>
                    <a:pt x="0" y="823595"/>
                  </a:lnTo>
                  <a:close/>
                </a:path>
              </a:pathLst>
            </a:custGeom>
            <a:solidFill>
              <a:srgbClr val="1F4E79"/>
            </a:solidFill>
          </p:spPr>
        </p:sp>
      </p:grpSp>
      <p:grpSp>
        <p:nvGrpSpPr>
          <p:cNvPr name="Group 46" id="46"/>
          <p:cNvGrpSpPr/>
          <p:nvPr/>
        </p:nvGrpSpPr>
        <p:grpSpPr>
          <a:xfrm rot="0">
            <a:off x="480431" y="9677343"/>
            <a:ext cx="10981382" cy="617706"/>
            <a:chOff x="0" y="0"/>
            <a:chExt cx="14641843" cy="823608"/>
          </a:xfrm>
        </p:grpSpPr>
        <p:sp>
          <p:nvSpPr>
            <p:cNvPr name="Freeform 47" id="47"/>
            <p:cNvSpPr/>
            <p:nvPr/>
          </p:nvSpPr>
          <p:spPr>
            <a:xfrm flipH="false" flipV="false" rot="0">
              <a:off x="0" y="0"/>
              <a:ext cx="14641840" cy="823603"/>
            </a:xfrm>
            <a:custGeom>
              <a:avLst/>
              <a:gdLst/>
              <a:ahLst/>
              <a:cxnLst/>
              <a:rect r="r" b="b" t="t" l="l"/>
              <a:pathLst>
                <a:path h="823603" w="14641840">
                  <a:moveTo>
                    <a:pt x="0" y="0"/>
                  </a:moveTo>
                  <a:lnTo>
                    <a:pt x="14641840" y="0"/>
                  </a:lnTo>
                  <a:lnTo>
                    <a:pt x="14641840" y="823603"/>
                  </a:lnTo>
                  <a:lnTo>
                    <a:pt x="0" y="823603"/>
                  </a:lnTo>
                  <a:close/>
                </a:path>
              </a:pathLst>
            </a:custGeom>
            <a:blipFill>
              <a:blip r:embed="rId4">
                <a:alphaModFix amt="0"/>
              </a:blip>
              <a:stretch>
                <a:fillRect l="0" t="-296400" r="0" b="-296401"/>
              </a:stretch>
            </a:blipFill>
          </p:spPr>
        </p:sp>
        <p:sp>
          <p:nvSpPr>
            <p:cNvPr name="TextBox 48" id="48"/>
            <p:cNvSpPr txBox="true"/>
            <p:nvPr/>
          </p:nvSpPr>
          <p:spPr>
            <a:xfrm>
              <a:off x="0" y="0"/>
              <a:ext cx="14641843" cy="823608"/>
            </a:xfrm>
            <a:prstGeom prst="rect">
              <a:avLst/>
            </a:prstGeom>
          </p:spPr>
          <p:txBody>
            <a:bodyPr anchor="ctr" rtlCol="false" tIns="0" lIns="0" bIns="0" rIns="0"/>
            <a:lstStyle/>
            <a:p>
              <a:pPr algn="l">
                <a:lnSpc>
                  <a:spcPts val="1621"/>
                </a:lnSpc>
              </a:pPr>
              <a:r>
                <a:rPr lang="en-US" sz="1351">
                  <a:solidFill>
                    <a:srgbClr val="FFFFFF"/>
                  </a:solidFill>
                  <a:latin typeface="Cabin"/>
                  <a:ea typeface="Cabin"/>
                  <a:cs typeface="Cabin"/>
                  <a:sym typeface="Cabin"/>
                </a:rPr>
                <a:t>VNU UET – Institute for Artificial Intelligence</a:t>
              </a:r>
            </a:p>
          </p:txBody>
        </p:sp>
      </p:grpSp>
      <p:grpSp>
        <p:nvGrpSpPr>
          <p:cNvPr name="Group 49" id="49"/>
          <p:cNvGrpSpPr/>
          <p:nvPr/>
        </p:nvGrpSpPr>
        <p:grpSpPr>
          <a:xfrm rot="0">
            <a:off x="17066438" y="9677343"/>
            <a:ext cx="823608" cy="617706"/>
            <a:chOff x="0" y="0"/>
            <a:chExt cx="1098144" cy="823608"/>
          </a:xfrm>
        </p:grpSpPr>
        <p:sp>
          <p:nvSpPr>
            <p:cNvPr name="Freeform 50" id="50"/>
            <p:cNvSpPr/>
            <p:nvPr/>
          </p:nvSpPr>
          <p:spPr>
            <a:xfrm flipH="false" flipV="false" rot="0">
              <a:off x="0" y="0"/>
              <a:ext cx="1098138" cy="823603"/>
            </a:xfrm>
            <a:custGeom>
              <a:avLst/>
              <a:gdLst/>
              <a:ahLst/>
              <a:cxnLst/>
              <a:rect r="r" b="b" t="t" l="l"/>
              <a:pathLst>
                <a:path h="823603" w="1098138">
                  <a:moveTo>
                    <a:pt x="0" y="0"/>
                  </a:moveTo>
                  <a:lnTo>
                    <a:pt x="1098138" y="0"/>
                  </a:lnTo>
                  <a:lnTo>
                    <a:pt x="1098138" y="823603"/>
                  </a:lnTo>
                  <a:lnTo>
                    <a:pt x="0" y="823603"/>
                  </a:lnTo>
                  <a:close/>
                </a:path>
              </a:pathLst>
            </a:custGeom>
            <a:blipFill>
              <a:blip r:embed="rId4">
                <a:alphaModFix amt="0"/>
              </a:blip>
              <a:stretch>
                <a:fillRect l="-46227" t="0" r="-46228" b="0"/>
              </a:stretch>
            </a:blipFill>
          </p:spPr>
        </p:sp>
        <p:sp>
          <p:nvSpPr>
            <p:cNvPr name="TextBox 51" id="51"/>
            <p:cNvSpPr txBox="true"/>
            <p:nvPr/>
          </p:nvSpPr>
          <p:spPr>
            <a:xfrm>
              <a:off x="0" y="0"/>
              <a:ext cx="1098144" cy="823608"/>
            </a:xfrm>
            <a:prstGeom prst="rect">
              <a:avLst/>
            </a:prstGeom>
          </p:spPr>
          <p:txBody>
            <a:bodyPr anchor="ctr" rtlCol="false" tIns="0" lIns="0" bIns="0" rIns="0"/>
            <a:lstStyle/>
            <a:p>
              <a:pPr algn="r">
                <a:lnSpc>
                  <a:spcPts val="1621"/>
                </a:lnSpc>
              </a:pPr>
              <a:r>
                <a:rPr lang="en-US" sz="1351">
                  <a:solidFill>
                    <a:srgbClr val="FFFFFF"/>
                  </a:solidFill>
                  <a:latin typeface="Cabin"/>
                  <a:ea typeface="Cabin"/>
                  <a:cs typeface="Cabin"/>
                  <a:sym typeface="Cabin"/>
                </a:rPr>
                <a:t>14</a:t>
              </a:r>
            </a:p>
          </p:txBody>
        </p:sp>
      </p:grpSp>
      <p:grpSp>
        <p:nvGrpSpPr>
          <p:cNvPr name="Group 52" id="52"/>
          <p:cNvGrpSpPr/>
          <p:nvPr/>
        </p:nvGrpSpPr>
        <p:grpSpPr>
          <a:xfrm rot="0">
            <a:off x="0" y="0"/>
            <a:ext cx="18288000" cy="315468"/>
            <a:chOff x="0" y="0"/>
            <a:chExt cx="24384000" cy="420624"/>
          </a:xfrm>
        </p:grpSpPr>
        <p:sp>
          <p:nvSpPr>
            <p:cNvPr name="Freeform 53" id="53"/>
            <p:cNvSpPr/>
            <p:nvPr/>
          </p:nvSpPr>
          <p:spPr>
            <a:xfrm flipH="false" flipV="false" rot="0">
              <a:off x="0" y="0"/>
              <a:ext cx="24384000" cy="420624"/>
            </a:xfrm>
            <a:custGeom>
              <a:avLst/>
              <a:gdLst/>
              <a:ahLst/>
              <a:cxnLst/>
              <a:rect r="r" b="b" t="t" l="l"/>
              <a:pathLst>
                <a:path h="420624" w="24384000">
                  <a:moveTo>
                    <a:pt x="0" y="0"/>
                  </a:moveTo>
                  <a:lnTo>
                    <a:pt x="24384000" y="0"/>
                  </a:lnTo>
                  <a:lnTo>
                    <a:pt x="24384000" y="420624"/>
                  </a:lnTo>
                  <a:lnTo>
                    <a:pt x="0" y="420624"/>
                  </a:lnTo>
                  <a:close/>
                </a:path>
              </a:pathLst>
            </a:custGeom>
            <a:solidFill>
              <a:srgbClr val="0F3F6F"/>
            </a:solidFill>
          </p:spPr>
        </p:sp>
      </p:grpSp>
      <p:grpSp>
        <p:nvGrpSpPr>
          <p:cNvPr name="Group 54" id="54"/>
          <p:cNvGrpSpPr/>
          <p:nvPr/>
        </p:nvGrpSpPr>
        <p:grpSpPr>
          <a:xfrm rot="0">
            <a:off x="13098780" y="0"/>
            <a:ext cx="1453896" cy="1508760"/>
            <a:chOff x="0" y="0"/>
            <a:chExt cx="1938528" cy="2011680"/>
          </a:xfrm>
        </p:grpSpPr>
        <p:sp>
          <p:nvSpPr>
            <p:cNvPr name="Freeform 55" id="55"/>
            <p:cNvSpPr/>
            <p:nvPr/>
          </p:nvSpPr>
          <p:spPr>
            <a:xfrm flipH="false" flipV="false" rot="0">
              <a:off x="0" y="0"/>
              <a:ext cx="1938528" cy="2011680"/>
            </a:xfrm>
            <a:custGeom>
              <a:avLst/>
              <a:gdLst/>
              <a:ahLst/>
              <a:cxnLst/>
              <a:rect r="r" b="b" t="t" l="l"/>
              <a:pathLst>
                <a:path h="2011680" w="1938528">
                  <a:moveTo>
                    <a:pt x="0" y="2011680"/>
                  </a:moveTo>
                  <a:lnTo>
                    <a:pt x="484632" y="0"/>
                  </a:lnTo>
                  <a:lnTo>
                    <a:pt x="1938528" y="0"/>
                  </a:lnTo>
                  <a:lnTo>
                    <a:pt x="1453896" y="2011680"/>
                  </a:lnTo>
                  <a:close/>
                </a:path>
              </a:pathLst>
            </a:custGeom>
            <a:solidFill>
              <a:srgbClr val="85B518"/>
            </a:solidFill>
          </p:spPr>
        </p:sp>
      </p:grpSp>
      <p:grpSp>
        <p:nvGrpSpPr>
          <p:cNvPr name="Group 56" id="56"/>
          <p:cNvGrpSpPr/>
          <p:nvPr/>
        </p:nvGrpSpPr>
        <p:grpSpPr>
          <a:xfrm rot="0">
            <a:off x="14621256" y="0"/>
            <a:ext cx="1508760" cy="1508760"/>
            <a:chOff x="0" y="0"/>
            <a:chExt cx="2011680" cy="2011680"/>
          </a:xfrm>
        </p:grpSpPr>
        <p:sp>
          <p:nvSpPr>
            <p:cNvPr name="Freeform 57" id="57"/>
            <p:cNvSpPr/>
            <p:nvPr/>
          </p:nvSpPr>
          <p:spPr>
            <a:xfrm flipH="false" flipV="false" rot="0">
              <a:off x="0" y="0"/>
              <a:ext cx="2011680" cy="2011680"/>
            </a:xfrm>
            <a:custGeom>
              <a:avLst/>
              <a:gdLst/>
              <a:ahLst/>
              <a:cxnLst/>
              <a:rect r="r" b="b" t="t" l="l"/>
              <a:pathLst>
                <a:path h="2011680" w="2011680">
                  <a:moveTo>
                    <a:pt x="0" y="2011680"/>
                  </a:moveTo>
                  <a:lnTo>
                    <a:pt x="502920" y="0"/>
                  </a:lnTo>
                  <a:lnTo>
                    <a:pt x="2011680" y="0"/>
                  </a:lnTo>
                  <a:lnTo>
                    <a:pt x="1508760" y="2011680"/>
                  </a:lnTo>
                  <a:close/>
                </a:path>
              </a:pathLst>
            </a:custGeom>
            <a:solidFill>
              <a:srgbClr val="0F3F6F"/>
            </a:solid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97801" y="384353"/>
            <a:ext cx="851059" cy="851059"/>
            <a:chOff x="0" y="0"/>
            <a:chExt cx="1134745" cy="1134745"/>
          </a:xfrm>
        </p:grpSpPr>
        <p:sp>
          <p:nvSpPr>
            <p:cNvPr name="Freeform 3" id="3" descr="/home/claude/work/assets/logo.png"/>
            <p:cNvSpPr/>
            <p:nvPr/>
          </p:nvSpPr>
          <p:spPr>
            <a:xfrm flipH="false" flipV="false" rot="0">
              <a:off x="0" y="0"/>
              <a:ext cx="1134745" cy="1134745"/>
            </a:xfrm>
            <a:custGeom>
              <a:avLst/>
              <a:gdLst/>
              <a:ahLst/>
              <a:cxnLst/>
              <a:rect r="r" b="b" t="t" l="l"/>
              <a:pathLst>
                <a:path h="1134745" w="1134745">
                  <a:moveTo>
                    <a:pt x="0" y="0"/>
                  </a:moveTo>
                  <a:lnTo>
                    <a:pt x="1134745" y="0"/>
                  </a:lnTo>
                  <a:lnTo>
                    <a:pt x="1134745" y="1134745"/>
                  </a:lnTo>
                  <a:lnTo>
                    <a:pt x="0" y="1134745"/>
                  </a:lnTo>
                  <a:lnTo>
                    <a:pt x="0" y="0"/>
                  </a:lnTo>
                  <a:close/>
                </a:path>
              </a:pathLst>
            </a:custGeom>
            <a:blipFill>
              <a:blip r:embed="rId3"/>
              <a:stretch>
                <a:fillRect l="0" t="0" r="0" b="0"/>
              </a:stretch>
            </a:blipFill>
          </p:spPr>
        </p:sp>
      </p:grpSp>
      <p:grpSp>
        <p:nvGrpSpPr>
          <p:cNvPr name="Group 4" id="4"/>
          <p:cNvGrpSpPr/>
          <p:nvPr/>
        </p:nvGrpSpPr>
        <p:grpSpPr>
          <a:xfrm rot="0">
            <a:off x="686333" y="384353"/>
            <a:ext cx="10981382" cy="411804"/>
            <a:chOff x="0" y="0"/>
            <a:chExt cx="14641843" cy="549072"/>
          </a:xfrm>
        </p:grpSpPr>
        <p:sp>
          <p:nvSpPr>
            <p:cNvPr name="Freeform 5" id="5"/>
            <p:cNvSpPr/>
            <p:nvPr/>
          </p:nvSpPr>
          <p:spPr>
            <a:xfrm flipH="false" flipV="false" rot="0">
              <a:off x="0" y="0"/>
              <a:ext cx="14641840" cy="549069"/>
            </a:xfrm>
            <a:custGeom>
              <a:avLst/>
              <a:gdLst/>
              <a:ahLst/>
              <a:cxnLst/>
              <a:rect r="r" b="b" t="t" l="l"/>
              <a:pathLst>
                <a:path h="549069" w="14641840">
                  <a:moveTo>
                    <a:pt x="0" y="0"/>
                  </a:moveTo>
                  <a:lnTo>
                    <a:pt x="14641840" y="0"/>
                  </a:lnTo>
                  <a:lnTo>
                    <a:pt x="14641840" y="549069"/>
                  </a:lnTo>
                  <a:lnTo>
                    <a:pt x="0" y="549069"/>
                  </a:lnTo>
                  <a:close/>
                </a:path>
              </a:pathLst>
            </a:custGeom>
            <a:blipFill>
              <a:blip r:embed="rId4">
                <a:alphaModFix amt="0"/>
              </a:blip>
              <a:stretch>
                <a:fillRect l="0" t="-469600" r="0" b="-469601"/>
              </a:stretch>
            </a:blipFill>
          </p:spPr>
        </p:sp>
        <p:sp>
          <p:nvSpPr>
            <p:cNvPr name="TextBox 6" id="6"/>
            <p:cNvSpPr txBox="true"/>
            <p:nvPr/>
          </p:nvSpPr>
          <p:spPr>
            <a:xfrm>
              <a:off x="0" y="0"/>
              <a:ext cx="14641843" cy="549072"/>
            </a:xfrm>
            <a:prstGeom prst="rect">
              <a:avLst/>
            </a:prstGeom>
          </p:spPr>
          <p:txBody>
            <a:bodyPr anchor="ctr" rtlCol="false" tIns="0" lIns="0" bIns="0" rIns="0"/>
            <a:lstStyle/>
            <a:p>
              <a:pPr algn="l">
                <a:lnSpc>
                  <a:spcPts val="1981"/>
                </a:lnSpc>
              </a:pPr>
              <a:r>
                <a:rPr lang="en-US" sz="1651" i="true">
                  <a:solidFill>
                    <a:srgbClr val="4A4A4A"/>
                  </a:solidFill>
                  <a:latin typeface="Cabin Italics"/>
                  <a:ea typeface="Cabin Italics"/>
                  <a:cs typeface="Cabin Italics"/>
                  <a:sym typeface="Cabin Italics"/>
                </a:rPr>
                <a:t>5.5. Cơ chế thực thi Spark · Bài 05</a:t>
              </a:r>
            </a:p>
          </p:txBody>
        </p:sp>
      </p:grpSp>
      <p:grpSp>
        <p:nvGrpSpPr>
          <p:cNvPr name="Group 7" id="7"/>
          <p:cNvGrpSpPr/>
          <p:nvPr/>
        </p:nvGrpSpPr>
        <p:grpSpPr>
          <a:xfrm rot="0">
            <a:off x="674418" y="839143"/>
            <a:ext cx="710165" cy="710165"/>
            <a:chOff x="0" y="0"/>
            <a:chExt cx="946887" cy="946887"/>
          </a:xfrm>
        </p:grpSpPr>
        <p:sp>
          <p:nvSpPr>
            <p:cNvPr name="Freeform 8" id="8"/>
            <p:cNvSpPr/>
            <p:nvPr/>
          </p:nvSpPr>
          <p:spPr>
            <a:xfrm flipH="false" flipV="false" rot="0">
              <a:off x="0" y="0"/>
              <a:ext cx="946912" cy="946912"/>
            </a:xfrm>
            <a:custGeom>
              <a:avLst/>
              <a:gdLst/>
              <a:ahLst/>
              <a:cxnLst/>
              <a:rect r="r" b="b" t="t" l="l"/>
              <a:pathLst>
                <a:path h="946912" w="946912">
                  <a:moveTo>
                    <a:pt x="0" y="473456"/>
                  </a:moveTo>
                  <a:cubicBezTo>
                    <a:pt x="0" y="211963"/>
                    <a:pt x="211963" y="0"/>
                    <a:pt x="473456" y="0"/>
                  </a:cubicBezTo>
                  <a:cubicBezTo>
                    <a:pt x="734949" y="0"/>
                    <a:pt x="946912" y="211963"/>
                    <a:pt x="946912" y="473456"/>
                  </a:cubicBezTo>
                  <a:cubicBezTo>
                    <a:pt x="946912" y="734949"/>
                    <a:pt x="734949" y="946912"/>
                    <a:pt x="473456" y="946912"/>
                  </a:cubicBezTo>
                  <a:cubicBezTo>
                    <a:pt x="211963" y="946912"/>
                    <a:pt x="0" y="734949"/>
                    <a:pt x="0" y="473456"/>
                  </a:cubicBezTo>
                  <a:close/>
                </a:path>
              </a:pathLst>
            </a:custGeom>
            <a:solidFill>
              <a:srgbClr val="FFFFFF"/>
            </a:solidFill>
            <a:ln w="23831" cap="sq">
              <a:solidFill>
                <a:srgbClr val="1F4E79"/>
              </a:solidFill>
              <a:prstDash val="solid"/>
              <a:miter/>
            </a:ln>
          </p:spPr>
        </p:sp>
      </p:grpSp>
      <p:grpSp>
        <p:nvGrpSpPr>
          <p:cNvPr name="Group 9" id="9"/>
          <p:cNvGrpSpPr/>
          <p:nvPr/>
        </p:nvGrpSpPr>
        <p:grpSpPr>
          <a:xfrm rot="0">
            <a:off x="686333" y="851059"/>
            <a:ext cx="686333" cy="686333"/>
            <a:chOff x="0" y="0"/>
            <a:chExt cx="915111" cy="915111"/>
          </a:xfrm>
        </p:grpSpPr>
        <p:sp>
          <p:nvSpPr>
            <p:cNvPr name="Freeform 10" id="10"/>
            <p:cNvSpPr/>
            <p:nvPr/>
          </p:nvSpPr>
          <p:spPr>
            <a:xfrm flipH="false" flipV="false" rot="0">
              <a:off x="0" y="0"/>
              <a:ext cx="915115" cy="915115"/>
            </a:xfrm>
            <a:custGeom>
              <a:avLst/>
              <a:gdLst/>
              <a:ahLst/>
              <a:cxnLst/>
              <a:rect r="r" b="b" t="t" l="l"/>
              <a:pathLst>
                <a:path h="915115" w="915115">
                  <a:moveTo>
                    <a:pt x="0" y="0"/>
                  </a:moveTo>
                  <a:lnTo>
                    <a:pt x="915115" y="0"/>
                  </a:lnTo>
                  <a:lnTo>
                    <a:pt x="915115" y="915115"/>
                  </a:lnTo>
                  <a:lnTo>
                    <a:pt x="0" y="915115"/>
                  </a:lnTo>
                  <a:close/>
                </a:path>
              </a:pathLst>
            </a:custGeom>
            <a:blipFill>
              <a:blip r:embed="rId4">
                <a:alphaModFix amt="0"/>
              </a:blip>
              <a:stretch>
                <a:fillRect l="-78303" t="0" r="-78302" b="0"/>
              </a:stretch>
            </a:blipFill>
          </p:spPr>
        </p:sp>
        <p:sp>
          <p:nvSpPr>
            <p:cNvPr name="TextBox 11" id="11"/>
            <p:cNvSpPr txBox="true"/>
            <p:nvPr/>
          </p:nvSpPr>
          <p:spPr>
            <a:xfrm>
              <a:off x="0" y="0"/>
              <a:ext cx="915111" cy="915111"/>
            </a:xfrm>
            <a:prstGeom prst="rect">
              <a:avLst/>
            </a:prstGeom>
          </p:spPr>
          <p:txBody>
            <a:bodyPr anchor="ctr" rtlCol="false" tIns="0" lIns="0" bIns="0" rIns="0"/>
            <a:lstStyle/>
            <a:p>
              <a:pPr algn="ctr">
                <a:lnSpc>
                  <a:spcPts val="2521"/>
                </a:lnSpc>
              </a:pPr>
              <a:r>
                <a:rPr lang="en-US" sz="2101" b="true">
                  <a:solidFill>
                    <a:srgbClr val="1F4E79"/>
                  </a:solidFill>
                  <a:latin typeface="Cabin Bold"/>
                  <a:ea typeface="Cabin Bold"/>
                  <a:cs typeface="Cabin Bold"/>
                  <a:sym typeface="Cabin Bold"/>
                </a:rPr>
                <a:t>05</a:t>
              </a:r>
            </a:p>
          </p:txBody>
        </p:sp>
      </p:grpSp>
      <p:grpSp>
        <p:nvGrpSpPr>
          <p:cNvPr name="Group 12" id="12"/>
          <p:cNvGrpSpPr/>
          <p:nvPr/>
        </p:nvGrpSpPr>
        <p:grpSpPr>
          <a:xfrm rot="0">
            <a:off x="1578569" y="823608"/>
            <a:ext cx="82363" cy="754971"/>
            <a:chOff x="0" y="0"/>
            <a:chExt cx="109817" cy="1006627"/>
          </a:xfrm>
        </p:grpSpPr>
        <p:sp>
          <p:nvSpPr>
            <p:cNvPr name="Freeform 13" id="13"/>
            <p:cNvSpPr/>
            <p:nvPr/>
          </p:nvSpPr>
          <p:spPr>
            <a:xfrm flipH="false" flipV="false" rot="0">
              <a:off x="0" y="0"/>
              <a:ext cx="109855" cy="1006602"/>
            </a:xfrm>
            <a:custGeom>
              <a:avLst/>
              <a:gdLst/>
              <a:ahLst/>
              <a:cxnLst/>
              <a:rect r="r" b="b" t="t" l="l"/>
              <a:pathLst>
                <a:path h="1006602" w="109855">
                  <a:moveTo>
                    <a:pt x="0" y="0"/>
                  </a:moveTo>
                  <a:lnTo>
                    <a:pt x="109855" y="0"/>
                  </a:lnTo>
                  <a:lnTo>
                    <a:pt x="109855" y="1006602"/>
                  </a:lnTo>
                  <a:lnTo>
                    <a:pt x="0" y="1006602"/>
                  </a:lnTo>
                  <a:close/>
                </a:path>
              </a:pathLst>
            </a:custGeom>
            <a:solidFill>
              <a:srgbClr val="85B518"/>
            </a:solidFill>
          </p:spPr>
        </p:sp>
      </p:grpSp>
      <p:grpSp>
        <p:nvGrpSpPr>
          <p:cNvPr name="Group 14" id="14"/>
          <p:cNvGrpSpPr/>
          <p:nvPr/>
        </p:nvGrpSpPr>
        <p:grpSpPr>
          <a:xfrm rot="0">
            <a:off x="1853108" y="796147"/>
            <a:ext cx="14938791" cy="823608"/>
            <a:chOff x="0" y="0"/>
            <a:chExt cx="19918388" cy="1098144"/>
          </a:xfrm>
        </p:grpSpPr>
        <p:sp>
          <p:nvSpPr>
            <p:cNvPr name="Freeform 15" id="15"/>
            <p:cNvSpPr/>
            <p:nvPr/>
          </p:nvSpPr>
          <p:spPr>
            <a:xfrm flipH="false" flipV="false" rot="0">
              <a:off x="0" y="0"/>
              <a:ext cx="19918392" cy="1098138"/>
            </a:xfrm>
            <a:custGeom>
              <a:avLst/>
              <a:gdLst/>
              <a:ahLst/>
              <a:cxnLst/>
              <a:rect r="r" b="b" t="t" l="l"/>
              <a:pathLst>
                <a:path h="1098138" w="19918392">
                  <a:moveTo>
                    <a:pt x="0" y="0"/>
                  </a:moveTo>
                  <a:lnTo>
                    <a:pt x="19918392" y="0"/>
                  </a:lnTo>
                  <a:lnTo>
                    <a:pt x="19918392" y="1098138"/>
                  </a:lnTo>
                  <a:lnTo>
                    <a:pt x="0" y="1098138"/>
                  </a:lnTo>
                  <a:close/>
                </a:path>
              </a:pathLst>
            </a:custGeom>
            <a:blipFill>
              <a:blip r:embed="rId4">
                <a:alphaModFix amt="0"/>
              </a:blip>
              <a:stretch>
                <a:fillRect l="0" t="-303425" r="0" b="-303426"/>
              </a:stretch>
            </a:blipFill>
          </p:spPr>
        </p:sp>
        <p:sp>
          <p:nvSpPr>
            <p:cNvPr name="TextBox 16" id="16"/>
            <p:cNvSpPr txBox="true"/>
            <p:nvPr/>
          </p:nvSpPr>
          <p:spPr>
            <a:xfrm>
              <a:off x="0" y="0"/>
              <a:ext cx="19918388" cy="1098144"/>
            </a:xfrm>
            <a:prstGeom prst="rect">
              <a:avLst/>
            </a:prstGeom>
          </p:spPr>
          <p:txBody>
            <a:bodyPr anchor="ctr" rtlCol="false" tIns="0" lIns="0" bIns="0" rIns="0"/>
            <a:lstStyle/>
            <a:p>
              <a:pPr algn="l">
                <a:lnSpc>
                  <a:spcPts val="3782"/>
                </a:lnSpc>
              </a:pPr>
              <a:r>
                <a:rPr lang="en-US" sz="3152" b="true">
                  <a:solidFill>
                    <a:srgbClr val="1F4E79"/>
                  </a:solidFill>
                  <a:latin typeface="Cabin Bold"/>
                  <a:ea typeface="Cabin Bold"/>
                  <a:cs typeface="Cabin Bold"/>
                  <a:sym typeface="Cabin Bold"/>
                </a:rPr>
                <a:t>Sơ đồ cơ chế thực thi Spark</a:t>
              </a:r>
            </a:p>
          </p:txBody>
        </p:sp>
      </p:grpSp>
      <p:grpSp>
        <p:nvGrpSpPr>
          <p:cNvPr name="Group 17" id="17"/>
          <p:cNvGrpSpPr/>
          <p:nvPr/>
        </p:nvGrpSpPr>
        <p:grpSpPr>
          <a:xfrm rot="0">
            <a:off x="571719" y="4529823"/>
            <a:ext cx="2539441" cy="1235402"/>
            <a:chOff x="0" y="0"/>
            <a:chExt cx="3385922" cy="1647203"/>
          </a:xfrm>
        </p:grpSpPr>
        <p:sp>
          <p:nvSpPr>
            <p:cNvPr name="Freeform 18" id="18"/>
            <p:cNvSpPr/>
            <p:nvPr/>
          </p:nvSpPr>
          <p:spPr>
            <a:xfrm flipH="false" flipV="false" rot="0">
              <a:off x="0" y="0"/>
              <a:ext cx="3385947" cy="1647190"/>
            </a:xfrm>
            <a:custGeom>
              <a:avLst/>
              <a:gdLst/>
              <a:ahLst/>
              <a:cxnLst/>
              <a:rect r="r" b="b" t="t" l="l"/>
              <a:pathLst>
                <a:path h="1647190" w="3385947">
                  <a:moveTo>
                    <a:pt x="0" y="146431"/>
                  </a:moveTo>
                  <a:cubicBezTo>
                    <a:pt x="0" y="65532"/>
                    <a:pt x="65532" y="0"/>
                    <a:pt x="146431" y="0"/>
                  </a:cubicBezTo>
                  <a:lnTo>
                    <a:pt x="3239516" y="0"/>
                  </a:lnTo>
                  <a:cubicBezTo>
                    <a:pt x="3320415" y="0"/>
                    <a:pt x="3385947" y="65532"/>
                    <a:pt x="3385947" y="146431"/>
                  </a:cubicBezTo>
                  <a:lnTo>
                    <a:pt x="3385947" y="1500759"/>
                  </a:lnTo>
                  <a:cubicBezTo>
                    <a:pt x="3385947" y="1581658"/>
                    <a:pt x="3320415" y="1647190"/>
                    <a:pt x="3239516" y="1647190"/>
                  </a:cubicBezTo>
                  <a:lnTo>
                    <a:pt x="146431" y="1647190"/>
                  </a:lnTo>
                  <a:cubicBezTo>
                    <a:pt x="65532" y="1647190"/>
                    <a:pt x="0" y="1581658"/>
                    <a:pt x="0" y="1500759"/>
                  </a:cubicBezTo>
                  <a:close/>
                </a:path>
              </a:pathLst>
            </a:custGeom>
            <a:solidFill>
              <a:srgbClr val="1F4E79"/>
            </a:solidFill>
          </p:spPr>
        </p:sp>
      </p:grpSp>
      <p:grpSp>
        <p:nvGrpSpPr>
          <p:cNvPr name="Group 19" id="19"/>
          <p:cNvGrpSpPr/>
          <p:nvPr/>
        </p:nvGrpSpPr>
        <p:grpSpPr>
          <a:xfrm rot="0">
            <a:off x="571719" y="4529823"/>
            <a:ext cx="2539441" cy="1235402"/>
            <a:chOff x="0" y="0"/>
            <a:chExt cx="3385922" cy="1647203"/>
          </a:xfrm>
        </p:grpSpPr>
        <p:sp>
          <p:nvSpPr>
            <p:cNvPr name="Freeform 20" id="20"/>
            <p:cNvSpPr/>
            <p:nvPr/>
          </p:nvSpPr>
          <p:spPr>
            <a:xfrm flipH="false" flipV="false" rot="0">
              <a:off x="0" y="0"/>
              <a:ext cx="3385925" cy="1647207"/>
            </a:xfrm>
            <a:custGeom>
              <a:avLst/>
              <a:gdLst/>
              <a:ahLst/>
              <a:cxnLst/>
              <a:rect r="r" b="b" t="t" l="l"/>
              <a:pathLst>
                <a:path h="1647207" w="3385925">
                  <a:moveTo>
                    <a:pt x="0" y="0"/>
                  </a:moveTo>
                  <a:lnTo>
                    <a:pt x="3385925" y="0"/>
                  </a:lnTo>
                  <a:lnTo>
                    <a:pt x="3385925" y="1647207"/>
                  </a:lnTo>
                  <a:lnTo>
                    <a:pt x="0" y="1647207"/>
                  </a:lnTo>
                  <a:close/>
                </a:path>
              </a:pathLst>
            </a:custGeom>
            <a:blipFill>
              <a:blip r:embed="rId4">
                <a:alphaModFix amt="0"/>
              </a:blip>
              <a:stretch>
                <a:fillRect l="-12417" t="0" r="-12417" b="0"/>
              </a:stretch>
            </a:blipFill>
          </p:spPr>
        </p:sp>
        <p:sp>
          <p:nvSpPr>
            <p:cNvPr name="TextBox 21" id="21"/>
            <p:cNvSpPr txBox="true"/>
            <p:nvPr/>
          </p:nvSpPr>
          <p:spPr>
            <a:xfrm>
              <a:off x="0" y="-9525"/>
              <a:ext cx="3385922" cy="1656728"/>
            </a:xfrm>
            <a:prstGeom prst="rect">
              <a:avLst/>
            </a:prstGeom>
          </p:spPr>
          <p:txBody>
            <a:bodyPr anchor="ctr" rtlCol="false" tIns="0" lIns="0" bIns="0" rIns="0"/>
            <a:lstStyle/>
            <a:p>
              <a:pPr algn="ctr">
                <a:lnSpc>
                  <a:spcPts val="2341"/>
                </a:lnSpc>
              </a:pPr>
              <a:r>
                <a:rPr lang="en-US" sz="1951" b="true">
                  <a:solidFill>
                    <a:srgbClr val="FFFFFF"/>
                  </a:solidFill>
                  <a:latin typeface="Cabin Bold"/>
                  <a:ea typeface="Cabin Bold"/>
                  <a:cs typeface="Cabin Bold"/>
                  <a:sym typeface="Cabin Bold"/>
                </a:rPr>
                <a:t>Application</a:t>
              </a:r>
            </a:p>
          </p:txBody>
        </p:sp>
      </p:grpSp>
      <p:sp>
        <p:nvSpPr>
          <p:cNvPr name="AutoShape 22" id="22"/>
          <p:cNvSpPr/>
          <p:nvPr/>
        </p:nvSpPr>
        <p:spPr>
          <a:xfrm rot="237720">
            <a:off x="3096368" y="5137995"/>
            <a:ext cx="413937" cy="0"/>
          </a:xfrm>
          <a:prstGeom prst="line">
            <a:avLst/>
          </a:prstGeom>
          <a:ln cap="rnd" w="19050">
            <a:solidFill>
              <a:srgbClr val="4A4A4A"/>
            </a:solidFill>
            <a:prstDash val="solid"/>
            <a:headEnd type="none" len="sm" w="sm"/>
            <a:tailEnd type="triangle" len="med" w="lg"/>
          </a:ln>
        </p:spPr>
      </p:sp>
      <p:grpSp>
        <p:nvGrpSpPr>
          <p:cNvPr name="Group 23" id="23"/>
          <p:cNvGrpSpPr/>
          <p:nvPr/>
        </p:nvGrpSpPr>
        <p:grpSpPr>
          <a:xfrm rot="0">
            <a:off x="3495513" y="4529823"/>
            <a:ext cx="2539441" cy="1235402"/>
            <a:chOff x="0" y="0"/>
            <a:chExt cx="3385922" cy="1647203"/>
          </a:xfrm>
        </p:grpSpPr>
        <p:sp>
          <p:nvSpPr>
            <p:cNvPr name="Freeform 24" id="24"/>
            <p:cNvSpPr/>
            <p:nvPr/>
          </p:nvSpPr>
          <p:spPr>
            <a:xfrm flipH="false" flipV="false" rot="0">
              <a:off x="0" y="0"/>
              <a:ext cx="3385947" cy="1647190"/>
            </a:xfrm>
            <a:custGeom>
              <a:avLst/>
              <a:gdLst/>
              <a:ahLst/>
              <a:cxnLst/>
              <a:rect r="r" b="b" t="t" l="l"/>
              <a:pathLst>
                <a:path h="1647190" w="3385947">
                  <a:moveTo>
                    <a:pt x="0" y="146431"/>
                  </a:moveTo>
                  <a:cubicBezTo>
                    <a:pt x="0" y="65532"/>
                    <a:pt x="65532" y="0"/>
                    <a:pt x="146431" y="0"/>
                  </a:cubicBezTo>
                  <a:lnTo>
                    <a:pt x="3239516" y="0"/>
                  </a:lnTo>
                  <a:cubicBezTo>
                    <a:pt x="3320415" y="0"/>
                    <a:pt x="3385947" y="65532"/>
                    <a:pt x="3385947" y="146431"/>
                  </a:cubicBezTo>
                  <a:lnTo>
                    <a:pt x="3385947" y="1500759"/>
                  </a:lnTo>
                  <a:cubicBezTo>
                    <a:pt x="3385947" y="1581658"/>
                    <a:pt x="3320415" y="1647190"/>
                    <a:pt x="3239516" y="1647190"/>
                  </a:cubicBezTo>
                  <a:lnTo>
                    <a:pt x="146431" y="1647190"/>
                  </a:lnTo>
                  <a:cubicBezTo>
                    <a:pt x="65532" y="1647190"/>
                    <a:pt x="0" y="1581658"/>
                    <a:pt x="0" y="1500759"/>
                  </a:cubicBezTo>
                  <a:close/>
                </a:path>
              </a:pathLst>
            </a:custGeom>
            <a:solidFill>
              <a:srgbClr val="1F4E79"/>
            </a:solidFill>
          </p:spPr>
        </p:sp>
      </p:grpSp>
      <p:grpSp>
        <p:nvGrpSpPr>
          <p:cNvPr name="Group 25" id="25"/>
          <p:cNvGrpSpPr/>
          <p:nvPr/>
        </p:nvGrpSpPr>
        <p:grpSpPr>
          <a:xfrm rot="0">
            <a:off x="3495513" y="4529823"/>
            <a:ext cx="2539441" cy="1235402"/>
            <a:chOff x="0" y="0"/>
            <a:chExt cx="3385922" cy="1647203"/>
          </a:xfrm>
        </p:grpSpPr>
        <p:sp>
          <p:nvSpPr>
            <p:cNvPr name="Freeform 26" id="26"/>
            <p:cNvSpPr/>
            <p:nvPr/>
          </p:nvSpPr>
          <p:spPr>
            <a:xfrm flipH="false" flipV="false" rot="0">
              <a:off x="0" y="0"/>
              <a:ext cx="3385925" cy="1647207"/>
            </a:xfrm>
            <a:custGeom>
              <a:avLst/>
              <a:gdLst/>
              <a:ahLst/>
              <a:cxnLst/>
              <a:rect r="r" b="b" t="t" l="l"/>
              <a:pathLst>
                <a:path h="1647207" w="3385925">
                  <a:moveTo>
                    <a:pt x="0" y="0"/>
                  </a:moveTo>
                  <a:lnTo>
                    <a:pt x="3385925" y="0"/>
                  </a:lnTo>
                  <a:lnTo>
                    <a:pt x="3385925" y="1647207"/>
                  </a:lnTo>
                  <a:lnTo>
                    <a:pt x="0" y="1647207"/>
                  </a:lnTo>
                  <a:close/>
                </a:path>
              </a:pathLst>
            </a:custGeom>
            <a:blipFill>
              <a:blip r:embed="rId4">
                <a:alphaModFix amt="0"/>
              </a:blip>
              <a:stretch>
                <a:fillRect l="-12417" t="0" r="-12417" b="0"/>
              </a:stretch>
            </a:blipFill>
          </p:spPr>
        </p:sp>
        <p:sp>
          <p:nvSpPr>
            <p:cNvPr name="TextBox 27" id="27"/>
            <p:cNvSpPr txBox="true"/>
            <p:nvPr/>
          </p:nvSpPr>
          <p:spPr>
            <a:xfrm>
              <a:off x="0" y="-9525"/>
              <a:ext cx="3385922" cy="1656728"/>
            </a:xfrm>
            <a:prstGeom prst="rect">
              <a:avLst/>
            </a:prstGeom>
          </p:spPr>
          <p:txBody>
            <a:bodyPr anchor="ctr" rtlCol="false" tIns="0" lIns="0" bIns="0" rIns="0"/>
            <a:lstStyle/>
            <a:p>
              <a:pPr algn="ctr">
                <a:lnSpc>
                  <a:spcPts val="2341"/>
                </a:lnSpc>
              </a:pPr>
              <a:r>
                <a:rPr lang="en-US" sz="1951" b="true">
                  <a:solidFill>
                    <a:srgbClr val="FFFFFF"/>
                  </a:solidFill>
                  <a:latin typeface="Cabin Bold"/>
                  <a:ea typeface="Cabin Bold"/>
                  <a:cs typeface="Cabin Bold"/>
                  <a:sym typeface="Cabin Bold"/>
                </a:rPr>
                <a:t>Job</a:t>
              </a:r>
            </a:p>
          </p:txBody>
        </p:sp>
      </p:grpSp>
      <p:sp>
        <p:nvSpPr>
          <p:cNvPr name="AutoShape 28" id="28"/>
          <p:cNvSpPr/>
          <p:nvPr/>
        </p:nvSpPr>
        <p:spPr>
          <a:xfrm rot="237720">
            <a:off x="6020162" y="5137995"/>
            <a:ext cx="413937" cy="0"/>
          </a:xfrm>
          <a:prstGeom prst="line">
            <a:avLst/>
          </a:prstGeom>
          <a:ln cap="rnd" w="19050">
            <a:solidFill>
              <a:srgbClr val="4A4A4A"/>
            </a:solidFill>
            <a:prstDash val="solid"/>
            <a:headEnd type="none" len="sm" w="sm"/>
            <a:tailEnd type="triangle" len="med" w="lg"/>
          </a:ln>
        </p:spPr>
      </p:sp>
      <p:grpSp>
        <p:nvGrpSpPr>
          <p:cNvPr name="Group 29" id="29"/>
          <p:cNvGrpSpPr/>
          <p:nvPr/>
        </p:nvGrpSpPr>
        <p:grpSpPr>
          <a:xfrm rot="0">
            <a:off x="6419307" y="4529823"/>
            <a:ext cx="2539441" cy="1235402"/>
            <a:chOff x="0" y="0"/>
            <a:chExt cx="3385922" cy="1647203"/>
          </a:xfrm>
        </p:grpSpPr>
        <p:sp>
          <p:nvSpPr>
            <p:cNvPr name="Freeform 30" id="30"/>
            <p:cNvSpPr/>
            <p:nvPr/>
          </p:nvSpPr>
          <p:spPr>
            <a:xfrm flipH="false" flipV="false" rot="0">
              <a:off x="0" y="0"/>
              <a:ext cx="3385947" cy="1647190"/>
            </a:xfrm>
            <a:custGeom>
              <a:avLst/>
              <a:gdLst/>
              <a:ahLst/>
              <a:cxnLst/>
              <a:rect r="r" b="b" t="t" l="l"/>
              <a:pathLst>
                <a:path h="1647190" w="3385947">
                  <a:moveTo>
                    <a:pt x="0" y="146431"/>
                  </a:moveTo>
                  <a:cubicBezTo>
                    <a:pt x="0" y="65532"/>
                    <a:pt x="65532" y="0"/>
                    <a:pt x="146431" y="0"/>
                  </a:cubicBezTo>
                  <a:lnTo>
                    <a:pt x="3239516" y="0"/>
                  </a:lnTo>
                  <a:cubicBezTo>
                    <a:pt x="3320415" y="0"/>
                    <a:pt x="3385947" y="65532"/>
                    <a:pt x="3385947" y="146431"/>
                  </a:cubicBezTo>
                  <a:lnTo>
                    <a:pt x="3385947" y="1500759"/>
                  </a:lnTo>
                  <a:cubicBezTo>
                    <a:pt x="3385947" y="1581658"/>
                    <a:pt x="3320415" y="1647190"/>
                    <a:pt x="3239516" y="1647190"/>
                  </a:cubicBezTo>
                  <a:lnTo>
                    <a:pt x="146431" y="1647190"/>
                  </a:lnTo>
                  <a:cubicBezTo>
                    <a:pt x="65532" y="1647190"/>
                    <a:pt x="0" y="1581658"/>
                    <a:pt x="0" y="1500759"/>
                  </a:cubicBezTo>
                  <a:close/>
                </a:path>
              </a:pathLst>
            </a:custGeom>
            <a:solidFill>
              <a:srgbClr val="1F4E79"/>
            </a:solidFill>
          </p:spPr>
        </p:sp>
      </p:grpSp>
      <p:grpSp>
        <p:nvGrpSpPr>
          <p:cNvPr name="Group 31" id="31"/>
          <p:cNvGrpSpPr/>
          <p:nvPr/>
        </p:nvGrpSpPr>
        <p:grpSpPr>
          <a:xfrm rot="0">
            <a:off x="6419307" y="4529823"/>
            <a:ext cx="2539441" cy="1235402"/>
            <a:chOff x="0" y="0"/>
            <a:chExt cx="3385922" cy="1647203"/>
          </a:xfrm>
        </p:grpSpPr>
        <p:sp>
          <p:nvSpPr>
            <p:cNvPr name="Freeform 32" id="32"/>
            <p:cNvSpPr/>
            <p:nvPr/>
          </p:nvSpPr>
          <p:spPr>
            <a:xfrm flipH="false" flipV="false" rot="0">
              <a:off x="0" y="0"/>
              <a:ext cx="3385925" cy="1647207"/>
            </a:xfrm>
            <a:custGeom>
              <a:avLst/>
              <a:gdLst/>
              <a:ahLst/>
              <a:cxnLst/>
              <a:rect r="r" b="b" t="t" l="l"/>
              <a:pathLst>
                <a:path h="1647207" w="3385925">
                  <a:moveTo>
                    <a:pt x="0" y="0"/>
                  </a:moveTo>
                  <a:lnTo>
                    <a:pt x="3385925" y="0"/>
                  </a:lnTo>
                  <a:lnTo>
                    <a:pt x="3385925" y="1647207"/>
                  </a:lnTo>
                  <a:lnTo>
                    <a:pt x="0" y="1647207"/>
                  </a:lnTo>
                  <a:close/>
                </a:path>
              </a:pathLst>
            </a:custGeom>
            <a:blipFill>
              <a:blip r:embed="rId4">
                <a:alphaModFix amt="0"/>
              </a:blip>
              <a:stretch>
                <a:fillRect l="-12417" t="0" r="-12417" b="0"/>
              </a:stretch>
            </a:blipFill>
          </p:spPr>
        </p:sp>
        <p:sp>
          <p:nvSpPr>
            <p:cNvPr name="TextBox 33" id="33"/>
            <p:cNvSpPr txBox="true"/>
            <p:nvPr/>
          </p:nvSpPr>
          <p:spPr>
            <a:xfrm>
              <a:off x="0" y="-9525"/>
              <a:ext cx="3385922" cy="1656728"/>
            </a:xfrm>
            <a:prstGeom prst="rect">
              <a:avLst/>
            </a:prstGeom>
          </p:spPr>
          <p:txBody>
            <a:bodyPr anchor="ctr" rtlCol="false" tIns="0" lIns="0" bIns="0" rIns="0"/>
            <a:lstStyle/>
            <a:p>
              <a:pPr algn="ctr">
                <a:lnSpc>
                  <a:spcPts val="2341"/>
                </a:lnSpc>
              </a:pPr>
              <a:r>
                <a:rPr lang="en-US" sz="1951" b="true">
                  <a:solidFill>
                    <a:srgbClr val="FFFFFF"/>
                  </a:solidFill>
                  <a:latin typeface="Cabin Bold"/>
                  <a:ea typeface="Cabin Bold"/>
                  <a:cs typeface="Cabin Bold"/>
                  <a:sym typeface="Cabin Bold"/>
                </a:rPr>
                <a:t>DAG</a:t>
              </a:r>
            </a:p>
          </p:txBody>
        </p:sp>
      </p:grpSp>
      <p:sp>
        <p:nvSpPr>
          <p:cNvPr name="AutoShape 34" id="34"/>
          <p:cNvSpPr/>
          <p:nvPr/>
        </p:nvSpPr>
        <p:spPr>
          <a:xfrm rot="237720">
            <a:off x="8943956" y="5137995"/>
            <a:ext cx="413937" cy="0"/>
          </a:xfrm>
          <a:prstGeom prst="line">
            <a:avLst/>
          </a:prstGeom>
          <a:ln cap="rnd" w="19050">
            <a:solidFill>
              <a:srgbClr val="4A4A4A"/>
            </a:solidFill>
            <a:prstDash val="solid"/>
            <a:headEnd type="none" len="sm" w="sm"/>
            <a:tailEnd type="triangle" len="med" w="lg"/>
          </a:ln>
        </p:spPr>
      </p:sp>
      <p:grpSp>
        <p:nvGrpSpPr>
          <p:cNvPr name="Group 35" id="35"/>
          <p:cNvGrpSpPr/>
          <p:nvPr/>
        </p:nvGrpSpPr>
        <p:grpSpPr>
          <a:xfrm rot="0">
            <a:off x="9343092" y="4529823"/>
            <a:ext cx="2539441" cy="1235402"/>
            <a:chOff x="0" y="0"/>
            <a:chExt cx="3385922" cy="1647203"/>
          </a:xfrm>
        </p:grpSpPr>
        <p:sp>
          <p:nvSpPr>
            <p:cNvPr name="Freeform 36" id="36"/>
            <p:cNvSpPr/>
            <p:nvPr/>
          </p:nvSpPr>
          <p:spPr>
            <a:xfrm flipH="false" flipV="false" rot="0">
              <a:off x="0" y="0"/>
              <a:ext cx="3385947" cy="1647190"/>
            </a:xfrm>
            <a:custGeom>
              <a:avLst/>
              <a:gdLst/>
              <a:ahLst/>
              <a:cxnLst/>
              <a:rect r="r" b="b" t="t" l="l"/>
              <a:pathLst>
                <a:path h="1647190" w="3385947">
                  <a:moveTo>
                    <a:pt x="0" y="146431"/>
                  </a:moveTo>
                  <a:cubicBezTo>
                    <a:pt x="0" y="65532"/>
                    <a:pt x="65532" y="0"/>
                    <a:pt x="146431" y="0"/>
                  </a:cubicBezTo>
                  <a:lnTo>
                    <a:pt x="3239516" y="0"/>
                  </a:lnTo>
                  <a:cubicBezTo>
                    <a:pt x="3320415" y="0"/>
                    <a:pt x="3385947" y="65532"/>
                    <a:pt x="3385947" y="146431"/>
                  </a:cubicBezTo>
                  <a:lnTo>
                    <a:pt x="3385947" y="1500759"/>
                  </a:lnTo>
                  <a:cubicBezTo>
                    <a:pt x="3385947" y="1581658"/>
                    <a:pt x="3320415" y="1647190"/>
                    <a:pt x="3239516" y="1647190"/>
                  </a:cubicBezTo>
                  <a:lnTo>
                    <a:pt x="146431" y="1647190"/>
                  </a:lnTo>
                  <a:cubicBezTo>
                    <a:pt x="65532" y="1647190"/>
                    <a:pt x="0" y="1581658"/>
                    <a:pt x="0" y="1500759"/>
                  </a:cubicBezTo>
                  <a:close/>
                </a:path>
              </a:pathLst>
            </a:custGeom>
            <a:solidFill>
              <a:srgbClr val="1F4E79"/>
            </a:solidFill>
          </p:spPr>
        </p:sp>
      </p:grpSp>
      <p:grpSp>
        <p:nvGrpSpPr>
          <p:cNvPr name="Group 37" id="37"/>
          <p:cNvGrpSpPr/>
          <p:nvPr/>
        </p:nvGrpSpPr>
        <p:grpSpPr>
          <a:xfrm rot="0">
            <a:off x="9343092" y="4529823"/>
            <a:ext cx="2539441" cy="1235402"/>
            <a:chOff x="0" y="0"/>
            <a:chExt cx="3385922" cy="1647203"/>
          </a:xfrm>
        </p:grpSpPr>
        <p:sp>
          <p:nvSpPr>
            <p:cNvPr name="Freeform 38" id="38"/>
            <p:cNvSpPr/>
            <p:nvPr/>
          </p:nvSpPr>
          <p:spPr>
            <a:xfrm flipH="false" flipV="false" rot="0">
              <a:off x="0" y="0"/>
              <a:ext cx="3385925" cy="1647207"/>
            </a:xfrm>
            <a:custGeom>
              <a:avLst/>
              <a:gdLst/>
              <a:ahLst/>
              <a:cxnLst/>
              <a:rect r="r" b="b" t="t" l="l"/>
              <a:pathLst>
                <a:path h="1647207" w="3385925">
                  <a:moveTo>
                    <a:pt x="0" y="0"/>
                  </a:moveTo>
                  <a:lnTo>
                    <a:pt x="3385925" y="0"/>
                  </a:lnTo>
                  <a:lnTo>
                    <a:pt x="3385925" y="1647207"/>
                  </a:lnTo>
                  <a:lnTo>
                    <a:pt x="0" y="1647207"/>
                  </a:lnTo>
                  <a:close/>
                </a:path>
              </a:pathLst>
            </a:custGeom>
            <a:blipFill>
              <a:blip r:embed="rId4">
                <a:alphaModFix amt="0"/>
              </a:blip>
              <a:stretch>
                <a:fillRect l="-12417" t="0" r="-12417" b="0"/>
              </a:stretch>
            </a:blipFill>
          </p:spPr>
        </p:sp>
        <p:sp>
          <p:nvSpPr>
            <p:cNvPr name="TextBox 39" id="39"/>
            <p:cNvSpPr txBox="true"/>
            <p:nvPr/>
          </p:nvSpPr>
          <p:spPr>
            <a:xfrm>
              <a:off x="0" y="-9525"/>
              <a:ext cx="3385922" cy="1656728"/>
            </a:xfrm>
            <a:prstGeom prst="rect">
              <a:avLst/>
            </a:prstGeom>
          </p:spPr>
          <p:txBody>
            <a:bodyPr anchor="ctr" rtlCol="false" tIns="0" lIns="0" bIns="0" rIns="0"/>
            <a:lstStyle/>
            <a:p>
              <a:pPr algn="ctr">
                <a:lnSpc>
                  <a:spcPts val="2341"/>
                </a:lnSpc>
              </a:pPr>
              <a:r>
                <a:rPr lang="en-US" sz="1951" b="true">
                  <a:solidFill>
                    <a:srgbClr val="FFFFFF"/>
                  </a:solidFill>
                  <a:latin typeface="Cabin Bold"/>
                  <a:ea typeface="Cabin Bold"/>
                  <a:cs typeface="Cabin Bold"/>
                  <a:sym typeface="Cabin Bold"/>
                </a:rPr>
                <a:t>Stage</a:t>
              </a:r>
            </a:p>
          </p:txBody>
        </p:sp>
      </p:grpSp>
      <p:sp>
        <p:nvSpPr>
          <p:cNvPr name="AutoShape 40" id="40"/>
          <p:cNvSpPr/>
          <p:nvPr/>
        </p:nvSpPr>
        <p:spPr>
          <a:xfrm rot="237720">
            <a:off x="11867750" y="5137995"/>
            <a:ext cx="413937" cy="0"/>
          </a:xfrm>
          <a:prstGeom prst="line">
            <a:avLst/>
          </a:prstGeom>
          <a:ln cap="rnd" w="19050">
            <a:solidFill>
              <a:srgbClr val="4A4A4A"/>
            </a:solidFill>
            <a:prstDash val="solid"/>
            <a:headEnd type="none" len="sm" w="sm"/>
            <a:tailEnd type="triangle" len="med" w="lg"/>
          </a:ln>
        </p:spPr>
      </p:sp>
      <p:grpSp>
        <p:nvGrpSpPr>
          <p:cNvPr name="Group 41" id="41"/>
          <p:cNvGrpSpPr/>
          <p:nvPr/>
        </p:nvGrpSpPr>
        <p:grpSpPr>
          <a:xfrm rot="0">
            <a:off x="12266886" y="4529823"/>
            <a:ext cx="2539441" cy="1235402"/>
            <a:chOff x="0" y="0"/>
            <a:chExt cx="3385922" cy="1647203"/>
          </a:xfrm>
        </p:grpSpPr>
        <p:sp>
          <p:nvSpPr>
            <p:cNvPr name="Freeform 42" id="42"/>
            <p:cNvSpPr/>
            <p:nvPr/>
          </p:nvSpPr>
          <p:spPr>
            <a:xfrm flipH="false" flipV="false" rot="0">
              <a:off x="0" y="0"/>
              <a:ext cx="3385947" cy="1647190"/>
            </a:xfrm>
            <a:custGeom>
              <a:avLst/>
              <a:gdLst/>
              <a:ahLst/>
              <a:cxnLst/>
              <a:rect r="r" b="b" t="t" l="l"/>
              <a:pathLst>
                <a:path h="1647190" w="3385947">
                  <a:moveTo>
                    <a:pt x="0" y="146431"/>
                  </a:moveTo>
                  <a:cubicBezTo>
                    <a:pt x="0" y="65532"/>
                    <a:pt x="65532" y="0"/>
                    <a:pt x="146431" y="0"/>
                  </a:cubicBezTo>
                  <a:lnTo>
                    <a:pt x="3239516" y="0"/>
                  </a:lnTo>
                  <a:cubicBezTo>
                    <a:pt x="3320415" y="0"/>
                    <a:pt x="3385947" y="65532"/>
                    <a:pt x="3385947" y="146431"/>
                  </a:cubicBezTo>
                  <a:lnTo>
                    <a:pt x="3385947" y="1500759"/>
                  </a:lnTo>
                  <a:cubicBezTo>
                    <a:pt x="3385947" y="1581658"/>
                    <a:pt x="3320415" y="1647190"/>
                    <a:pt x="3239516" y="1647190"/>
                  </a:cubicBezTo>
                  <a:lnTo>
                    <a:pt x="146431" y="1647190"/>
                  </a:lnTo>
                  <a:cubicBezTo>
                    <a:pt x="65532" y="1647190"/>
                    <a:pt x="0" y="1581658"/>
                    <a:pt x="0" y="1500759"/>
                  </a:cubicBezTo>
                  <a:close/>
                </a:path>
              </a:pathLst>
            </a:custGeom>
            <a:solidFill>
              <a:srgbClr val="1F4E79"/>
            </a:solidFill>
          </p:spPr>
        </p:sp>
      </p:grpSp>
      <p:grpSp>
        <p:nvGrpSpPr>
          <p:cNvPr name="Group 43" id="43"/>
          <p:cNvGrpSpPr/>
          <p:nvPr/>
        </p:nvGrpSpPr>
        <p:grpSpPr>
          <a:xfrm rot="0">
            <a:off x="12266886" y="4529823"/>
            <a:ext cx="2539441" cy="1235402"/>
            <a:chOff x="0" y="0"/>
            <a:chExt cx="3385922" cy="1647203"/>
          </a:xfrm>
        </p:grpSpPr>
        <p:sp>
          <p:nvSpPr>
            <p:cNvPr name="Freeform 44" id="44"/>
            <p:cNvSpPr/>
            <p:nvPr/>
          </p:nvSpPr>
          <p:spPr>
            <a:xfrm flipH="false" flipV="false" rot="0">
              <a:off x="0" y="0"/>
              <a:ext cx="3385925" cy="1647207"/>
            </a:xfrm>
            <a:custGeom>
              <a:avLst/>
              <a:gdLst/>
              <a:ahLst/>
              <a:cxnLst/>
              <a:rect r="r" b="b" t="t" l="l"/>
              <a:pathLst>
                <a:path h="1647207" w="3385925">
                  <a:moveTo>
                    <a:pt x="0" y="0"/>
                  </a:moveTo>
                  <a:lnTo>
                    <a:pt x="3385925" y="0"/>
                  </a:lnTo>
                  <a:lnTo>
                    <a:pt x="3385925" y="1647207"/>
                  </a:lnTo>
                  <a:lnTo>
                    <a:pt x="0" y="1647207"/>
                  </a:lnTo>
                  <a:close/>
                </a:path>
              </a:pathLst>
            </a:custGeom>
            <a:blipFill>
              <a:blip r:embed="rId4">
                <a:alphaModFix amt="0"/>
              </a:blip>
              <a:stretch>
                <a:fillRect l="-12417" t="0" r="-12417" b="0"/>
              </a:stretch>
            </a:blipFill>
          </p:spPr>
        </p:sp>
        <p:sp>
          <p:nvSpPr>
            <p:cNvPr name="TextBox 45" id="45"/>
            <p:cNvSpPr txBox="true"/>
            <p:nvPr/>
          </p:nvSpPr>
          <p:spPr>
            <a:xfrm>
              <a:off x="0" y="-9525"/>
              <a:ext cx="3385922" cy="1656728"/>
            </a:xfrm>
            <a:prstGeom prst="rect">
              <a:avLst/>
            </a:prstGeom>
          </p:spPr>
          <p:txBody>
            <a:bodyPr anchor="ctr" rtlCol="false" tIns="0" lIns="0" bIns="0" rIns="0"/>
            <a:lstStyle/>
            <a:p>
              <a:pPr algn="ctr">
                <a:lnSpc>
                  <a:spcPts val="2341"/>
                </a:lnSpc>
              </a:pPr>
              <a:r>
                <a:rPr lang="en-US" sz="1951" b="true">
                  <a:solidFill>
                    <a:srgbClr val="FFFFFF"/>
                  </a:solidFill>
                  <a:latin typeface="Cabin Bold"/>
                  <a:ea typeface="Cabin Bold"/>
                  <a:cs typeface="Cabin Bold"/>
                  <a:sym typeface="Cabin Bold"/>
                </a:rPr>
                <a:t>Task</a:t>
              </a:r>
            </a:p>
          </p:txBody>
        </p:sp>
      </p:grpSp>
      <p:sp>
        <p:nvSpPr>
          <p:cNvPr name="AutoShape 46" id="46"/>
          <p:cNvSpPr/>
          <p:nvPr/>
        </p:nvSpPr>
        <p:spPr>
          <a:xfrm rot="237720">
            <a:off x="14791534" y="5137995"/>
            <a:ext cx="413937" cy="0"/>
          </a:xfrm>
          <a:prstGeom prst="line">
            <a:avLst/>
          </a:prstGeom>
          <a:ln cap="rnd" w="19050">
            <a:solidFill>
              <a:srgbClr val="4A4A4A"/>
            </a:solidFill>
            <a:prstDash val="solid"/>
            <a:headEnd type="none" len="sm" w="sm"/>
            <a:tailEnd type="triangle" len="med" w="lg"/>
          </a:ln>
        </p:spPr>
      </p:sp>
      <p:grpSp>
        <p:nvGrpSpPr>
          <p:cNvPr name="Group 47" id="47"/>
          <p:cNvGrpSpPr/>
          <p:nvPr/>
        </p:nvGrpSpPr>
        <p:grpSpPr>
          <a:xfrm rot="0">
            <a:off x="15190680" y="4529823"/>
            <a:ext cx="2539441" cy="1235402"/>
            <a:chOff x="0" y="0"/>
            <a:chExt cx="3385922" cy="1647203"/>
          </a:xfrm>
        </p:grpSpPr>
        <p:sp>
          <p:nvSpPr>
            <p:cNvPr name="Freeform 48" id="48"/>
            <p:cNvSpPr/>
            <p:nvPr/>
          </p:nvSpPr>
          <p:spPr>
            <a:xfrm flipH="false" flipV="false" rot="0">
              <a:off x="0" y="0"/>
              <a:ext cx="3385947" cy="1647190"/>
            </a:xfrm>
            <a:custGeom>
              <a:avLst/>
              <a:gdLst/>
              <a:ahLst/>
              <a:cxnLst/>
              <a:rect r="r" b="b" t="t" l="l"/>
              <a:pathLst>
                <a:path h="1647190" w="3385947">
                  <a:moveTo>
                    <a:pt x="0" y="146431"/>
                  </a:moveTo>
                  <a:cubicBezTo>
                    <a:pt x="0" y="65532"/>
                    <a:pt x="65532" y="0"/>
                    <a:pt x="146431" y="0"/>
                  </a:cubicBezTo>
                  <a:lnTo>
                    <a:pt x="3239516" y="0"/>
                  </a:lnTo>
                  <a:cubicBezTo>
                    <a:pt x="3320415" y="0"/>
                    <a:pt x="3385947" y="65532"/>
                    <a:pt x="3385947" y="146431"/>
                  </a:cubicBezTo>
                  <a:lnTo>
                    <a:pt x="3385947" y="1500759"/>
                  </a:lnTo>
                  <a:cubicBezTo>
                    <a:pt x="3385947" y="1581658"/>
                    <a:pt x="3320415" y="1647190"/>
                    <a:pt x="3239516" y="1647190"/>
                  </a:cubicBezTo>
                  <a:lnTo>
                    <a:pt x="146431" y="1647190"/>
                  </a:lnTo>
                  <a:cubicBezTo>
                    <a:pt x="65532" y="1647190"/>
                    <a:pt x="0" y="1581658"/>
                    <a:pt x="0" y="1500759"/>
                  </a:cubicBezTo>
                  <a:close/>
                </a:path>
              </a:pathLst>
            </a:custGeom>
            <a:solidFill>
              <a:srgbClr val="1F4E79"/>
            </a:solidFill>
          </p:spPr>
        </p:sp>
      </p:grpSp>
      <p:grpSp>
        <p:nvGrpSpPr>
          <p:cNvPr name="Group 49" id="49"/>
          <p:cNvGrpSpPr/>
          <p:nvPr/>
        </p:nvGrpSpPr>
        <p:grpSpPr>
          <a:xfrm rot="0">
            <a:off x="15190680" y="4529823"/>
            <a:ext cx="2539441" cy="1235402"/>
            <a:chOff x="0" y="0"/>
            <a:chExt cx="3385922" cy="1647203"/>
          </a:xfrm>
        </p:grpSpPr>
        <p:sp>
          <p:nvSpPr>
            <p:cNvPr name="Freeform 50" id="50"/>
            <p:cNvSpPr/>
            <p:nvPr/>
          </p:nvSpPr>
          <p:spPr>
            <a:xfrm flipH="false" flipV="false" rot="0">
              <a:off x="0" y="0"/>
              <a:ext cx="3385925" cy="1647207"/>
            </a:xfrm>
            <a:custGeom>
              <a:avLst/>
              <a:gdLst/>
              <a:ahLst/>
              <a:cxnLst/>
              <a:rect r="r" b="b" t="t" l="l"/>
              <a:pathLst>
                <a:path h="1647207" w="3385925">
                  <a:moveTo>
                    <a:pt x="0" y="0"/>
                  </a:moveTo>
                  <a:lnTo>
                    <a:pt x="3385925" y="0"/>
                  </a:lnTo>
                  <a:lnTo>
                    <a:pt x="3385925" y="1647207"/>
                  </a:lnTo>
                  <a:lnTo>
                    <a:pt x="0" y="1647207"/>
                  </a:lnTo>
                  <a:close/>
                </a:path>
              </a:pathLst>
            </a:custGeom>
            <a:blipFill>
              <a:blip r:embed="rId4">
                <a:alphaModFix amt="0"/>
              </a:blip>
              <a:stretch>
                <a:fillRect l="-12417" t="0" r="-12417" b="0"/>
              </a:stretch>
            </a:blipFill>
          </p:spPr>
        </p:sp>
        <p:sp>
          <p:nvSpPr>
            <p:cNvPr name="TextBox 51" id="51"/>
            <p:cNvSpPr txBox="true"/>
            <p:nvPr/>
          </p:nvSpPr>
          <p:spPr>
            <a:xfrm>
              <a:off x="0" y="-9525"/>
              <a:ext cx="3385922" cy="1656728"/>
            </a:xfrm>
            <a:prstGeom prst="rect">
              <a:avLst/>
            </a:prstGeom>
          </p:spPr>
          <p:txBody>
            <a:bodyPr anchor="ctr" rtlCol="false" tIns="0" lIns="0" bIns="0" rIns="0"/>
            <a:lstStyle/>
            <a:p>
              <a:pPr algn="ctr">
                <a:lnSpc>
                  <a:spcPts val="2341"/>
                </a:lnSpc>
              </a:pPr>
              <a:r>
                <a:rPr lang="en-US" sz="1951" b="true">
                  <a:solidFill>
                    <a:srgbClr val="FFFFFF"/>
                  </a:solidFill>
                  <a:latin typeface="Cabin Bold"/>
                  <a:ea typeface="Cabin Bold"/>
                  <a:cs typeface="Cabin Bold"/>
                  <a:sym typeface="Cabin Bold"/>
                </a:rPr>
                <a:t>Executor</a:t>
              </a:r>
            </a:p>
          </p:txBody>
        </p:sp>
      </p:grpSp>
      <p:grpSp>
        <p:nvGrpSpPr>
          <p:cNvPr name="Group 52" id="52"/>
          <p:cNvGrpSpPr/>
          <p:nvPr/>
        </p:nvGrpSpPr>
        <p:grpSpPr>
          <a:xfrm rot="0">
            <a:off x="1372676" y="6451559"/>
            <a:ext cx="15511196" cy="823608"/>
            <a:chOff x="0" y="0"/>
            <a:chExt cx="20681594" cy="1098144"/>
          </a:xfrm>
        </p:grpSpPr>
        <p:sp>
          <p:nvSpPr>
            <p:cNvPr name="Freeform 53" id="53"/>
            <p:cNvSpPr/>
            <p:nvPr/>
          </p:nvSpPr>
          <p:spPr>
            <a:xfrm flipH="false" flipV="false" rot="0">
              <a:off x="0" y="0"/>
              <a:ext cx="20681598" cy="1098138"/>
            </a:xfrm>
            <a:custGeom>
              <a:avLst/>
              <a:gdLst/>
              <a:ahLst/>
              <a:cxnLst/>
              <a:rect r="r" b="b" t="t" l="l"/>
              <a:pathLst>
                <a:path h="1098138" w="20681598">
                  <a:moveTo>
                    <a:pt x="0" y="0"/>
                  </a:moveTo>
                  <a:lnTo>
                    <a:pt x="20681598" y="0"/>
                  </a:lnTo>
                  <a:lnTo>
                    <a:pt x="20681598" y="1098138"/>
                  </a:lnTo>
                  <a:lnTo>
                    <a:pt x="0" y="1098138"/>
                  </a:lnTo>
                  <a:close/>
                </a:path>
              </a:pathLst>
            </a:custGeom>
            <a:blipFill>
              <a:blip r:embed="rId4">
                <a:alphaModFix amt="0"/>
              </a:blip>
              <a:stretch>
                <a:fillRect l="0" t="-316967" r="0" b="-316968"/>
              </a:stretch>
            </a:blipFill>
          </p:spPr>
        </p:sp>
        <p:sp>
          <p:nvSpPr>
            <p:cNvPr name="TextBox 54" id="54"/>
            <p:cNvSpPr txBox="true"/>
            <p:nvPr/>
          </p:nvSpPr>
          <p:spPr>
            <a:xfrm>
              <a:off x="0" y="0"/>
              <a:ext cx="20681594" cy="1098144"/>
            </a:xfrm>
            <a:prstGeom prst="rect">
              <a:avLst/>
            </a:prstGeom>
          </p:spPr>
          <p:txBody>
            <a:bodyPr anchor="ctr" rtlCol="false" tIns="0" lIns="0" bIns="0" rIns="0"/>
            <a:lstStyle/>
            <a:p>
              <a:pPr algn="ctr">
                <a:lnSpc>
                  <a:spcPts val="2071"/>
                </a:lnSpc>
              </a:pPr>
              <a:r>
                <a:rPr lang="en-US" sz="1726" i="true">
                  <a:solidFill>
                    <a:srgbClr val="4A4A4A"/>
                  </a:solidFill>
                  <a:latin typeface="Cabin Italics"/>
                  <a:ea typeface="Cabin Italics"/>
                  <a:cs typeface="Cabin Italics"/>
                  <a:sym typeface="Cabin Italics"/>
                </a:rPr>
                <a:t>Mỗi Application chạy một hoặc nhiều Job (theo Action); mỗi Job có một DAG chia thành các Stage; mỗi Stage gồm nhiều Task chạy trên các Executor.</a:t>
              </a:r>
            </a:p>
          </p:txBody>
        </p:sp>
      </p:grpSp>
      <p:grpSp>
        <p:nvGrpSpPr>
          <p:cNvPr name="Group 55" id="55"/>
          <p:cNvGrpSpPr/>
          <p:nvPr/>
        </p:nvGrpSpPr>
        <p:grpSpPr>
          <a:xfrm rot="0">
            <a:off x="0" y="9677343"/>
            <a:ext cx="18301840" cy="617706"/>
            <a:chOff x="0" y="0"/>
            <a:chExt cx="24402453" cy="823608"/>
          </a:xfrm>
        </p:grpSpPr>
        <p:sp>
          <p:nvSpPr>
            <p:cNvPr name="Freeform 56" id="56"/>
            <p:cNvSpPr/>
            <p:nvPr/>
          </p:nvSpPr>
          <p:spPr>
            <a:xfrm flipH="false" flipV="false" rot="0">
              <a:off x="0" y="0"/>
              <a:ext cx="24402414" cy="823595"/>
            </a:xfrm>
            <a:custGeom>
              <a:avLst/>
              <a:gdLst/>
              <a:ahLst/>
              <a:cxnLst/>
              <a:rect r="r" b="b" t="t" l="l"/>
              <a:pathLst>
                <a:path h="823595" w="24402414">
                  <a:moveTo>
                    <a:pt x="0" y="0"/>
                  </a:moveTo>
                  <a:lnTo>
                    <a:pt x="24402414" y="0"/>
                  </a:lnTo>
                  <a:lnTo>
                    <a:pt x="24402414" y="823595"/>
                  </a:lnTo>
                  <a:lnTo>
                    <a:pt x="0" y="823595"/>
                  </a:lnTo>
                  <a:close/>
                </a:path>
              </a:pathLst>
            </a:custGeom>
            <a:solidFill>
              <a:srgbClr val="1F4E79"/>
            </a:solidFill>
          </p:spPr>
        </p:sp>
      </p:grpSp>
      <p:grpSp>
        <p:nvGrpSpPr>
          <p:cNvPr name="Group 57" id="57"/>
          <p:cNvGrpSpPr/>
          <p:nvPr/>
        </p:nvGrpSpPr>
        <p:grpSpPr>
          <a:xfrm rot="0">
            <a:off x="480431" y="9677343"/>
            <a:ext cx="10981382" cy="617706"/>
            <a:chOff x="0" y="0"/>
            <a:chExt cx="14641843" cy="823608"/>
          </a:xfrm>
        </p:grpSpPr>
        <p:sp>
          <p:nvSpPr>
            <p:cNvPr name="Freeform 58" id="58"/>
            <p:cNvSpPr/>
            <p:nvPr/>
          </p:nvSpPr>
          <p:spPr>
            <a:xfrm flipH="false" flipV="false" rot="0">
              <a:off x="0" y="0"/>
              <a:ext cx="14641840" cy="823603"/>
            </a:xfrm>
            <a:custGeom>
              <a:avLst/>
              <a:gdLst/>
              <a:ahLst/>
              <a:cxnLst/>
              <a:rect r="r" b="b" t="t" l="l"/>
              <a:pathLst>
                <a:path h="823603" w="14641840">
                  <a:moveTo>
                    <a:pt x="0" y="0"/>
                  </a:moveTo>
                  <a:lnTo>
                    <a:pt x="14641840" y="0"/>
                  </a:lnTo>
                  <a:lnTo>
                    <a:pt x="14641840" y="823603"/>
                  </a:lnTo>
                  <a:lnTo>
                    <a:pt x="0" y="823603"/>
                  </a:lnTo>
                  <a:close/>
                </a:path>
              </a:pathLst>
            </a:custGeom>
            <a:blipFill>
              <a:blip r:embed="rId4">
                <a:alphaModFix amt="0"/>
              </a:blip>
              <a:stretch>
                <a:fillRect l="0" t="-296400" r="0" b="-296401"/>
              </a:stretch>
            </a:blipFill>
          </p:spPr>
        </p:sp>
        <p:sp>
          <p:nvSpPr>
            <p:cNvPr name="TextBox 59" id="59"/>
            <p:cNvSpPr txBox="true"/>
            <p:nvPr/>
          </p:nvSpPr>
          <p:spPr>
            <a:xfrm>
              <a:off x="0" y="0"/>
              <a:ext cx="14641843" cy="823608"/>
            </a:xfrm>
            <a:prstGeom prst="rect">
              <a:avLst/>
            </a:prstGeom>
          </p:spPr>
          <p:txBody>
            <a:bodyPr anchor="ctr" rtlCol="false" tIns="0" lIns="0" bIns="0" rIns="0"/>
            <a:lstStyle/>
            <a:p>
              <a:pPr algn="l">
                <a:lnSpc>
                  <a:spcPts val="1621"/>
                </a:lnSpc>
              </a:pPr>
              <a:r>
                <a:rPr lang="en-US" sz="1351">
                  <a:solidFill>
                    <a:srgbClr val="FFFFFF"/>
                  </a:solidFill>
                  <a:latin typeface="Cabin"/>
                  <a:ea typeface="Cabin"/>
                  <a:cs typeface="Cabin"/>
                  <a:sym typeface="Cabin"/>
                </a:rPr>
                <a:t>VNU UET – Institute for Artificial Intelligence</a:t>
              </a:r>
            </a:p>
          </p:txBody>
        </p:sp>
      </p:grpSp>
      <p:grpSp>
        <p:nvGrpSpPr>
          <p:cNvPr name="Group 60" id="60"/>
          <p:cNvGrpSpPr/>
          <p:nvPr/>
        </p:nvGrpSpPr>
        <p:grpSpPr>
          <a:xfrm rot="0">
            <a:off x="17066438" y="9677343"/>
            <a:ext cx="823608" cy="617706"/>
            <a:chOff x="0" y="0"/>
            <a:chExt cx="1098144" cy="823608"/>
          </a:xfrm>
        </p:grpSpPr>
        <p:sp>
          <p:nvSpPr>
            <p:cNvPr name="Freeform 61" id="61"/>
            <p:cNvSpPr/>
            <p:nvPr/>
          </p:nvSpPr>
          <p:spPr>
            <a:xfrm flipH="false" flipV="false" rot="0">
              <a:off x="0" y="0"/>
              <a:ext cx="1098138" cy="823603"/>
            </a:xfrm>
            <a:custGeom>
              <a:avLst/>
              <a:gdLst/>
              <a:ahLst/>
              <a:cxnLst/>
              <a:rect r="r" b="b" t="t" l="l"/>
              <a:pathLst>
                <a:path h="823603" w="1098138">
                  <a:moveTo>
                    <a:pt x="0" y="0"/>
                  </a:moveTo>
                  <a:lnTo>
                    <a:pt x="1098138" y="0"/>
                  </a:lnTo>
                  <a:lnTo>
                    <a:pt x="1098138" y="823603"/>
                  </a:lnTo>
                  <a:lnTo>
                    <a:pt x="0" y="823603"/>
                  </a:lnTo>
                  <a:close/>
                </a:path>
              </a:pathLst>
            </a:custGeom>
            <a:blipFill>
              <a:blip r:embed="rId4">
                <a:alphaModFix amt="0"/>
              </a:blip>
              <a:stretch>
                <a:fillRect l="-46227" t="0" r="-46228" b="0"/>
              </a:stretch>
            </a:blipFill>
          </p:spPr>
        </p:sp>
        <p:sp>
          <p:nvSpPr>
            <p:cNvPr name="TextBox 62" id="62"/>
            <p:cNvSpPr txBox="true"/>
            <p:nvPr/>
          </p:nvSpPr>
          <p:spPr>
            <a:xfrm>
              <a:off x="0" y="0"/>
              <a:ext cx="1098144" cy="823608"/>
            </a:xfrm>
            <a:prstGeom prst="rect">
              <a:avLst/>
            </a:prstGeom>
          </p:spPr>
          <p:txBody>
            <a:bodyPr anchor="ctr" rtlCol="false" tIns="0" lIns="0" bIns="0" rIns="0"/>
            <a:lstStyle/>
            <a:p>
              <a:pPr algn="r">
                <a:lnSpc>
                  <a:spcPts val="1621"/>
                </a:lnSpc>
              </a:pPr>
              <a:r>
                <a:rPr lang="en-US" sz="1351">
                  <a:solidFill>
                    <a:srgbClr val="FFFFFF"/>
                  </a:solidFill>
                  <a:latin typeface="Cabin"/>
                  <a:ea typeface="Cabin"/>
                  <a:cs typeface="Cabin"/>
                  <a:sym typeface="Cabin"/>
                </a:rPr>
                <a:t>15</a:t>
              </a:r>
            </a:p>
          </p:txBody>
        </p:sp>
      </p:grpSp>
      <p:grpSp>
        <p:nvGrpSpPr>
          <p:cNvPr name="Group 63" id="63"/>
          <p:cNvGrpSpPr/>
          <p:nvPr/>
        </p:nvGrpSpPr>
        <p:grpSpPr>
          <a:xfrm rot="0">
            <a:off x="0" y="0"/>
            <a:ext cx="18288000" cy="315468"/>
            <a:chOff x="0" y="0"/>
            <a:chExt cx="24384000" cy="420624"/>
          </a:xfrm>
        </p:grpSpPr>
        <p:sp>
          <p:nvSpPr>
            <p:cNvPr name="Freeform 64" id="64"/>
            <p:cNvSpPr/>
            <p:nvPr/>
          </p:nvSpPr>
          <p:spPr>
            <a:xfrm flipH="false" flipV="false" rot="0">
              <a:off x="0" y="0"/>
              <a:ext cx="24384000" cy="420624"/>
            </a:xfrm>
            <a:custGeom>
              <a:avLst/>
              <a:gdLst/>
              <a:ahLst/>
              <a:cxnLst/>
              <a:rect r="r" b="b" t="t" l="l"/>
              <a:pathLst>
                <a:path h="420624" w="24384000">
                  <a:moveTo>
                    <a:pt x="0" y="0"/>
                  </a:moveTo>
                  <a:lnTo>
                    <a:pt x="24384000" y="0"/>
                  </a:lnTo>
                  <a:lnTo>
                    <a:pt x="24384000" y="420624"/>
                  </a:lnTo>
                  <a:lnTo>
                    <a:pt x="0" y="420624"/>
                  </a:lnTo>
                  <a:close/>
                </a:path>
              </a:pathLst>
            </a:custGeom>
            <a:solidFill>
              <a:srgbClr val="0F3F6F"/>
            </a:solidFill>
          </p:spPr>
        </p:sp>
      </p:grpSp>
      <p:grpSp>
        <p:nvGrpSpPr>
          <p:cNvPr name="Group 65" id="65"/>
          <p:cNvGrpSpPr/>
          <p:nvPr/>
        </p:nvGrpSpPr>
        <p:grpSpPr>
          <a:xfrm rot="0">
            <a:off x="13098780" y="0"/>
            <a:ext cx="1453896" cy="1508760"/>
            <a:chOff x="0" y="0"/>
            <a:chExt cx="1938528" cy="2011680"/>
          </a:xfrm>
        </p:grpSpPr>
        <p:sp>
          <p:nvSpPr>
            <p:cNvPr name="Freeform 66" id="66"/>
            <p:cNvSpPr/>
            <p:nvPr/>
          </p:nvSpPr>
          <p:spPr>
            <a:xfrm flipH="false" flipV="false" rot="0">
              <a:off x="0" y="0"/>
              <a:ext cx="1938528" cy="2011680"/>
            </a:xfrm>
            <a:custGeom>
              <a:avLst/>
              <a:gdLst/>
              <a:ahLst/>
              <a:cxnLst/>
              <a:rect r="r" b="b" t="t" l="l"/>
              <a:pathLst>
                <a:path h="2011680" w="1938528">
                  <a:moveTo>
                    <a:pt x="0" y="2011680"/>
                  </a:moveTo>
                  <a:lnTo>
                    <a:pt x="484632" y="0"/>
                  </a:lnTo>
                  <a:lnTo>
                    <a:pt x="1938528" y="0"/>
                  </a:lnTo>
                  <a:lnTo>
                    <a:pt x="1453896" y="2011680"/>
                  </a:lnTo>
                  <a:close/>
                </a:path>
              </a:pathLst>
            </a:custGeom>
            <a:solidFill>
              <a:srgbClr val="85B518"/>
            </a:solidFill>
          </p:spPr>
        </p:sp>
      </p:grpSp>
      <p:grpSp>
        <p:nvGrpSpPr>
          <p:cNvPr name="Group 67" id="67"/>
          <p:cNvGrpSpPr/>
          <p:nvPr/>
        </p:nvGrpSpPr>
        <p:grpSpPr>
          <a:xfrm rot="0">
            <a:off x="14621256" y="0"/>
            <a:ext cx="1508760" cy="1508760"/>
            <a:chOff x="0" y="0"/>
            <a:chExt cx="2011680" cy="2011680"/>
          </a:xfrm>
        </p:grpSpPr>
        <p:sp>
          <p:nvSpPr>
            <p:cNvPr name="Freeform 68" id="68"/>
            <p:cNvSpPr/>
            <p:nvPr/>
          </p:nvSpPr>
          <p:spPr>
            <a:xfrm flipH="false" flipV="false" rot="0">
              <a:off x="0" y="0"/>
              <a:ext cx="2011680" cy="2011680"/>
            </a:xfrm>
            <a:custGeom>
              <a:avLst/>
              <a:gdLst/>
              <a:ahLst/>
              <a:cxnLst/>
              <a:rect r="r" b="b" t="t" l="l"/>
              <a:pathLst>
                <a:path h="2011680" w="2011680">
                  <a:moveTo>
                    <a:pt x="0" y="2011680"/>
                  </a:moveTo>
                  <a:lnTo>
                    <a:pt x="502920" y="0"/>
                  </a:lnTo>
                  <a:lnTo>
                    <a:pt x="2011680" y="0"/>
                  </a:lnTo>
                  <a:lnTo>
                    <a:pt x="1508760" y="2011680"/>
                  </a:lnTo>
                  <a:close/>
                </a:path>
              </a:pathLst>
            </a:custGeom>
            <a:solidFill>
              <a:srgbClr val="0F3F6F"/>
            </a:solidFill>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97801" y="384353"/>
            <a:ext cx="851059" cy="851059"/>
            <a:chOff x="0" y="0"/>
            <a:chExt cx="1134745" cy="1134745"/>
          </a:xfrm>
        </p:grpSpPr>
        <p:sp>
          <p:nvSpPr>
            <p:cNvPr name="Freeform 3" id="3" descr="/home/claude/work/assets/logo.png"/>
            <p:cNvSpPr/>
            <p:nvPr/>
          </p:nvSpPr>
          <p:spPr>
            <a:xfrm flipH="false" flipV="false" rot="0">
              <a:off x="0" y="0"/>
              <a:ext cx="1134745" cy="1134745"/>
            </a:xfrm>
            <a:custGeom>
              <a:avLst/>
              <a:gdLst/>
              <a:ahLst/>
              <a:cxnLst/>
              <a:rect r="r" b="b" t="t" l="l"/>
              <a:pathLst>
                <a:path h="1134745" w="1134745">
                  <a:moveTo>
                    <a:pt x="0" y="0"/>
                  </a:moveTo>
                  <a:lnTo>
                    <a:pt x="1134745" y="0"/>
                  </a:lnTo>
                  <a:lnTo>
                    <a:pt x="1134745" y="1134745"/>
                  </a:lnTo>
                  <a:lnTo>
                    <a:pt x="0" y="1134745"/>
                  </a:lnTo>
                  <a:lnTo>
                    <a:pt x="0" y="0"/>
                  </a:lnTo>
                  <a:close/>
                </a:path>
              </a:pathLst>
            </a:custGeom>
            <a:blipFill>
              <a:blip r:embed="rId3"/>
              <a:stretch>
                <a:fillRect l="0" t="0" r="0" b="0"/>
              </a:stretch>
            </a:blipFill>
          </p:spPr>
        </p:sp>
      </p:grpSp>
      <p:grpSp>
        <p:nvGrpSpPr>
          <p:cNvPr name="Group 4" id="4"/>
          <p:cNvGrpSpPr/>
          <p:nvPr/>
        </p:nvGrpSpPr>
        <p:grpSpPr>
          <a:xfrm rot="0">
            <a:off x="686333" y="384353"/>
            <a:ext cx="10981382" cy="411804"/>
            <a:chOff x="0" y="0"/>
            <a:chExt cx="14641843" cy="549072"/>
          </a:xfrm>
        </p:grpSpPr>
        <p:sp>
          <p:nvSpPr>
            <p:cNvPr name="Freeform 5" id="5"/>
            <p:cNvSpPr/>
            <p:nvPr/>
          </p:nvSpPr>
          <p:spPr>
            <a:xfrm flipH="false" flipV="false" rot="0">
              <a:off x="0" y="0"/>
              <a:ext cx="14641840" cy="549069"/>
            </a:xfrm>
            <a:custGeom>
              <a:avLst/>
              <a:gdLst/>
              <a:ahLst/>
              <a:cxnLst/>
              <a:rect r="r" b="b" t="t" l="l"/>
              <a:pathLst>
                <a:path h="549069" w="14641840">
                  <a:moveTo>
                    <a:pt x="0" y="0"/>
                  </a:moveTo>
                  <a:lnTo>
                    <a:pt x="14641840" y="0"/>
                  </a:lnTo>
                  <a:lnTo>
                    <a:pt x="14641840" y="549069"/>
                  </a:lnTo>
                  <a:lnTo>
                    <a:pt x="0" y="549069"/>
                  </a:lnTo>
                  <a:close/>
                </a:path>
              </a:pathLst>
            </a:custGeom>
            <a:blipFill>
              <a:blip r:embed="rId4">
                <a:alphaModFix amt="0"/>
              </a:blip>
              <a:stretch>
                <a:fillRect l="0" t="-469600" r="0" b="-469601"/>
              </a:stretch>
            </a:blipFill>
          </p:spPr>
        </p:sp>
        <p:sp>
          <p:nvSpPr>
            <p:cNvPr name="TextBox 6" id="6"/>
            <p:cNvSpPr txBox="true"/>
            <p:nvPr/>
          </p:nvSpPr>
          <p:spPr>
            <a:xfrm>
              <a:off x="0" y="0"/>
              <a:ext cx="14641843" cy="549072"/>
            </a:xfrm>
            <a:prstGeom prst="rect">
              <a:avLst/>
            </a:prstGeom>
          </p:spPr>
          <p:txBody>
            <a:bodyPr anchor="ctr" rtlCol="false" tIns="0" lIns="0" bIns="0" rIns="0"/>
            <a:lstStyle/>
            <a:p>
              <a:pPr algn="l">
                <a:lnSpc>
                  <a:spcPts val="1981"/>
                </a:lnSpc>
              </a:pPr>
              <a:r>
                <a:rPr lang="en-US" sz="1651" i="true">
                  <a:solidFill>
                    <a:srgbClr val="4A4A4A"/>
                  </a:solidFill>
                  <a:latin typeface="Cabin Italics"/>
                  <a:ea typeface="Cabin Italics"/>
                  <a:cs typeface="Cabin Italics"/>
                  <a:sym typeface="Cabin Italics"/>
                </a:rPr>
                <a:t>5.5. Cơ chế thực thi Spark · Bài 05</a:t>
              </a:r>
            </a:p>
          </p:txBody>
        </p:sp>
      </p:grpSp>
      <p:grpSp>
        <p:nvGrpSpPr>
          <p:cNvPr name="Group 7" id="7"/>
          <p:cNvGrpSpPr/>
          <p:nvPr/>
        </p:nvGrpSpPr>
        <p:grpSpPr>
          <a:xfrm rot="0">
            <a:off x="674418" y="839143"/>
            <a:ext cx="710165" cy="710165"/>
            <a:chOff x="0" y="0"/>
            <a:chExt cx="946887" cy="946887"/>
          </a:xfrm>
        </p:grpSpPr>
        <p:sp>
          <p:nvSpPr>
            <p:cNvPr name="Freeform 8" id="8"/>
            <p:cNvSpPr/>
            <p:nvPr/>
          </p:nvSpPr>
          <p:spPr>
            <a:xfrm flipH="false" flipV="false" rot="0">
              <a:off x="0" y="0"/>
              <a:ext cx="946912" cy="946912"/>
            </a:xfrm>
            <a:custGeom>
              <a:avLst/>
              <a:gdLst/>
              <a:ahLst/>
              <a:cxnLst/>
              <a:rect r="r" b="b" t="t" l="l"/>
              <a:pathLst>
                <a:path h="946912" w="946912">
                  <a:moveTo>
                    <a:pt x="0" y="473456"/>
                  </a:moveTo>
                  <a:cubicBezTo>
                    <a:pt x="0" y="211963"/>
                    <a:pt x="211963" y="0"/>
                    <a:pt x="473456" y="0"/>
                  </a:cubicBezTo>
                  <a:cubicBezTo>
                    <a:pt x="734949" y="0"/>
                    <a:pt x="946912" y="211963"/>
                    <a:pt x="946912" y="473456"/>
                  </a:cubicBezTo>
                  <a:cubicBezTo>
                    <a:pt x="946912" y="734949"/>
                    <a:pt x="734949" y="946912"/>
                    <a:pt x="473456" y="946912"/>
                  </a:cubicBezTo>
                  <a:cubicBezTo>
                    <a:pt x="211963" y="946912"/>
                    <a:pt x="0" y="734949"/>
                    <a:pt x="0" y="473456"/>
                  </a:cubicBezTo>
                  <a:close/>
                </a:path>
              </a:pathLst>
            </a:custGeom>
            <a:solidFill>
              <a:srgbClr val="FFFFFF"/>
            </a:solidFill>
            <a:ln w="23831" cap="sq">
              <a:solidFill>
                <a:srgbClr val="1F4E79"/>
              </a:solidFill>
              <a:prstDash val="solid"/>
              <a:miter/>
            </a:ln>
          </p:spPr>
        </p:sp>
      </p:grpSp>
      <p:grpSp>
        <p:nvGrpSpPr>
          <p:cNvPr name="Group 9" id="9"/>
          <p:cNvGrpSpPr/>
          <p:nvPr/>
        </p:nvGrpSpPr>
        <p:grpSpPr>
          <a:xfrm rot="0">
            <a:off x="686333" y="851059"/>
            <a:ext cx="686333" cy="686333"/>
            <a:chOff x="0" y="0"/>
            <a:chExt cx="915111" cy="915111"/>
          </a:xfrm>
        </p:grpSpPr>
        <p:sp>
          <p:nvSpPr>
            <p:cNvPr name="Freeform 10" id="10"/>
            <p:cNvSpPr/>
            <p:nvPr/>
          </p:nvSpPr>
          <p:spPr>
            <a:xfrm flipH="false" flipV="false" rot="0">
              <a:off x="0" y="0"/>
              <a:ext cx="915115" cy="915115"/>
            </a:xfrm>
            <a:custGeom>
              <a:avLst/>
              <a:gdLst/>
              <a:ahLst/>
              <a:cxnLst/>
              <a:rect r="r" b="b" t="t" l="l"/>
              <a:pathLst>
                <a:path h="915115" w="915115">
                  <a:moveTo>
                    <a:pt x="0" y="0"/>
                  </a:moveTo>
                  <a:lnTo>
                    <a:pt x="915115" y="0"/>
                  </a:lnTo>
                  <a:lnTo>
                    <a:pt x="915115" y="915115"/>
                  </a:lnTo>
                  <a:lnTo>
                    <a:pt x="0" y="915115"/>
                  </a:lnTo>
                  <a:close/>
                </a:path>
              </a:pathLst>
            </a:custGeom>
            <a:blipFill>
              <a:blip r:embed="rId4">
                <a:alphaModFix amt="0"/>
              </a:blip>
              <a:stretch>
                <a:fillRect l="-78303" t="0" r="-78302" b="0"/>
              </a:stretch>
            </a:blipFill>
          </p:spPr>
        </p:sp>
        <p:sp>
          <p:nvSpPr>
            <p:cNvPr name="TextBox 11" id="11"/>
            <p:cNvSpPr txBox="true"/>
            <p:nvPr/>
          </p:nvSpPr>
          <p:spPr>
            <a:xfrm>
              <a:off x="0" y="0"/>
              <a:ext cx="915111" cy="915111"/>
            </a:xfrm>
            <a:prstGeom prst="rect">
              <a:avLst/>
            </a:prstGeom>
          </p:spPr>
          <p:txBody>
            <a:bodyPr anchor="ctr" rtlCol="false" tIns="0" lIns="0" bIns="0" rIns="0"/>
            <a:lstStyle/>
            <a:p>
              <a:pPr algn="ctr">
                <a:lnSpc>
                  <a:spcPts val="2521"/>
                </a:lnSpc>
              </a:pPr>
              <a:r>
                <a:rPr lang="en-US" sz="2101" b="true">
                  <a:solidFill>
                    <a:srgbClr val="1F4E79"/>
                  </a:solidFill>
                  <a:latin typeface="Cabin Bold"/>
                  <a:ea typeface="Cabin Bold"/>
                  <a:cs typeface="Cabin Bold"/>
                  <a:sym typeface="Cabin Bold"/>
                </a:rPr>
                <a:t>05</a:t>
              </a:r>
            </a:p>
          </p:txBody>
        </p:sp>
      </p:grpSp>
      <p:grpSp>
        <p:nvGrpSpPr>
          <p:cNvPr name="Group 12" id="12"/>
          <p:cNvGrpSpPr/>
          <p:nvPr/>
        </p:nvGrpSpPr>
        <p:grpSpPr>
          <a:xfrm rot="0">
            <a:off x="1578569" y="823608"/>
            <a:ext cx="82363" cy="754971"/>
            <a:chOff x="0" y="0"/>
            <a:chExt cx="109817" cy="1006627"/>
          </a:xfrm>
        </p:grpSpPr>
        <p:sp>
          <p:nvSpPr>
            <p:cNvPr name="Freeform 13" id="13"/>
            <p:cNvSpPr/>
            <p:nvPr/>
          </p:nvSpPr>
          <p:spPr>
            <a:xfrm flipH="false" flipV="false" rot="0">
              <a:off x="0" y="0"/>
              <a:ext cx="109855" cy="1006602"/>
            </a:xfrm>
            <a:custGeom>
              <a:avLst/>
              <a:gdLst/>
              <a:ahLst/>
              <a:cxnLst/>
              <a:rect r="r" b="b" t="t" l="l"/>
              <a:pathLst>
                <a:path h="1006602" w="109855">
                  <a:moveTo>
                    <a:pt x="0" y="0"/>
                  </a:moveTo>
                  <a:lnTo>
                    <a:pt x="109855" y="0"/>
                  </a:lnTo>
                  <a:lnTo>
                    <a:pt x="109855" y="1006602"/>
                  </a:lnTo>
                  <a:lnTo>
                    <a:pt x="0" y="1006602"/>
                  </a:lnTo>
                  <a:close/>
                </a:path>
              </a:pathLst>
            </a:custGeom>
            <a:solidFill>
              <a:srgbClr val="85B518"/>
            </a:solidFill>
          </p:spPr>
        </p:sp>
      </p:grpSp>
      <p:grpSp>
        <p:nvGrpSpPr>
          <p:cNvPr name="Group 14" id="14"/>
          <p:cNvGrpSpPr/>
          <p:nvPr/>
        </p:nvGrpSpPr>
        <p:grpSpPr>
          <a:xfrm rot="0">
            <a:off x="1853108" y="796147"/>
            <a:ext cx="14938791" cy="823608"/>
            <a:chOff x="0" y="0"/>
            <a:chExt cx="19918388" cy="1098144"/>
          </a:xfrm>
        </p:grpSpPr>
        <p:sp>
          <p:nvSpPr>
            <p:cNvPr name="Freeform 15" id="15"/>
            <p:cNvSpPr/>
            <p:nvPr/>
          </p:nvSpPr>
          <p:spPr>
            <a:xfrm flipH="false" flipV="false" rot="0">
              <a:off x="0" y="0"/>
              <a:ext cx="19918392" cy="1098138"/>
            </a:xfrm>
            <a:custGeom>
              <a:avLst/>
              <a:gdLst/>
              <a:ahLst/>
              <a:cxnLst/>
              <a:rect r="r" b="b" t="t" l="l"/>
              <a:pathLst>
                <a:path h="1098138" w="19918392">
                  <a:moveTo>
                    <a:pt x="0" y="0"/>
                  </a:moveTo>
                  <a:lnTo>
                    <a:pt x="19918392" y="0"/>
                  </a:lnTo>
                  <a:lnTo>
                    <a:pt x="19918392" y="1098138"/>
                  </a:lnTo>
                  <a:lnTo>
                    <a:pt x="0" y="1098138"/>
                  </a:lnTo>
                  <a:close/>
                </a:path>
              </a:pathLst>
            </a:custGeom>
            <a:blipFill>
              <a:blip r:embed="rId4">
                <a:alphaModFix amt="0"/>
              </a:blip>
              <a:stretch>
                <a:fillRect l="0" t="-303425" r="0" b="-303426"/>
              </a:stretch>
            </a:blipFill>
          </p:spPr>
        </p:sp>
        <p:sp>
          <p:nvSpPr>
            <p:cNvPr name="TextBox 16" id="16"/>
            <p:cNvSpPr txBox="true"/>
            <p:nvPr/>
          </p:nvSpPr>
          <p:spPr>
            <a:xfrm>
              <a:off x="0" y="0"/>
              <a:ext cx="19918388" cy="1098144"/>
            </a:xfrm>
            <a:prstGeom prst="rect">
              <a:avLst/>
            </a:prstGeom>
          </p:spPr>
          <p:txBody>
            <a:bodyPr anchor="ctr" rtlCol="false" tIns="0" lIns="0" bIns="0" rIns="0"/>
            <a:lstStyle/>
            <a:p>
              <a:pPr algn="l">
                <a:lnSpc>
                  <a:spcPts val="3782"/>
                </a:lnSpc>
              </a:pPr>
              <a:r>
                <a:rPr lang="en-US" sz="3152" b="true">
                  <a:solidFill>
                    <a:srgbClr val="1F4E79"/>
                  </a:solidFill>
                  <a:latin typeface="Cabin Bold"/>
                  <a:ea typeface="Cabin Bold"/>
                  <a:cs typeface="Cabin Bold"/>
                  <a:sym typeface="Cabin Bold"/>
                </a:rPr>
                <a:t>Các khái niệm trong cơ chế thực thi</a:t>
              </a:r>
            </a:p>
          </p:txBody>
        </p:sp>
      </p:grpSp>
      <p:graphicFrame>
        <p:nvGraphicFramePr>
          <p:cNvPr name="Table 17" id="17"/>
          <p:cNvGraphicFramePr>
            <a:graphicFrameLocks noGrp="true"/>
          </p:cNvGraphicFramePr>
          <p:nvPr/>
        </p:nvGraphicFramePr>
        <p:xfrm>
          <a:off x="686336" y="1990375"/>
          <a:ext cx="16948691" cy="7206530"/>
        </p:xfrm>
        <a:graphic>
          <a:graphicData uri="http://schemas.openxmlformats.org/drawingml/2006/table">
            <a:tbl>
              <a:tblPr/>
              <a:tblGrid>
                <a:gridCol w="3584642"/>
                <a:gridCol w="13364049"/>
              </a:tblGrid>
              <a:tr h="1029504">
                <a:tc>
                  <a:txBody>
                    <a:bodyPr anchor="t" rtlCol="false"/>
                    <a:lstStyle/>
                    <a:p>
                      <a:pPr algn="l">
                        <a:lnSpc>
                          <a:spcPts val="2071"/>
                        </a:lnSpc>
                        <a:defRPr/>
                      </a:pPr>
                      <a:r>
                        <a:rPr lang="en-US" sz="1726" b="true">
                          <a:solidFill>
                            <a:srgbClr val="FFFFFF"/>
                          </a:solidFill>
                          <a:latin typeface="Cabin Bold"/>
                          <a:ea typeface="Cabin Bold"/>
                          <a:cs typeface="Cabin Bold"/>
                          <a:sym typeface="Cabin Bold"/>
                        </a:rPr>
                        <a:t>Khái niệm</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1F4E79"/>
                    </a:solidFill>
                  </a:tcPr>
                </a:tc>
                <a:tc>
                  <a:txBody>
                    <a:bodyPr anchor="t" rtlCol="false"/>
                    <a:lstStyle/>
                    <a:p>
                      <a:pPr algn="l">
                        <a:lnSpc>
                          <a:spcPts val="2071"/>
                        </a:lnSpc>
                        <a:defRPr/>
                      </a:pPr>
                      <a:r>
                        <a:rPr lang="en-US" sz="1726" b="true">
                          <a:solidFill>
                            <a:srgbClr val="FFFFFF"/>
                          </a:solidFill>
                          <a:latin typeface="Cabin Bold"/>
                          <a:ea typeface="Cabin Bold"/>
                          <a:cs typeface="Cabin Bold"/>
                          <a:sym typeface="Cabin Bold"/>
                        </a:rPr>
                        <a:t>Ý nghĩa</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1F4E79"/>
                    </a:solidFill>
                  </a:tcPr>
                </a:tc>
              </a:tr>
              <a:tr h="1029504">
                <a:tc>
                  <a:txBody>
                    <a:bodyPr anchor="t" rtlCol="false"/>
                    <a:lstStyle/>
                    <a:p>
                      <a:pPr algn="l">
                        <a:lnSpc>
                          <a:spcPts val="2071"/>
                        </a:lnSpc>
                        <a:defRPr/>
                      </a:pPr>
                      <a:r>
                        <a:rPr lang="en-US" sz="1726" b="true">
                          <a:solidFill>
                            <a:srgbClr val="1F4E79"/>
                          </a:solidFill>
                          <a:latin typeface="Cabin Bold"/>
                          <a:ea typeface="Cabin Bold"/>
                          <a:cs typeface="Cabin Bold"/>
                          <a:sym typeface="Cabin Bold"/>
                        </a:rPr>
                        <a:t>Application</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l">
                        <a:lnSpc>
                          <a:spcPts val="2071"/>
                        </a:lnSpc>
                        <a:defRPr/>
                      </a:pPr>
                      <a:r>
                        <a:rPr lang="en-US" sz="1726">
                          <a:solidFill>
                            <a:srgbClr val="000000"/>
                          </a:solidFill>
                          <a:latin typeface="Cabin"/>
                          <a:ea typeface="Cabin"/>
                          <a:cs typeface="Cabin"/>
                          <a:sym typeface="Cabin"/>
                        </a:rPr>
                        <a:t>Một chương trình Spark hoàn chỉnh, từ lúc khởi tạo SparkSession đến khi kết thúc</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r>
              <a:tr h="1029504">
                <a:tc>
                  <a:txBody>
                    <a:bodyPr anchor="t" rtlCol="false"/>
                    <a:lstStyle/>
                    <a:p>
                      <a:pPr algn="l">
                        <a:lnSpc>
                          <a:spcPts val="2071"/>
                        </a:lnSpc>
                        <a:defRPr/>
                      </a:pPr>
                      <a:r>
                        <a:rPr lang="en-US" sz="1726" b="true">
                          <a:solidFill>
                            <a:srgbClr val="1F4E79"/>
                          </a:solidFill>
                          <a:latin typeface="Cabin Bold"/>
                          <a:ea typeface="Cabin Bold"/>
                          <a:cs typeface="Cabin Bold"/>
                          <a:sym typeface="Cabin Bold"/>
                        </a:rPr>
                        <a:t>Job</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2F5F8"/>
                    </a:solidFill>
                  </a:tcPr>
                </a:tc>
                <a:tc>
                  <a:txBody>
                    <a:bodyPr anchor="t" rtlCol="false"/>
                    <a:lstStyle/>
                    <a:p>
                      <a:pPr algn="l">
                        <a:lnSpc>
                          <a:spcPts val="2071"/>
                        </a:lnSpc>
                        <a:defRPr/>
                      </a:pPr>
                      <a:r>
                        <a:rPr lang="en-US" sz="1726">
                          <a:solidFill>
                            <a:srgbClr val="000000"/>
                          </a:solidFill>
                          <a:latin typeface="Cabin"/>
                          <a:ea typeface="Cabin"/>
                          <a:cs typeface="Cabin"/>
                          <a:sym typeface="Cabin"/>
                        </a:rPr>
                        <a:t>Được tạo ra mỗi khi gặp một Action (vd: show(), collect())</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2F5F8"/>
                    </a:solidFill>
                  </a:tcPr>
                </a:tc>
              </a:tr>
              <a:tr h="1029504">
                <a:tc>
                  <a:txBody>
                    <a:bodyPr anchor="t" rtlCol="false"/>
                    <a:lstStyle/>
                    <a:p>
                      <a:pPr algn="l">
                        <a:lnSpc>
                          <a:spcPts val="2071"/>
                        </a:lnSpc>
                        <a:defRPr/>
                      </a:pPr>
                      <a:r>
                        <a:rPr lang="en-US" sz="1726" b="true">
                          <a:solidFill>
                            <a:srgbClr val="1F4E79"/>
                          </a:solidFill>
                          <a:latin typeface="Cabin Bold"/>
                          <a:ea typeface="Cabin Bold"/>
                          <a:cs typeface="Cabin Bold"/>
                          <a:sym typeface="Cabin Bold"/>
                        </a:rPr>
                        <a:t>DAG</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l">
                        <a:lnSpc>
                          <a:spcPts val="2071"/>
                        </a:lnSpc>
                        <a:defRPr/>
                      </a:pPr>
                      <a:r>
                        <a:rPr lang="en-US" sz="1726">
                          <a:solidFill>
                            <a:srgbClr val="000000"/>
                          </a:solidFill>
                          <a:latin typeface="Cabin"/>
                          <a:ea typeface="Cabin"/>
                          <a:cs typeface="Cabin"/>
                          <a:sym typeface="Cabin"/>
                        </a:rPr>
                        <a:t>Đồ thị có hướng không chu trình, mô tả kế hoạch thực thi các Transformation</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r>
              <a:tr h="1029504">
                <a:tc>
                  <a:txBody>
                    <a:bodyPr anchor="t" rtlCol="false"/>
                    <a:lstStyle/>
                    <a:p>
                      <a:pPr algn="l">
                        <a:lnSpc>
                          <a:spcPts val="2071"/>
                        </a:lnSpc>
                        <a:defRPr/>
                      </a:pPr>
                      <a:r>
                        <a:rPr lang="en-US" sz="1726" b="true">
                          <a:solidFill>
                            <a:srgbClr val="1F4E79"/>
                          </a:solidFill>
                          <a:latin typeface="Cabin Bold"/>
                          <a:ea typeface="Cabin Bold"/>
                          <a:cs typeface="Cabin Bold"/>
                          <a:sym typeface="Cabin Bold"/>
                        </a:rPr>
                        <a:t>Stage</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2F5F8"/>
                    </a:solidFill>
                  </a:tcPr>
                </a:tc>
                <a:tc>
                  <a:txBody>
                    <a:bodyPr anchor="t" rtlCol="false"/>
                    <a:lstStyle/>
                    <a:p>
                      <a:pPr algn="l">
                        <a:lnSpc>
                          <a:spcPts val="2071"/>
                        </a:lnSpc>
                        <a:defRPr/>
                      </a:pPr>
                      <a:r>
                        <a:rPr lang="en-US" sz="1726">
                          <a:solidFill>
                            <a:srgbClr val="000000"/>
                          </a:solidFill>
                          <a:latin typeface="Cabin"/>
                          <a:ea typeface="Cabin"/>
                          <a:cs typeface="Cabin"/>
                          <a:sym typeface="Cabin"/>
                        </a:rPr>
                        <a:t>Một Job được chia thành nhiều Stage, ngăn cách bởi các bước cần Shuffle dữ liệu</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2F5F8"/>
                    </a:solidFill>
                  </a:tcPr>
                </a:tc>
              </a:tr>
              <a:tr h="1029504">
                <a:tc>
                  <a:txBody>
                    <a:bodyPr anchor="t" rtlCol="false"/>
                    <a:lstStyle/>
                    <a:p>
                      <a:pPr algn="l">
                        <a:lnSpc>
                          <a:spcPts val="2071"/>
                        </a:lnSpc>
                        <a:defRPr/>
                      </a:pPr>
                      <a:r>
                        <a:rPr lang="en-US" sz="1726" b="true">
                          <a:solidFill>
                            <a:srgbClr val="1F4E79"/>
                          </a:solidFill>
                          <a:latin typeface="Cabin Bold"/>
                          <a:ea typeface="Cabin Bold"/>
                          <a:cs typeface="Cabin Bold"/>
                          <a:sym typeface="Cabin Bold"/>
                        </a:rPr>
                        <a:t>Task</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l">
                        <a:lnSpc>
                          <a:spcPts val="2071"/>
                        </a:lnSpc>
                        <a:defRPr/>
                      </a:pPr>
                      <a:r>
                        <a:rPr lang="en-US" sz="1726">
                          <a:solidFill>
                            <a:srgbClr val="000000"/>
                          </a:solidFill>
                          <a:latin typeface="Cabin"/>
                          <a:ea typeface="Cabin"/>
                          <a:cs typeface="Cabin"/>
                          <a:sym typeface="Cabin"/>
                        </a:rPr>
                        <a:t>Đơn vị nhỏ nhất trong một Stage, xử lý một Partition dữ liệu</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r>
              <a:tr h="1029504">
                <a:tc>
                  <a:txBody>
                    <a:bodyPr anchor="t" rtlCol="false"/>
                    <a:lstStyle/>
                    <a:p>
                      <a:pPr algn="l">
                        <a:lnSpc>
                          <a:spcPts val="2071"/>
                        </a:lnSpc>
                        <a:defRPr/>
                      </a:pPr>
                      <a:r>
                        <a:rPr lang="en-US" sz="1726" b="true">
                          <a:solidFill>
                            <a:srgbClr val="1F4E79"/>
                          </a:solidFill>
                          <a:latin typeface="Cabin Bold"/>
                          <a:ea typeface="Cabin Bold"/>
                          <a:cs typeface="Cabin Bold"/>
                          <a:sym typeface="Cabin Bold"/>
                        </a:rPr>
                        <a:t>Partition</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2F5F8"/>
                    </a:solidFill>
                  </a:tcPr>
                </a:tc>
                <a:tc>
                  <a:txBody>
                    <a:bodyPr anchor="t" rtlCol="false"/>
                    <a:lstStyle/>
                    <a:p>
                      <a:pPr algn="l">
                        <a:lnSpc>
                          <a:spcPts val="2071"/>
                        </a:lnSpc>
                        <a:defRPr/>
                      </a:pPr>
                      <a:r>
                        <a:rPr lang="en-US" sz="1726">
                          <a:solidFill>
                            <a:srgbClr val="000000"/>
                          </a:solidFill>
                          <a:latin typeface="Cabin"/>
                          <a:ea typeface="Cabin"/>
                          <a:cs typeface="Cabin"/>
                          <a:sym typeface="Cabin"/>
                        </a:rPr>
                        <a:t>Một phần dữ liệu được chia nhỏ để xử lý song song</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2F5F8"/>
                    </a:solidFill>
                  </a:tcPr>
                </a:tc>
              </a:tr>
            </a:tbl>
          </a:graphicData>
        </a:graphic>
      </p:graphicFrame>
      <p:grpSp>
        <p:nvGrpSpPr>
          <p:cNvPr name="Group 18" id="18"/>
          <p:cNvGrpSpPr/>
          <p:nvPr/>
        </p:nvGrpSpPr>
        <p:grpSpPr>
          <a:xfrm rot="0">
            <a:off x="0" y="9677343"/>
            <a:ext cx="18301840" cy="617706"/>
            <a:chOff x="0" y="0"/>
            <a:chExt cx="24402453" cy="823608"/>
          </a:xfrm>
        </p:grpSpPr>
        <p:sp>
          <p:nvSpPr>
            <p:cNvPr name="Freeform 19" id="19"/>
            <p:cNvSpPr/>
            <p:nvPr/>
          </p:nvSpPr>
          <p:spPr>
            <a:xfrm flipH="false" flipV="false" rot="0">
              <a:off x="0" y="0"/>
              <a:ext cx="24402414" cy="823595"/>
            </a:xfrm>
            <a:custGeom>
              <a:avLst/>
              <a:gdLst/>
              <a:ahLst/>
              <a:cxnLst/>
              <a:rect r="r" b="b" t="t" l="l"/>
              <a:pathLst>
                <a:path h="823595" w="24402414">
                  <a:moveTo>
                    <a:pt x="0" y="0"/>
                  </a:moveTo>
                  <a:lnTo>
                    <a:pt x="24402414" y="0"/>
                  </a:lnTo>
                  <a:lnTo>
                    <a:pt x="24402414" y="823595"/>
                  </a:lnTo>
                  <a:lnTo>
                    <a:pt x="0" y="823595"/>
                  </a:lnTo>
                  <a:close/>
                </a:path>
              </a:pathLst>
            </a:custGeom>
            <a:solidFill>
              <a:srgbClr val="1F4E79"/>
            </a:solidFill>
          </p:spPr>
        </p:sp>
      </p:grpSp>
      <p:grpSp>
        <p:nvGrpSpPr>
          <p:cNvPr name="Group 20" id="20"/>
          <p:cNvGrpSpPr/>
          <p:nvPr/>
        </p:nvGrpSpPr>
        <p:grpSpPr>
          <a:xfrm rot="0">
            <a:off x="480431" y="9677343"/>
            <a:ext cx="10981382" cy="617706"/>
            <a:chOff x="0" y="0"/>
            <a:chExt cx="14641843" cy="823608"/>
          </a:xfrm>
        </p:grpSpPr>
        <p:sp>
          <p:nvSpPr>
            <p:cNvPr name="Freeform 21" id="21"/>
            <p:cNvSpPr/>
            <p:nvPr/>
          </p:nvSpPr>
          <p:spPr>
            <a:xfrm flipH="false" flipV="false" rot="0">
              <a:off x="0" y="0"/>
              <a:ext cx="14641840" cy="823603"/>
            </a:xfrm>
            <a:custGeom>
              <a:avLst/>
              <a:gdLst/>
              <a:ahLst/>
              <a:cxnLst/>
              <a:rect r="r" b="b" t="t" l="l"/>
              <a:pathLst>
                <a:path h="823603" w="14641840">
                  <a:moveTo>
                    <a:pt x="0" y="0"/>
                  </a:moveTo>
                  <a:lnTo>
                    <a:pt x="14641840" y="0"/>
                  </a:lnTo>
                  <a:lnTo>
                    <a:pt x="14641840" y="823603"/>
                  </a:lnTo>
                  <a:lnTo>
                    <a:pt x="0" y="823603"/>
                  </a:lnTo>
                  <a:close/>
                </a:path>
              </a:pathLst>
            </a:custGeom>
            <a:blipFill>
              <a:blip r:embed="rId4">
                <a:alphaModFix amt="0"/>
              </a:blip>
              <a:stretch>
                <a:fillRect l="0" t="-296400" r="0" b="-296401"/>
              </a:stretch>
            </a:blipFill>
          </p:spPr>
        </p:sp>
        <p:sp>
          <p:nvSpPr>
            <p:cNvPr name="TextBox 22" id="22"/>
            <p:cNvSpPr txBox="true"/>
            <p:nvPr/>
          </p:nvSpPr>
          <p:spPr>
            <a:xfrm>
              <a:off x="0" y="0"/>
              <a:ext cx="14641843" cy="823608"/>
            </a:xfrm>
            <a:prstGeom prst="rect">
              <a:avLst/>
            </a:prstGeom>
          </p:spPr>
          <p:txBody>
            <a:bodyPr anchor="ctr" rtlCol="false" tIns="0" lIns="0" bIns="0" rIns="0"/>
            <a:lstStyle/>
            <a:p>
              <a:pPr algn="l">
                <a:lnSpc>
                  <a:spcPts val="1621"/>
                </a:lnSpc>
              </a:pPr>
              <a:r>
                <a:rPr lang="en-US" sz="1351">
                  <a:solidFill>
                    <a:srgbClr val="FFFFFF"/>
                  </a:solidFill>
                  <a:latin typeface="Cabin"/>
                  <a:ea typeface="Cabin"/>
                  <a:cs typeface="Cabin"/>
                  <a:sym typeface="Cabin"/>
                </a:rPr>
                <a:t>VNU UET – Institute for Artificial Intelligence</a:t>
              </a:r>
            </a:p>
          </p:txBody>
        </p:sp>
      </p:grpSp>
      <p:grpSp>
        <p:nvGrpSpPr>
          <p:cNvPr name="Group 23" id="23"/>
          <p:cNvGrpSpPr/>
          <p:nvPr/>
        </p:nvGrpSpPr>
        <p:grpSpPr>
          <a:xfrm rot="0">
            <a:off x="17066438" y="9677343"/>
            <a:ext cx="823608" cy="617706"/>
            <a:chOff x="0" y="0"/>
            <a:chExt cx="1098144" cy="823608"/>
          </a:xfrm>
        </p:grpSpPr>
        <p:sp>
          <p:nvSpPr>
            <p:cNvPr name="Freeform 24" id="24"/>
            <p:cNvSpPr/>
            <p:nvPr/>
          </p:nvSpPr>
          <p:spPr>
            <a:xfrm flipH="false" flipV="false" rot="0">
              <a:off x="0" y="0"/>
              <a:ext cx="1098138" cy="823603"/>
            </a:xfrm>
            <a:custGeom>
              <a:avLst/>
              <a:gdLst/>
              <a:ahLst/>
              <a:cxnLst/>
              <a:rect r="r" b="b" t="t" l="l"/>
              <a:pathLst>
                <a:path h="823603" w="1098138">
                  <a:moveTo>
                    <a:pt x="0" y="0"/>
                  </a:moveTo>
                  <a:lnTo>
                    <a:pt x="1098138" y="0"/>
                  </a:lnTo>
                  <a:lnTo>
                    <a:pt x="1098138" y="823603"/>
                  </a:lnTo>
                  <a:lnTo>
                    <a:pt x="0" y="823603"/>
                  </a:lnTo>
                  <a:close/>
                </a:path>
              </a:pathLst>
            </a:custGeom>
            <a:blipFill>
              <a:blip r:embed="rId4">
                <a:alphaModFix amt="0"/>
              </a:blip>
              <a:stretch>
                <a:fillRect l="-46227" t="0" r="-46228" b="0"/>
              </a:stretch>
            </a:blipFill>
          </p:spPr>
        </p:sp>
        <p:sp>
          <p:nvSpPr>
            <p:cNvPr name="TextBox 25" id="25"/>
            <p:cNvSpPr txBox="true"/>
            <p:nvPr/>
          </p:nvSpPr>
          <p:spPr>
            <a:xfrm>
              <a:off x="0" y="0"/>
              <a:ext cx="1098144" cy="823608"/>
            </a:xfrm>
            <a:prstGeom prst="rect">
              <a:avLst/>
            </a:prstGeom>
          </p:spPr>
          <p:txBody>
            <a:bodyPr anchor="ctr" rtlCol="false" tIns="0" lIns="0" bIns="0" rIns="0"/>
            <a:lstStyle/>
            <a:p>
              <a:pPr algn="r">
                <a:lnSpc>
                  <a:spcPts val="1621"/>
                </a:lnSpc>
              </a:pPr>
              <a:r>
                <a:rPr lang="en-US" sz="1351">
                  <a:solidFill>
                    <a:srgbClr val="FFFFFF"/>
                  </a:solidFill>
                  <a:latin typeface="Cabin"/>
                  <a:ea typeface="Cabin"/>
                  <a:cs typeface="Cabin"/>
                  <a:sym typeface="Cabin"/>
                </a:rPr>
                <a:t>16</a:t>
              </a:r>
            </a:p>
          </p:txBody>
        </p:sp>
      </p:grpSp>
      <p:grpSp>
        <p:nvGrpSpPr>
          <p:cNvPr name="Group 26" id="26"/>
          <p:cNvGrpSpPr/>
          <p:nvPr/>
        </p:nvGrpSpPr>
        <p:grpSpPr>
          <a:xfrm rot="0">
            <a:off x="0" y="0"/>
            <a:ext cx="18288000" cy="315468"/>
            <a:chOff x="0" y="0"/>
            <a:chExt cx="24384000" cy="420624"/>
          </a:xfrm>
        </p:grpSpPr>
        <p:sp>
          <p:nvSpPr>
            <p:cNvPr name="Freeform 27" id="27"/>
            <p:cNvSpPr/>
            <p:nvPr/>
          </p:nvSpPr>
          <p:spPr>
            <a:xfrm flipH="false" flipV="false" rot="0">
              <a:off x="0" y="0"/>
              <a:ext cx="24384000" cy="420624"/>
            </a:xfrm>
            <a:custGeom>
              <a:avLst/>
              <a:gdLst/>
              <a:ahLst/>
              <a:cxnLst/>
              <a:rect r="r" b="b" t="t" l="l"/>
              <a:pathLst>
                <a:path h="420624" w="24384000">
                  <a:moveTo>
                    <a:pt x="0" y="0"/>
                  </a:moveTo>
                  <a:lnTo>
                    <a:pt x="24384000" y="0"/>
                  </a:lnTo>
                  <a:lnTo>
                    <a:pt x="24384000" y="420624"/>
                  </a:lnTo>
                  <a:lnTo>
                    <a:pt x="0" y="420624"/>
                  </a:lnTo>
                  <a:close/>
                </a:path>
              </a:pathLst>
            </a:custGeom>
            <a:solidFill>
              <a:srgbClr val="0F3F6F"/>
            </a:solidFill>
          </p:spPr>
        </p:sp>
      </p:grpSp>
      <p:grpSp>
        <p:nvGrpSpPr>
          <p:cNvPr name="Group 28" id="28"/>
          <p:cNvGrpSpPr/>
          <p:nvPr/>
        </p:nvGrpSpPr>
        <p:grpSpPr>
          <a:xfrm rot="0">
            <a:off x="13098780" y="0"/>
            <a:ext cx="1453896" cy="1508760"/>
            <a:chOff x="0" y="0"/>
            <a:chExt cx="1938528" cy="2011680"/>
          </a:xfrm>
        </p:grpSpPr>
        <p:sp>
          <p:nvSpPr>
            <p:cNvPr name="Freeform 29" id="29"/>
            <p:cNvSpPr/>
            <p:nvPr/>
          </p:nvSpPr>
          <p:spPr>
            <a:xfrm flipH="false" flipV="false" rot="0">
              <a:off x="0" y="0"/>
              <a:ext cx="1938528" cy="2011680"/>
            </a:xfrm>
            <a:custGeom>
              <a:avLst/>
              <a:gdLst/>
              <a:ahLst/>
              <a:cxnLst/>
              <a:rect r="r" b="b" t="t" l="l"/>
              <a:pathLst>
                <a:path h="2011680" w="1938528">
                  <a:moveTo>
                    <a:pt x="0" y="2011680"/>
                  </a:moveTo>
                  <a:lnTo>
                    <a:pt x="484632" y="0"/>
                  </a:lnTo>
                  <a:lnTo>
                    <a:pt x="1938528" y="0"/>
                  </a:lnTo>
                  <a:lnTo>
                    <a:pt x="1453896" y="2011680"/>
                  </a:lnTo>
                  <a:close/>
                </a:path>
              </a:pathLst>
            </a:custGeom>
            <a:solidFill>
              <a:srgbClr val="85B518"/>
            </a:solidFill>
          </p:spPr>
        </p:sp>
      </p:grpSp>
      <p:grpSp>
        <p:nvGrpSpPr>
          <p:cNvPr name="Group 30" id="30"/>
          <p:cNvGrpSpPr/>
          <p:nvPr/>
        </p:nvGrpSpPr>
        <p:grpSpPr>
          <a:xfrm rot="0">
            <a:off x="14621256" y="0"/>
            <a:ext cx="1508760" cy="1508760"/>
            <a:chOff x="0" y="0"/>
            <a:chExt cx="2011680" cy="2011680"/>
          </a:xfrm>
        </p:grpSpPr>
        <p:sp>
          <p:nvSpPr>
            <p:cNvPr name="Freeform 31" id="31"/>
            <p:cNvSpPr/>
            <p:nvPr/>
          </p:nvSpPr>
          <p:spPr>
            <a:xfrm flipH="false" flipV="false" rot="0">
              <a:off x="0" y="0"/>
              <a:ext cx="2011680" cy="2011680"/>
            </a:xfrm>
            <a:custGeom>
              <a:avLst/>
              <a:gdLst/>
              <a:ahLst/>
              <a:cxnLst/>
              <a:rect r="r" b="b" t="t" l="l"/>
              <a:pathLst>
                <a:path h="2011680" w="2011680">
                  <a:moveTo>
                    <a:pt x="0" y="2011680"/>
                  </a:moveTo>
                  <a:lnTo>
                    <a:pt x="502920" y="0"/>
                  </a:lnTo>
                  <a:lnTo>
                    <a:pt x="2011680" y="0"/>
                  </a:lnTo>
                  <a:lnTo>
                    <a:pt x="1508760" y="2011680"/>
                  </a:lnTo>
                  <a:close/>
                </a:path>
              </a:pathLst>
            </a:custGeom>
            <a:solidFill>
              <a:srgbClr val="0F3F6F"/>
            </a:solidFill>
          </p:spPr>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97801" y="384353"/>
            <a:ext cx="851059" cy="851059"/>
            <a:chOff x="0" y="0"/>
            <a:chExt cx="1134745" cy="1134745"/>
          </a:xfrm>
        </p:grpSpPr>
        <p:sp>
          <p:nvSpPr>
            <p:cNvPr name="Freeform 3" id="3" descr="/home/claude/work/assets/logo.png"/>
            <p:cNvSpPr/>
            <p:nvPr/>
          </p:nvSpPr>
          <p:spPr>
            <a:xfrm flipH="false" flipV="false" rot="0">
              <a:off x="0" y="0"/>
              <a:ext cx="1134745" cy="1134745"/>
            </a:xfrm>
            <a:custGeom>
              <a:avLst/>
              <a:gdLst/>
              <a:ahLst/>
              <a:cxnLst/>
              <a:rect r="r" b="b" t="t" l="l"/>
              <a:pathLst>
                <a:path h="1134745" w="1134745">
                  <a:moveTo>
                    <a:pt x="0" y="0"/>
                  </a:moveTo>
                  <a:lnTo>
                    <a:pt x="1134745" y="0"/>
                  </a:lnTo>
                  <a:lnTo>
                    <a:pt x="1134745" y="1134745"/>
                  </a:lnTo>
                  <a:lnTo>
                    <a:pt x="0" y="1134745"/>
                  </a:lnTo>
                  <a:lnTo>
                    <a:pt x="0" y="0"/>
                  </a:lnTo>
                  <a:close/>
                </a:path>
              </a:pathLst>
            </a:custGeom>
            <a:blipFill>
              <a:blip r:embed="rId3"/>
              <a:stretch>
                <a:fillRect l="0" t="0" r="0" b="0"/>
              </a:stretch>
            </a:blipFill>
          </p:spPr>
        </p:sp>
      </p:grpSp>
      <p:grpSp>
        <p:nvGrpSpPr>
          <p:cNvPr name="Group 4" id="4"/>
          <p:cNvGrpSpPr/>
          <p:nvPr/>
        </p:nvGrpSpPr>
        <p:grpSpPr>
          <a:xfrm rot="0">
            <a:off x="5880723" y="1767390"/>
            <a:ext cx="6458031" cy="6458031"/>
            <a:chOff x="0" y="0"/>
            <a:chExt cx="6954876" cy="6954876"/>
          </a:xfrm>
        </p:grpSpPr>
        <p:sp>
          <p:nvSpPr>
            <p:cNvPr name="Freeform 5" id="5"/>
            <p:cNvSpPr/>
            <p:nvPr/>
          </p:nvSpPr>
          <p:spPr>
            <a:xfrm flipH="false" flipV="false" rot="0">
              <a:off x="0" y="0"/>
              <a:ext cx="6954901" cy="6954901"/>
            </a:xfrm>
            <a:custGeom>
              <a:avLst/>
              <a:gdLst/>
              <a:ahLst/>
              <a:cxnLst/>
              <a:rect r="r" b="b" t="t" l="l"/>
              <a:pathLst>
                <a:path h="6954901" w="6954901">
                  <a:moveTo>
                    <a:pt x="0" y="3477387"/>
                  </a:moveTo>
                  <a:cubicBezTo>
                    <a:pt x="0" y="1556893"/>
                    <a:pt x="1556893" y="0"/>
                    <a:pt x="3477387" y="0"/>
                  </a:cubicBezTo>
                  <a:cubicBezTo>
                    <a:pt x="5397881" y="0"/>
                    <a:pt x="6954901" y="1556893"/>
                    <a:pt x="6954901" y="3477387"/>
                  </a:cubicBezTo>
                  <a:cubicBezTo>
                    <a:pt x="6954901" y="5397881"/>
                    <a:pt x="5398008" y="6954901"/>
                    <a:pt x="3477387" y="6954901"/>
                  </a:cubicBezTo>
                  <a:cubicBezTo>
                    <a:pt x="1556766" y="6954901"/>
                    <a:pt x="0" y="5398008"/>
                    <a:pt x="0" y="3477387"/>
                  </a:cubicBezTo>
                  <a:close/>
                </a:path>
              </a:pathLst>
            </a:custGeom>
            <a:solidFill>
              <a:srgbClr val="1F4E79"/>
            </a:solidFill>
          </p:spPr>
        </p:sp>
      </p:grpSp>
      <p:grpSp>
        <p:nvGrpSpPr>
          <p:cNvPr name="Group 6" id="6"/>
          <p:cNvGrpSpPr/>
          <p:nvPr/>
        </p:nvGrpSpPr>
        <p:grpSpPr>
          <a:xfrm rot="0">
            <a:off x="5880723" y="2481169"/>
            <a:ext cx="6458031" cy="509847"/>
            <a:chOff x="0" y="0"/>
            <a:chExt cx="6954876" cy="549072"/>
          </a:xfrm>
        </p:grpSpPr>
        <p:sp>
          <p:nvSpPr>
            <p:cNvPr name="Freeform 7" id="7"/>
            <p:cNvSpPr/>
            <p:nvPr/>
          </p:nvSpPr>
          <p:spPr>
            <a:xfrm flipH="false" flipV="false" rot="0">
              <a:off x="0" y="0"/>
              <a:ext cx="6954873" cy="549069"/>
            </a:xfrm>
            <a:custGeom>
              <a:avLst/>
              <a:gdLst/>
              <a:ahLst/>
              <a:cxnLst/>
              <a:rect r="r" b="b" t="t" l="l"/>
              <a:pathLst>
                <a:path h="549069" w="6954873">
                  <a:moveTo>
                    <a:pt x="0" y="0"/>
                  </a:moveTo>
                  <a:lnTo>
                    <a:pt x="6954873" y="0"/>
                  </a:lnTo>
                  <a:lnTo>
                    <a:pt x="6954873" y="549069"/>
                  </a:lnTo>
                  <a:lnTo>
                    <a:pt x="0" y="549069"/>
                  </a:lnTo>
                  <a:close/>
                </a:path>
              </a:pathLst>
            </a:custGeom>
            <a:blipFill>
              <a:blip r:embed="rId4">
                <a:alphaModFix amt="0"/>
              </a:blip>
              <a:stretch>
                <a:fillRect l="0" t="-196810" r="0" b="-196810"/>
              </a:stretch>
            </a:blipFill>
          </p:spPr>
        </p:sp>
        <p:sp>
          <p:nvSpPr>
            <p:cNvPr name="TextBox 8" id="8"/>
            <p:cNvSpPr txBox="true"/>
            <p:nvPr/>
          </p:nvSpPr>
          <p:spPr>
            <a:xfrm>
              <a:off x="0" y="0"/>
              <a:ext cx="6954876" cy="549072"/>
            </a:xfrm>
            <a:prstGeom prst="rect">
              <a:avLst/>
            </a:prstGeom>
          </p:spPr>
          <p:txBody>
            <a:bodyPr anchor="ctr" rtlCol="false" tIns="0" lIns="0" bIns="0" rIns="0"/>
            <a:lstStyle/>
            <a:p>
              <a:pPr algn="ctr">
                <a:lnSpc>
                  <a:spcPts val="1981"/>
                </a:lnSpc>
              </a:pPr>
              <a:r>
                <a:rPr lang="en-US" sz="1651" spc="300">
                  <a:solidFill>
                    <a:srgbClr val="9FB8D4"/>
                  </a:solidFill>
                  <a:latin typeface="Cabin"/>
                  <a:ea typeface="Cabin"/>
                  <a:cs typeface="Cabin"/>
                  <a:sym typeface="Cabin"/>
                </a:rPr>
                <a:t>PHẦN 5.6</a:t>
              </a:r>
            </a:p>
          </p:txBody>
        </p:sp>
      </p:grpSp>
      <p:grpSp>
        <p:nvGrpSpPr>
          <p:cNvPr name="Group 9" id="9"/>
          <p:cNvGrpSpPr/>
          <p:nvPr/>
        </p:nvGrpSpPr>
        <p:grpSpPr>
          <a:xfrm rot="0">
            <a:off x="5880723" y="2923031"/>
            <a:ext cx="6458031" cy="1274606"/>
            <a:chOff x="0" y="0"/>
            <a:chExt cx="6954876" cy="1372667"/>
          </a:xfrm>
        </p:grpSpPr>
        <p:sp>
          <p:nvSpPr>
            <p:cNvPr name="Freeform 10" id="10"/>
            <p:cNvSpPr/>
            <p:nvPr/>
          </p:nvSpPr>
          <p:spPr>
            <a:xfrm flipH="false" flipV="false" rot="0">
              <a:off x="0" y="0"/>
              <a:ext cx="6954873" cy="1372672"/>
            </a:xfrm>
            <a:custGeom>
              <a:avLst/>
              <a:gdLst/>
              <a:ahLst/>
              <a:cxnLst/>
              <a:rect r="r" b="b" t="t" l="l"/>
              <a:pathLst>
                <a:path h="1372672" w="6954873">
                  <a:moveTo>
                    <a:pt x="0" y="0"/>
                  </a:moveTo>
                  <a:lnTo>
                    <a:pt x="6954873" y="0"/>
                  </a:lnTo>
                  <a:lnTo>
                    <a:pt x="6954873" y="1372672"/>
                  </a:lnTo>
                  <a:lnTo>
                    <a:pt x="0" y="1372672"/>
                  </a:lnTo>
                  <a:close/>
                </a:path>
              </a:pathLst>
            </a:custGeom>
            <a:blipFill>
              <a:blip r:embed="rId4">
                <a:alphaModFix amt="0"/>
              </a:blip>
              <a:stretch>
                <a:fillRect l="0" t="-48724" r="0" b="-48724"/>
              </a:stretch>
            </a:blipFill>
          </p:spPr>
        </p:sp>
        <p:sp>
          <p:nvSpPr>
            <p:cNvPr name="TextBox 11" id="11"/>
            <p:cNvSpPr txBox="true"/>
            <p:nvPr/>
          </p:nvSpPr>
          <p:spPr>
            <a:xfrm>
              <a:off x="0" y="-9525"/>
              <a:ext cx="6954876" cy="1382192"/>
            </a:xfrm>
            <a:prstGeom prst="rect">
              <a:avLst/>
            </a:prstGeom>
          </p:spPr>
          <p:txBody>
            <a:bodyPr anchor="ctr" rtlCol="false" tIns="0" lIns="0" bIns="0" rIns="0"/>
            <a:lstStyle/>
            <a:p>
              <a:pPr algn="ctr">
                <a:lnSpc>
                  <a:spcPts val="6124"/>
                </a:lnSpc>
              </a:pPr>
              <a:r>
                <a:rPr lang="en-US" sz="5103" b="true">
                  <a:solidFill>
                    <a:srgbClr val="FFFFFF"/>
                  </a:solidFill>
                  <a:latin typeface="TT Rounds Condensed Bold"/>
                  <a:ea typeface="TT Rounds Condensed Bold"/>
                  <a:cs typeface="TT Rounds Condensed Bold"/>
                  <a:sym typeface="TT Rounds Condensed Bold"/>
                </a:rPr>
                <a:t>5.6</a:t>
              </a:r>
            </a:p>
          </p:txBody>
        </p:sp>
      </p:grpSp>
      <p:sp>
        <p:nvSpPr>
          <p:cNvPr name="TextBox 12" id="12"/>
          <p:cNvSpPr txBox="true"/>
          <p:nvPr/>
        </p:nvSpPr>
        <p:spPr>
          <a:xfrm rot="0">
            <a:off x="6248857" y="4227735"/>
            <a:ext cx="5721763" cy="1085954"/>
          </a:xfrm>
          <a:prstGeom prst="rect">
            <a:avLst/>
          </a:prstGeom>
        </p:spPr>
        <p:txBody>
          <a:bodyPr anchor="t" rtlCol="false" tIns="0" lIns="0" bIns="0" rIns="0">
            <a:spAutoFit/>
          </a:bodyPr>
          <a:lstStyle/>
          <a:p>
            <a:pPr algn="ctr">
              <a:lnSpc>
                <a:spcPts val="3345"/>
              </a:lnSpc>
            </a:pPr>
            <a:r>
              <a:rPr lang="en-US" sz="2787" b="true">
                <a:solidFill>
                  <a:srgbClr val="FFFFFF"/>
                </a:solidFill>
                <a:latin typeface="Cabin Bold"/>
                <a:ea typeface="Cabin Bold"/>
                <a:cs typeface="Cabin Bold"/>
                <a:sym typeface="Cabin Bold"/>
              </a:rPr>
              <a:t>Transformation và Action</a:t>
            </a:r>
          </a:p>
        </p:txBody>
      </p:sp>
      <p:sp>
        <p:nvSpPr>
          <p:cNvPr name="TextBox 13" id="13"/>
          <p:cNvSpPr txBox="true"/>
          <p:nvPr/>
        </p:nvSpPr>
        <p:spPr>
          <a:xfrm rot="0">
            <a:off x="6333824" y="5647824"/>
            <a:ext cx="5551818" cy="1586276"/>
          </a:xfrm>
          <a:prstGeom prst="rect">
            <a:avLst/>
          </a:prstGeom>
        </p:spPr>
        <p:txBody>
          <a:bodyPr anchor="t" rtlCol="false" tIns="0" lIns="0" bIns="0" rIns="0">
            <a:spAutoFit/>
          </a:bodyPr>
          <a:lstStyle/>
          <a:p>
            <a:pPr algn="ctr">
              <a:lnSpc>
                <a:spcPts val="2118"/>
              </a:lnSpc>
            </a:pPr>
            <a:r>
              <a:rPr lang="en-US" sz="1765">
                <a:solidFill>
                  <a:srgbClr val="D7E3F0"/>
                </a:solidFill>
                <a:latin typeface="Cabin"/>
                <a:ea typeface="Cabin"/>
                <a:cs typeface="Cabin"/>
                <a:sym typeface="Cabin"/>
              </a:rPr>
              <a:t>Lazy Evaluation — khái niệm quan trọng trong lập trình Spark</a:t>
            </a:r>
          </a:p>
        </p:txBody>
      </p:sp>
      <p:grpSp>
        <p:nvGrpSpPr>
          <p:cNvPr name="Group 14" id="14"/>
          <p:cNvGrpSpPr/>
          <p:nvPr/>
        </p:nvGrpSpPr>
        <p:grpSpPr>
          <a:xfrm rot="0">
            <a:off x="480431" y="9087088"/>
            <a:ext cx="1692916" cy="411804"/>
            <a:chOff x="0" y="0"/>
            <a:chExt cx="2257222" cy="549072"/>
          </a:xfrm>
        </p:grpSpPr>
        <p:sp>
          <p:nvSpPr>
            <p:cNvPr name="Freeform 15" id="15"/>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16" id="16"/>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5.1 MR→Spark</a:t>
              </a:r>
            </a:p>
          </p:txBody>
        </p:sp>
      </p:grpSp>
      <p:grpSp>
        <p:nvGrpSpPr>
          <p:cNvPr name="Group 17" id="17"/>
          <p:cNvGrpSpPr/>
          <p:nvPr/>
        </p:nvGrpSpPr>
        <p:grpSpPr>
          <a:xfrm rot="0">
            <a:off x="2214534" y="9087088"/>
            <a:ext cx="1692916" cy="411804"/>
            <a:chOff x="0" y="0"/>
            <a:chExt cx="2257222" cy="549072"/>
          </a:xfrm>
        </p:grpSpPr>
        <p:sp>
          <p:nvSpPr>
            <p:cNvPr name="Freeform 18" id="18"/>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19" id="19"/>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5.2 Spark</a:t>
              </a:r>
            </a:p>
          </p:txBody>
        </p:sp>
      </p:grpSp>
      <p:grpSp>
        <p:nvGrpSpPr>
          <p:cNvPr name="Group 20" id="20"/>
          <p:cNvGrpSpPr/>
          <p:nvPr/>
        </p:nvGrpSpPr>
        <p:grpSpPr>
          <a:xfrm rot="0">
            <a:off x="3948627" y="9087088"/>
            <a:ext cx="1692916" cy="411804"/>
            <a:chOff x="0" y="0"/>
            <a:chExt cx="2257222" cy="549072"/>
          </a:xfrm>
        </p:grpSpPr>
        <p:sp>
          <p:nvSpPr>
            <p:cNvPr name="Freeform 21" id="21"/>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22" id="22"/>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5.3 So sánh</a:t>
              </a:r>
            </a:p>
          </p:txBody>
        </p:sp>
      </p:grpSp>
      <p:grpSp>
        <p:nvGrpSpPr>
          <p:cNvPr name="Group 23" id="23"/>
          <p:cNvGrpSpPr/>
          <p:nvPr/>
        </p:nvGrpSpPr>
        <p:grpSpPr>
          <a:xfrm rot="0">
            <a:off x="5682729" y="9087088"/>
            <a:ext cx="1692916" cy="411804"/>
            <a:chOff x="0" y="0"/>
            <a:chExt cx="2257222" cy="549072"/>
          </a:xfrm>
        </p:grpSpPr>
        <p:sp>
          <p:nvSpPr>
            <p:cNvPr name="Freeform 24" id="24"/>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25" id="25"/>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5.4 Kiến trúc</a:t>
              </a:r>
            </a:p>
          </p:txBody>
        </p:sp>
      </p:grpSp>
      <p:grpSp>
        <p:nvGrpSpPr>
          <p:cNvPr name="Group 26" id="26"/>
          <p:cNvGrpSpPr/>
          <p:nvPr/>
        </p:nvGrpSpPr>
        <p:grpSpPr>
          <a:xfrm rot="0">
            <a:off x="7416822" y="9087088"/>
            <a:ext cx="1692916" cy="411804"/>
            <a:chOff x="0" y="0"/>
            <a:chExt cx="2257222" cy="549072"/>
          </a:xfrm>
        </p:grpSpPr>
        <p:sp>
          <p:nvSpPr>
            <p:cNvPr name="Freeform 27" id="27"/>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28" id="28"/>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5.5 Thực thi</a:t>
              </a:r>
            </a:p>
          </p:txBody>
        </p:sp>
      </p:grpSp>
      <p:grpSp>
        <p:nvGrpSpPr>
          <p:cNvPr name="Group 29" id="29"/>
          <p:cNvGrpSpPr/>
          <p:nvPr/>
        </p:nvGrpSpPr>
        <p:grpSpPr>
          <a:xfrm rot="0">
            <a:off x="9150925" y="9087088"/>
            <a:ext cx="1692916" cy="411804"/>
            <a:chOff x="0" y="0"/>
            <a:chExt cx="2257222" cy="549072"/>
          </a:xfrm>
        </p:grpSpPr>
        <p:sp>
          <p:nvSpPr>
            <p:cNvPr name="Freeform 30" id="30"/>
            <p:cNvSpPr/>
            <p:nvPr/>
          </p:nvSpPr>
          <p:spPr>
            <a:xfrm flipH="false" flipV="false" rot="0">
              <a:off x="0" y="0"/>
              <a:ext cx="2257171" cy="549021"/>
            </a:xfrm>
            <a:custGeom>
              <a:avLst/>
              <a:gdLst/>
              <a:ahLst/>
              <a:cxnLst/>
              <a:rect r="r" b="b" t="t" l="l"/>
              <a:pathLst>
                <a:path h="549021" w="2257171">
                  <a:moveTo>
                    <a:pt x="0" y="0"/>
                  </a:moveTo>
                  <a:lnTo>
                    <a:pt x="2257171" y="0"/>
                  </a:lnTo>
                  <a:lnTo>
                    <a:pt x="2257171" y="549021"/>
                  </a:lnTo>
                  <a:lnTo>
                    <a:pt x="0" y="549021"/>
                  </a:lnTo>
                  <a:close/>
                </a:path>
              </a:pathLst>
            </a:custGeom>
            <a:solidFill>
              <a:srgbClr val="85B518"/>
            </a:solidFill>
          </p:spPr>
        </p:sp>
        <p:sp>
          <p:nvSpPr>
            <p:cNvPr name="TextBox 31" id="31"/>
            <p:cNvSpPr txBox="true"/>
            <p:nvPr/>
          </p:nvSpPr>
          <p:spPr>
            <a:xfrm>
              <a:off x="0" y="0"/>
              <a:ext cx="2257222" cy="549072"/>
            </a:xfrm>
            <a:prstGeom prst="rect">
              <a:avLst/>
            </a:prstGeom>
          </p:spPr>
          <p:txBody>
            <a:bodyPr anchor="ctr" rtlCol="false" tIns="50800" lIns="50800" bIns="50800" rIns="50800"/>
            <a:lstStyle/>
            <a:p>
              <a:pPr algn="ctr">
                <a:lnSpc>
                  <a:spcPts val="1170"/>
                </a:lnSpc>
              </a:pPr>
              <a:r>
                <a:rPr lang="en-US" sz="975" b="true">
                  <a:solidFill>
                    <a:srgbClr val="FFFFFF"/>
                  </a:solidFill>
                  <a:latin typeface="Cabin Bold"/>
                  <a:ea typeface="Cabin Bold"/>
                  <a:cs typeface="Cabin Bold"/>
                  <a:sym typeface="Cabin Bold"/>
                </a:rPr>
                <a:t>5.6 Transform/Action</a:t>
              </a:r>
            </a:p>
          </p:txBody>
        </p:sp>
      </p:grpSp>
      <p:grpSp>
        <p:nvGrpSpPr>
          <p:cNvPr name="Group 32" id="32"/>
          <p:cNvGrpSpPr/>
          <p:nvPr/>
        </p:nvGrpSpPr>
        <p:grpSpPr>
          <a:xfrm rot="0">
            <a:off x="10885018" y="9087088"/>
            <a:ext cx="1692916" cy="411804"/>
            <a:chOff x="0" y="0"/>
            <a:chExt cx="2257222" cy="549072"/>
          </a:xfrm>
        </p:grpSpPr>
        <p:sp>
          <p:nvSpPr>
            <p:cNvPr name="Freeform 33" id="33"/>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34" id="34"/>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5.7 Partition</a:t>
              </a:r>
            </a:p>
          </p:txBody>
        </p:sp>
      </p:grpSp>
      <p:grpSp>
        <p:nvGrpSpPr>
          <p:cNvPr name="Group 35" id="35"/>
          <p:cNvGrpSpPr/>
          <p:nvPr/>
        </p:nvGrpSpPr>
        <p:grpSpPr>
          <a:xfrm rot="0">
            <a:off x="12619111" y="9087088"/>
            <a:ext cx="1692916" cy="411804"/>
            <a:chOff x="0" y="0"/>
            <a:chExt cx="2257222" cy="549072"/>
          </a:xfrm>
        </p:grpSpPr>
        <p:sp>
          <p:nvSpPr>
            <p:cNvPr name="Freeform 36" id="36"/>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37" id="37"/>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5.8 RDD/DF</a:t>
              </a:r>
            </a:p>
          </p:txBody>
        </p:sp>
      </p:grpSp>
      <p:grpSp>
        <p:nvGrpSpPr>
          <p:cNvPr name="Group 38" id="38"/>
          <p:cNvGrpSpPr/>
          <p:nvPr/>
        </p:nvGrpSpPr>
        <p:grpSpPr>
          <a:xfrm rot="0">
            <a:off x="14353213" y="9087088"/>
            <a:ext cx="1692916" cy="411804"/>
            <a:chOff x="0" y="0"/>
            <a:chExt cx="2257222" cy="549072"/>
          </a:xfrm>
        </p:grpSpPr>
        <p:sp>
          <p:nvSpPr>
            <p:cNvPr name="Freeform 39" id="39"/>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40" id="40"/>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5.9 PySpark</a:t>
              </a:r>
            </a:p>
          </p:txBody>
        </p:sp>
      </p:grpSp>
      <p:grpSp>
        <p:nvGrpSpPr>
          <p:cNvPr name="Group 41" id="41"/>
          <p:cNvGrpSpPr/>
          <p:nvPr/>
        </p:nvGrpSpPr>
        <p:grpSpPr>
          <a:xfrm rot="0">
            <a:off x="16087306" y="9087088"/>
            <a:ext cx="1692916" cy="411804"/>
            <a:chOff x="0" y="0"/>
            <a:chExt cx="2257222" cy="549072"/>
          </a:xfrm>
        </p:grpSpPr>
        <p:sp>
          <p:nvSpPr>
            <p:cNvPr name="Freeform 42" id="42"/>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43" id="43"/>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TH Thực hành</a:t>
              </a:r>
            </a:p>
          </p:txBody>
        </p:sp>
      </p:grpSp>
      <p:grpSp>
        <p:nvGrpSpPr>
          <p:cNvPr name="Group 44" id="44"/>
          <p:cNvGrpSpPr/>
          <p:nvPr/>
        </p:nvGrpSpPr>
        <p:grpSpPr>
          <a:xfrm rot="0">
            <a:off x="0" y="9677343"/>
            <a:ext cx="18301840" cy="617706"/>
            <a:chOff x="0" y="0"/>
            <a:chExt cx="24402453" cy="823608"/>
          </a:xfrm>
        </p:grpSpPr>
        <p:sp>
          <p:nvSpPr>
            <p:cNvPr name="Freeform 45" id="45"/>
            <p:cNvSpPr/>
            <p:nvPr/>
          </p:nvSpPr>
          <p:spPr>
            <a:xfrm flipH="false" flipV="false" rot="0">
              <a:off x="0" y="0"/>
              <a:ext cx="24402414" cy="823595"/>
            </a:xfrm>
            <a:custGeom>
              <a:avLst/>
              <a:gdLst/>
              <a:ahLst/>
              <a:cxnLst/>
              <a:rect r="r" b="b" t="t" l="l"/>
              <a:pathLst>
                <a:path h="823595" w="24402414">
                  <a:moveTo>
                    <a:pt x="0" y="0"/>
                  </a:moveTo>
                  <a:lnTo>
                    <a:pt x="24402414" y="0"/>
                  </a:lnTo>
                  <a:lnTo>
                    <a:pt x="24402414" y="823595"/>
                  </a:lnTo>
                  <a:lnTo>
                    <a:pt x="0" y="823595"/>
                  </a:lnTo>
                  <a:close/>
                </a:path>
              </a:pathLst>
            </a:custGeom>
            <a:solidFill>
              <a:srgbClr val="1F4E79"/>
            </a:solidFill>
          </p:spPr>
        </p:sp>
      </p:grpSp>
      <p:grpSp>
        <p:nvGrpSpPr>
          <p:cNvPr name="Group 46" id="46"/>
          <p:cNvGrpSpPr/>
          <p:nvPr/>
        </p:nvGrpSpPr>
        <p:grpSpPr>
          <a:xfrm rot="0">
            <a:off x="480431" y="9677343"/>
            <a:ext cx="10981382" cy="617706"/>
            <a:chOff x="0" y="0"/>
            <a:chExt cx="14641843" cy="823608"/>
          </a:xfrm>
        </p:grpSpPr>
        <p:sp>
          <p:nvSpPr>
            <p:cNvPr name="Freeform 47" id="47"/>
            <p:cNvSpPr/>
            <p:nvPr/>
          </p:nvSpPr>
          <p:spPr>
            <a:xfrm flipH="false" flipV="false" rot="0">
              <a:off x="0" y="0"/>
              <a:ext cx="14641840" cy="823603"/>
            </a:xfrm>
            <a:custGeom>
              <a:avLst/>
              <a:gdLst/>
              <a:ahLst/>
              <a:cxnLst/>
              <a:rect r="r" b="b" t="t" l="l"/>
              <a:pathLst>
                <a:path h="823603" w="14641840">
                  <a:moveTo>
                    <a:pt x="0" y="0"/>
                  </a:moveTo>
                  <a:lnTo>
                    <a:pt x="14641840" y="0"/>
                  </a:lnTo>
                  <a:lnTo>
                    <a:pt x="14641840" y="823603"/>
                  </a:lnTo>
                  <a:lnTo>
                    <a:pt x="0" y="823603"/>
                  </a:lnTo>
                  <a:close/>
                </a:path>
              </a:pathLst>
            </a:custGeom>
            <a:blipFill>
              <a:blip r:embed="rId4">
                <a:alphaModFix amt="0"/>
              </a:blip>
              <a:stretch>
                <a:fillRect l="0" t="-296400" r="0" b="-296401"/>
              </a:stretch>
            </a:blipFill>
          </p:spPr>
        </p:sp>
        <p:sp>
          <p:nvSpPr>
            <p:cNvPr name="TextBox 48" id="48"/>
            <p:cNvSpPr txBox="true"/>
            <p:nvPr/>
          </p:nvSpPr>
          <p:spPr>
            <a:xfrm>
              <a:off x="0" y="0"/>
              <a:ext cx="14641843" cy="823608"/>
            </a:xfrm>
            <a:prstGeom prst="rect">
              <a:avLst/>
            </a:prstGeom>
          </p:spPr>
          <p:txBody>
            <a:bodyPr anchor="ctr" rtlCol="false" tIns="0" lIns="0" bIns="0" rIns="0"/>
            <a:lstStyle/>
            <a:p>
              <a:pPr algn="l">
                <a:lnSpc>
                  <a:spcPts val="1621"/>
                </a:lnSpc>
              </a:pPr>
              <a:r>
                <a:rPr lang="en-US" sz="1351">
                  <a:solidFill>
                    <a:srgbClr val="FFFFFF"/>
                  </a:solidFill>
                  <a:latin typeface="Cabin"/>
                  <a:ea typeface="Cabin"/>
                  <a:cs typeface="Cabin"/>
                  <a:sym typeface="Cabin"/>
                </a:rPr>
                <a:t>VNU UET – Institute for Artificial Intelligence</a:t>
              </a:r>
            </a:p>
          </p:txBody>
        </p:sp>
      </p:grpSp>
      <p:grpSp>
        <p:nvGrpSpPr>
          <p:cNvPr name="Group 49" id="49"/>
          <p:cNvGrpSpPr/>
          <p:nvPr/>
        </p:nvGrpSpPr>
        <p:grpSpPr>
          <a:xfrm rot="0">
            <a:off x="17066438" y="9677343"/>
            <a:ext cx="823608" cy="617706"/>
            <a:chOff x="0" y="0"/>
            <a:chExt cx="1098144" cy="823608"/>
          </a:xfrm>
        </p:grpSpPr>
        <p:sp>
          <p:nvSpPr>
            <p:cNvPr name="Freeform 50" id="50"/>
            <p:cNvSpPr/>
            <p:nvPr/>
          </p:nvSpPr>
          <p:spPr>
            <a:xfrm flipH="false" flipV="false" rot="0">
              <a:off x="0" y="0"/>
              <a:ext cx="1098138" cy="823603"/>
            </a:xfrm>
            <a:custGeom>
              <a:avLst/>
              <a:gdLst/>
              <a:ahLst/>
              <a:cxnLst/>
              <a:rect r="r" b="b" t="t" l="l"/>
              <a:pathLst>
                <a:path h="823603" w="1098138">
                  <a:moveTo>
                    <a:pt x="0" y="0"/>
                  </a:moveTo>
                  <a:lnTo>
                    <a:pt x="1098138" y="0"/>
                  </a:lnTo>
                  <a:lnTo>
                    <a:pt x="1098138" y="823603"/>
                  </a:lnTo>
                  <a:lnTo>
                    <a:pt x="0" y="823603"/>
                  </a:lnTo>
                  <a:close/>
                </a:path>
              </a:pathLst>
            </a:custGeom>
            <a:blipFill>
              <a:blip r:embed="rId4">
                <a:alphaModFix amt="0"/>
              </a:blip>
              <a:stretch>
                <a:fillRect l="-46227" t="0" r="-46228" b="0"/>
              </a:stretch>
            </a:blipFill>
          </p:spPr>
        </p:sp>
        <p:sp>
          <p:nvSpPr>
            <p:cNvPr name="TextBox 51" id="51"/>
            <p:cNvSpPr txBox="true"/>
            <p:nvPr/>
          </p:nvSpPr>
          <p:spPr>
            <a:xfrm>
              <a:off x="0" y="0"/>
              <a:ext cx="1098144" cy="823608"/>
            </a:xfrm>
            <a:prstGeom prst="rect">
              <a:avLst/>
            </a:prstGeom>
          </p:spPr>
          <p:txBody>
            <a:bodyPr anchor="ctr" rtlCol="false" tIns="0" lIns="0" bIns="0" rIns="0"/>
            <a:lstStyle/>
            <a:p>
              <a:pPr algn="r">
                <a:lnSpc>
                  <a:spcPts val="1621"/>
                </a:lnSpc>
              </a:pPr>
              <a:r>
                <a:rPr lang="en-US" sz="1351">
                  <a:solidFill>
                    <a:srgbClr val="FFFFFF"/>
                  </a:solidFill>
                  <a:latin typeface="Cabin"/>
                  <a:ea typeface="Cabin"/>
                  <a:cs typeface="Cabin"/>
                  <a:sym typeface="Cabin"/>
                </a:rPr>
                <a:t>17</a:t>
              </a:r>
            </a:p>
          </p:txBody>
        </p:sp>
      </p:grpSp>
      <p:grpSp>
        <p:nvGrpSpPr>
          <p:cNvPr name="Group 52" id="52"/>
          <p:cNvGrpSpPr/>
          <p:nvPr/>
        </p:nvGrpSpPr>
        <p:grpSpPr>
          <a:xfrm rot="0">
            <a:off x="0" y="0"/>
            <a:ext cx="18288000" cy="315468"/>
            <a:chOff x="0" y="0"/>
            <a:chExt cx="24384000" cy="420624"/>
          </a:xfrm>
        </p:grpSpPr>
        <p:sp>
          <p:nvSpPr>
            <p:cNvPr name="Freeform 53" id="53"/>
            <p:cNvSpPr/>
            <p:nvPr/>
          </p:nvSpPr>
          <p:spPr>
            <a:xfrm flipH="false" flipV="false" rot="0">
              <a:off x="0" y="0"/>
              <a:ext cx="24384000" cy="420624"/>
            </a:xfrm>
            <a:custGeom>
              <a:avLst/>
              <a:gdLst/>
              <a:ahLst/>
              <a:cxnLst/>
              <a:rect r="r" b="b" t="t" l="l"/>
              <a:pathLst>
                <a:path h="420624" w="24384000">
                  <a:moveTo>
                    <a:pt x="0" y="0"/>
                  </a:moveTo>
                  <a:lnTo>
                    <a:pt x="24384000" y="0"/>
                  </a:lnTo>
                  <a:lnTo>
                    <a:pt x="24384000" y="420624"/>
                  </a:lnTo>
                  <a:lnTo>
                    <a:pt x="0" y="420624"/>
                  </a:lnTo>
                  <a:close/>
                </a:path>
              </a:pathLst>
            </a:custGeom>
            <a:solidFill>
              <a:srgbClr val="0F3F6F"/>
            </a:solidFill>
          </p:spPr>
        </p:sp>
      </p:grpSp>
      <p:grpSp>
        <p:nvGrpSpPr>
          <p:cNvPr name="Group 54" id="54"/>
          <p:cNvGrpSpPr/>
          <p:nvPr/>
        </p:nvGrpSpPr>
        <p:grpSpPr>
          <a:xfrm rot="0">
            <a:off x="13098780" y="0"/>
            <a:ext cx="1453896" cy="1508760"/>
            <a:chOff x="0" y="0"/>
            <a:chExt cx="1938528" cy="2011680"/>
          </a:xfrm>
        </p:grpSpPr>
        <p:sp>
          <p:nvSpPr>
            <p:cNvPr name="Freeform 55" id="55"/>
            <p:cNvSpPr/>
            <p:nvPr/>
          </p:nvSpPr>
          <p:spPr>
            <a:xfrm flipH="false" flipV="false" rot="0">
              <a:off x="0" y="0"/>
              <a:ext cx="1938528" cy="2011680"/>
            </a:xfrm>
            <a:custGeom>
              <a:avLst/>
              <a:gdLst/>
              <a:ahLst/>
              <a:cxnLst/>
              <a:rect r="r" b="b" t="t" l="l"/>
              <a:pathLst>
                <a:path h="2011680" w="1938528">
                  <a:moveTo>
                    <a:pt x="0" y="2011680"/>
                  </a:moveTo>
                  <a:lnTo>
                    <a:pt x="484632" y="0"/>
                  </a:lnTo>
                  <a:lnTo>
                    <a:pt x="1938528" y="0"/>
                  </a:lnTo>
                  <a:lnTo>
                    <a:pt x="1453896" y="2011680"/>
                  </a:lnTo>
                  <a:close/>
                </a:path>
              </a:pathLst>
            </a:custGeom>
            <a:solidFill>
              <a:srgbClr val="85B518"/>
            </a:solidFill>
          </p:spPr>
        </p:sp>
      </p:grpSp>
      <p:grpSp>
        <p:nvGrpSpPr>
          <p:cNvPr name="Group 56" id="56"/>
          <p:cNvGrpSpPr/>
          <p:nvPr/>
        </p:nvGrpSpPr>
        <p:grpSpPr>
          <a:xfrm rot="0">
            <a:off x="14621256" y="0"/>
            <a:ext cx="1508760" cy="1508760"/>
            <a:chOff x="0" y="0"/>
            <a:chExt cx="2011680" cy="2011680"/>
          </a:xfrm>
        </p:grpSpPr>
        <p:sp>
          <p:nvSpPr>
            <p:cNvPr name="Freeform 57" id="57"/>
            <p:cNvSpPr/>
            <p:nvPr/>
          </p:nvSpPr>
          <p:spPr>
            <a:xfrm flipH="false" flipV="false" rot="0">
              <a:off x="0" y="0"/>
              <a:ext cx="2011680" cy="2011680"/>
            </a:xfrm>
            <a:custGeom>
              <a:avLst/>
              <a:gdLst/>
              <a:ahLst/>
              <a:cxnLst/>
              <a:rect r="r" b="b" t="t" l="l"/>
              <a:pathLst>
                <a:path h="2011680" w="2011680">
                  <a:moveTo>
                    <a:pt x="0" y="2011680"/>
                  </a:moveTo>
                  <a:lnTo>
                    <a:pt x="502920" y="0"/>
                  </a:lnTo>
                  <a:lnTo>
                    <a:pt x="2011680" y="0"/>
                  </a:lnTo>
                  <a:lnTo>
                    <a:pt x="1508760" y="2011680"/>
                  </a:lnTo>
                  <a:close/>
                </a:path>
              </a:pathLst>
            </a:custGeom>
            <a:solidFill>
              <a:srgbClr val="0F3F6F"/>
            </a:solidFill>
          </p:spPr>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97801" y="384353"/>
            <a:ext cx="851059" cy="851059"/>
            <a:chOff x="0" y="0"/>
            <a:chExt cx="1134745" cy="1134745"/>
          </a:xfrm>
        </p:grpSpPr>
        <p:sp>
          <p:nvSpPr>
            <p:cNvPr name="Freeform 3" id="3" descr="/home/claude/work/assets/logo.png"/>
            <p:cNvSpPr/>
            <p:nvPr/>
          </p:nvSpPr>
          <p:spPr>
            <a:xfrm flipH="false" flipV="false" rot="0">
              <a:off x="0" y="0"/>
              <a:ext cx="1134745" cy="1134745"/>
            </a:xfrm>
            <a:custGeom>
              <a:avLst/>
              <a:gdLst/>
              <a:ahLst/>
              <a:cxnLst/>
              <a:rect r="r" b="b" t="t" l="l"/>
              <a:pathLst>
                <a:path h="1134745" w="1134745">
                  <a:moveTo>
                    <a:pt x="0" y="0"/>
                  </a:moveTo>
                  <a:lnTo>
                    <a:pt x="1134745" y="0"/>
                  </a:lnTo>
                  <a:lnTo>
                    <a:pt x="1134745" y="1134745"/>
                  </a:lnTo>
                  <a:lnTo>
                    <a:pt x="0" y="1134745"/>
                  </a:lnTo>
                  <a:lnTo>
                    <a:pt x="0" y="0"/>
                  </a:lnTo>
                  <a:close/>
                </a:path>
              </a:pathLst>
            </a:custGeom>
            <a:blipFill>
              <a:blip r:embed="rId3"/>
              <a:stretch>
                <a:fillRect l="0" t="0" r="0" b="0"/>
              </a:stretch>
            </a:blipFill>
          </p:spPr>
        </p:sp>
      </p:grpSp>
      <p:grpSp>
        <p:nvGrpSpPr>
          <p:cNvPr name="Group 4" id="4"/>
          <p:cNvGrpSpPr/>
          <p:nvPr/>
        </p:nvGrpSpPr>
        <p:grpSpPr>
          <a:xfrm rot="0">
            <a:off x="686333" y="384353"/>
            <a:ext cx="10981382" cy="411804"/>
            <a:chOff x="0" y="0"/>
            <a:chExt cx="14641843" cy="549072"/>
          </a:xfrm>
        </p:grpSpPr>
        <p:sp>
          <p:nvSpPr>
            <p:cNvPr name="Freeform 5" id="5"/>
            <p:cNvSpPr/>
            <p:nvPr/>
          </p:nvSpPr>
          <p:spPr>
            <a:xfrm flipH="false" flipV="false" rot="0">
              <a:off x="0" y="0"/>
              <a:ext cx="14641840" cy="549069"/>
            </a:xfrm>
            <a:custGeom>
              <a:avLst/>
              <a:gdLst/>
              <a:ahLst/>
              <a:cxnLst/>
              <a:rect r="r" b="b" t="t" l="l"/>
              <a:pathLst>
                <a:path h="549069" w="14641840">
                  <a:moveTo>
                    <a:pt x="0" y="0"/>
                  </a:moveTo>
                  <a:lnTo>
                    <a:pt x="14641840" y="0"/>
                  </a:lnTo>
                  <a:lnTo>
                    <a:pt x="14641840" y="549069"/>
                  </a:lnTo>
                  <a:lnTo>
                    <a:pt x="0" y="549069"/>
                  </a:lnTo>
                  <a:close/>
                </a:path>
              </a:pathLst>
            </a:custGeom>
            <a:blipFill>
              <a:blip r:embed="rId4">
                <a:alphaModFix amt="0"/>
              </a:blip>
              <a:stretch>
                <a:fillRect l="0" t="-469600" r="0" b="-469601"/>
              </a:stretch>
            </a:blipFill>
          </p:spPr>
        </p:sp>
        <p:sp>
          <p:nvSpPr>
            <p:cNvPr name="TextBox 6" id="6"/>
            <p:cNvSpPr txBox="true"/>
            <p:nvPr/>
          </p:nvSpPr>
          <p:spPr>
            <a:xfrm>
              <a:off x="0" y="0"/>
              <a:ext cx="14641843" cy="549072"/>
            </a:xfrm>
            <a:prstGeom prst="rect">
              <a:avLst/>
            </a:prstGeom>
          </p:spPr>
          <p:txBody>
            <a:bodyPr anchor="ctr" rtlCol="false" tIns="0" lIns="0" bIns="0" rIns="0"/>
            <a:lstStyle/>
            <a:p>
              <a:pPr algn="l">
                <a:lnSpc>
                  <a:spcPts val="1981"/>
                </a:lnSpc>
              </a:pPr>
              <a:r>
                <a:rPr lang="en-US" sz="1651" i="true">
                  <a:solidFill>
                    <a:srgbClr val="4A4A4A"/>
                  </a:solidFill>
                  <a:latin typeface="Cabin Italics"/>
                  <a:ea typeface="Cabin Italics"/>
                  <a:cs typeface="Cabin Italics"/>
                  <a:sym typeface="Cabin Italics"/>
                </a:rPr>
                <a:t>5.6. Transformation và Action · Bài 05</a:t>
              </a:r>
            </a:p>
          </p:txBody>
        </p:sp>
      </p:grpSp>
      <p:grpSp>
        <p:nvGrpSpPr>
          <p:cNvPr name="Group 7" id="7"/>
          <p:cNvGrpSpPr/>
          <p:nvPr/>
        </p:nvGrpSpPr>
        <p:grpSpPr>
          <a:xfrm rot="0">
            <a:off x="674418" y="839143"/>
            <a:ext cx="710165" cy="710165"/>
            <a:chOff x="0" y="0"/>
            <a:chExt cx="946887" cy="946887"/>
          </a:xfrm>
        </p:grpSpPr>
        <p:sp>
          <p:nvSpPr>
            <p:cNvPr name="Freeform 8" id="8"/>
            <p:cNvSpPr/>
            <p:nvPr/>
          </p:nvSpPr>
          <p:spPr>
            <a:xfrm flipH="false" flipV="false" rot="0">
              <a:off x="0" y="0"/>
              <a:ext cx="946912" cy="946912"/>
            </a:xfrm>
            <a:custGeom>
              <a:avLst/>
              <a:gdLst/>
              <a:ahLst/>
              <a:cxnLst/>
              <a:rect r="r" b="b" t="t" l="l"/>
              <a:pathLst>
                <a:path h="946912" w="946912">
                  <a:moveTo>
                    <a:pt x="0" y="473456"/>
                  </a:moveTo>
                  <a:cubicBezTo>
                    <a:pt x="0" y="211963"/>
                    <a:pt x="211963" y="0"/>
                    <a:pt x="473456" y="0"/>
                  </a:cubicBezTo>
                  <a:cubicBezTo>
                    <a:pt x="734949" y="0"/>
                    <a:pt x="946912" y="211963"/>
                    <a:pt x="946912" y="473456"/>
                  </a:cubicBezTo>
                  <a:cubicBezTo>
                    <a:pt x="946912" y="734949"/>
                    <a:pt x="734949" y="946912"/>
                    <a:pt x="473456" y="946912"/>
                  </a:cubicBezTo>
                  <a:cubicBezTo>
                    <a:pt x="211963" y="946912"/>
                    <a:pt x="0" y="734949"/>
                    <a:pt x="0" y="473456"/>
                  </a:cubicBezTo>
                  <a:close/>
                </a:path>
              </a:pathLst>
            </a:custGeom>
            <a:solidFill>
              <a:srgbClr val="FFFFFF"/>
            </a:solidFill>
            <a:ln w="23831" cap="sq">
              <a:solidFill>
                <a:srgbClr val="1F4E79"/>
              </a:solidFill>
              <a:prstDash val="solid"/>
              <a:miter/>
            </a:ln>
          </p:spPr>
        </p:sp>
      </p:grpSp>
      <p:grpSp>
        <p:nvGrpSpPr>
          <p:cNvPr name="Group 9" id="9"/>
          <p:cNvGrpSpPr/>
          <p:nvPr/>
        </p:nvGrpSpPr>
        <p:grpSpPr>
          <a:xfrm rot="0">
            <a:off x="686333" y="851059"/>
            <a:ext cx="686333" cy="686333"/>
            <a:chOff x="0" y="0"/>
            <a:chExt cx="915111" cy="915111"/>
          </a:xfrm>
        </p:grpSpPr>
        <p:sp>
          <p:nvSpPr>
            <p:cNvPr name="Freeform 10" id="10"/>
            <p:cNvSpPr/>
            <p:nvPr/>
          </p:nvSpPr>
          <p:spPr>
            <a:xfrm flipH="false" flipV="false" rot="0">
              <a:off x="0" y="0"/>
              <a:ext cx="915115" cy="915115"/>
            </a:xfrm>
            <a:custGeom>
              <a:avLst/>
              <a:gdLst/>
              <a:ahLst/>
              <a:cxnLst/>
              <a:rect r="r" b="b" t="t" l="l"/>
              <a:pathLst>
                <a:path h="915115" w="915115">
                  <a:moveTo>
                    <a:pt x="0" y="0"/>
                  </a:moveTo>
                  <a:lnTo>
                    <a:pt x="915115" y="0"/>
                  </a:lnTo>
                  <a:lnTo>
                    <a:pt x="915115" y="915115"/>
                  </a:lnTo>
                  <a:lnTo>
                    <a:pt x="0" y="915115"/>
                  </a:lnTo>
                  <a:close/>
                </a:path>
              </a:pathLst>
            </a:custGeom>
            <a:blipFill>
              <a:blip r:embed="rId4">
                <a:alphaModFix amt="0"/>
              </a:blip>
              <a:stretch>
                <a:fillRect l="-78303" t="0" r="-78302" b="0"/>
              </a:stretch>
            </a:blipFill>
          </p:spPr>
        </p:sp>
        <p:sp>
          <p:nvSpPr>
            <p:cNvPr name="TextBox 11" id="11"/>
            <p:cNvSpPr txBox="true"/>
            <p:nvPr/>
          </p:nvSpPr>
          <p:spPr>
            <a:xfrm>
              <a:off x="0" y="0"/>
              <a:ext cx="915111" cy="915111"/>
            </a:xfrm>
            <a:prstGeom prst="rect">
              <a:avLst/>
            </a:prstGeom>
          </p:spPr>
          <p:txBody>
            <a:bodyPr anchor="ctr" rtlCol="false" tIns="0" lIns="0" bIns="0" rIns="0"/>
            <a:lstStyle/>
            <a:p>
              <a:pPr algn="ctr">
                <a:lnSpc>
                  <a:spcPts val="2521"/>
                </a:lnSpc>
              </a:pPr>
              <a:r>
                <a:rPr lang="en-US" sz="2101" b="true">
                  <a:solidFill>
                    <a:srgbClr val="1F4E79"/>
                  </a:solidFill>
                  <a:latin typeface="Cabin Bold"/>
                  <a:ea typeface="Cabin Bold"/>
                  <a:cs typeface="Cabin Bold"/>
                  <a:sym typeface="Cabin Bold"/>
                </a:rPr>
                <a:t>06</a:t>
              </a:r>
            </a:p>
          </p:txBody>
        </p:sp>
      </p:grpSp>
      <p:grpSp>
        <p:nvGrpSpPr>
          <p:cNvPr name="Group 12" id="12"/>
          <p:cNvGrpSpPr/>
          <p:nvPr/>
        </p:nvGrpSpPr>
        <p:grpSpPr>
          <a:xfrm rot="0">
            <a:off x="1578569" y="823608"/>
            <a:ext cx="82363" cy="754971"/>
            <a:chOff x="0" y="0"/>
            <a:chExt cx="109817" cy="1006627"/>
          </a:xfrm>
        </p:grpSpPr>
        <p:sp>
          <p:nvSpPr>
            <p:cNvPr name="Freeform 13" id="13"/>
            <p:cNvSpPr/>
            <p:nvPr/>
          </p:nvSpPr>
          <p:spPr>
            <a:xfrm flipH="false" flipV="false" rot="0">
              <a:off x="0" y="0"/>
              <a:ext cx="109855" cy="1006602"/>
            </a:xfrm>
            <a:custGeom>
              <a:avLst/>
              <a:gdLst/>
              <a:ahLst/>
              <a:cxnLst/>
              <a:rect r="r" b="b" t="t" l="l"/>
              <a:pathLst>
                <a:path h="1006602" w="109855">
                  <a:moveTo>
                    <a:pt x="0" y="0"/>
                  </a:moveTo>
                  <a:lnTo>
                    <a:pt x="109855" y="0"/>
                  </a:lnTo>
                  <a:lnTo>
                    <a:pt x="109855" y="1006602"/>
                  </a:lnTo>
                  <a:lnTo>
                    <a:pt x="0" y="1006602"/>
                  </a:lnTo>
                  <a:close/>
                </a:path>
              </a:pathLst>
            </a:custGeom>
            <a:solidFill>
              <a:srgbClr val="85B518"/>
            </a:solidFill>
          </p:spPr>
        </p:sp>
      </p:grpSp>
      <p:grpSp>
        <p:nvGrpSpPr>
          <p:cNvPr name="Group 14" id="14"/>
          <p:cNvGrpSpPr/>
          <p:nvPr/>
        </p:nvGrpSpPr>
        <p:grpSpPr>
          <a:xfrm rot="0">
            <a:off x="1853108" y="796147"/>
            <a:ext cx="14938791" cy="823608"/>
            <a:chOff x="0" y="0"/>
            <a:chExt cx="19918388" cy="1098144"/>
          </a:xfrm>
        </p:grpSpPr>
        <p:sp>
          <p:nvSpPr>
            <p:cNvPr name="Freeform 15" id="15"/>
            <p:cNvSpPr/>
            <p:nvPr/>
          </p:nvSpPr>
          <p:spPr>
            <a:xfrm flipH="false" flipV="false" rot="0">
              <a:off x="0" y="0"/>
              <a:ext cx="19918392" cy="1098138"/>
            </a:xfrm>
            <a:custGeom>
              <a:avLst/>
              <a:gdLst/>
              <a:ahLst/>
              <a:cxnLst/>
              <a:rect r="r" b="b" t="t" l="l"/>
              <a:pathLst>
                <a:path h="1098138" w="19918392">
                  <a:moveTo>
                    <a:pt x="0" y="0"/>
                  </a:moveTo>
                  <a:lnTo>
                    <a:pt x="19918392" y="0"/>
                  </a:lnTo>
                  <a:lnTo>
                    <a:pt x="19918392" y="1098138"/>
                  </a:lnTo>
                  <a:lnTo>
                    <a:pt x="0" y="1098138"/>
                  </a:lnTo>
                  <a:close/>
                </a:path>
              </a:pathLst>
            </a:custGeom>
            <a:blipFill>
              <a:blip r:embed="rId4">
                <a:alphaModFix amt="0"/>
              </a:blip>
              <a:stretch>
                <a:fillRect l="0" t="-303425" r="0" b="-303426"/>
              </a:stretch>
            </a:blipFill>
          </p:spPr>
        </p:sp>
        <p:sp>
          <p:nvSpPr>
            <p:cNvPr name="TextBox 16" id="16"/>
            <p:cNvSpPr txBox="true"/>
            <p:nvPr/>
          </p:nvSpPr>
          <p:spPr>
            <a:xfrm>
              <a:off x="0" y="0"/>
              <a:ext cx="19918388" cy="1098144"/>
            </a:xfrm>
            <a:prstGeom prst="rect">
              <a:avLst/>
            </a:prstGeom>
          </p:spPr>
          <p:txBody>
            <a:bodyPr anchor="ctr" rtlCol="false" tIns="0" lIns="0" bIns="0" rIns="0"/>
            <a:lstStyle/>
            <a:p>
              <a:pPr algn="l">
                <a:lnSpc>
                  <a:spcPts val="3782"/>
                </a:lnSpc>
              </a:pPr>
              <a:r>
                <a:rPr lang="en-US" sz="3152" b="true">
                  <a:solidFill>
                    <a:srgbClr val="1F4E79"/>
                  </a:solidFill>
                  <a:latin typeface="Cabin Bold"/>
                  <a:ea typeface="Cabin Bold"/>
                  <a:cs typeface="Cabin Bold"/>
                  <a:sym typeface="Cabin Bold"/>
                </a:rPr>
                <a:t>Transformation, Action và Lazy Evaluation</a:t>
              </a:r>
            </a:p>
          </p:txBody>
        </p:sp>
      </p:grpSp>
      <p:grpSp>
        <p:nvGrpSpPr>
          <p:cNvPr name="Group 17" id="17"/>
          <p:cNvGrpSpPr/>
          <p:nvPr/>
        </p:nvGrpSpPr>
        <p:grpSpPr>
          <a:xfrm rot="0">
            <a:off x="686333" y="1990373"/>
            <a:ext cx="10981382" cy="480431"/>
            <a:chOff x="0" y="0"/>
            <a:chExt cx="14641843" cy="640575"/>
          </a:xfrm>
        </p:grpSpPr>
        <p:sp>
          <p:nvSpPr>
            <p:cNvPr name="Freeform 18" id="18"/>
            <p:cNvSpPr/>
            <p:nvPr/>
          </p:nvSpPr>
          <p:spPr>
            <a:xfrm flipH="false" flipV="false" rot="0">
              <a:off x="0" y="0"/>
              <a:ext cx="14641840" cy="640580"/>
            </a:xfrm>
            <a:custGeom>
              <a:avLst/>
              <a:gdLst/>
              <a:ahLst/>
              <a:cxnLst/>
              <a:rect r="r" b="b" t="t" l="l"/>
              <a:pathLst>
                <a:path h="640580" w="14641840">
                  <a:moveTo>
                    <a:pt x="0" y="0"/>
                  </a:moveTo>
                  <a:lnTo>
                    <a:pt x="14641840" y="0"/>
                  </a:lnTo>
                  <a:lnTo>
                    <a:pt x="14641840" y="640580"/>
                  </a:lnTo>
                  <a:lnTo>
                    <a:pt x="0" y="640580"/>
                  </a:lnTo>
                  <a:close/>
                </a:path>
              </a:pathLst>
            </a:custGeom>
            <a:blipFill>
              <a:blip r:embed="rId4">
                <a:alphaModFix amt="0"/>
              </a:blip>
              <a:stretch>
                <a:fillRect l="0" t="-395372" r="0" b="-395372"/>
              </a:stretch>
            </a:blipFill>
          </p:spPr>
        </p:sp>
        <p:sp>
          <p:nvSpPr>
            <p:cNvPr name="TextBox 19" id="19"/>
            <p:cNvSpPr txBox="true"/>
            <p:nvPr/>
          </p:nvSpPr>
          <p:spPr>
            <a:xfrm>
              <a:off x="0" y="0"/>
              <a:ext cx="14641843" cy="640575"/>
            </a:xfrm>
            <a:prstGeom prst="rect">
              <a:avLst/>
            </a:prstGeom>
          </p:spPr>
          <p:txBody>
            <a:bodyPr anchor="ctr" rtlCol="false" tIns="0" lIns="0" bIns="0" rIns="0"/>
            <a:lstStyle/>
            <a:p>
              <a:pPr algn="l">
                <a:lnSpc>
                  <a:spcPts val="2251"/>
                </a:lnSpc>
              </a:pPr>
              <a:r>
                <a:rPr lang="en-US" sz="1876" b="true">
                  <a:solidFill>
                    <a:srgbClr val="1F4E79"/>
                  </a:solidFill>
                  <a:latin typeface="Cabin Bold"/>
                  <a:ea typeface="Cabin Bold"/>
                  <a:cs typeface="Cabin Bold"/>
                  <a:sym typeface="Cabin Bold"/>
                </a:rPr>
                <a:t>Transformation — chưa thực thi ngay</a:t>
              </a:r>
            </a:p>
          </p:txBody>
        </p:sp>
      </p:grpSp>
      <p:grpSp>
        <p:nvGrpSpPr>
          <p:cNvPr name="Group 20" id="20"/>
          <p:cNvGrpSpPr/>
          <p:nvPr/>
        </p:nvGrpSpPr>
        <p:grpSpPr>
          <a:xfrm rot="0">
            <a:off x="686333" y="2539441"/>
            <a:ext cx="16952500" cy="1372676"/>
            <a:chOff x="0" y="0"/>
            <a:chExt cx="22603333" cy="1830235"/>
          </a:xfrm>
        </p:grpSpPr>
        <p:sp>
          <p:nvSpPr>
            <p:cNvPr name="Freeform 21" id="21"/>
            <p:cNvSpPr/>
            <p:nvPr/>
          </p:nvSpPr>
          <p:spPr>
            <a:xfrm flipH="false" flipV="false" rot="0">
              <a:off x="0" y="0"/>
              <a:ext cx="22603461" cy="1830324"/>
            </a:xfrm>
            <a:custGeom>
              <a:avLst/>
              <a:gdLst/>
              <a:ahLst/>
              <a:cxnLst/>
              <a:rect r="r" b="b" t="t" l="l"/>
              <a:pathLst>
                <a:path h="1830324" w="22603461">
                  <a:moveTo>
                    <a:pt x="0" y="109855"/>
                  </a:moveTo>
                  <a:cubicBezTo>
                    <a:pt x="0" y="49149"/>
                    <a:pt x="49149" y="0"/>
                    <a:pt x="109855" y="0"/>
                  </a:cubicBezTo>
                  <a:lnTo>
                    <a:pt x="22493605" y="0"/>
                  </a:lnTo>
                  <a:cubicBezTo>
                    <a:pt x="22554312" y="0"/>
                    <a:pt x="22603461" y="49149"/>
                    <a:pt x="22603461" y="109855"/>
                  </a:cubicBezTo>
                  <a:lnTo>
                    <a:pt x="22603461" y="1720469"/>
                  </a:lnTo>
                  <a:cubicBezTo>
                    <a:pt x="22603461" y="1781175"/>
                    <a:pt x="22554312" y="1830324"/>
                    <a:pt x="22493605" y="1830324"/>
                  </a:cubicBezTo>
                  <a:lnTo>
                    <a:pt x="109855" y="1830324"/>
                  </a:lnTo>
                  <a:cubicBezTo>
                    <a:pt x="49149" y="1830324"/>
                    <a:pt x="0" y="1781175"/>
                    <a:pt x="0" y="1720469"/>
                  </a:cubicBezTo>
                  <a:close/>
                </a:path>
              </a:pathLst>
            </a:custGeom>
            <a:solidFill>
              <a:srgbClr val="1B2A3C"/>
            </a:solidFill>
          </p:spPr>
        </p:sp>
      </p:grpSp>
      <p:sp>
        <p:nvSpPr>
          <p:cNvPr name="TextBox 22" id="22"/>
          <p:cNvSpPr txBox="true"/>
          <p:nvPr/>
        </p:nvSpPr>
        <p:spPr>
          <a:xfrm rot="0">
            <a:off x="1079764" y="2682088"/>
            <a:ext cx="16165649" cy="992134"/>
          </a:xfrm>
          <a:prstGeom prst="rect">
            <a:avLst/>
          </a:prstGeom>
        </p:spPr>
        <p:txBody>
          <a:bodyPr anchor="t" rtlCol="false" tIns="0" lIns="0" bIns="0" rIns="0">
            <a:spAutoFit/>
          </a:bodyPr>
          <a:lstStyle/>
          <a:p>
            <a:pPr algn="l">
              <a:lnSpc>
                <a:spcPts val="2702"/>
              </a:lnSpc>
            </a:pPr>
            <a:r>
              <a:rPr lang="en-US" sz="1801">
                <a:solidFill>
                  <a:srgbClr val="E8EEF5"/>
                </a:solidFill>
                <a:latin typeface="Consolas"/>
                <a:ea typeface="Consolas"/>
                <a:cs typeface="Consolas"/>
                <a:sym typeface="Consolas"/>
              </a:rPr>
              <a:t>df_filtered = df.filter(df.amount &gt; 1000000)</a:t>
            </a:r>
          </a:p>
          <a:p>
            <a:pPr algn="l">
              <a:lnSpc>
                <a:spcPts val="2702"/>
              </a:lnSpc>
            </a:pPr>
            <a:r>
              <a:rPr lang="en-US" sz="1801">
                <a:solidFill>
                  <a:srgbClr val="E8EEF5"/>
                </a:solidFill>
                <a:latin typeface="Consolas"/>
                <a:ea typeface="Consolas"/>
                <a:cs typeface="Consolas"/>
                <a:sym typeface="Consolas"/>
              </a:rPr>
              <a:t>df_grouped = df_filtered.groupBy("category").sum("amount")</a:t>
            </a:r>
          </a:p>
        </p:txBody>
      </p:sp>
      <p:grpSp>
        <p:nvGrpSpPr>
          <p:cNvPr name="Group 23" id="23"/>
          <p:cNvGrpSpPr/>
          <p:nvPr/>
        </p:nvGrpSpPr>
        <p:grpSpPr>
          <a:xfrm rot="0">
            <a:off x="686333" y="4118019"/>
            <a:ext cx="10981382" cy="480431"/>
            <a:chOff x="0" y="0"/>
            <a:chExt cx="14641843" cy="640575"/>
          </a:xfrm>
        </p:grpSpPr>
        <p:sp>
          <p:nvSpPr>
            <p:cNvPr name="Freeform 24" id="24"/>
            <p:cNvSpPr/>
            <p:nvPr/>
          </p:nvSpPr>
          <p:spPr>
            <a:xfrm flipH="false" flipV="false" rot="0">
              <a:off x="0" y="0"/>
              <a:ext cx="14641840" cy="640580"/>
            </a:xfrm>
            <a:custGeom>
              <a:avLst/>
              <a:gdLst/>
              <a:ahLst/>
              <a:cxnLst/>
              <a:rect r="r" b="b" t="t" l="l"/>
              <a:pathLst>
                <a:path h="640580" w="14641840">
                  <a:moveTo>
                    <a:pt x="0" y="0"/>
                  </a:moveTo>
                  <a:lnTo>
                    <a:pt x="14641840" y="0"/>
                  </a:lnTo>
                  <a:lnTo>
                    <a:pt x="14641840" y="640580"/>
                  </a:lnTo>
                  <a:lnTo>
                    <a:pt x="0" y="640580"/>
                  </a:lnTo>
                  <a:close/>
                </a:path>
              </a:pathLst>
            </a:custGeom>
            <a:blipFill>
              <a:blip r:embed="rId4">
                <a:alphaModFix amt="0"/>
              </a:blip>
              <a:stretch>
                <a:fillRect l="0" t="-395372" r="0" b="-395372"/>
              </a:stretch>
            </a:blipFill>
          </p:spPr>
        </p:sp>
        <p:sp>
          <p:nvSpPr>
            <p:cNvPr name="TextBox 25" id="25"/>
            <p:cNvSpPr txBox="true"/>
            <p:nvPr/>
          </p:nvSpPr>
          <p:spPr>
            <a:xfrm>
              <a:off x="0" y="0"/>
              <a:ext cx="14641843" cy="640575"/>
            </a:xfrm>
            <a:prstGeom prst="rect">
              <a:avLst/>
            </a:prstGeom>
          </p:spPr>
          <p:txBody>
            <a:bodyPr anchor="ctr" rtlCol="false" tIns="0" lIns="0" bIns="0" rIns="0"/>
            <a:lstStyle/>
            <a:p>
              <a:pPr algn="l">
                <a:lnSpc>
                  <a:spcPts val="2251"/>
                </a:lnSpc>
              </a:pPr>
              <a:r>
                <a:rPr lang="en-US" sz="1876" b="true">
                  <a:solidFill>
                    <a:srgbClr val="1F4E79"/>
                  </a:solidFill>
                  <a:latin typeface="Cabin Bold"/>
                  <a:ea typeface="Cabin Bold"/>
                  <a:cs typeface="Cabin Bold"/>
                  <a:sym typeface="Cabin Bold"/>
                </a:rPr>
                <a:t>Action — kích hoạt tính toán thực sự</a:t>
              </a:r>
            </a:p>
          </p:txBody>
        </p:sp>
      </p:grpSp>
      <p:grpSp>
        <p:nvGrpSpPr>
          <p:cNvPr name="Group 26" id="26"/>
          <p:cNvGrpSpPr/>
          <p:nvPr/>
        </p:nvGrpSpPr>
        <p:grpSpPr>
          <a:xfrm rot="0">
            <a:off x="686333" y="4667088"/>
            <a:ext cx="16952500" cy="823608"/>
            <a:chOff x="0" y="0"/>
            <a:chExt cx="22603333" cy="1098144"/>
          </a:xfrm>
        </p:grpSpPr>
        <p:sp>
          <p:nvSpPr>
            <p:cNvPr name="Freeform 27" id="27"/>
            <p:cNvSpPr/>
            <p:nvPr/>
          </p:nvSpPr>
          <p:spPr>
            <a:xfrm flipH="false" flipV="false" rot="0">
              <a:off x="0" y="0"/>
              <a:ext cx="22603461" cy="1098169"/>
            </a:xfrm>
            <a:custGeom>
              <a:avLst/>
              <a:gdLst/>
              <a:ahLst/>
              <a:cxnLst/>
              <a:rect r="r" b="b" t="t" l="l"/>
              <a:pathLst>
                <a:path h="1098169" w="22603461">
                  <a:moveTo>
                    <a:pt x="0" y="109855"/>
                  </a:moveTo>
                  <a:cubicBezTo>
                    <a:pt x="0" y="49149"/>
                    <a:pt x="49149" y="0"/>
                    <a:pt x="109855" y="0"/>
                  </a:cubicBezTo>
                  <a:lnTo>
                    <a:pt x="22493605" y="0"/>
                  </a:lnTo>
                  <a:cubicBezTo>
                    <a:pt x="22554312" y="0"/>
                    <a:pt x="22603461" y="49149"/>
                    <a:pt x="22603461" y="109855"/>
                  </a:cubicBezTo>
                  <a:lnTo>
                    <a:pt x="22603461" y="988314"/>
                  </a:lnTo>
                  <a:cubicBezTo>
                    <a:pt x="22603461" y="1049020"/>
                    <a:pt x="22554312" y="1098169"/>
                    <a:pt x="22493605" y="1098169"/>
                  </a:cubicBezTo>
                  <a:lnTo>
                    <a:pt x="109855" y="1098169"/>
                  </a:lnTo>
                  <a:cubicBezTo>
                    <a:pt x="49149" y="1098169"/>
                    <a:pt x="0" y="1049020"/>
                    <a:pt x="0" y="988314"/>
                  </a:cubicBezTo>
                  <a:close/>
                </a:path>
              </a:pathLst>
            </a:custGeom>
            <a:solidFill>
              <a:srgbClr val="1B2A3C"/>
            </a:solidFill>
          </p:spPr>
        </p:sp>
      </p:grpSp>
      <p:sp>
        <p:nvSpPr>
          <p:cNvPr name="TextBox 28" id="28"/>
          <p:cNvSpPr txBox="true"/>
          <p:nvPr/>
        </p:nvSpPr>
        <p:spPr>
          <a:xfrm rot="0">
            <a:off x="1079764" y="4809734"/>
            <a:ext cx="16165649" cy="443065"/>
          </a:xfrm>
          <a:prstGeom prst="rect">
            <a:avLst/>
          </a:prstGeom>
        </p:spPr>
        <p:txBody>
          <a:bodyPr anchor="t" rtlCol="false" tIns="0" lIns="0" bIns="0" rIns="0">
            <a:spAutoFit/>
          </a:bodyPr>
          <a:lstStyle/>
          <a:p>
            <a:pPr algn="l">
              <a:lnSpc>
                <a:spcPts val="2702"/>
              </a:lnSpc>
            </a:pPr>
            <a:r>
              <a:rPr lang="en-US" sz="1801">
                <a:solidFill>
                  <a:srgbClr val="E8EEF5"/>
                </a:solidFill>
                <a:latin typeface="Consolas"/>
                <a:ea typeface="Consolas"/>
                <a:cs typeface="Consolas"/>
                <a:sym typeface="Consolas"/>
              </a:rPr>
              <a:t>df_grouped.show()</a:t>
            </a:r>
          </a:p>
        </p:txBody>
      </p:sp>
      <p:grpSp>
        <p:nvGrpSpPr>
          <p:cNvPr name="Group 29" id="29"/>
          <p:cNvGrpSpPr/>
          <p:nvPr/>
        </p:nvGrpSpPr>
        <p:grpSpPr>
          <a:xfrm rot="0">
            <a:off x="679190" y="5963974"/>
            <a:ext cx="8113062" cy="1867405"/>
            <a:chOff x="0" y="0"/>
            <a:chExt cx="10817416" cy="2489873"/>
          </a:xfrm>
        </p:grpSpPr>
        <p:sp>
          <p:nvSpPr>
            <p:cNvPr name="Freeform 30" id="30"/>
            <p:cNvSpPr/>
            <p:nvPr/>
          </p:nvSpPr>
          <p:spPr>
            <a:xfrm flipH="false" flipV="false" rot="0">
              <a:off x="0" y="0"/>
              <a:ext cx="10817479" cy="2489962"/>
            </a:xfrm>
            <a:custGeom>
              <a:avLst/>
              <a:gdLst/>
              <a:ahLst/>
              <a:cxnLst/>
              <a:rect r="r" b="b" t="t" l="l"/>
              <a:pathLst>
                <a:path h="2489962" w="10817479">
                  <a:moveTo>
                    <a:pt x="0" y="147574"/>
                  </a:moveTo>
                  <a:cubicBezTo>
                    <a:pt x="0" y="66040"/>
                    <a:pt x="66040" y="0"/>
                    <a:pt x="147574" y="0"/>
                  </a:cubicBezTo>
                  <a:lnTo>
                    <a:pt x="10669905" y="0"/>
                  </a:lnTo>
                  <a:cubicBezTo>
                    <a:pt x="10751439" y="0"/>
                    <a:pt x="10817479" y="66040"/>
                    <a:pt x="10817479" y="147574"/>
                  </a:cubicBezTo>
                  <a:lnTo>
                    <a:pt x="10817479" y="2342388"/>
                  </a:lnTo>
                  <a:cubicBezTo>
                    <a:pt x="10817479" y="2423922"/>
                    <a:pt x="10751439" y="2489962"/>
                    <a:pt x="10669905" y="2489962"/>
                  </a:cubicBezTo>
                  <a:lnTo>
                    <a:pt x="147574" y="2489962"/>
                  </a:lnTo>
                  <a:cubicBezTo>
                    <a:pt x="66040" y="2489835"/>
                    <a:pt x="0" y="2423795"/>
                    <a:pt x="0" y="2342388"/>
                  </a:cubicBezTo>
                  <a:close/>
                </a:path>
              </a:pathLst>
            </a:custGeom>
            <a:solidFill>
              <a:srgbClr val="F2F5F8"/>
            </a:solidFill>
            <a:ln w="14299" cap="sq">
              <a:solidFill>
                <a:srgbClr val="D9D9D9"/>
              </a:solidFill>
              <a:prstDash val="solid"/>
              <a:miter/>
            </a:ln>
          </p:spPr>
        </p:sp>
      </p:grpSp>
      <p:grpSp>
        <p:nvGrpSpPr>
          <p:cNvPr name="Group 31" id="31"/>
          <p:cNvGrpSpPr/>
          <p:nvPr/>
        </p:nvGrpSpPr>
        <p:grpSpPr>
          <a:xfrm rot="0">
            <a:off x="1029500" y="6108392"/>
            <a:ext cx="7412431" cy="480431"/>
            <a:chOff x="0" y="0"/>
            <a:chExt cx="9883242" cy="640575"/>
          </a:xfrm>
        </p:grpSpPr>
        <p:sp>
          <p:nvSpPr>
            <p:cNvPr name="Freeform 32" id="32"/>
            <p:cNvSpPr/>
            <p:nvPr/>
          </p:nvSpPr>
          <p:spPr>
            <a:xfrm flipH="false" flipV="false" rot="0">
              <a:off x="0" y="0"/>
              <a:ext cx="9883241" cy="640580"/>
            </a:xfrm>
            <a:custGeom>
              <a:avLst/>
              <a:gdLst/>
              <a:ahLst/>
              <a:cxnLst/>
              <a:rect r="r" b="b" t="t" l="l"/>
              <a:pathLst>
                <a:path h="640580" w="9883241">
                  <a:moveTo>
                    <a:pt x="0" y="0"/>
                  </a:moveTo>
                  <a:lnTo>
                    <a:pt x="9883241" y="0"/>
                  </a:lnTo>
                  <a:lnTo>
                    <a:pt x="9883241" y="640580"/>
                  </a:lnTo>
                  <a:lnTo>
                    <a:pt x="0" y="640580"/>
                  </a:lnTo>
                  <a:close/>
                </a:path>
              </a:pathLst>
            </a:custGeom>
            <a:blipFill>
              <a:blip r:embed="rId4">
                <a:alphaModFix amt="0"/>
              </a:blip>
              <a:stretch>
                <a:fillRect l="0" t="-250626" r="0" b="-250625"/>
              </a:stretch>
            </a:blipFill>
          </p:spPr>
        </p:sp>
        <p:sp>
          <p:nvSpPr>
            <p:cNvPr name="TextBox 33" id="33"/>
            <p:cNvSpPr txBox="true"/>
            <p:nvPr/>
          </p:nvSpPr>
          <p:spPr>
            <a:xfrm>
              <a:off x="0" y="0"/>
              <a:ext cx="9883242" cy="640575"/>
            </a:xfrm>
            <a:prstGeom prst="rect">
              <a:avLst/>
            </a:prstGeom>
          </p:spPr>
          <p:txBody>
            <a:bodyPr anchor="ctr" rtlCol="false" tIns="0" lIns="0" bIns="0" rIns="0"/>
            <a:lstStyle/>
            <a:p>
              <a:pPr algn="l">
                <a:lnSpc>
                  <a:spcPts val="2251"/>
                </a:lnSpc>
              </a:pPr>
              <a:r>
                <a:rPr lang="en-US" sz="1876" b="true">
                  <a:solidFill>
                    <a:srgbClr val="1F4E79"/>
                  </a:solidFill>
                  <a:latin typeface="Cabin Bold"/>
                  <a:ea typeface="Cabin Bold"/>
                  <a:cs typeface="Cabin Bold"/>
                  <a:sym typeface="Cabin Bold"/>
                </a:rPr>
                <a:t>Transformation</a:t>
              </a:r>
            </a:p>
          </p:txBody>
        </p:sp>
      </p:grpSp>
      <p:sp>
        <p:nvSpPr>
          <p:cNvPr name="TextBox 34" id="34"/>
          <p:cNvSpPr txBox="true"/>
          <p:nvPr/>
        </p:nvSpPr>
        <p:spPr>
          <a:xfrm rot="0">
            <a:off x="1120940" y="6605969"/>
            <a:ext cx="7229551" cy="1103909"/>
          </a:xfrm>
          <a:prstGeom prst="rect">
            <a:avLst/>
          </a:prstGeom>
        </p:spPr>
        <p:txBody>
          <a:bodyPr anchor="t" rtlCol="false" tIns="0" lIns="0" bIns="0" rIns="0">
            <a:spAutoFit/>
          </a:bodyPr>
          <a:lstStyle/>
          <a:p>
            <a:pPr algn="l" marL="285480" indent="-142740" lvl="1">
              <a:lnSpc>
                <a:spcPts val="2175"/>
              </a:lnSpc>
              <a:buFont typeface="Arial"/>
              <a:buChar char="•"/>
            </a:pPr>
            <a:r>
              <a:rPr lang="en-US" sz="1576">
                <a:solidFill>
                  <a:srgbClr val="000000"/>
                </a:solidFill>
                <a:latin typeface="Cabin"/>
                <a:ea typeface="Cabin"/>
                <a:cs typeface="Cabin"/>
                <a:sym typeface="Cabin"/>
              </a:rPr>
              <a:t>Tạo ra DataFrame mới: filter(), select(), groupBy()</a:t>
            </a:r>
          </a:p>
          <a:p>
            <a:pPr algn="l" marL="285480" indent="-142740" lvl="1">
              <a:lnSpc>
                <a:spcPts val="2175"/>
              </a:lnSpc>
              <a:buFont typeface="Arial"/>
              <a:buChar char="•"/>
            </a:pPr>
            <a:r>
              <a:rPr lang="en-US" sz="1576">
                <a:solidFill>
                  <a:srgbClr val="000000"/>
                </a:solidFill>
                <a:latin typeface="Cabin"/>
                <a:ea typeface="Cabin"/>
                <a:cs typeface="Cabin"/>
                <a:sym typeface="Cabin"/>
              </a:rPr>
              <a:t>Không thực thi ngay — chỉ xây dựng kế hoạch (DAG)</a:t>
            </a:r>
          </a:p>
        </p:txBody>
      </p:sp>
      <p:grpSp>
        <p:nvGrpSpPr>
          <p:cNvPr name="Group 35" id="35"/>
          <p:cNvGrpSpPr/>
          <p:nvPr/>
        </p:nvGrpSpPr>
        <p:grpSpPr>
          <a:xfrm rot="0">
            <a:off x="9532925" y="5963974"/>
            <a:ext cx="8113062" cy="1867405"/>
            <a:chOff x="0" y="0"/>
            <a:chExt cx="10817416" cy="2489873"/>
          </a:xfrm>
        </p:grpSpPr>
        <p:sp>
          <p:nvSpPr>
            <p:cNvPr name="Freeform 36" id="36"/>
            <p:cNvSpPr/>
            <p:nvPr/>
          </p:nvSpPr>
          <p:spPr>
            <a:xfrm flipH="false" flipV="false" rot="0">
              <a:off x="0" y="0"/>
              <a:ext cx="10817479" cy="2489962"/>
            </a:xfrm>
            <a:custGeom>
              <a:avLst/>
              <a:gdLst/>
              <a:ahLst/>
              <a:cxnLst/>
              <a:rect r="r" b="b" t="t" l="l"/>
              <a:pathLst>
                <a:path h="2489962" w="10817479">
                  <a:moveTo>
                    <a:pt x="0" y="147574"/>
                  </a:moveTo>
                  <a:cubicBezTo>
                    <a:pt x="0" y="66040"/>
                    <a:pt x="66040" y="0"/>
                    <a:pt x="147574" y="0"/>
                  </a:cubicBezTo>
                  <a:lnTo>
                    <a:pt x="10669905" y="0"/>
                  </a:lnTo>
                  <a:cubicBezTo>
                    <a:pt x="10751439" y="0"/>
                    <a:pt x="10817479" y="66040"/>
                    <a:pt x="10817479" y="147574"/>
                  </a:cubicBezTo>
                  <a:lnTo>
                    <a:pt x="10817479" y="2342388"/>
                  </a:lnTo>
                  <a:cubicBezTo>
                    <a:pt x="10817479" y="2423922"/>
                    <a:pt x="10751439" y="2489962"/>
                    <a:pt x="10669905" y="2489962"/>
                  </a:cubicBezTo>
                  <a:lnTo>
                    <a:pt x="147574" y="2489962"/>
                  </a:lnTo>
                  <a:cubicBezTo>
                    <a:pt x="66040" y="2489835"/>
                    <a:pt x="0" y="2423795"/>
                    <a:pt x="0" y="2342388"/>
                  </a:cubicBezTo>
                  <a:close/>
                </a:path>
              </a:pathLst>
            </a:custGeom>
            <a:solidFill>
              <a:srgbClr val="DCEBFA"/>
            </a:solidFill>
            <a:ln w="14299" cap="sq">
              <a:solidFill>
                <a:srgbClr val="1F4E79"/>
              </a:solidFill>
              <a:prstDash val="solid"/>
              <a:miter/>
            </a:ln>
          </p:spPr>
        </p:sp>
      </p:grpSp>
      <p:grpSp>
        <p:nvGrpSpPr>
          <p:cNvPr name="Group 37" id="37"/>
          <p:cNvGrpSpPr/>
          <p:nvPr/>
        </p:nvGrpSpPr>
        <p:grpSpPr>
          <a:xfrm rot="0">
            <a:off x="9883245" y="6108392"/>
            <a:ext cx="7412431" cy="480431"/>
            <a:chOff x="0" y="0"/>
            <a:chExt cx="9883242" cy="640575"/>
          </a:xfrm>
        </p:grpSpPr>
        <p:sp>
          <p:nvSpPr>
            <p:cNvPr name="Freeform 38" id="38"/>
            <p:cNvSpPr/>
            <p:nvPr/>
          </p:nvSpPr>
          <p:spPr>
            <a:xfrm flipH="false" flipV="false" rot="0">
              <a:off x="0" y="0"/>
              <a:ext cx="9883241" cy="640580"/>
            </a:xfrm>
            <a:custGeom>
              <a:avLst/>
              <a:gdLst/>
              <a:ahLst/>
              <a:cxnLst/>
              <a:rect r="r" b="b" t="t" l="l"/>
              <a:pathLst>
                <a:path h="640580" w="9883241">
                  <a:moveTo>
                    <a:pt x="0" y="0"/>
                  </a:moveTo>
                  <a:lnTo>
                    <a:pt x="9883241" y="0"/>
                  </a:lnTo>
                  <a:lnTo>
                    <a:pt x="9883241" y="640580"/>
                  </a:lnTo>
                  <a:lnTo>
                    <a:pt x="0" y="640580"/>
                  </a:lnTo>
                  <a:close/>
                </a:path>
              </a:pathLst>
            </a:custGeom>
            <a:blipFill>
              <a:blip r:embed="rId4">
                <a:alphaModFix amt="0"/>
              </a:blip>
              <a:stretch>
                <a:fillRect l="0" t="-250626" r="0" b="-250625"/>
              </a:stretch>
            </a:blipFill>
          </p:spPr>
        </p:sp>
        <p:sp>
          <p:nvSpPr>
            <p:cNvPr name="TextBox 39" id="39"/>
            <p:cNvSpPr txBox="true"/>
            <p:nvPr/>
          </p:nvSpPr>
          <p:spPr>
            <a:xfrm>
              <a:off x="0" y="0"/>
              <a:ext cx="9883242" cy="640575"/>
            </a:xfrm>
            <a:prstGeom prst="rect">
              <a:avLst/>
            </a:prstGeom>
          </p:spPr>
          <p:txBody>
            <a:bodyPr anchor="ctr" rtlCol="false" tIns="0" lIns="0" bIns="0" rIns="0"/>
            <a:lstStyle/>
            <a:p>
              <a:pPr algn="l">
                <a:lnSpc>
                  <a:spcPts val="2251"/>
                </a:lnSpc>
              </a:pPr>
              <a:r>
                <a:rPr lang="en-US" sz="1876" b="true">
                  <a:solidFill>
                    <a:srgbClr val="1F4E79"/>
                  </a:solidFill>
                  <a:latin typeface="Cabin Bold"/>
                  <a:ea typeface="Cabin Bold"/>
                  <a:cs typeface="Cabin Bold"/>
                  <a:sym typeface="Cabin Bold"/>
                </a:rPr>
                <a:t>Action</a:t>
              </a:r>
            </a:p>
          </p:txBody>
        </p:sp>
      </p:grpSp>
      <p:sp>
        <p:nvSpPr>
          <p:cNvPr name="TextBox 40" id="40"/>
          <p:cNvSpPr txBox="true"/>
          <p:nvPr/>
        </p:nvSpPr>
        <p:spPr>
          <a:xfrm rot="0">
            <a:off x="9974685" y="6605969"/>
            <a:ext cx="7229551" cy="1103909"/>
          </a:xfrm>
          <a:prstGeom prst="rect">
            <a:avLst/>
          </a:prstGeom>
        </p:spPr>
        <p:txBody>
          <a:bodyPr anchor="t" rtlCol="false" tIns="0" lIns="0" bIns="0" rIns="0">
            <a:spAutoFit/>
          </a:bodyPr>
          <a:lstStyle/>
          <a:p>
            <a:pPr algn="l" marL="285480" indent="-142740" lvl="1">
              <a:lnSpc>
                <a:spcPts val="2175"/>
              </a:lnSpc>
              <a:buFont typeface="Arial"/>
              <a:buChar char="•"/>
            </a:pPr>
            <a:r>
              <a:rPr lang="en-US" sz="1576">
                <a:solidFill>
                  <a:srgbClr val="000000"/>
                </a:solidFill>
                <a:latin typeface="Cabin"/>
                <a:ea typeface="Cabin"/>
                <a:cs typeface="Cabin"/>
                <a:sym typeface="Cabin"/>
              </a:rPr>
              <a:t>Kích hoạt tính toán thực sự: show(), collect(), count()</a:t>
            </a:r>
          </a:p>
          <a:p>
            <a:pPr algn="l" marL="285480" indent="-142740" lvl="1">
              <a:lnSpc>
                <a:spcPts val="2175"/>
              </a:lnSpc>
              <a:buFont typeface="Arial"/>
              <a:buChar char="•"/>
            </a:pPr>
            <a:r>
              <a:rPr lang="en-US" sz="1576">
                <a:solidFill>
                  <a:srgbClr val="000000"/>
                </a:solidFill>
                <a:latin typeface="Cabin"/>
                <a:ea typeface="Cabin"/>
                <a:cs typeface="Cabin"/>
                <a:sym typeface="Cabin"/>
              </a:rPr>
              <a:t>Spark chỉ tính toán khi gặp Action</a:t>
            </a:r>
          </a:p>
        </p:txBody>
      </p:sp>
      <p:grpSp>
        <p:nvGrpSpPr>
          <p:cNvPr name="Group 41" id="41"/>
          <p:cNvGrpSpPr/>
          <p:nvPr/>
        </p:nvGrpSpPr>
        <p:grpSpPr>
          <a:xfrm rot="0">
            <a:off x="686333" y="8236039"/>
            <a:ext cx="16952500" cy="754971"/>
            <a:chOff x="0" y="0"/>
            <a:chExt cx="22603333" cy="1006627"/>
          </a:xfrm>
        </p:grpSpPr>
        <p:sp>
          <p:nvSpPr>
            <p:cNvPr name="Freeform 42" id="42"/>
            <p:cNvSpPr/>
            <p:nvPr/>
          </p:nvSpPr>
          <p:spPr>
            <a:xfrm flipH="false" flipV="false" rot="0">
              <a:off x="0" y="0"/>
              <a:ext cx="22603340" cy="1006626"/>
            </a:xfrm>
            <a:custGeom>
              <a:avLst/>
              <a:gdLst/>
              <a:ahLst/>
              <a:cxnLst/>
              <a:rect r="r" b="b" t="t" l="l"/>
              <a:pathLst>
                <a:path h="1006626" w="22603340">
                  <a:moveTo>
                    <a:pt x="0" y="0"/>
                  </a:moveTo>
                  <a:lnTo>
                    <a:pt x="22603340" y="0"/>
                  </a:lnTo>
                  <a:lnTo>
                    <a:pt x="22603340" y="1006626"/>
                  </a:lnTo>
                  <a:lnTo>
                    <a:pt x="0" y="1006626"/>
                  </a:lnTo>
                  <a:close/>
                </a:path>
              </a:pathLst>
            </a:custGeom>
            <a:blipFill>
              <a:blip r:embed="rId4">
                <a:alphaModFix amt="0"/>
              </a:blip>
              <a:stretch>
                <a:fillRect l="0" t="-387527" r="0" b="-387527"/>
              </a:stretch>
            </a:blipFill>
          </p:spPr>
        </p:sp>
        <p:sp>
          <p:nvSpPr>
            <p:cNvPr name="TextBox 43" id="43"/>
            <p:cNvSpPr txBox="true"/>
            <p:nvPr/>
          </p:nvSpPr>
          <p:spPr>
            <a:xfrm>
              <a:off x="0" y="0"/>
              <a:ext cx="22603333" cy="1006627"/>
            </a:xfrm>
            <a:prstGeom prst="rect">
              <a:avLst/>
            </a:prstGeom>
          </p:spPr>
          <p:txBody>
            <a:bodyPr anchor="ctr" rtlCol="false" tIns="0" lIns="0" bIns="0" rIns="0"/>
            <a:lstStyle/>
            <a:p>
              <a:pPr algn="ctr">
                <a:lnSpc>
                  <a:spcPts val="1891"/>
                </a:lnSpc>
              </a:pPr>
              <a:r>
                <a:rPr lang="en-US" sz="1576" i="true">
                  <a:solidFill>
                    <a:srgbClr val="4A4A4A"/>
                  </a:solidFill>
                  <a:latin typeface="Cabin Italics"/>
                  <a:ea typeface="Cabin Italics"/>
                  <a:cs typeface="Cabin Italics"/>
                  <a:sym typeface="Cabin Italics"/>
                </a:rPr>
                <a:t>Lazy Evaluation: Spark trì hoãn tính toán đến khi thực sự cần kết quả, nhờ đó có thể tối ưu toàn bộ kế hoạch thực thi trước khi chạy.</a:t>
              </a:r>
            </a:p>
          </p:txBody>
        </p:sp>
      </p:grpSp>
      <p:grpSp>
        <p:nvGrpSpPr>
          <p:cNvPr name="Group 44" id="44"/>
          <p:cNvGrpSpPr/>
          <p:nvPr/>
        </p:nvGrpSpPr>
        <p:grpSpPr>
          <a:xfrm rot="0">
            <a:off x="0" y="9677343"/>
            <a:ext cx="18301840" cy="617706"/>
            <a:chOff x="0" y="0"/>
            <a:chExt cx="24402453" cy="823608"/>
          </a:xfrm>
        </p:grpSpPr>
        <p:sp>
          <p:nvSpPr>
            <p:cNvPr name="Freeform 45" id="45"/>
            <p:cNvSpPr/>
            <p:nvPr/>
          </p:nvSpPr>
          <p:spPr>
            <a:xfrm flipH="false" flipV="false" rot="0">
              <a:off x="0" y="0"/>
              <a:ext cx="24402414" cy="823595"/>
            </a:xfrm>
            <a:custGeom>
              <a:avLst/>
              <a:gdLst/>
              <a:ahLst/>
              <a:cxnLst/>
              <a:rect r="r" b="b" t="t" l="l"/>
              <a:pathLst>
                <a:path h="823595" w="24402414">
                  <a:moveTo>
                    <a:pt x="0" y="0"/>
                  </a:moveTo>
                  <a:lnTo>
                    <a:pt x="24402414" y="0"/>
                  </a:lnTo>
                  <a:lnTo>
                    <a:pt x="24402414" y="823595"/>
                  </a:lnTo>
                  <a:lnTo>
                    <a:pt x="0" y="823595"/>
                  </a:lnTo>
                  <a:close/>
                </a:path>
              </a:pathLst>
            </a:custGeom>
            <a:solidFill>
              <a:srgbClr val="1F4E79"/>
            </a:solidFill>
          </p:spPr>
        </p:sp>
      </p:grpSp>
      <p:grpSp>
        <p:nvGrpSpPr>
          <p:cNvPr name="Group 46" id="46"/>
          <p:cNvGrpSpPr/>
          <p:nvPr/>
        </p:nvGrpSpPr>
        <p:grpSpPr>
          <a:xfrm rot="0">
            <a:off x="480431" y="9677343"/>
            <a:ext cx="10981382" cy="617706"/>
            <a:chOff x="0" y="0"/>
            <a:chExt cx="14641843" cy="823608"/>
          </a:xfrm>
        </p:grpSpPr>
        <p:sp>
          <p:nvSpPr>
            <p:cNvPr name="Freeform 47" id="47"/>
            <p:cNvSpPr/>
            <p:nvPr/>
          </p:nvSpPr>
          <p:spPr>
            <a:xfrm flipH="false" flipV="false" rot="0">
              <a:off x="0" y="0"/>
              <a:ext cx="14641840" cy="823603"/>
            </a:xfrm>
            <a:custGeom>
              <a:avLst/>
              <a:gdLst/>
              <a:ahLst/>
              <a:cxnLst/>
              <a:rect r="r" b="b" t="t" l="l"/>
              <a:pathLst>
                <a:path h="823603" w="14641840">
                  <a:moveTo>
                    <a:pt x="0" y="0"/>
                  </a:moveTo>
                  <a:lnTo>
                    <a:pt x="14641840" y="0"/>
                  </a:lnTo>
                  <a:lnTo>
                    <a:pt x="14641840" y="823603"/>
                  </a:lnTo>
                  <a:lnTo>
                    <a:pt x="0" y="823603"/>
                  </a:lnTo>
                  <a:close/>
                </a:path>
              </a:pathLst>
            </a:custGeom>
            <a:blipFill>
              <a:blip r:embed="rId4">
                <a:alphaModFix amt="0"/>
              </a:blip>
              <a:stretch>
                <a:fillRect l="0" t="-296400" r="0" b="-296401"/>
              </a:stretch>
            </a:blipFill>
          </p:spPr>
        </p:sp>
        <p:sp>
          <p:nvSpPr>
            <p:cNvPr name="TextBox 48" id="48"/>
            <p:cNvSpPr txBox="true"/>
            <p:nvPr/>
          </p:nvSpPr>
          <p:spPr>
            <a:xfrm>
              <a:off x="0" y="0"/>
              <a:ext cx="14641843" cy="823608"/>
            </a:xfrm>
            <a:prstGeom prst="rect">
              <a:avLst/>
            </a:prstGeom>
          </p:spPr>
          <p:txBody>
            <a:bodyPr anchor="ctr" rtlCol="false" tIns="0" lIns="0" bIns="0" rIns="0"/>
            <a:lstStyle/>
            <a:p>
              <a:pPr algn="l">
                <a:lnSpc>
                  <a:spcPts val="1621"/>
                </a:lnSpc>
              </a:pPr>
              <a:r>
                <a:rPr lang="en-US" sz="1351">
                  <a:solidFill>
                    <a:srgbClr val="FFFFFF"/>
                  </a:solidFill>
                  <a:latin typeface="Cabin"/>
                  <a:ea typeface="Cabin"/>
                  <a:cs typeface="Cabin"/>
                  <a:sym typeface="Cabin"/>
                </a:rPr>
                <a:t>VNU UET – Institute for Artificial Intelligence</a:t>
              </a:r>
            </a:p>
          </p:txBody>
        </p:sp>
      </p:grpSp>
      <p:grpSp>
        <p:nvGrpSpPr>
          <p:cNvPr name="Group 49" id="49"/>
          <p:cNvGrpSpPr/>
          <p:nvPr/>
        </p:nvGrpSpPr>
        <p:grpSpPr>
          <a:xfrm rot="0">
            <a:off x="17066438" y="9677343"/>
            <a:ext cx="823608" cy="617706"/>
            <a:chOff x="0" y="0"/>
            <a:chExt cx="1098144" cy="823608"/>
          </a:xfrm>
        </p:grpSpPr>
        <p:sp>
          <p:nvSpPr>
            <p:cNvPr name="Freeform 50" id="50"/>
            <p:cNvSpPr/>
            <p:nvPr/>
          </p:nvSpPr>
          <p:spPr>
            <a:xfrm flipH="false" flipV="false" rot="0">
              <a:off x="0" y="0"/>
              <a:ext cx="1098138" cy="823603"/>
            </a:xfrm>
            <a:custGeom>
              <a:avLst/>
              <a:gdLst/>
              <a:ahLst/>
              <a:cxnLst/>
              <a:rect r="r" b="b" t="t" l="l"/>
              <a:pathLst>
                <a:path h="823603" w="1098138">
                  <a:moveTo>
                    <a:pt x="0" y="0"/>
                  </a:moveTo>
                  <a:lnTo>
                    <a:pt x="1098138" y="0"/>
                  </a:lnTo>
                  <a:lnTo>
                    <a:pt x="1098138" y="823603"/>
                  </a:lnTo>
                  <a:lnTo>
                    <a:pt x="0" y="823603"/>
                  </a:lnTo>
                  <a:close/>
                </a:path>
              </a:pathLst>
            </a:custGeom>
            <a:blipFill>
              <a:blip r:embed="rId4">
                <a:alphaModFix amt="0"/>
              </a:blip>
              <a:stretch>
                <a:fillRect l="-46227" t="0" r="-46228" b="0"/>
              </a:stretch>
            </a:blipFill>
          </p:spPr>
        </p:sp>
        <p:sp>
          <p:nvSpPr>
            <p:cNvPr name="TextBox 51" id="51"/>
            <p:cNvSpPr txBox="true"/>
            <p:nvPr/>
          </p:nvSpPr>
          <p:spPr>
            <a:xfrm>
              <a:off x="0" y="0"/>
              <a:ext cx="1098144" cy="823608"/>
            </a:xfrm>
            <a:prstGeom prst="rect">
              <a:avLst/>
            </a:prstGeom>
          </p:spPr>
          <p:txBody>
            <a:bodyPr anchor="ctr" rtlCol="false" tIns="0" lIns="0" bIns="0" rIns="0"/>
            <a:lstStyle/>
            <a:p>
              <a:pPr algn="r">
                <a:lnSpc>
                  <a:spcPts val="1621"/>
                </a:lnSpc>
              </a:pPr>
              <a:r>
                <a:rPr lang="en-US" sz="1351">
                  <a:solidFill>
                    <a:srgbClr val="FFFFFF"/>
                  </a:solidFill>
                  <a:latin typeface="Cabin"/>
                  <a:ea typeface="Cabin"/>
                  <a:cs typeface="Cabin"/>
                  <a:sym typeface="Cabin"/>
                </a:rPr>
                <a:t>18</a:t>
              </a:r>
            </a:p>
          </p:txBody>
        </p:sp>
      </p:grpSp>
      <p:grpSp>
        <p:nvGrpSpPr>
          <p:cNvPr name="Group 52" id="52"/>
          <p:cNvGrpSpPr/>
          <p:nvPr/>
        </p:nvGrpSpPr>
        <p:grpSpPr>
          <a:xfrm rot="0">
            <a:off x="0" y="0"/>
            <a:ext cx="18288000" cy="315468"/>
            <a:chOff x="0" y="0"/>
            <a:chExt cx="24384000" cy="420624"/>
          </a:xfrm>
        </p:grpSpPr>
        <p:sp>
          <p:nvSpPr>
            <p:cNvPr name="Freeform 53" id="53"/>
            <p:cNvSpPr/>
            <p:nvPr/>
          </p:nvSpPr>
          <p:spPr>
            <a:xfrm flipH="false" flipV="false" rot="0">
              <a:off x="0" y="0"/>
              <a:ext cx="24384000" cy="420624"/>
            </a:xfrm>
            <a:custGeom>
              <a:avLst/>
              <a:gdLst/>
              <a:ahLst/>
              <a:cxnLst/>
              <a:rect r="r" b="b" t="t" l="l"/>
              <a:pathLst>
                <a:path h="420624" w="24384000">
                  <a:moveTo>
                    <a:pt x="0" y="0"/>
                  </a:moveTo>
                  <a:lnTo>
                    <a:pt x="24384000" y="0"/>
                  </a:lnTo>
                  <a:lnTo>
                    <a:pt x="24384000" y="420624"/>
                  </a:lnTo>
                  <a:lnTo>
                    <a:pt x="0" y="420624"/>
                  </a:lnTo>
                  <a:close/>
                </a:path>
              </a:pathLst>
            </a:custGeom>
            <a:solidFill>
              <a:srgbClr val="0F3F6F"/>
            </a:solidFill>
          </p:spPr>
        </p:sp>
      </p:grpSp>
      <p:grpSp>
        <p:nvGrpSpPr>
          <p:cNvPr name="Group 54" id="54"/>
          <p:cNvGrpSpPr/>
          <p:nvPr/>
        </p:nvGrpSpPr>
        <p:grpSpPr>
          <a:xfrm rot="0">
            <a:off x="13098780" y="0"/>
            <a:ext cx="1453896" cy="1508760"/>
            <a:chOff x="0" y="0"/>
            <a:chExt cx="1938528" cy="2011680"/>
          </a:xfrm>
        </p:grpSpPr>
        <p:sp>
          <p:nvSpPr>
            <p:cNvPr name="Freeform 55" id="55"/>
            <p:cNvSpPr/>
            <p:nvPr/>
          </p:nvSpPr>
          <p:spPr>
            <a:xfrm flipH="false" flipV="false" rot="0">
              <a:off x="0" y="0"/>
              <a:ext cx="1938528" cy="2011680"/>
            </a:xfrm>
            <a:custGeom>
              <a:avLst/>
              <a:gdLst/>
              <a:ahLst/>
              <a:cxnLst/>
              <a:rect r="r" b="b" t="t" l="l"/>
              <a:pathLst>
                <a:path h="2011680" w="1938528">
                  <a:moveTo>
                    <a:pt x="0" y="2011680"/>
                  </a:moveTo>
                  <a:lnTo>
                    <a:pt x="484632" y="0"/>
                  </a:lnTo>
                  <a:lnTo>
                    <a:pt x="1938528" y="0"/>
                  </a:lnTo>
                  <a:lnTo>
                    <a:pt x="1453896" y="2011680"/>
                  </a:lnTo>
                  <a:close/>
                </a:path>
              </a:pathLst>
            </a:custGeom>
            <a:solidFill>
              <a:srgbClr val="85B518"/>
            </a:solidFill>
          </p:spPr>
        </p:sp>
      </p:grpSp>
      <p:grpSp>
        <p:nvGrpSpPr>
          <p:cNvPr name="Group 56" id="56"/>
          <p:cNvGrpSpPr/>
          <p:nvPr/>
        </p:nvGrpSpPr>
        <p:grpSpPr>
          <a:xfrm rot="0">
            <a:off x="14621256" y="0"/>
            <a:ext cx="1508760" cy="1508760"/>
            <a:chOff x="0" y="0"/>
            <a:chExt cx="2011680" cy="2011680"/>
          </a:xfrm>
        </p:grpSpPr>
        <p:sp>
          <p:nvSpPr>
            <p:cNvPr name="Freeform 57" id="57"/>
            <p:cNvSpPr/>
            <p:nvPr/>
          </p:nvSpPr>
          <p:spPr>
            <a:xfrm flipH="false" flipV="false" rot="0">
              <a:off x="0" y="0"/>
              <a:ext cx="2011680" cy="2011680"/>
            </a:xfrm>
            <a:custGeom>
              <a:avLst/>
              <a:gdLst/>
              <a:ahLst/>
              <a:cxnLst/>
              <a:rect r="r" b="b" t="t" l="l"/>
              <a:pathLst>
                <a:path h="2011680" w="2011680">
                  <a:moveTo>
                    <a:pt x="0" y="2011680"/>
                  </a:moveTo>
                  <a:lnTo>
                    <a:pt x="502920" y="0"/>
                  </a:lnTo>
                  <a:lnTo>
                    <a:pt x="2011680" y="0"/>
                  </a:lnTo>
                  <a:lnTo>
                    <a:pt x="1508760" y="2011680"/>
                  </a:lnTo>
                  <a:close/>
                </a:path>
              </a:pathLst>
            </a:custGeom>
            <a:solidFill>
              <a:srgbClr val="0F3F6F"/>
            </a:solidFill>
          </p:spPr>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97801" y="384353"/>
            <a:ext cx="851059" cy="851059"/>
            <a:chOff x="0" y="0"/>
            <a:chExt cx="1134745" cy="1134745"/>
          </a:xfrm>
        </p:grpSpPr>
        <p:sp>
          <p:nvSpPr>
            <p:cNvPr name="Freeform 3" id="3" descr="/home/claude/work/assets/logo.png"/>
            <p:cNvSpPr/>
            <p:nvPr/>
          </p:nvSpPr>
          <p:spPr>
            <a:xfrm flipH="false" flipV="false" rot="0">
              <a:off x="0" y="0"/>
              <a:ext cx="1134745" cy="1134745"/>
            </a:xfrm>
            <a:custGeom>
              <a:avLst/>
              <a:gdLst/>
              <a:ahLst/>
              <a:cxnLst/>
              <a:rect r="r" b="b" t="t" l="l"/>
              <a:pathLst>
                <a:path h="1134745" w="1134745">
                  <a:moveTo>
                    <a:pt x="0" y="0"/>
                  </a:moveTo>
                  <a:lnTo>
                    <a:pt x="1134745" y="0"/>
                  </a:lnTo>
                  <a:lnTo>
                    <a:pt x="1134745" y="1134745"/>
                  </a:lnTo>
                  <a:lnTo>
                    <a:pt x="0" y="1134745"/>
                  </a:lnTo>
                  <a:lnTo>
                    <a:pt x="0" y="0"/>
                  </a:lnTo>
                  <a:close/>
                </a:path>
              </a:pathLst>
            </a:custGeom>
            <a:blipFill>
              <a:blip r:embed="rId3"/>
              <a:stretch>
                <a:fillRect l="0" t="0" r="0" b="0"/>
              </a:stretch>
            </a:blipFill>
          </p:spPr>
        </p:sp>
      </p:grpSp>
      <p:grpSp>
        <p:nvGrpSpPr>
          <p:cNvPr name="Group 4" id="4"/>
          <p:cNvGrpSpPr/>
          <p:nvPr/>
        </p:nvGrpSpPr>
        <p:grpSpPr>
          <a:xfrm rot="0">
            <a:off x="6092195" y="1978862"/>
            <a:ext cx="6035088" cy="6035088"/>
            <a:chOff x="0" y="0"/>
            <a:chExt cx="6954876" cy="6954876"/>
          </a:xfrm>
        </p:grpSpPr>
        <p:sp>
          <p:nvSpPr>
            <p:cNvPr name="Freeform 5" id="5"/>
            <p:cNvSpPr/>
            <p:nvPr/>
          </p:nvSpPr>
          <p:spPr>
            <a:xfrm flipH="false" flipV="false" rot="0">
              <a:off x="0" y="0"/>
              <a:ext cx="6954901" cy="6954901"/>
            </a:xfrm>
            <a:custGeom>
              <a:avLst/>
              <a:gdLst/>
              <a:ahLst/>
              <a:cxnLst/>
              <a:rect r="r" b="b" t="t" l="l"/>
              <a:pathLst>
                <a:path h="6954901" w="6954901">
                  <a:moveTo>
                    <a:pt x="0" y="3477387"/>
                  </a:moveTo>
                  <a:cubicBezTo>
                    <a:pt x="0" y="1556893"/>
                    <a:pt x="1556893" y="0"/>
                    <a:pt x="3477387" y="0"/>
                  </a:cubicBezTo>
                  <a:cubicBezTo>
                    <a:pt x="5397881" y="0"/>
                    <a:pt x="6954901" y="1556893"/>
                    <a:pt x="6954901" y="3477387"/>
                  </a:cubicBezTo>
                  <a:cubicBezTo>
                    <a:pt x="6954901" y="5397881"/>
                    <a:pt x="5398008" y="6954901"/>
                    <a:pt x="3477387" y="6954901"/>
                  </a:cubicBezTo>
                  <a:cubicBezTo>
                    <a:pt x="1556766" y="6954901"/>
                    <a:pt x="0" y="5398008"/>
                    <a:pt x="0" y="3477387"/>
                  </a:cubicBezTo>
                  <a:close/>
                </a:path>
              </a:pathLst>
            </a:custGeom>
            <a:solidFill>
              <a:srgbClr val="1F4E79"/>
            </a:solidFill>
          </p:spPr>
        </p:sp>
      </p:grpSp>
      <p:grpSp>
        <p:nvGrpSpPr>
          <p:cNvPr name="Group 6" id="6"/>
          <p:cNvGrpSpPr/>
          <p:nvPr/>
        </p:nvGrpSpPr>
        <p:grpSpPr>
          <a:xfrm rot="0">
            <a:off x="6092195" y="2645894"/>
            <a:ext cx="6035088" cy="476457"/>
            <a:chOff x="0" y="0"/>
            <a:chExt cx="6954876" cy="549072"/>
          </a:xfrm>
        </p:grpSpPr>
        <p:sp>
          <p:nvSpPr>
            <p:cNvPr name="Freeform 7" id="7"/>
            <p:cNvSpPr/>
            <p:nvPr/>
          </p:nvSpPr>
          <p:spPr>
            <a:xfrm flipH="false" flipV="false" rot="0">
              <a:off x="0" y="0"/>
              <a:ext cx="6954873" cy="549069"/>
            </a:xfrm>
            <a:custGeom>
              <a:avLst/>
              <a:gdLst/>
              <a:ahLst/>
              <a:cxnLst/>
              <a:rect r="r" b="b" t="t" l="l"/>
              <a:pathLst>
                <a:path h="549069" w="6954873">
                  <a:moveTo>
                    <a:pt x="0" y="0"/>
                  </a:moveTo>
                  <a:lnTo>
                    <a:pt x="6954873" y="0"/>
                  </a:lnTo>
                  <a:lnTo>
                    <a:pt x="6954873" y="549069"/>
                  </a:lnTo>
                  <a:lnTo>
                    <a:pt x="0" y="549069"/>
                  </a:lnTo>
                  <a:close/>
                </a:path>
              </a:pathLst>
            </a:custGeom>
            <a:blipFill>
              <a:blip r:embed="rId4">
                <a:alphaModFix amt="0"/>
              </a:blip>
              <a:stretch>
                <a:fillRect l="0" t="-196810" r="0" b="-196810"/>
              </a:stretch>
            </a:blipFill>
          </p:spPr>
        </p:sp>
        <p:sp>
          <p:nvSpPr>
            <p:cNvPr name="TextBox 8" id="8"/>
            <p:cNvSpPr txBox="true"/>
            <p:nvPr/>
          </p:nvSpPr>
          <p:spPr>
            <a:xfrm>
              <a:off x="0" y="0"/>
              <a:ext cx="6954876" cy="549072"/>
            </a:xfrm>
            <a:prstGeom prst="rect">
              <a:avLst/>
            </a:prstGeom>
          </p:spPr>
          <p:txBody>
            <a:bodyPr anchor="ctr" rtlCol="false" tIns="0" lIns="0" bIns="0" rIns="0"/>
            <a:lstStyle/>
            <a:p>
              <a:pPr algn="ctr">
                <a:lnSpc>
                  <a:spcPts val="1981"/>
                </a:lnSpc>
              </a:pPr>
              <a:r>
                <a:rPr lang="en-US" sz="1651" spc="300">
                  <a:solidFill>
                    <a:srgbClr val="9FB8D4"/>
                  </a:solidFill>
                  <a:latin typeface="Cabin"/>
                  <a:ea typeface="Cabin"/>
                  <a:cs typeface="Cabin"/>
                  <a:sym typeface="Cabin"/>
                </a:rPr>
                <a:t>PHẦN 5.7</a:t>
              </a:r>
            </a:p>
          </p:txBody>
        </p:sp>
      </p:grpSp>
      <p:grpSp>
        <p:nvGrpSpPr>
          <p:cNvPr name="Group 9" id="9"/>
          <p:cNvGrpSpPr/>
          <p:nvPr/>
        </p:nvGrpSpPr>
        <p:grpSpPr>
          <a:xfrm rot="0">
            <a:off x="6092195" y="3058818"/>
            <a:ext cx="6035088" cy="1191130"/>
            <a:chOff x="0" y="0"/>
            <a:chExt cx="6954876" cy="1372667"/>
          </a:xfrm>
        </p:grpSpPr>
        <p:sp>
          <p:nvSpPr>
            <p:cNvPr name="Freeform 10" id="10"/>
            <p:cNvSpPr/>
            <p:nvPr/>
          </p:nvSpPr>
          <p:spPr>
            <a:xfrm flipH="false" flipV="false" rot="0">
              <a:off x="0" y="0"/>
              <a:ext cx="6954873" cy="1372672"/>
            </a:xfrm>
            <a:custGeom>
              <a:avLst/>
              <a:gdLst/>
              <a:ahLst/>
              <a:cxnLst/>
              <a:rect r="r" b="b" t="t" l="l"/>
              <a:pathLst>
                <a:path h="1372672" w="6954873">
                  <a:moveTo>
                    <a:pt x="0" y="0"/>
                  </a:moveTo>
                  <a:lnTo>
                    <a:pt x="6954873" y="0"/>
                  </a:lnTo>
                  <a:lnTo>
                    <a:pt x="6954873" y="1372672"/>
                  </a:lnTo>
                  <a:lnTo>
                    <a:pt x="0" y="1372672"/>
                  </a:lnTo>
                  <a:close/>
                </a:path>
              </a:pathLst>
            </a:custGeom>
            <a:blipFill>
              <a:blip r:embed="rId4">
                <a:alphaModFix amt="0"/>
              </a:blip>
              <a:stretch>
                <a:fillRect l="0" t="-48724" r="0" b="-48724"/>
              </a:stretch>
            </a:blipFill>
          </p:spPr>
        </p:sp>
        <p:sp>
          <p:nvSpPr>
            <p:cNvPr name="TextBox 11" id="11"/>
            <p:cNvSpPr txBox="true"/>
            <p:nvPr/>
          </p:nvSpPr>
          <p:spPr>
            <a:xfrm>
              <a:off x="0" y="-9525"/>
              <a:ext cx="6954876" cy="1382192"/>
            </a:xfrm>
            <a:prstGeom prst="rect">
              <a:avLst/>
            </a:prstGeom>
          </p:spPr>
          <p:txBody>
            <a:bodyPr anchor="ctr" rtlCol="false" tIns="0" lIns="0" bIns="0" rIns="0"/>
            <a:lstStyle/>
            <a:p>
              <a:pPr algn="ctr">
                <a:lnSpc>
                  <a:spcPts val="6124"/>
                </a:lnSpc>
              </a:pPr>
              <a:r>
                <a:rPr lang="en-US" sz="5103" b="true">
                  <a:solidFill>
                    <a:srgbClr val="FFFFFF"/>
                  </a:solidFill>
                  <a:latin typeface="TT Rounds Condensed Bold"/>
                  <a:ea typeface="TT Rounds Condensed Bold"/>
                  <a:cs typeface="TT Rounds Condensed Bold"/>
                  <a:sym typeface="TT Rounds Condensed Bold"/>
                </a:rPr>
                <a:t>5.7</a:t>
              </a:r>
            </a:p>
          </p:txBody>
        </p:sp>
      </p:grpSp>
      <p:sp>
        <p:nvSpPr>
          <p:cNvPr name="TextBox 12" id="12"/>
          <p:cNvSpPr txBox="true"/>
          <p:nvPr/>
        </p:nvSpPr>
        <p:spPr>
          <a:xfrm rot="0">
            <a:off x="6436219" y="4286977"/>
            <a:ext cx="5347039" cy="1005932"/>
          </a:xfrm>
          <a:prstGeom prst="rect">
            <a:avLst/>
          </a:prstGeom>
        </p:spPr>
        <p:txBody>
          <a:bodyPr anchor="t" rtlCol="false" tIns="0" lIns="0" bIns="0" rIns="0">
            <a:spAutoFit/>
          </a:bodyPr>
          <a:lstStyle/>
          <a:p>
            <a:pPr algn="ctr">
              <a:lnSpc>
                <a:spcPts val="3126"/>
              </a:lnSpc>
            </a:pPr>
            <a:r>
              <a:rPr lang="en-US" sz="2605" b="true">
                <a:solidFill>
                  <a:srgbClr val="FFFFFF"/>
                </a:solidFill>
                <a:latin typeface="Cabin Bold"/>
                <a:ea typeface="Cabin Bold"/>
                <a:cs typeface="Cabin Bold"/>
                <a:sym typeface="Cabin Bold"/>
              </a:rPr>
              <a:t>Data Partitioning</a:t>
            </a:r>
          </a:p>
        </p:txBody>
      </p:sp>
      <p:sp>
        <p:nvSpPr>
          <p:cNvPr name="TextBox 13" id="13"/>
          <p:cNvSpPr txBox="true"/>
          <p:nvPr/>
        </p:nvSpPr>
        <p:spPr>
          <a:xfrm rot="0">
            <a:off x="6515621" y="5605162"/>
            <a:ext cx="5188224" cy="1482389"/>
          </a:xfrm>
          <a:prstGeom prst="rect">
            <a:avLst/>
          </a:prstGeom>
        </p:spPr>
        <p:txBody>
          <a:bodyPr anchor="t" rtlCol="false" tIns="0" lIns="0" bIns="0" rIns="0">
            <a:spAutoFit/>
          </a:bodyPr>
          <a:lstStyle/>
          <a:p>
            <a:pPr algn="ctr">
              <a:lnSpc>
                <a:spcPts val="1980"/>
              </a:lnSpc>
            </a:pPr>
            <a:r>
              <a:rPr lang="en-US" sz="1650">
                <a:solidFill>
                  <a:srgbClr val="D7E3F0"/>
                </a:solidFill>
                <a:latin typeface="Cabin"/>
                <a:ea typeface="Cabin"/>
                <a:cs typeface="Cabin"/>
                <a:sym typeface="Cabin"/>
              </a:rPr>
              <a:t>Cách Spark chia nhỏ dữ liệu để xử lý song song</a:t>
            </a:r>
          </a:p>
        </p:txBody>
      </p:sp>
      <p:grpSp>
        <p:nvGrpSpPr>
          <p:cNvPr name="Group 14" id="14"/>
          <p:cNvGrpSpPr/>
          <p:nvPr/>
        </p:nvGrpSpPr>
        <p:grpSpPr>
          <a:xfrm rot="0">
            <a:off x="480431" y="9087088"/>
            <a:ext cx="1692916" cy="411804"/>
            <a:chOff x="0" y="0"/>
            <a:chExt cx="2257222" cy="549072"/>
          </a:xfrm>
        </p:grpSpPr>
        <p:sp>
          <p:nvSpPr>
            <p:cNvPr name="Freeform 15" id="15"/>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16" id="16"/>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5.1 MR→Spark</a:t>
              </a:r>
            </a:p>
          </p:txBody>
        </p:sp>
      </p:grpSp>
      <p:grpSp>
        <p:nvGrpSpPr>
          <p:cNvPr name="Group 17" id="17"/>
          <p:cNvGrpSpPr/>
          <p:nvPr/>
        </p:nvGrpSpPr>
        <p:grpSpPr>
          <a:xfrm rot="0">
            <a:off x="2214534" y="9087088"/>
            <a:ext cx="1692916" cy="411804"/>
            <a:chOff x="0" y="0"/>
            <a:chExt cx="2257222" cy="549072"/>
          </a:xfrm>
        </p:grpSpPr>
        <p:sp>
          <p:nvSpPr>
            <p:cNvPr name="Freeform 18" id="18"/>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19" id="19"/>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5.2 Spark</a:t>
              </a:r>
            </a:p>
          </p:txBody>
        </p:sp>
      </p:grpSp>
      <p:grpSp>
        <p:nvGrpSpPr>
          <p:cNvPr name="Group 20" id="20"/>
          <p:cNvGrpSpPr/>
          <p:nvPr/>
        </p:nvGrpSpPr>
        <p:grpSpPr>
          <a:xfrm rot="0">
            <a:off x="3948627" y="9087088"/>
            <a:ext cx="1692916" cy="411804"/>
            <a:chOff x="0" y="0"/>
            <a:chExt cx="2257222" cy="549072"/>
          </a:xfrm>
        </p:grpSpPr>
        <p:sp>
          <p:nvSpPr>
            <p:cNvPr name="Freeform 21" id="21"/>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22" id="22"/>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5.3 So sánh</a:t>
              </a:r>
            </a:p>
          </p:txBody>
        </p:sp>
      </p:grpSp>
      <p:grpSp>
        <p:nvGrpSpPr>
          <p:cNvPr name="Group 23" id="23"/>
          <p:cNvGrpSpPr/>
          <p:nvPr/>
        </p:nvGrpSpPr>
        <p:grpSpPr>
          <a:xfrm rot="0">
            <a:off x="5682729" y="9087088"/>
            <a:ext cx="1692916" cy="411804"/>
            <a:chOff x="0" y="0"/>
            <a:chExt cx="2257222" cy="549072"/>
          </a:xfrm>
        </p:grpSpPr>
        <p:sp>
          <p:nvSpPr>
            <p:cNvPr name="Freeform 24" id="24"/>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25" id="25"/>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5.4 Kiến trúc</a:t>
              </a:r>
            </a:p>
          </p:txBody>
        </p:sp>
      </p:grpSp>
      <p:grpSp>
        <p:nvGrpSpPr>
          <p:cNvPr name="Group 26" id="26"/>
          <p:cNvGrpSpPr/>
          <p:nvPr/>
        </p:nvGrpSpPr>
        <p:grpSpPr>
          <a:xfrm rot="0">
            <a:off x="7416822" y="9087088"/>
            <a:ext cx="1692916" cy="411804"/>
            <a:chOff x="0" y="0"/>
            <a:chExt cx="2257222" cy="549072"/>
          </a:xfrm>
        </p:grpSpPr>
        <p:sp>
          <p:nvSpPr>
            <p:cNvPr name="Freeform 27" id="27"/>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28" id="28"/>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5.5 Thực thi</a:t>
              </a:r>
            </a:p>
          </p:txBody>
        </p:sp>
      </p:grpSp>
      <p:grpSp>
        <p:nvGrpSpPr>
          <p:cNvPr name="Group 29" id="29"/>
          <p:cNvGrpSpPr/>
          <p:nvPr/>
        </p:nvGrpSpPr>
        <p:grpSpPr>
          <a:xfrm rot="0">
            <a:off x="9150925" y="9087088"/>
            <a:ext cx="1692916" cy="411804"/>
            <a:chOff x="0" y="0"/>
            <a:chExt cx="2257222" cy="549072"/>
          </a:xfrm>
        </p:grpSpPr>
        <p:sp>
          <p:nvSpPr>
            <p:cNvPr name="Freeform 30" id="30"/>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31" id="31"/>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5.6 Transform/Action</a:t>
              </a:r>
            </a:p>
          </p:txBody>
        </p:sp>
      </p:grpSp>
      <p:grpSp>
        <p:nvGrpSpPr>
          <p:cNvPr name="Group 32" id="32"/>
          <p:cNvGrpSpPr/>
          <p:nvPr/>
        </p:nvGrpSpPr>
        <p:grpSpPr>
          <a:xfrm rot="0">
            <a:off x="10885018" y="9087088"/>
            <a:ext cx="1692916" cy="411804"/>
            <a:chOff x="0" y="0"/>
            <a:chExt cx="2257222" cy="549072"/>
          </a:xfrm>
        </p:grpSpPr>
        <p:sp>
          <p:nvSpPr>
            <p:cNvPr name="Freeform 33" id="33"/>
            <p:cNvSpPr/>
            <p:nvPr/>
          </p:nvSpPr>
          <p:spPr>
            <a:xfrm flipH="false" flipV="false" rot="0">
              <a:off x="0" y="0"/>
              <a:ext cx="2257171" cy="549021"/>
            </a:xfrm>
            <a:custGeom>
              <a:avLst/>
              <a:gdLst/>
              <a:ahLst/>
              <a:cxnLst/>
              <a:rect r="r" b="b" t="t" l="l"/>
              <a:pathLst>
                <a:path h="549021" w="2257171">
                  <a:moveTo>
                    <a:pt x="0" y="0"/>
                  </a:moveTo>
                  <a:lnTo>
                    <a:pt x="2257171" y="0"/>
                  </a:lnTo>
                  <a:lnTo>
                    <a:pt x="2257171" y="549021"/>
                  </a:lnTo>
                  <a:lnTo>
                    <a:pt x="0" y="549021"/>
                  </a:lnTo>
                  <a:close/>
                </a:path>
              </a:pathLst>
            </a:custGeom>
            <a:solidFill>
              <a:srgbClr val="85B518"/>
            </a:solidFill>
          </p:spPr>
        </p:sp>
        <p:sp>
          <p:nvSpPr>
            <p:cNvPr name="TextBox 34" id="34"/>
            <p:cNvSpPr txBox="true"/>
            <p:nvPr/>
          </p:nvSpPr>
          <p:spPr>
            <a:xfrm>
              <a:off x="0" y="0"/>
              <a:ext cx="2257222" cy="549072"/>
            </a:xfrm>
            <a:prstGeom prst="rect">
              <a:avLst/>
            </a:prstGeom>
          </p:spPr>
          <p:txBody>
            <a:bodyPr anchor="ctr" rtlCol="false" tIns="50800" lIns="50800" bIns="50800" rIns="50800"/>
            <a:lstStyle/>
            <a:p>
              <a:pPr algn="ctr">
                <a:lnSpc>
                  <a:spcPts val="1170"/>
                </a:lnSpc>
              </a:pPr>
              <a:r>
                <a:rPr lang="en-US" sz="975" b="true">
                  <a:solidFill>
                    <a:srgbClr val="FFFFFF"/>
                  </a:solidFill>
                  <a:latin typeface="Cabin Bold"/>
                  <a:ea typeface="Cabin Bold"/>
                  <a:cs typeface="Cabin Bold"/>
                  <a:sym typeface="Cabin Bold"/>
                </a:rPr>
                <a:t>5.7 Partition</a:t>
              </a:r>
            </a:p>
          </p:txBody>
        </p:sp>
      </p:grpSp>
      <p:grpSp>
        <p:nvGrpSpPr>
          <p:cNvPr name="Group 35" id="35"/>
          <p:cNvGrpSpPr/>
          <p:nvPr/>
        </p:nvGrpSpPr>
        <p:grpSpPr>
          <a:xfrm rot="0">
            <a:off x="12619111" y="9087088"/>
            <a:ext cx="1692916" cy="411804"/>
            <a:chOff x="0" y="0"/>
            <a:chExt cx="2257222" cy="549072"/>
          </a:xfrm>
        </p:grpSpPr>
        <p:sp>
          <p:nvSpPr>
            <p:cNvPr name="Freeform 36" id="36"/>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37" id="37"/>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5.8 RDD/DF</a:t>
              </a:r>
            </a:p>
          </p:txBody>
        </p:sp>
      </p:grpSp>
      <p:grpSp>
        <p:nvGrpSpPr>
          <p:cNvPr name="Group 38" id="38"/>
          <p:cNvGrpSpPr/>
          <p:nvPr/>
        </p:nvGrpSpPr>
        <p:grpSpPr>
          <a:xfrm rot="0">
            <a:off x="14353213" y="9087088"/>
            <a:ext cx="1692916" cy="411804"/>
            <a:chOff x="0" y="0"/>
            <a:chExt cx="2257222" cy="549072"/>
          </a:xfrm>
        </p:grpSpPr>
        <p:sp>
          <p:nvSpPr>
            <p:cNvPr name="Freeform 39" id="39"/>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40" id="40"/>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5.9 PySpark</a:t>
              </a:r>
            </a:p>
          </p:txBody>
        </p:sp>
      </p:grpSp>
      <p:grpSp>
        <p:nvGrpSpPr>
          <p:cNvPr name="Group 41" id="41"/>
          <p:cNvGrpSpPr/>
          <p:nvPr/>
        </p:nvGrpSpPr>
        <p:grpSpPr>
          <a:xfrm rot="0">
            <a:off x="16087306" y="9087088"/>
            <a:ext cx="1692916" cy="411804"/>
            <a:chOff x="0" y="0"/>
            <a:chExt cx="2257222" cy="549072"/>
          </a:xfrm>
        </p:grpSpPr>
        <p:sp>
          <p:nvSpPr>
            <p:cNvPr name="Freeform 42" id="42"/>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43" id="43"/>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TH Thực hành</a:t>
              </a:r>
            </a:p>
          </p:txBody>
        </p:sp>
      </p:grpSp>
      <p:grpSp>
        <p:nvGrpSpPr>
          <p:cNvPr name="Group 44" id="44"/>
          <p:cNvGrpSpPr/>
          <p:nvPr/>
        </p:nvGrpSpPr>
        <p:grpSpPr>
          <a:xfrm rot="0">
            <a:off x="0" y="9677343"/>
            <a:ext cx="18301840" cy="617706"/>
            <a:chOff x="0" y="0"/>
            <a:chExt cx="24402453" cy="823608"/>
          </a:xfrm>
        </p:grpSpPr>
        <p:sp>
          <p:nvSpPr>
            <p:cNvPr name="Freeform 45" id="45"/>
            <p:cNvSpPr/>
            <p:nvPr/>
          </p:nvSpPr>
          <p:spPr>
            <a:xfrm flipH="false" flipV="false" rot="0">
              <a:off x="0" y="0"/>
              <a:ext cx="24402414" cy="823595"/>
            </a:xfrm>
            <a:custGeom>
              <a:avLst/>
              <a:gdLst/>
              <a:ahLst/>
              <a:cxnLst/>
              <a:rect r="r" b="b" t="t" l="l"/>
              <a:pathLst>
                <a:path h="823595" w="24402414">
                  <a:moveTo>
                    <a:pt x="0" y="0"/>
                  </a:moveTo>
                  <a:lnTo>
                    <a:pt x="24402414" y="0"/>
                  </a:lnTo>
                  <a:lnTo>
                    <a:pt x="24402414" y="823595"/>
                  </a:lnTo>
                  <a:lnTo>
                    <a:pt x="0" y="823595"/>
                  </a:lnTo>
                  <a:close/>
                </a:path>
              </a:pathLst>
            </a:custGeom>
            <a:solidFill>
              <a:srgbClr val="1F4E79"/>
            </a:solidFill>
          </p:spPr>
        </p:sp>
      </p:grpSp>
      <p:grpSp>
        <p:nvGrpSpPr>
          <p:cNvPr name="Group 46" id="46"/>
          <p:cNvGrpSpPr/>
          <p:nvPr/>
        </p:nvGrpSpPr>
        <p:grpSpPr>
          <a:xfrm rot="0">
            <a:off x="480431" y="9677343"/>
            <a:ext cx="10981382" cy="617706"/>
            <a:chOff x="0" y="0"/>
            <a:chExt cx="14641843" cy="823608"/>
          </a:xfrm>
        </p:grpSpPr>
        <p:sp>
          <p:nvSpPr>
            <p:cNvPr name="Freeform 47" id="47"/>
            <p:cNvSpPr/>
            <p:nvPr/>
          </p:nvSpPr>
          <p:spPr>
            <a:xfrm flipH="false" flipV="false" rot="0">
              <a:off x="0" y="0"/>
              <a:ext cx="14641840" cy="823603"/>
            </a:xfrm>
            <a:custGeom>
              <a:avLst/>
              <a:gdLst/>
              <a:ahLst/>
              <a:cxnLst/>
              <a:rect r="r" b="b" t="t" l="l"/>
              <a:pathLst>
                <a:path h="823603" w="14641840">
                  <a:moveTo>
                    <a:pt x="0" y="0"/>
                  </a:moveTo>
                  <a:lnTo>
                    <a:pt x="14641840" y="0"/>
                  </a:lnTo>
                  <a:lnTo>
                    <a:pt x="14641840" y="823603"/>
                  </a:lnTo>
                  <a:lnTo>
                    <a:pt x="0" y="823603"/>
                  </a:lnTo>
                  <a:close/>
                </a:path>
              </a:pathLst>
            </a:custGeom>
            <a:blipFill>
              <a:blip r:embed="rId4">
                <a:alphaModFix amt="0"/>
              </a:blip>
              <a:stretch>
                <a:fillRect l="0" t="-296400" r="0" b="-296401"/>
              </a:stretch>
            </a:blipFill>
          </p:spPr>
        </p:sp>
        <p:sp>
          <p:nvSpPr>
            <p:cNvPr name="TextBox 48" id="48"/>
            <p:cNvSpPr txBox="true"/>
            <p:nvPr/>
          </p:nvSpPr>
          <p:spPr>
            <a:xfrm>
              <a:off x="0" y="0"/>
              <a:ext cx="14641843" cy="823608"/>
            </a:xfrm>
            <a:prstGeom prst="rect">
              <a:avLst/>
            </a:prstGeom>
          </p:spPr>
          <p:txBody>
            <a:bodyPr anchor="ctr" rtlCol="false" tIns="0" lIns="0" bIns="0" rIns="0"/>
            <a:lstStyle/>
            <a:p>
              <a:pPr algn="l">
                <a:lnSpc>
                  <a:spcPts val="1621"/>
                </a:lnSpc>
              </a:pPr>
              <a:r>
                <a:rPr lang="en-US" sz="1351">
                  <a:solidFill>
                    <a:srgbClr val="FFFFFF"/>
                  </a:solidFill>
                  <a:latin typeface="Cabin"/>
                  <a:ea typeface="Cabin"/>
                  <a:cs typeface="Cabin"/>
                  <a:sym typeface="Cabin"/>
                </a:rPr>
                <a:t>VNU UET – Institute for Artificial Intelligence</a:t>
              </a:r>
            </a:p>
          </p:txBody>
        </p:sp>
      </p:grpSp>
      <p:grpSp>
        <p:nvGrpSpPr>
          <p:cNvPr name="Group 49" id="49"/>
          <p:cNvGrpSpPr/>
          <p:nvPr/>
        </p:nvGrpSpPr>
        <p:grpSpPr>
          <a:xfrm rot="0">
            <a:off x="17066438" y="9677343"/>
            <a:ext cx="823608" cy="617706"/>
            <a:chOff x="0" y="0"/>
            <a:chExt cx="1098144" cy="823608"/>
          </a:xfrm>
        </p:grpSpPr>
        <p:sp>
          <p:nvSpPr>
            <p:cNvPr name="Freeform 50" id="50"/>
            <p:cNvSpPr/>
            <p:nvPr/>
          </p:nvSpPr>
          <p:spPr>
            <a:xfrm flipH="false" flipV="false" rot="0">
              <a:off x="0" y="0"/>
              <a:ext cx="1098138" cy="823603"/>
            </a:xfrm>
            <a:custGeom>
              <a:avLst/>
              <a:gdLst/>
              <a:ahLst/>
              <a:cxnLst/>
              <a:rect r="r" b="b" t="t" l="l"/>
              <a:pathLst>
                <a:path h="823603" w="1098138">
                  <a:moveTo>
                    <a:pt x="0" y="0"/>
                  </a:moveTo>
                  <a:lnTo>
                    <a:pt x="1098138" y="0"/>
                  </a:lnTo>
                  <a:lnTo>
                    <a:pt x="1098138" y="823603"/>
                  </a:lnTo>
                  <a:lnTo>
                    <a:pt x="0" y="823603"/>
                  </a:lnTo>
                  <a:close/>
                </a:path>
              </a:pathLst>
            </a:custGeom>
            <a:blipFill>
              <a:blip r:embed="rId4">
                <a:alphaModFix amt="0"/>
              </a:blip>
              <a:stretch>
                <a:fillRect l="-46227" t="0" r="-46228" b="0"/>
              </a:stretch>
            </a:blipFill>
          </p:spPr>
        </p:sp>
        <p:sp>
          <p:nvSpPr>
            <p:cNvPr name="TextBox 51" id="51"/>
            <p:cNvSpPr txBox="true"/>
            <p:nvPr/>
          </p:nvSpPr>
          <p:spPr>
            <a:xfrm>
              <a:off x="0" y="0"/>
              <a:ext cx="1098144" cy="823608"/>
            </a:xfrm>
            <a:prstGeom prst="rect">
              <a:avLst/>
            </a:prstGeom>
          </p:spPr>
          <p:txBody>
            <a:bodyPr anchor="ctr" rtlCol="false" tIns="0" lIns="0" bIns="0" rIns="0"/>
            <a:lstStyle/>
            <a:p>
              <a:pPr algn="r">
                <a:lnSpc>
                  <a:spcPts val="1621"/>
                </a:lnSpc>
              </a:pPr>
              <a:r>
                <a:rPr lang="en-US" sz="1351">
                  <a:solidFill>
                    <a:srgbClr val="FFFFFF"/>
                  </a:solidFill>
                  <a:latin typeface="Cabin"/>
                  <a:ea typeface="Cabin"/>
                  <a:cs typeface="Cabin"/>
                  <a:sym typeface="Cabin"/>
                </a:rPr>
                <a:t>19</a:t>
              </a:r>
            </a:p>
          </p:txBody>
        </p:sp>
      </p:grpSp>
      <p:grpSp>
        <p:nvGrpSpPr>
          <p:cNvPr name="Group 52" id="52"/>
          <p:cNvGrpSpPr/>
          <p:nvPr/>
        </p:nvGrpSpPr>
        <p:grpSpPr>
          <a:xfrm rot="0">
            <a:off x="0" y="0"/>
            <a:ext cx="18288000" cy="315468"/>
            <a:chOff x="0" y="0"/>
            <a:chExt cx="24384000" cy="420624"/>
          </a:xfrm>
        </p:grpSpPr>
        <p:sp>
          <p:nvSpPr>
            <p:cNvPr name="Freeform 53" id="53"/>
            <p:cNvSpPr/>
            <p:nvPr/>
          </p:nvSpPr>
          <p:spPr>
            <a:xfrm flipH="false" flipV="false" rot="0">
              <a:off x="0" y="0"/>
              <a:ext cx="24384000" cy="420624"/>
            </a:xfrm>
            <a:custGeom>
              <a:avLst/>
              <a:gdLst/>
              <a:ahLst/>
              <a:cxnLst/>
              <a:rect r="r" b="b" t="t" l="l"/>
              <a:pathLst>
                <a:path h="420624" w="24384000">
                  <a:moveTo>
                    <a:pt x="0" y="0"/>
                  </a:moveTo>
                  <a:lnTo>
                    <a:pt x="24384000" y="0"/>
                  </a:lnTo>
                  <a:lnTo>
                    <a:pt x="24384000" y="420624"/>
                  </a:lnTo>
                  <a:lnTo>
                    <a:pt x="0" y="420624"/>
                  </a:lnTo>
                  <a:close/>
                </a:path>
              </a:pathLst>
            </a:custGeom>
            <a:solidFill>
              <a:srgbClr val="0F3F6F"/>
            </a:solidFill>
          </p:spPr>
        </p:sp>
      </p:grpSp>
      <p:grpSp>
        <p:nvGrpSpPr>
          <p:cNvPr name="Group 54" id="54"/>
          <p:cNvGrpSpPr/>
          <p:nvPr/>
        </p:nvGrpSpPr>
        <p:grpSpPr>
          <a:xfrm rot="0">
            <a:off x="13098780" y="0"/>
            <a:ext cx="1453896" cy="1508760"/>
            <a:chOff x="0" y="0"/>
            <a:chExt cx="1938528" cy="2011680"/>
          </a:xfrm>
        </p:grpSpPr>
        <p:sp>
          <p:nvSpPr>
            <p:cNvPr name="Freeform 55" id="55"/>
            <p:cNvSpPr/>
            <p:nvPr/>
          </p:nvSpPr>
          <p:spPr>
            <a:xfrm flipH="false" flipV="false" rot="0">
              <a:off x="0" y="0"/>
              <a:ext cx="1938528" cy="2011680"/>
            </a:xfrm>
            <a:custGeom>
              <a:avLst/>
              <a:gdLst/>
              <a:ahLst/>
              <a:cxnLst/>
              <a:rect r="r" b="b" t="t" l="l"/>
              <a:pathLst>
                <a:path h="2011680" w="1938528">
                  <a:moveTo>
                    <a:pt x="0" y="2011680"/>
                  </a:moveTo>
                  <a:lnTo>
                    <a:pt x="484632" y="0"/>
                  </a:lnTo>
                  <a:lnTo>
                    <a:pt x="1938528" y="0"/>
                  </a:lnTo>
                  <a:lnTo>
                    <a:pt x="1453896" y="2011680"/>
                  </a:lnTo>
                  <a:close/>
                </a:path>
              </a:pathLst>
            </a:custGeom>
            <a:solidFill>
              <a:srgbClr val="85B518"/>
            </a:solidFill>
          </p:spPr>
        </p:sp>
      </p:grpSp>
      <p:grpSp>
        <p:nvGrpSpPr>
          <p:cNvPr name="Group 56" id="56"/>
          <p:cNvGrpSpPr/>
          <p:nvPr/>
        </p:nvGrpSpPr>
        <p:grpSpPr>
          <a:xfrm rot="0">
            <a:off x="14621256" y="0"/>
            <a:ext cx="1508760" cy="1508760"/>
            <a:chOff x="0" y="0"/>
            <a:chExt cx="2011680" cy="2011680"/>
          </a:xfrm>
        </p:grpSpPr>
        <p:sp>
          <p:nvSpPr>
            <p:cNvPr name="Freeform 57" id="57"/>
            <p:cNvSpPr/>
            <p:nvPr/>
          </p:nvSpPr>
          <p:spPr>
            <a:xfrm flipH="false" flipV="false" rot="0">
              <a:off x="0" y="0"/>
              <a:ext cx="2011680" cy="2011680"/>
            </a:xfrm>
            <a:custGeom>
              <a:avLst/>
              <a:gdLst/>
              <a:ahLst/>
              <a:cxnLst/>
              <a:rect r="r" b="b" t="t" l="l"/>
              <a:pathLst>
                <a:path h="2011680" w="2011680">
                  <a:moveTo>
                    <a:pt x="0" y="2011680"/>
                  </a:moveTo>
                  <a:lnTo>
                    <a:pt x="502920" y="0"/>
                  </a:lnTo>
                  <a:lnTo>
                    <a:pt x="2011680" y="0"/>
                  </a:lnTo>
                  <a:lnTo>
                    <a:pt x="1508760" y="2011680"/>
                  </a:lnTo>
                  <a:close/>
                </a:path>
              </a:pathLst>
            </a:custGeom>
            <a:solidFill>
              <a:srgbClr val="0F3F6F"/>
            </a:solidFill>
          </p:spPr>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97801" y="384353"/>
            <a:ext cx="851059" cy="851059"/>
            <a:chOff x="0" y="0"/>
            <a:chExt cx="1134745" cy="1134745"/>
          </a:xfrm>
        </p:grpSpPr>
        <p:sp>
          <p:nvSpPr>
            <p:cNvPr name="Freeform 3" id="3" descr="/home/claude/work/assets/logo.png"/>
            <p:cNvSpPr/>
            <p:nvPr/>
          </p:nvSpPr>
          <p:spPr>
            <a:xfrm flipH="false" flipV="false" rot="0">
              <a:off x="0" y="0"/>
              <a:ext cx="1134745" cy="1134745"/>
            </a:xfrm>
            <a:custGeom>
              <a:avLst/>
              <a:gdLst/>
              <a:ahLst/>
              <a:cxnLst/>
              <a:rect r="r" b="b" t="t" l="l"/>
              <a:pathLst>
                <a:path h="1134745" w="1134745">
                  <a:moveTo>
                    <a:pt x="0" y="0"/>
                  </a:moveTo>
                  <a:lnTo>
                    <a:pt x="1134745" y="0"/>
                  </a:lnTo>
                  <a:lnTo>
                    <a:pt x="1134745" y="1134745"/>
                  </a:lnTo>
                  <a:lnTo>
                    <a:pt x="0" y="1134745"/>
                  </a:lnTo>
                  <a:lnTo>
                    <a:pt x="0" y="0"/>
                  </a:lnTo>
                  <a:close/>
                </a:path>
              </a:pathLst>
            </a:custGeom>
            <a:blipFill>
              <a:blip r:embed="rId3"/>
              <a:stretch>
                <a:fillRect l="0" t="0" r="0" b="0"/>
              </a:stretch>
            </a:blipFill>
          </p:spPr>
        </p:sp>
      </p:grpSp>
      <p:grpSp>
        <p:nvGrpSpPr>
          <p:cNvPr name="Group 4" id="4"/>
          <p:cNvGrpSpPr/>
          <p:nvPr/>
        </p:nvGrpSpPr>
        <p:grpSpPr>
          <a:xfrm rot="0">
            <a:off x="686333" y="384353"/>
            <a:ext cx="10981382" cy="411804"/>
            <a:chOff x="0" y="0"/>
            <a:chExt cx="14641843" cy="549072"/>
          </a:xfrm>
        </p:grpSpPr>
        <p:sp>
          <p:nvSpPr>
            <p:cNvPr name="Freeform 5" id="5"/>
            <p:cNvSpPr/>
            <p:nvPr/>
          </p:nvSpPr>
          <p:spPr>
            <a:xfrm flipH="false" flipV="false" rot="0">
              <a:off x="0" y="0"/>
              <a:ext cx="14641840" cy="549069"/>
            </a:xfrm>
            <a:custGeom>
              <a:avLst/>
              <a:gdLst/>
              <a:ahLst/>
              <a:cxnLst/>
              <a:rect r="r" b="b" t="t" l="l"/>
              <a:pathLst>
                <a:path h="549069" w="14641840">
                  <a:moveTo>
                    <a:pt x="0" y="0"/>
                  </a:moveTo>
                  <a:lnTo>
                    <a:pt x="14641840" y="0"/>
                  </a:lnTo>
                  <a:lnTo>
                    <a:pt x="14641840" y="549069"/>
                  </a:lnTo>
                  <a:lnTo>
                    <a:pt x="0" y="549069"/>
                  </a:lnTo>
                  <a:close/>
                </a:path>
              </a:pathLst>
            </a:custGeom>
            <a:blipFill>
              <a:blip r:embed="rId4">
                <a:alphaModFix amt="0"/>
              </a:blip>
              <a:stretch>
                <a:fillRect l="0" t="-469600" r="0" b="-469601"/>
              </a:stretch>
            </a:blipFill>
          </p:spPr>
        </p:sp>
        <p:sp>
          <p:nvSpPr>
            <p:cNvPr name="TextBox 6" id="6"/>
            <p:cNvSpPr txBox="true"/>
            <p:nvPr/>
          </p:nvSpPr>
          <p:spPr>
            <a:xfrm>
              <a:off x="0" y="0"/>
              <a:ext cx="14641843" cy="549072"/>
            </a:xfrm>
            <a:prstGeom prst="rect">
              <a:avLst/>
            </a:prstGeom>
          </p:spPr>
          <p:txBody>
            <a:bodyPr anchor="ctr" rtlCol="false" tIns="0" lIns="0" bIns="0" rIns="0"/>
            <a:lstStyle/>
            <a:p>
              <a:pPr algn="l">
                <a:lnSpc>
                  <a:spcPts val="1981"/>
                </a:lnSpc>
              </a:pPr>
              <a:r>
                <a:rPr lang="en-US" sz="1651" i="true">
                  <a:solidFill>
                    <a:srgbClr val="4A4A4A"/>
                  </a:solidFill>
                  <a:latin typeface="Cabin Italics"/>
                  <a:ea typeface="Cabin Italics"/>
                  <a:cs typeface="Cabin Italics"/>
                  <a:sym typeface="Cabin Italics"/>
                </a:rPr>
                <a:t>5.7. Data Partitioning · Bài 05</a:t>
              </a:r>
            </a:p>
          </p:txBody>
        </p:sp>
      </p:grpSp>
      <p:grpSp>
        <p:nvGrpSpPr>
          <p:cNvPr name="Group 7" id="7"/>
          <p:cNvGrpSpPr/>
          <p:nvPr/>
        </p:nvGrpSpPr>
        <p:grpSpPr>
          <a:xfrm rot="0">
            <a:off x="674418" y="839143"/>
            <a:ext cx="710165" cy="710165"/>
            <a:chOff x="0" y="0"/>
            <a:chExt cx="946887" cy="946887"/>
          </a:xfrm>
        </p:grpSpPr>
        <p:sp>
          <p:nvSpPr>
            <p:cNvPr name="Freeform 8" id="8"/>
            <p:cNvSpPr/>
            <p:nvPr/>
          </p:nvSpPr>
          <p:spPr>
            <a:xfrm flipH="false" flipV="false" rot="0">
              <a:off x="0" y="0"/>
              <a:ext cx="946912" cy="946912"/>
            </a:xfrm>
            <a:custGeom>
              <a:avLst/>
              <a:gdLst/>
              <a:ahLst/>
              <a:cxnLst/>
              <a:rect r="r" b="b" t="t" l="l"/>
              <a:pathLst>
                <a:path h="946912" w="946912">
                  <a:moveTo>
                    <a:pt x="0" y="473456"/>
                  </a:moveTo>
                  <a:cubicBezTo>
                    <a:pt x="0" y="211963"/>
                    <a:pt x="211963" y="0"/>
                    <a:pt x="473456" y="0"/>
                  </a:cubicBezTo>
                  <a:cubicBezTo>
                    <a:pt x="734949" y="0"/>
                    <a:pt x="946912" y="211963"/>
                    <a:pt x="946912" y="473456"/>
                  </a:cubicBezTo>
                  <a:cubicBezTo>
                    <a:pt x="946912" y="734949"/>
                    <a:pt x="734949" y="946912"/>
                    <a:pt x="473456" y="946912"/>
                  </a:cubicBezTo>
                  <a:cubicBezTo>
                    <a:pt x="211963" y="946912"/>
                    <a:pt x="0" y="734949"/>
                    <a:pt x="0" y="473456"/>
                  </a:cubicBezTo>
                  <a:close/>
                </a:path>
              </a:pathLst>
            </a:custGeom>
            <a:solidFill>
              <a:srgbClr val="FFFFFF"/>
            </a:solidFill>
            <a:ln w="23831" cap="sq">
              <a:solidFill>
                <a:srgbClr val="1F4E79"/>
              </a:solidFill>
              <a:prstDash val="solid"/>
              <a:miter/>
            </a:ln>
          </p:spPr>
        </p:sp>
      </p:grpSp>
      <p:grpSp>
        <p:nvGrpSpPr>
          <p:cNvPr name="Group 9" id="9"/>
          <p:cNvGrpSpPr/>
          <p:nvPr/>
        </p:nvGrpSpPr>
        <p:grpSpPr>
          <a:xfrm rot="0">
            <a:off x="686333" y="851059"/>
            <a:ext cx="686333" cy="686333"/>
            <a:chOff x="0" y="0"/>
            <a:chExt cx="915111" cy="915111"/>
          </a:xfrm>
        </p:grpSpPr>
        <p:sp>
          <p:nvSpPr>
            <p:cNvPr name="Freeform 10" id="10"/>
            <p:cNvSpPr/>
            <p:nvPr/>
          </p:nvSpPr>
          <p:spPr>
            <a:xfrm flipH="false" flipV="false" rot="0">
              <a:off x="0" y="0"/>
              <a:ext cx="915115" cy="915115"/>
            </a:xfrm>
            <a:custGeom>
              <a:avLst/>
              <a:gdLst/>
              <a:ahLst/>
              <a:cxnLst/>
              <a:rect r="r" b="b" t="t" l="l"/>
              <a:pathLst>
                <a:path h="915115" w="915115">
                  <a:moveTo>
                    <a:pt x="0" y="0"/>
                  </a:moveTo>
                  <a:lnTo>
                    <a:pt x="915115" y="0"/>
                  </a:lnTo>
                  <a:lnTo>
                    <a:pt x="915115" y="915115"/>
                  </a:lnTo>
                  <a:lnTo>
                    <a:pt x="0" y="915115"/>
                  </a:lnTo>
                  <a:close/>
                </a:path>
              </a:pathLst>
            </a:custGeom>
            <a:blipFill>
              <a:blip r:embed="rId4">
                <a:alphaModFix amt="0"/>
              </a:blip>
              <a:stretch>
                <a:fillRect l="-78303" t="0" r="-78302" b="0"/>
              </a:stretch>
            </a:blipFill>
          </p:spPr>
        </p:sp>
        <p:sp>
          <p:nvSpPr>
            <p:cNvPr name="TextBox 11" id="11"/>
            <p:cNvSpPr txBox="true"/>
            <p:nvPr/>
          </p:nvSpPr>
          <p:spPr>
            <a:xfrm>
              <a:off x="0" y="0"/>
              <a:ext cx="915111" cy="915111"/>
            </a:xfrm>
            <a:prstGeom prst="rect">
              <a:avLst/>
            </a:prstGeom>
          </p:spPr>
          <p:txBody>
            <a:bodyPr anchor="ctr" rtlCol="false" tIns="0" lIns="0" bIns="0" rIns="0"/>
            <a:lstStyle/>
            <a:p>
              <a:pPr algn="ctr">
                <a:lnSpc>
                  <a:spcPts val="2521"/>
                </a:lnSpc>
              </a:pPr>
              <a:r>
                <a:rPr lang="en-US" sz="2101" b="true">
                  <a:solidFill>
                    <a:srgbClr val="1F4E79"/>
                  </a:solidFill>
                  <a:latin typeface="Cabin Bold"/>
                  <a:ea typeface="Cabin Bold"/>
                  <a:cs typeface="Cabin Bold"/>
                  <a:sym typeface="Cabin Bold"/>
                </a:rPr>
                <a:t>07</a:t>
              </a:r>
            </a:p>
          </p:txBody>
        </p:sp>
      </p:grpSp>
      <p:grpSp>
        <p:nvGrpSpPr>
          <p:cNvPr name="Group 12" id="12"/>
          <p:cNvGrpSpPr/>
          <p:nvPr/>
        </p:nvGrpSpPr>
        <p:grpSpPr>
          <a:xfrm rot="0">
            <a:off x="1578569" y="823608"/>
            <a:ext cx="82363" cy="754971"/>
            <a:chOff x="0" y="0"/>
            <a:chExt cx="109817" cy="1006627"/>
          </a:xfrm>
        </p:grpSpPr>
        <p:sp>
          <p:nvSpPr>
            <p:cNvPr name="Freeform 13" id="13"/>
            <p:cNvSpPr/>
            <p:nvPr/>
          </p:nvSpPr>
          <p:spPr>
            <a:xfrm flipH="false" flipV="false" rot="0">
              <a:off x="0" y="0"/>
              <a:ext cx="109855" cy="1006602"/>
            </a:xfrm>
            <a:custGeom>
              <a:avLst/>
              <a:gdLst/>
              <a:ahLst/>
              <a:cxnLst/>
              <a:rect r="r" b="b" t="t" l="l"/>
              <a:pathLst>
                <a:path h="1006602" w="109855">
                  <a:moveTo>
                    <a:pt x="0" y="0"/>
                  </a:moveTo>
                  <a:lnTo>
                    <a:pt x="109855" y="0"/>
                  </a:lnTo>
                  <a:lnTo>
                    <a:pt x="109855" y="1006602"/>
                  </a:lnTo>
                  <a:lnTo>
                    <a:pt x="0" y="1006602"/>
                  </a:lnTo>
                  <a:close/>
                </a:path>
              </a:pathLst>
            </a:custGeom>
            <a:solidFill>
              <a:srgbClr val="85B518"/>
            </a:solidFill>
          </p:spPr>
        </p:sp>
      </p:grpSp>
      <p:grpSp>
        <p:nvGrpSpPr>
          <p:cNvPr name="Group 14" id="14"/>
          <p:cNvGrpSpPr/>
          <p:nvPr/>
        </p:nvGrpSpPr>
        <p:grpSpPr>
          <a:xfrm rot="0">
            <a:off x="1853108" y="796147"/>
            <a:ext cx="14938791" cy="823608"/>
            <a:chOff x="0" y="0"/>
            <a:chExt cx="19918388" cy="1098144"/>
          </a:xfrm>
        </p:grpSpPr>
        <p:sp>
          <p:nvSpPr>
            <p:cNvPr name="Freeform 15" id="15"/>
            <p:cNvSpPr/>
            <p:nvPr/>
          </p:nvSpPr>
          <p:spPr>
            <a:xfrm flipH="false" flipV="false" rot="0">
              <a:off x="0" y="0"/>
              <a:ext cx="19918392" cy="1098138"/>
            </a:xfrm>
            <a:custGeom>
              <a:avLst/>
              <a:gdLst/>
              <a:ahLst/>
              <a:cxnLst/>
              <a:rect r="r" b="b" t="t" l="l"/>
              <a:pathLst>
                <a:path h="1098138" w="19918392">
                  <a:moveTo>
                    <a:pt x="0" y="0"/>
                  </a:moveTo>
                  <a:lnTo>
                    <a:pt x="19918392" y="0"/>
                  </a:lnTo>
                  <a:lnTo>
                    <a:pt x="19918392" y="1098138"/>
                  </a:lnTo>
                  <a:lnTo>
                    <a:pt x="0" y="1098138"/>
                  </a:lnTo>
                  <a:close/>
                </a:path>
              </a:pathLst>
            </a:custGeom>
            <a:blipFill>
              <a:blip r:embed="rId4">
                <a:alphaModFix amt="0"/>
              </a:blip>
              <a:stretch>
                <a:fillRect l="0" t="-303425" r="0" b="-303426"/>
              </a:stretch>
            </a:blipFill>
          </p:spPr>
        </p:sp>
        <p:sp>
          <p:nvSpPr>
            <p:cNvPr name="TextBox 16" id="16"/>
            <p:cNvSpPr txBox="true"/>
            <p:nvPr/>
          </p:nvSpPr>
          <p:spPr>
            <a:xfrm>
              <a:off x="0" y="0"/>
              <a:ext cx="19918388" cy="1098144"/>
            </a:xfrm>
            <a:prstGeom prst="rect">
              <a:avLst/>
            </a:prstGeom>
          </p:spPr>
          <p:txBody>
            <a:bodyPr anchor="ctr" rtlCol="false" tIns="0" lIns="0" bIns="0" rIns="0"/>
            <a:lstStyle/>
            <a:p>
              <a:pPr algn="l">
                <a:lnSpc>
                  <a:spcPts val="3782"/>
                </a:lnSpc>
              </a:pPr>
              <a:r>
                <a:rPr lang="en-US" sz="3152" b="true">
                  <a:solidFill>
                    <a:srgbClr val="1F4E79"/>
                  </a:solidFill>
                  <a:latin typeface="Cabin Bold"/>
                  <a:ea typeface="Cabin Bold"/>
                  <a:cs typeface="Cabin Bold"/>
                  <a:sym typeface="Cabin Bold"/>
                </a:rPr>
                <a:t>Data Partitioning — nền tảng của xử lý song song</a:t>
              </a:r>
            </a:p>
          </p:txBody>
        </p:sp>
      </p:grpSp>
      <p:grpSp>
        <p:nvGrpSpPr>
          <p:cNvPr name="Group 17" id="17"/>
          <p:cNvGrpSpPr/>
          <p:nvPr/>
        </p:nvGrpSpPr>
        <p:grpSpPr>
          <a:xfrm rot="0">
            <a:off x="686333" y="1990373"/>
            <a:ext cx="16952500" cy="686333"/>
            <a:chOff x="0" y="0"/>
            <a:chExt cx="22603333" cy="915111"/>
          </a:xfrm>
        </p:grpSpPr>
        <p:sp>
          <p:nvSpPr>
            <p:cNvPr name="Freeform 18" id="18"/>
            <p:cNvSpPr/>
            <p:nvPr/>
          </p:nvSpPr>
          <p:spPr>
            <a:xfrm flipH="false" flipV="false" rot="0">
              <a:off x="0" y="0"/>
              <a:ext cx="22603340" cy="915115"/>
            </a:xfrm>
            <a:custGeom>
              <a:avLst/>
              <a:gdLst/>
              <a:ahLst/>
              <a:cxnLst/>
              <a:rect r="r" b="b" t="t" l="l"/>
              <a:pathLst>
                <a:path h="915115" w="22603340">
                  <a:moveTo>
                    <a:pt x="0" y="0"/>
                  </a:moveTo>
                  <a:lnTo>
                    <a:pt x="22603340" y="0"/>
                  </a:lnTo>
                  <a:lnTo>
                    <a:pt x="22603340" y="915115"/>
                  </a:lnTo>
                  <a:lnTo>
                    <a:pt x="0" y="915115"/>
                  </a:lnTo>
                  <a:close/>
                </a:path>
              </a:pathLst>
            </a:custGeom>
            <a:blipFill>
              <a:blip r:embed="rId4">
                <a:alphaModFix amt="0"/>
              </a:blip>
              <a:stretch>
                <a:fillRect l="0" t="-431280" r="0" b="-431280"/>
              </a:stretch>
            </a:blipFill>
          </p:spPr>
        </p:sp>
        <p:sp>
          <p:nvSpPr>
            <p:cNvPr name="TextBox 19" id="19"/>
            <p:cNvSpPr txBox="true"/>
            <p:nvPr/>
          </p:nvSpPr>
          <p:spPr>
            <a:xfrm>
              <a:off x="0" y="0"/>
              <a:ext cx="22603333" cy="915111"/>
            </a:xfrm>
            <a:prstGeom prst="rect">
              <a:avLst/>
            </a:prstGeom>
          </p:spPr>
          <p:txBody>
            <a:bodyPr anchor="ctr" rtlCol="false" tIns="0" lIns="0" bIns="0" rIns="0"/>
            <a:lstStyle/>
            <a:p>
              <a:pPr algn="l">
                <a:lnSpc>
                  <a:spcPts val="2071"/>
                </a:lnSpc>
              </a:pPr>
              <a:r>
                <a:rPr lang="en-US" sz="1726">
                  <a:solidFill>
                    <a:srgbClr val="000000"/>
                  </a:solidFill>
                  <a:latin typeface="Cabin"/>
                  <a:ea typeface="Cabin"/>
                  <a:cs typeface="Cabin"/>
                  <a:sym typeface="Cabin"/>
                </a:rPr>
                <a:t>Dataset được chia thành nhiều Partition; mỗi Partition được xử lý bởi một Task riêng biệt, chạy song song trên các Executor.</a:t>
              </a:r>
            </a:p>
          </p:txBody>
        </p:sp>
      </p:grpSp>
      <p:grpSp>
        <p:nvGrpSpPr>
          <p:cNvPr name="Group 20" id="20"/>
          <p:cNvGrpSpPr/>
          <p:nvPr/>
        </p:nvGrpSpPr>
        <p:grpSpPr>
          <a:xfrm rot="0">
            <a:off x="7640984" y="3088510"/>
            <a:ext cx="3019882" cy="754971"/>
            <a:chOff x="0" y="0"/>
            <a:chExt cx="4026510" cy="1006627"/>
          </a:xfrm>
        </p:grpSpPr>
        <p:sp>
          <p:nvSpPr>
            <p:cNvPr name="Freeform 21" id="21"/>
            <p:cNvSpPr/>
            <p:nvPr/>
          </p:nvSpPr>
          <p:spPr>
            <a:xfrm flipH="false" flipV="false" rot="0">
              <a:off x="0" y="0"/>
              <a:ext cx="4026535" cy="1006729"/>
            </a:xfrm>
            <a:custGeom>
              <a:avLst/>
              <a:gdLst/>
              <a:ahLst/>
              <a:cxnLst/>
              <a:rect r="r" b="b" t="t" l="l"/>
              <a:pathLst>
                <a:path h="1006729" w="4026535">
                  <a:moveTo>
                    <a:pt x="0" y="109855"/>
                  </a:moveTo>
                  <a:cubicBezTo>
                    <a:pt x="0" y="49149"/>
                    <a:pt x="49149" y="0"/>
                    <a:pt x="109855" y="0"/>
                  </a:cubicBezTo>
                  <a:lnTo>
                    <a:pt x="3916680" y="0"/>
                  </a:lnTo>
                  <a:cubicBezTo>
                    <a:pt x="3977386" y="0"/>
                    <a:pt x="4026535" y="49149"/>
                    <a:pt x="4026535" y="109855"/>
                  </a:cubicBezTo>
                  <a:lnTo>
                    <a:pt x="4026535" y="896874"/>
                  </a:lnTo>
                  <a:cubicBezTo>
                    <a:pt x="4026535" y="957580"/>
                    <a:pt x="3977386" y="1006729"/>
                    <a:pt x="3916680" y="1006729"/>
                  </a:cubicBezTo>
                  <a:lnTo>
                    <a:pt x="109855" y="1006729"/>
                  </a:lnTo>
                  <a:cubicBezTo>
                    <a:pt x="49149" y="1006602"/>
                    <a:pt x="0" y="957453"/>
                    <a:pt x="0" y="896874"/>
                  </a:cubicBezTo>
                  <a:close/>
                </a:path>
              </a:pathLst>
            </a:custGeom>
            <a:solidFill>
              <a:srgbClr val="1F4E79"/>
            </a:solidFill>
          </p:spPr>
        </p:sp>
      </p:grpSp>
      <p:grpSp>
        <p:nvGrpSpPr>
          <p:cNvPr name="Group 22" id="22"/>
          <p:cNvGrpSpPr/>
          <p:nvPr/>
        </p:nvGrpSpPr>
        <p:grpSpPr>
          <a:xfrm rot="0">
            <a:off x="7640984" y="3088510"/>
            <a:ext cx="3019882" cy="754971"/>
            <a:chOff x="0" y="0"/>
            <a:chExt cx="4026510" cy="1006627"/>
          </a:xfrm>
        </p:grpSpPr>
        <p:sp>
          <p:nvSpPr>
            <p:cNvPr name="Freeform 23" id="23"/>
            <p:cNvSpPr/>
            <p:nvPr/>
          </p:nvSpPr>
          <p:spPr>
            <a:xfrm flipH="false" flipV="false" rot="0">
              <a:off x="0" y="0"/>
              <a:ext cx="4026506" cy="1006626"/>
            </a:xfrm>
            <a:custGeom>
              <a:avLst/>
              <a:gdLst/>
              <a:ahLst/>
              <a:cxnLst/>
              <a:rect r="r" b="b" t="t" l="l"/>
              <a:pathLst>
                <a:path h="1006626" w="4026506">
                  <a:moveTo>
                    <a:pt x="0" y="0"/>
                  </a:moveTo>
                  <a:lnTo>
                    <a:pt x="4026506" y="0"/>
                  </a:lnTo>
                  <a:lnTo>
                    <a:pt x="4026506" y="1006626"/>
                  </a:lnTo>
                  <a:lnTo>
                    <a:pt x="0" y="1006626"/>
                  </a:lnTo>
                  <a:close/>
                </a:path>
              </a:pathLst>
            </a:custGeom>
            <a:blipFill>
              <a:blip r:embed="rId4">
                <a:alphaModFix amt="0"/>
              </a:blip>
              <a:stretch>
                <a:fillRect l="0" t="-27940" r="0" b="-27940"/>
              </a:stretch>
            </a:blipFill>
          </p:spPr>
        </p:sp>
        <p:sp>
          <p:nvSpPr>
            <p:cNvPr name="TextBox 24" id="24"/>
            <p:cNvSpPr txBox="true"/>
            <p:nvPr/>
          </p:nvSpPr>
          <p:spPr>
            <a:xfrm>
              <a:off x="0" y="0"/>
              <a:ext cx="4026510" cy="1006627"/>
            </a:xfrm>
            <a:prstGeom prst="rect">
              <a:avLst/>
            </a:prstGeom>
          </p:spPr>
          <p:txBody>
            <a:bodyPr anchor="ctr" rtlCol="false" tIns="0" lIns="0" bIns="0" rIns="0"/>
            <a:lstStyle/>
            <a:p>
              <a:pPr algn="ctr">
                <a:lnSpc>
                  <a:spcPts val="2161"/>
                </a:lnSpc>
              </a:pPr>
              <a:r>
                <a:rPr lang="en-US" sz="1801" b="true">
                  <a:solidFill>
                    <a:srgbClr val="FFFFFF"/>
                  </a:solidFill>
                  <a:latin typeface="Cabin Bold"/>
                  <a:ea typeface="Cabin Bold"/>
                  <a:cs typeface="Cabin Bold"/>
                  <a:sym typeface="Cabin Bold"/>
                </a:rPr>
                <a:t>Dataset</a:t>
              </a:r>
            </a:p>
          </p:txBody>
        </p:sp>
      </p:grpSp>
      <p:grpSp>
        <p:nvGrpSpPr>
          <p:cNvPr name="Group 25" id="25"/>
          <p:cNvGrpSpPr/>
          <p:nvPr/>
        </p:nvGrpSpPr>
        <p:grpSpPr>
          <a:xfrm rot="0">
            <a:off x="1557376" y="4588916"/>
            <a:ext cx="3450746" cy="774030"/>
            <a:chOff x="0" y="0"/>
            <a:chExt cx="4600994" cy="1032040"/>
          </a:xfrm>
        </p:grpSpPr>
        <p:sp>
          <p:nvSpPr>
            <p:cNvPr name="Freeform 26" id="26"/>
            <p:cNvSpPr/>
            <p:nvPr/>
          </p:nvSpPr>
          <p:spPr>
            <a:xfrm flipH="false" flipV="false" rot="0">
              <a:off x="0" y="0"/>
              <a:ext cx="4601083" cy="1032129"/>
            </a:xfrm>
            <a:custGeom>
              <a:avLst/>
              <a:gdLst/>
              <a:ahLst/>
              <a:cxnLst/>
              <a:rect r="r" b="b" t="t" l="l"/>
              <a:pathLst>
                <a:path h="1032129" w="4601083">
                  <a:moveTo>
                    <a:pt x="0" y="112649"/>
                  </a:moveTo>
                  <a:cubicBezTo>
                    <a:pt x="0" y="50419"/>
                    <a:pt x="50419" y="0"/>
                    <a:pt x="112649" y="0"/>
                  </a:cubicBezTo>
                  <a:lnTo>
                    <a:pt x="4488434" y="0"/>
                  </a:lnTo>
                  <a:cubicBezTo>
                    <a:pt x="4550664" y="0"/>
                    <a:pt x="4601083" y="50419"/>
                    <a:pt x="4601083" y="112649"/>
                  </a:cubicBezTo>
                  <a:lnTo>
                    <a:pt x="4601083" y="919480"/>
                  </a:lnTo>
                  <a:cubicBezTo>
                    <a:pt x="4601083" y="981710"/>
                    <a:pt x="4550664" y="1032129"/>
                    <a:pt x="4488434" y="1032129"/>
                  </a:cubicBezTo>
                  <a:lnTo>
                    <a:pt x="112649" y="1032129"/>
                  </a:lnTo>
                  <a:cubicBezTo>
                    <a:pt x="50419" y="1032002"/>
                    <a:pt x="0" y="981583"/>
                    <a:pt x="0" y="919480"/>
                  </a:cubicBezTo>
                  <a:close/>
                </a:path>
              </a:pathLst>
            </a:custGeom>
            <a:solidFill>
              <a:srgbClr val="DCEBFA"/>
            </a:solidFill>
            <a:ln w="19065" cap="sq">
              <a:solidFill>
                <a:srgbClr val="1F4E79"/>
              </a:solidFill>
              <a:prstDash val="solid"/>
              <a:miter/>
            </a:ln>
          </p:spPr>
        </p:sp>
      </p:grpSp>
      <p:grpSp>
        <p:nvGrpSpPr>
          <p:cNvPr name="Group 27" id="27"/>
          <p:cNvGrpSpPr/>
          <p:nvPr/>
        </p:nvGrpSpPr>
        <p:grpSpPr>
          <a:xfrm rot="0">
            <a:off x="1566910" y="4598451"/>
            <a:ext cx="3431677" cy="754971"/>
            <a:chOff x="0" y="0"/>
            <a:chExt cx="4575569" cy="1006627"/>
          </a:xfrm>
        </p:grpSpPr>
        <p:sp>
          <p:nvSpPr>
            <p:cNvPr name="Freeform 28" id="28"/>
            <p:cNvSpPr/>
            <p:nvPr/>
          </p:nvSpPr>
          <p:spPr>
            <a:xfrm flipH="false" flipV="false" rot="0">
              <a:off x="0" y="0"/>
              <a:ext cx="4575575" cy="1006626"/>
            </a:xfrm>
            <a:custGeom>
              <a:avLst/>
              <a:gdLst/>
              <a:ahLst/>
              <a:cxnLst/>
              <a:rect r="r" b="b" t="t" l="l"/>
              <a:pathLst>
                <a:path h="1006626" w="4575575">
                  <a:moveTo>
                    <a:pt x="0" y="0"/>
                  </a:moveTo>
                  <a:lnTo>
                    <a:pt x="4575575" y="0"/>
                  </a:lnTo>
                  <a:lnTo>
                    <a:pt x="4575575" y="1006626"/>
                  </a:lnTo>
                  <a:lnTo>
                    <a:pt x="0" y="1006626"/>
                  </a:lnTo>
                  <a:close/>
                </a:path>
              </a:pathLst>
            </a:custGeom>
            <a:blipFill>
              <a:blip r:embed="rId4">
                <a:alphaModFix amt="0"/>
              </a:blip>
              <a:stretch>
                <a:fillRect l="0" t="-38568" r="0" b="-38568"/>
              </a:stretch>
            </a:blipFill>
          </p:spPr>
        </p:sp>
        <p:sp>
          <p:nvSpPr>
            <p:cNvPr name="TextBox 29" id="29"/>
            <p:cNvSpPr txBox="true"/>
            <p:nvPr/>
          </p:nvSpPr>
          <p:spPr>
            <a:xfrm>
              <a:off x="0" y="0"/>
              <a:ext cx="4575569" cy="1006627"/>
            </a:xfrm>
            <a:prstGeom prst="rect">
              <a:avLst/>
            </a:prstGeom>
          </p:spPr>
          <p:txBody>
            <a:bodyPr anchor="ctr" rtlCol="false" tIns="0" lIns="0" bIns="0" rIns="0"/>
            <a:lstStyle/>
            <a:p>
              <a:pPr algn="ctr">
                <a:lnSpc>
                  <a:spcPts val="2161"/>
                </a:lnSpc>
              </a:pPr>
              <a:r>
                <a:rPr lang="en-US" sz="1801" b="true">
                  <a:solidFill>
                    <a:srgbClr val="1F4E79"/>
                  </a:solidFill>
                  <a:latin typeface="Cabin Bold"/>
                  <a:ea typeface="Cabin Bold"/>
                  <a:cs typeface="Cabin Bold"/>
                  <a:sym typeface="Cabin Bold"/>
                </a:rPr>
                <a:t>Part. 1</a:t>
              </a:r>
            </a:p>
          </p:txBody>
        </p:sp>
      </p:grpSp>
      <p:sp>
        <p:nvSpPr>
          <p:cNvPr name="AutoShape 30" id="30"/>
          <p:cNvSpPr/>
          <p:nvPr/>
        </p:nvSpPr>
        <p:spPr>
          <a:xfrm rot="5315340">
            <a:off x="2895610" y="5726144"/>
            <a:ext cx="774268" cy="0"/>
          </a:xfrm>
          <a:prstGeom prst="line">
            <a:avLst/>
          </a:prstGeom>
          <a:ln cap="rnd" w="9525">
            <a:solidFill>
              <a:srgbClr val="4A4A4A"/>
            </a:solidFill>
            <a:prstDash val="solid"/>
            <a:headEnd type="none" len="sm" w="sm"/>
            <a:tailEnd type="triangle" len="med" w="lg"/>
          </a:ln>
        </p:spPr>
      </p:sp>
      <p:grpSp>
        <p:nvGrpSpPr>
          <p:cNvPr name="Group 31" id="31"/>
          <p:cNvGrpSpPr/>
          <p:nvPr/>
        </p:nvGrpSpPr>
        <p:grpSpPr>
          <a:xfrm rot="0">
            <a:off x="1559757" y="6101239"/>
            <a:ext cx="3445983" cy="700630"/>
            <a:chOff x="0" y="0"/>
            <a:chExt cx="4594644" cy="934174"/>
          </a:xfrm>
        </p:grpSpPr>
        <p:sp>
          <p:nvSpPr>
            <p:cNvPr name="Freeform 32" id="32"/>
            <p:cNvSpPr/>
            <p:nvPr/>
          </p:nvSpPr>
          <p:spPr>
            <a:xfrm flipH="false" flipV="false" rot="0">
              <a:off x="0" y="0"/>
              <a:ext cx="4594733" cy="934212"/>
            </a:xfrm>
            <a:custGeom>
              <a:avLst/>
              <a:gdLst/>
              <a:ahLst/>
              <a:cxnLst/>
              <a:rect r="r" b="b" t="t" l="l"/>
              <a:pathLst>
                <a:path h="934212" w="4594733">
                  <a:moveTo>
                    <a:pt x="0" y="112141"/>
                  </a:moveTo>
                  <a:cubicBezTo>
                    <a:pt x="0" y="50165"/>
                    <a:pt x="50165" y="0"/>
                    <a:pt x="112141" y="0"/>
                  </a:cubicBezTo>
                  <a:lnTo>
                    <a:pt x="4482592" y="0"/>
                  </a:lnTo>
                  <a:cubicBezTo>
                    <a:pt x="4544441" y="0"/>
                    <a:pt x="4594733" y="50165"/>
                    <a:pt x="4594733" y="112141"/>
                  </a:cubicBezTo>
                  <a:lnTo>
                    <a:pt x="4594733" y="822071"/>
                  </a:lnTo>
                  <a:cubicBezTo>
                    <a:pt x="4594733" y="883920"/>
                    <a:pt x="4544568" y="934212"/>
                    <a:pt x="4482592" y="934212"/>
                  </a:cubicBezTo>
                  <a:lnTo>
                    <a:pt x="112141" y="934212"/>
                  </a:lnTo>
                  <a:cubicBezTo>
                    <a:pt x="50165" y="934212"/>
                    <a:pt x="0" y="884047"/>
                    <a:pt x="0" y="822071"/>
                  </a:cubicBezTo>
                  <a:close/>
                </a:path>
              </a:pathLst>
            </a:custGeom>
            <a:solidFill>
              <a:srgbClr val="F2F5F8"/>
            </a:solidFill>
            <a:ln w="14299" cap="sq">
              <a:solidFill>
                <a:srgbClr val="D9D9D9"/>
              </a:solidFill>
              <a:prstDash val="solid"/>
              <a:miter/>
            </a:ln>
          </p:spPr>
        </p:sp>
      </p:grpSp>
      <p:grpSp>
        <p:nvGrpSpPr>
          <p:cNvPr name="Group 33" id="33"/>
          <p:cNvGrpSpPr/>
          <p:nvPr/>
        </p:nvGrpSpPr>
        <p:grpSpPr>
          <a:xfrm rot="0">
            <a:off x="1566910" y="6108392"/>
            <a:ext cx="3431677" cy="686333"/>
            <a:chOff x="0" y="0"/>
            <a:chExt cx="4575569" cy="915111"/>
          </a:xfrm>
        </p:grpSpPr>
        <p:sp>
          <p:nvSpPr>
            <p:cNvPr name="Freeform 34" id="34"/>
            <p:cNvSpPr/>
            <p:nvPr/>
          </p:nvSpPr>
          <p:spPr>
            <a:xfrm flipH="false" flipV="false" rot="0">
              <a:off x="0" y="0"/>
              <a:ext cx="4575575" cy="915115"/>
            </a:xfrm>
            <a:custGeom>
              <a:avLst/>
              <a:gdLst/>
              <a:ahLst/>
              <a:cxnLst/>
              <a:rect r="r" b="b" t="t" l="l"/>
              <a:pathLst>
                <a:path h="915115" w="4575575">
                  <a:moveTo>
                    <a:pt x="0" y="0"/>
                  </a:moveTo>
                  <a:lnTo>
                    <a:pt x="4575575" y="0"/>
                  </a:lnTo>
                  <a:lnTo>
                    <a:pt x="4575575" y="915115"/>
                  </a:lnTo>
                  <a:lnTo>
                    <a:pt x="0" y="915115"/>
                  </a:lnTo>
                  <a:close/>
                </a:path>
              </a:pathLst>
            </a:custGeom>
            <a:blipFill>
              <a:blip r:embed="rId4">
                <a:alphaModFix amt="0"/>
              </a:blip>
              <a:stretch>
                <a:fillRect l="0" t="-47425" r="0" b="-47424"/>
              </a:stretch>
            </a:blipFill>
          </p:spPr>
        </p:sp>
        <p:sp>
          <p:nvSpPr>
            <p:cNvPr name="TextBox 35" id="35"/>
            <p:cNvSpPr txBox="true"/>
            <p:nvPr/>
          </p:nvSpPr>
          <p:spPr>
            <a:xfrm>
              <a:off x="0" y="0"/>
              <a:ext cx="4575569" cy="915111"/>
            </a:xfrm>
            <a:prstGeom prst="rect">
              <a:avLst/>
            </a:prstGeom>
          </p:spPr>
          <p:txBody>
            <a:bodyPr anchor="ctr" rtlCol="false" tIns="0" lIns="0" bIns="0" rIns="0"/>
            <a:lstStyle/>
            <a:p>
              <a:pPr algn="ctr">
                <a:lnSpc>
                  <a:spcPts val="1981"/>
                </a:lnSpc>
              </a:pPr>
              <a:r>
                <a:rPr lang="en-US" sz="1651">
                  <a:solidFill>
                    <a:srgbClr val="4A4A4A"/>
                  </a:solidFill>
                  <a:latin typeface="Cabin"/>
                  <a:ea typeface="Cabin"/>
                  <a:cs typeface="Cabin"/>
                  <a:sym typeface="Cabin"/>
                </a:rPr>
                <a:t>Task</a:t>
              </a:r>
            </a:p>
          </p:txBody>
        </p:sp>
      </p:grpSp>
      <p:grpSp>
        <p:nvGrpSpPr>
          <p:cNvPr name="Group 36" id="36"/>
          <p:cNvGrpSpPr/>
          <p:nvPr/>
        </p:nvGrpSpPr>
        <p:grpSpPr>
          <a:xfrm rot="0">
            <a:off x="5469493" y="4588916"/>
            <a:ext cx="3450746" cy="774030"/>
            <a:chOff x="0" y="0"/>
            <a:chExt cx="4600994" cy="1032040"/>
          </a:xfrm>
        </p:grpSpPr>
        <p:sp>
          <p:nvSpPr>
            <p:cNvPr name="Freeform 37" id="37"/>
            <p:cNvSpPr/>
            <p:nvPr/>
          </p:nvSpPr>
          <p:spPr>
            <a:xfrm flipH="false" flipV="false" rot="0">
              <a:off x="0" y="0"/>
              <a:ext cx="4601083" cy="1032129"/>
            </a:xfrm>
            <a:custGeom>
              <a:avLst/>
              <a:gdLst/>
              <a:ahLst/>
              <a:cxnLst/>
              <a:rect r="r" b="b" t="t" l="l"/>
              <a:pathLst>
                <a:path h="1032129" w="4601083">
                  <a:moveTo>
                    <a:pt x="0" y="112649"/>
                  </a:moveTo>
                  <a:cubicBezTo>
                    <a:pt x="0" y="50419"/>
                    <a:pt x="50419" y="0"/>
                    <a:pt x="112649" y="0"/>
                  </a:cubicBezTo>
                  <a:lnTo>
                    <a:pt x="4488434" y="0"/>
                  </a:lnTo>
                  <a:cubicBezTo>
                    <a:pt x="4550664" y="0"/>
                    <a:pt x="4601083" y="50419"/>
                    <a:pt x="4601083" y="112649"/>
                  </a:cubicBezTo>
                  <a:lnTo>
                    <a:pt x="4601083" y="919480"/>
                  </a:lnTo>
                  <a:cubicBezTo>
                    <a:pt x="4601083" y="981710"/>
                    <a:pt x="4550664" y="1032129"/>
                    <a:pt x="4488434" y="1032129"/>
                  </a:cubicBezTo>
                  <a:lnTo>
                    <a:pt x="112649" y="1032129"/>
                  </a:lnTo>
                  <a:cubicBezTo>
                    <a:pt x="50419" y="1032002"/>
                    <a:pt x="0" y="981583"/>
                    <a:pt x="0" y="919480"/>
                  </a:cubicBezTo>
                  <a:close/>
                </a:path>
              </a:pathLst>
            </a:custGeom>
            <a:solidFill>
              <a:srgbClr val="DCEBFA"/>
            </a:solidFill>
            <a:ln w="19065" cap="sq">
              <a:solidFill>
                <a:srgbClr val="1F4E79"/>
              </a:solidFill>
              <a:prstDash val="solid"/>
              <a:miter/>
            </a:ln>
          </p:spPr>
        </p:sp>
      </p:grpSp>
      <p:grpSp>
        <p:nvGrpSpPr>
          <p:cNvPr name="Group 38" id="38"/>
          <p:cNvGrpSpPr/>
          <p:nvPr/>
        </p:nvGrpSpPr>
        <p:grpSpPr>
          <a:xfrm rot="0">
            <a:off x="5479018" y="4598451"/>
            <a:ext cx="3431677" cy="754971"/>
            <a:chOff x="0" y="0"/>
            <a:chExt cx="4575569" cy="1006627"/>
          </a:xfrm>
        </p:grpSpPr>
        <p:sp>
          <p:nvSpPr>
            <p:cNvPr name="Freeform 39" id="39"/>
            <p:cNvSpPr/>
            <p:nvPr/>
          </p:nvSpPr>
          <p:spPr>
            <a:xfrm flipH="false" flipV="false" rot="0">
              <a:off x="0" y="0"/>
              <a:ext cx="4575575" cy="1006626"/>
            </a:xfrm>
            <a:custGeom>
              <a:avLst/>
              <a:gdLst/>
              <a:ahLst/>
              <a:cxnLst/>
              <a:rect r="r" b="b" t="t" l="l"/>
              <a:pathLst>
                <a:path h="1006626" w="4575575">
                  <a:moveTo>
                    <a:pt x="0" y="0"/>
                  </a:moveTo>
                  <a:lnTo>
                    <a:pt x="4575575" y="0"/>
                  </a:lnTo>
                  <a:lnTo>
                    <a:pt x="4575575" y="1006626"/>
                  </a:lnTo>
                  <a:lnTo>
                    <a:pt x="0" y="1006626"/>
                  </a:lnTo>
                  <a:close/>
                </a:path>
              </a:pathLst>
            </a:custGeom>
            <a:blipFill>
              <a:blip r:embed="rId4">
                <a:alphaModFix amt="0"/>
              </a:blip>
              <a:stretch>
                <a:fillRect l="0" t="-38568" r="0" b="-38568"/>
              </a:stretch>
            </a:blipFill>
          </p:spPr>
        </p:sp>
        <p:sp>
          <p:nvSpPr>
            <p:cNvPr name="TextBox 40" id="40"/>
            <p:cNvSpPr txBox="true"/>
            <p:nvPr/>
          </p:nvSpPr>
          <p:spPr>
            <a:xfrm>
              <a:off x="0" y="0"/>
              <a:ext cx="4575569" cy="1006627"/>
            </a:xfrm>
            <a:prstGeom prst="rect">
              <a:avLst/>
            </a:prstGeom>
          </p:spPr>
          <p:txBody>
            <a:bodyPr anchor="ctr" rtlCol="false" tIns="0" lIns="0" bIns="0" rIns="0"/>
            <a:lstStyle/>
            <a:p>
              <a:pPr algn="ctr">
                <a:lnSpc>
                  <a:spcPts val="2161"/>
                </a:lnSpc>
              </a:pPr>
              <a:r>
                <a:rPr lang="en-US" sz="1801" b="true">
                  <a:solidFill>
                    <a:srgbClr val="1F4E79"/>
                  </a:solidFill>
                  <a:latin typeface="Cabin Bold"/>
                  <a:ea typeface="Cabin Bold"/>
                  <a:cs typeface="Cabin Bold"/>
                  <a:sym typeface="Cabin Bold"/>
                </a:rPr>
                <a:t>Part. 2</a:t>
              </a:r>
            </a:p>
          </p:txBody>
        </p:sp>
      </p:grpSp>
      <p:sp>
        <p:nvSpPr>
          <p:cNvPr name="AutoShape 41" id="41"/>
          <p:cNvSpPr/>
          <p:nvPr/>
        </p:nvSpPr>
        <p:spPr>
          <a:xfrm rot="5315340">
            <a:off x="6807727" y="5726144"/>
            <a:ext cx="774268" cy="0"/>
          </a:xfrm>
          <a:prstGeom prst="line">
            <a:avLst/>
          </a:prstGeom>
          <a:ln cap="rnd" w="9525">
            <a:solidFill>
              <a:srgbClr val="4A4A4A"/>
            </a:solidFill>
            <a:prstDash val="solid"/>
            <a:headEnd type="none" len="sm" w="sm"/>
            <a:tailEnd type="triangle" len="med" w="lg"/>
          </a:ln>
        </p:spPr>
      </p:sp>
      <p:grpSp>
        <p:nvGrpSpPr>
          <p:cNvPr name="Group 42" id="42"/>
          <p:cNvGrpSpPr/>
          <p:nvPr/>
        </p:nvGrpSpPr>
        <p:grpSpPr>
          <a:xfrm rot="0">
            <a:off x="5471874" y="6101239"/>
            <a:ext cx="3445983" cy="700630"/>
            <a:chOff x="0" y="0"/>
            <a:chExt cx="4594644" cy="934174"/>
          </a:xfrm>
        </p:grpSpPr>
        <p:sp>
          <p:nvSpPr>
            <p:cNvPr name="Freeform 43" id="43"/>
            <p:cNvSpPr/>
            <p:nvPr/>
          </p:nvSpPr>
          <p:spPr>
            <a:xfrm flipH="false" flipV="false" rot="0">
              <a:off x="0" y="0"/>
              <a:ext cx="4594733" cy="934212"/>
            </a:xfrm>
            <a:custGeom>
              <a:avLst/>
              <a:gdLst/>
              <a:ahLst/>
              <a:cxnLst/>
              <a:rect r="r" b="b" t="t" l="l"/>
              <a:pathLst>
                <a:path h="934212" w="4594733">
                  <a:moveTo>
                    <a:pt x="0" y="112141"/>
                  </a:moveTo>
                  <a:cubicBezTo>
                    <a:pt x="0" y="50165"/>
                    <a:pt x="50165" y="0"/>
                    <a:pt x="112141" y="0"/>
                  </a:cubicBezTo>
                  <a:lnTo>
                    <a:pt x="4482592" y="0"/>
                  </a:lnTo>
                  <a:cubicBezTo>
                    <a:pt x="4544441" y="0"/>
                    <a:pt x="4594733" y="50165"/>
                    <a:pt x="4594733" y="112141"/>
                  </a:cubicBezTo>
                  <a:lnTo>
                    <a:pt x="4594733" y="822071"/>
                  </a:lnTo>
                  <a:cubicBezTo>
                    <a:pt x="4594733" y="883920"/>
                    <a:pt x="4544568" y="934212"/>
                    <a:pt x="4482592" y="934212"/>
                  </a:cubicBezTo>
                  <a:lnTo>
                    <a:pt x="112141" y="934212"/>
                  </a:lnTo>
                  <a:cubicBezTo>
                    <a:pt x="50165" y="934212"/>
                    <a:pt x="0" y="884047"/>
                    <a:pt x="0" y="822071"/>
                  </a:cubicBezTo>
                  <a:close/>
                </a:path>
              </a:pathLst>
            </a:custGeom>
            <a:solidFill>
              <a:srgbClr val="F2F5F8"/>
            </a:solidFill>
            <a:ln w="14299" cap="sq">
              <a:solidFill>
                <a:srgbClr val="D9D9D9"/>
              </a:solidFill>
              <a:prstDash val="solid"/>
              <a:miter/>
            </a:ln>
          </p:spPr>
        </p:sp>
      </p:grpSp>
      <p:grpSp>
        <p:nvGrpSpPr>
          <p:cNvPr name="Group 44" id="44"/>
          <p:cNvGrpSpPr/>
          <p:nvPr/>
        </p:nvGrpSpPr>
        <p:grpSpPr>
          <a:xfrm rot="0">
            <a:off x="5479018" y="6108392"/>
            <a:ext cx="3431677" cy="686333"/>
            <a:chOff x="0" y="0"/>
            <a:chExt cx="4575569" cy="915111"/>
          </a:xfrm>
        </p:grpSpPr>
        <p:sp>
          <p:nvSpPr>
            <p:cNvPr name="Freeform 45" id="45"/>
            <p:cNvSpPr/>
            <p:nvPr/>
          </p:nvSpPr>
          <p:spPr>
            <a:xfrm flipH="false" flipV="false" rot="0">
              <a:off x="0" y="0"/>
              <a:ext cx="4575575" cy="915115"/>
            </a:xfrm>
            <a:custGeom>
              <a:avLst/>
              <a:gdLst/>
              <a:ahLst/>
              <a:cxnLst/>
              <a:rect r="r" b="b" t="t" l="l"/>
              <a:pathLst>
                <a:path h="915115" w="4575575">
                  <a:moveTo>
                    <a:pt x="0" y="0"/>
                  </a:moveTo>
                  <a:lnTo>
                    <a:pt x="4575575" y="0"/>
                  </a:lnTo>
                  <a:lnTo>
                    <a:pt x="4575575" y="915115"/>
                  </a:lnTo>
                  <a:lnTo>
                    <a:pt x="0" y="915115"/>
                  </a:lnTo>
                  <a:close/>
                </a:path>
              </a:pathLst>
            </a:custGeom>
            <a:blipFill>
              <a:blip r:embed="rId4">
                <a:alphaModFix amt="0"/>
              </a:blip>
              <a:stretch>
                <a:fillRect l="0" t="-47425" r="0" b="-47424"/>
              </a:stretch>
            </a:blipFill>
          </p:spPr>
        </p:sp>
        <p:sp>
          <p:nvSpPr>
            <p:cNvPr name="TextBox 46" id="46"/>
            <p:cNvSpPr txBox="true"/>
            <p:nvPr/>
          </p:nvSpPr>
          <p:spPr>
            <a:xfrm>
              <a:off x="0" y="0"/>
              <a:ext cx="4575569" cy="915111"/>
            </a:xfrm>
            <a:prstGeom prst="rect">
              <a:avLst/>
            </a:prstGeom>
          </p:spPr>
          <p:txBody>
            <a:bodyPr anchor="ctr" rtlCol="false" tIns="0" lIns="0" bIns="0" rIns="0"/>
            <a:lstStyle/>
            <a:p>
              <a:pPr algn="ctr">
                <a:lnSpc>
                  <a:spcPts val="1981"/>
                </a:lnSpc>
              </a:pPr>
              <a:r>
                <a:rPr lang="en-US" sz="1651">
                  <a:solidFill>
                    <a:srgbClr val="4A4A4A"/>
                  </a:solidFill>
                  <a:latin typeface="Cabin"/>
                  <a:ea typeface="Cabin"/>
                  <a:cs typeface="Cabin"/>
                  <a:sym typeface="Cabin"/>
                </a:rPr>
                <a:t>Task</a:t>
              </a:r>
            </a:p>
          </p:txBody>
        </p:sp>
      </p:grpSp>
      <p:sp>
        <p:nvSpPr>
          <p:cNvPr name="AutoShape 47" id="47"/>
          <p:cNvSpPr/>
          <p:nvPr/>
        </p:nvSpPr>
        <p:spPr>
          <a:xfrm rot="1284000">
            <a:off x="9068257" y="4216203"/>
            <a:ext cx="2121379" cy="0"/>
          </a:xfrm>
          <a:prstGeom prst="line">
            <a:avLst/>
          </a:prstGeom>
          <a:ln cap="rnd" w="9525">
            <a:solidFill>
              <a:srgbClr val="4A4A4A"/>
            </a:solidFill>
            <a:prstDash val="solid"/>
            <a:headEnd type="none" len="sm" w="sm"/>
            <a:tailEnd type="triangle" len="med" w="lg"/>
          </a:ln>
        </p:spPr>
      </p:sp>
      <p:grpSp>
        <p:nvGrpSpPr>
          <p:cNvPr name="Group 48" id="48"/>
          <p:cNvGrpSpPr/>
          <p:nvPr/>
        </p:nvGrpSpPr>
        <p:grpSpPr>
          <a:xfrm rot="0">
            <a:off x="9381611" y="4588916"/>
            <a:ext cx="3450746" cy="774030"/>
            <a:chOff x="0" y="0"/>
            <a:chExt cx="4600994" cy="1032040"/>
          </a:xfrm>
        </p:grpSpPr>
        <p:sp>
          <p:nvSpPr>
            <p:cNvPr name="Freeform 49" id="49"/>
            <p:cNvSpPr/>
            <p:nvPr/>
          </p:nvSpPr>
          <p:spPr>
            <a:xfrm flipH="false" flipV="false" rot="0">
              <a:off x="0" y="0"/>
              <a:ext cx="4601083" cy="1032129"/>
            </a:xfrm>
            <a:custGeom>
              <a:avLst/>
              <a:gdLst/>
              <a:ahLst/>
              <a:cxnLst/>
              <a:rect r="r" b="b" t="t" l="l"/>
              <a:pathLst>
                <a:path h="1032129" w="4601083">
                  <a:moveTo>
                    <a:pt x="0" y="112649"/>
                  </a:moveTo>
                  <a:cubicBezTo>
                    <a:pt x="0" y="50419"/>
                    <a:pt x="50419" y="0"/>
                    <a:pt x="112649" y="0"/>
                  </a:cubicBezTo>
                  <a:lnTo>
                    <a:pt x="4488434" y="0"/>
                  </a:lnTo>
                  <a:cubicBezTo>
                    <a:pt x="4550664" y="0"/>
                    <a:pt x="4601083" y="50419"/>
                    <a:pt x="4601083" y="112649"/>
                  </a:cubicBezTo>
                  <a:lnTo>
                    <a:pt x="4601083" y="919480"/>
                  </a:lnTo>
                  <a:cubicBezTo>
                    <a:pt x="4601083" y="981710"/>
                    <a:pt x="4550664" y="1032129"/>
                    <a:pt x="4488434" y="1032129"/>
                  </a:cubicBezTo>
                  <a:lnTo>
                    <a:pt x="112649" y="1032129"/>
                  </a:lnTo>
                  <a:cubicBezTo>
                    <a:pt x="50419" y="1032002"/>
                    <a:pt x="0" y="981583"/>
                    <a:pt x="0" y="919480"/>
                  </a:cubicBezTo>
                  <a:close/>
                </a:path>
              </a:pathLst>
            </a:custGeom>
            <a:solidFill>
              <a:srgbClr val="DCEBFA"/>
            </a:solidFill>
            <a:ln w="19065" cap="sq">
              <a:solidFill>
                <a:srgbClr val="1F4E79"/>
              </a:solidFill>
              <a:prstDash val="solid"/>
              <a:miter/>
            </a:ln>
          </p:spPr>
        </p:sp>
      </p:grpSp>
      <p:grpSp>
        <p:nvGrpSpPr>
          <p:cNvPr name="Group 50" id="50"/>
          <p:cNvGrpSpPr/>
          <p:nvPr/>
        </p:nvGrpSpPr>
        <p:grpSpPr>
          <a:xfrm rot="0">
            <a:off x="9391136" y="4598451"/>
            <a:ext cx="3431677" cy="754971"/>
            <a:chOff x="0" y="0"/>
            <a:chExt cx="4575569" cy="1006627"/>
          </a:xfrm>
        </p:grpSpPr>
        <p:sp>
          <p:nvSpPr>
            <p:cNvPr name="Freeform 51" id="51"/>
            <p:cNvSpPr/>
            <p:nvPr/>
          </p:nvSpPr>
          <p:spPr>
            <a:xfrm flipH="false" flipV="false" rot="0">
              <a:off x="0" y="0"/>
              <a:ext cx="4575575" cy="1006626"/>
            </a:xfrm>
            <a:custGeom>
              <a:avLst/>
              <a:gdLst/>
              <a:ahLst/>
              <a:cxnLst/>
              <a:rect r="r" b="b" t="t" l="l"/>
              <a:pathLst>
                <a:path h="1006626" w="4575575">
                  <a:moveTo>
                    <a:pt x="0" y="0"/>
                  </a:moveTo>
                  <a:lnTo>
                    <a:pt x="4575575" y="0"/>
                  </a:lnTo>
                  <a:lnTo>
                    <a:pt x="4575575" y="1006626"/>
                  </a:lnTo>
                  <a:lnTo>
                    <a:pt x="0" y="1006626"/>
                  </a:lnTo>
                  <a:close/>
                </a:path>
              </a:pathLst>
            </a:custGeom>
            <a:blipFill>
              <a:blip r:embed="rId4">
                <a:alphaModFix amt="0"/>
              </a:blip>
              <a:stretch>
                <a:fillRect l="0" t="-38568" r="0" b="-38568"/>
              </a:stretch>
            </a:blipFill>
          </p:spPr>
        </p:sp>
        <p:sp>
          <p:nvSpPr>
            <p:cNvPr name="TextBox 52" id="52"/>
            <p:cNvSpPr txBox="true"/>
            <p:nvPr/>
          </p:nvSpPr>
          <p:spPr>
            <a:xfrm>
              <a:off x="0" y="0"/>
              <a:ext cx="4575569" cy="1006627"/>
            </a:xfrm>
            <a:prstGeom prst="rect">
              <a:avLst/>
            </a:prstGeom>
          </p:spPr>
          <p:txBody>
            <a:bodyPr anchor="ctr" rtlCol="false" tIns="0" lIns="0" bIns="0" rIns="0"/>
            <a:lstStyle/>
            <a:p>
              <a:pPr algn="ctr">
                <a:lnSpc>
                  <a:spcPts val="2161"/>
                </a:lnSpc>
              </a:pPr>
              <a:r>
                <a:rPr lang="en-US" sz="1801" b="true">
                  <a:solidFill>
                    <a:srgbClr val="1F4E79"/>
                  </a:solidFill>
                  <a:latin typeface="Cabin Bold"/>
                  <a:ea typeface="Cabin Bold"/>
                  <a:cs typeface="Cabin Bold"/>
                  <a:sym typeface="Cabin Bold"/>
                </a:rPr>
                <a:t>Part. 3</a:t>
              </a:r>
            </a:p>
          </p:txBody>
        </p:sp>
      </p:grpSp>
      <p:sp>
        <p:nvSpPr>
          <p:cNvPr name="AutoShape 53" id="53"/>
          <p:cNvSpPr/>
          <p:nvPr/>
        </p:nvSpPr>
        <p:spPr>
          <a:xfrm rot="5315340">
            <a:off x="10719845" y="5726144"/>
            <a:ext cx="774268" cy="0"/>
          </a:xfrm>
          <a:prstGeom prst="line">
            <a:avLst/>
          </a:prstGeom>
          <a:ln cap="rnd" w="9525">
            <a:solidFill>
              <a:srgbClr val="4A4A4A"/>
            </a:solidFill>
            <a:prstDash val="solid"/>
            <a:headEnd type="none" len="sm" w="sm"/>
            <a:tailEnd type="triangle" len="med" w="lg"/>
          </a:ln>
        </p:spPr>
      </p:sp>
      <p:grpSp>
        <p:nvGrpSpPr>
          <p:cNvPr name="Group 54" id="54"/>
          <p:cNvGrpSpPr/>
          <p:nvPr/>
        </p:nvGrpSpPr>
        <p:grpSpPr>
          <a:xfrm rot="0">
            <a:off x="9383992" y="6101239"/>
            <a:ext cx="3445983" cy="700630"/>
            <a:chOff x="0" y="0"/>
            <a:chExt cx="4594644" cy="934174"/>
          </a:xfrm>
        </p:grpSpPr>
        <p:sp>
          <p:nvSpPr>
            <p:cNvPr name="Freeform 55" id="55"/>
            <p:cNvSpPr/>
            <p:nvPr/>
          </p:nvSpPr>
          <p:spPr>
            <a:xfrm flipH="false" flipV="false" rot="0">
              <a:off x="0" y="0"/>
              <a:ext cx="4594733" cy="934212"/>
            </a:xfrm>
            <a:custGeom>
              <a:avLst/>
              <a:gdLst/>
              <a:ahLst/>
              <a:cxnLst/>
              <a:rect r="r" b="b" t="t" l="l"/>
              <a:pathLst>
                <a:path h="934212" w="4594733">
                  <a:moveTo>
                    <a:pt x="0" y="112141"/>
                  </a:moveTo>
                  <a:cubicBezTo>
                    <a:pt x="0" y="50165"/>
                    <a:pt x="50165" y="0"/>
                    <a:pt x="112141" y="0"/>
                  </a:cubicBezTo>
                  <a:lnTo>
                    <a:pt x="4482592" y="0"/>
                  </a:lnTo>
                  <a:cubicBezTo>
                    <a:pt x="4544441" y="0"/>
                    <a:pt x="4594733" y="50165"/>
                    <a:pt x="4594733" y="112141"/>
                  </a:cubicBezTo>
                  <a:lnTo>
                    <a:pt x="4594733" y="822071"/>
                  </a:lnTo>
                  <a:cubicBezTo>
                    <a:pt x="4594733" y="883920"/>
                    <a:pt x="4544568" y="934212"/>
                    <a:pt x="4482592" y="934212"/>
                  </a:cubicBezTo>
                  <a:lnTo>
                    <a:pt x="112141" y="934212"/>
                  </a:lnTo>
                  <a:cubicBezTo>
                    <a:pt x="50165" y="934212"/>
                    <a:pt x="0" y="884047"/>
                    <a:pt x="0" y="822071"/>
                  </a:cubicBezTo>
                  <a:close/>
                </a:path>
              </a:pathLst>
            </a:custGeom>
            <a:solidFill>
              <a:srgbClr val="F2F5F8"/>
            </a:solidFill>
            <a:ln w="14299" cap="sq">
              <a:solidFill>
                <a:srgbClr val="D9D9D9"/>
              </a:solidFill>
              <a:prstDash val="solid"/>
              <a:miter/>
            </a:ln>
          </p:spPr>
        </p:sp>
      </p:grpSp>
      <p:grpSp>
        <p:nvGrpSpPr>
          <p:cNvPr name="Group 56" id="56"/>
          <p:cNvGrpSpPr/>
          <p:nvPr/>
        </p:nvGrpSpPr>
        <p:grpSpPr>
          <a:xfrm rot="0">
            <a:off x="9391136" y="6108392"/>
            <a:ext cx="3431677" cy="686333"/>
            <a:chOff x="0" y="0"/>
            <a:chExt cx="4575569" cy="915111"/>
          </a:xfrm>
        </p:grpSpPr>
        <p:sp>
          <p:nvSpPr>
            <p:cNvPr name="Freeform 57" id="57"/>
            <p:cNvSpPr/>
            <p:nvPr/>
          </p:nvSpPr>
          <p:spPr>
            <a:xfrm flipH="false" flipV="false" rot="0">
              <a:off x="0" y="0"/>
              <a:ext cx="4575575" cy="915115"/>
            </a:xfrm>
            <a:custGeom>
              <a:avLst/>
              <a:gdLst/>
              <a:ahLst/>
              <a:cxnLst/>
              <a:rect r="r" b="b" t="t" l="l"/>
              <a:pathLst>
                <a:path h="915115" w="4575575">
                  <a:moveTo>
                    <a:pt x="0" y="0"/>
                  </a:moveTo>
                  <a:lnTo>
                    <a:pt x="4575575" y="0"/>
                  </a:lnTo>
                  <a:lnTo>
                    <a:pt x="4575575" y="915115"/>
                  </a:lnTo>
                  <a:lnTo>
                    <a:pt x="0" y="915115"/>
                  </a:lnTo>
                  <a:close/>
                </a:path>
              </a:pathLst>
            </a:custGeom>
            <a:blipFill>
              <a:blip r:embed="rId4">
                <a:alphaModFix amt="0"/>
              </a:blip>
              <a:stretch>
                <a:fillRect l="0" t="-47425" r="0" b="-47424"/>
              </a:stretch>
            </a:blipFill>
          </p:spPr>
        </p:sp>
        <p:sp>
          <p:nvSpPr>
            <p:cNvPr name="TextBox 58" id="58"/>
            <p:cNvSpPr txBox="true"/>
            <p:nvPr/>
          </p:nvSpPr>
          <p:spPr>
            <a:xfrm>
              <a:off x="0" y="0"/>
              <a:ext cx="4575569" cy="915111"/>
            </a:xfrm>
            <a:prstGeom prst="rect">
              <a:avLst/>
            </a:prstGeom>
          </p:spPr>
          <p:txBody>
            <a:bodyPr anchor="ctr" rtlCol="false" tIns="0" lIns="0" bIns="0" rIns="0"/>
            <a:lstStyle/>
            <a:p>
              <a:pPr algn="ctr">
                <a:lnSpc>
                  <a:spcPts val="1981"/>
                </a:lnSpc>
              </a:pPr>
              <a:r>
                <a:rPr lang="en-US" sz="1651">
                  <a:solidFill>
                    <a:srgbClr val="4A4A4A"/>
                  </a:solidFill>
                  <a:latin typeface="Cabin"/>
                  <a:ea typeface="Cabin"/>
                  <a:cs typeface="Cabin"/>
                  <a:sym typeface="Cabin"/>
                </a:rPr>
                <a:t>Task</a:t>
              </a:r>
            </a:p>
          </p:txBody>
        </p:sp>
      </p:grpSp>
      <p:sp>
        <p:nvSpPr>
          <p:cNvPr name="AutoShape 59" id="59"/>
          <p:cNvSpPr/>
          <p:nvPr/>
        </p:nvSpPr>
        <p:spPr>
          <a:xfrm rot="449400">
            <a:off x="9116054" y="4216203"/>
            <a:ext cx="5937904" cy="0"/>
          </a:xfrm>
          <a:prstGeom prst="line">
            <a:avLst/>
          </a:prstGeom>
          <a:ln cap="rnd" w="9525">
            <a:solidFill>
              <a:srgbClr val="4A4A4A"/>
            </a:solidFill>
            <a:prstDash val="solid"/>
            <a:headEnd type="none" len="sm" w="sm"/>
            <a:tailEnd type="triangle" len="med" w="lg"/>
          </a:ln>
        </p:spPr>
      </p:sp>
      <p:grpSp>
        <p:nvGrpSpPr>
          <p:cNvPr name="Group 60" id="60"/>
          <p:cNvGrpSpPr/>
          <p:nvPr/>
        </p:nvGrpSpPr>
        <p:grpSpPr>
          <a:xfrm rot="0">
            <a:off x="13293719" y="4588916"/>
            <a:ext cx="3450746" cy="774030"/>
            <a:chOff x="0" y="0"/>
            <a:chExt cx="4600994" cy="1032040"/>
          </a:xfrm>
        </p:grpSpPr>
        <p:sp>
          <p:nvSpPr>
            <p:cNvPr name="Freeform 61" id="61"/>
            <p:cNvSpPr/>
            <p:nvPr/>
          </p:nvSpPr>
          <p:spPr>
            <a:xfrm flipH="false" flipV="false" rot="0">
              <a:off x="0" y="0"/>
              <a:ext cx="4601083" cy="1032129"/>
            </a:xfrm>
            <a:custGeom>
              <a:avLst/>
              <a:gdLst/>
              <a:ahLst/>
              <a:cxnLst/>
              <a:rect r="r" b="b" t="t" l="l"/>
              <a:pathLst>
                <a:path h="1032129" w="4601083">
                  <a:moveTo>
                    <a:pt x="0" y="112649"/>
                  </a:moveTo>
                  <a:cubicBezTo>
                    <a:pt x="0" y="50419"/>
                    <a:pt x="50419" y="0"/>
                    <a:pt x="112649" y="0"/>
                  </a:cubicBezTo>
                  <a:lnTo>
                    <a:pt x="4488434" y="0"/>
                  </a:lnTo>
                  <a:cubicBezTo>
                    <a:pt x="4550664" y="0"/>
                    <a:pt x="4601083" y="50419"/>
                    <a:pt x="4601083" y="112649"/>
                  </a:cubicBezTo>
                  <a:lnTo>
                    <a:pt x="4601083" y="919480"/>
                  </a:lnTo>
                  <a:cubicBezTo>
                    <a:pt x="4601083" y="981710"/>
                    <a:pt x="4550664" y="1032129"/>
                    <a:pt x="4488434" y="1032129"/>
                  </a:cubicBezTo>
                  <a:lnTo>
                    <a:pt x="112649" y="1032129"/>
                  </a:lnTo>
                  <a:cubicBezTo>
                    <a:pt x="50419" y="1032002"/>
                    <a:pt x="0" y="981583"/>
                    <a:pt x="0" y="919480"/>
                  </a:cubicBezTo>
                  <a:close/>
                </a:path>
              </a:pathLst>
            </a:custGeom>
            <a:solidFill>
              <a:srgbClr val="DCEBFA"/>
            </a:solidFill>
            <a:ln w="19065" cap="sq">
              <a:solidFill>
                <a:srgbClr val="1F4E79"/>
              </a:solidFill>
              <a:prstDash val="solid"/>
              <a:miter/>
            </a:ln>
          </p:spPr>
        </p:sp>
      </p:grpSp>
      <p:grpSp>
        <p:nvGrpSpPr>
          <p:cNvPr name="Group 62" id="62"/>
          <p:cNvGrpSpPr/>
          <p:nvPr/>
        </p:nvGrpSpPr>
        <p:grpSpPr>
          <a:xfrm rot="0">
            <a:off x="13303253" y="4598451"/>
            <a:ext cx="3431677" cy="754971"/>
            <a:chOff x="0" y="0"/>
            <a:chExt cx="4575569" cy="1006627"/>
          </a:xfrm>
        </p:grpSpPr>
        <p:sp>
          <p:nvSpPr>
            <p:cNvPr name="Freeform 63" id="63"/>
            <p:cNvSpPr/>
            <p:nvPr/>
          </p:nvSpPr>
          <p:spPr>
            <a:xfrm flipH="false" flipV="false" rot="0">
              <a:off x="0" y="0"/>
              <a:ext cx="4575575" cy="1006626"/>
            </a:xfrm>
            <a:custGeom>
              <a:avLst/>
              <a:gdLst/>
              <a:ahLst/>
              <a:cxnLst/>
              <a:rect r="r" b="b" t="t" l="l"/>
              <a:pathLst>
                <a:path h="1006626" w="4575575">
                  <a:moveTo>
                    <a:pt x="0" y="0"/>
                  </a:moveTo>
                  <a:lnTo>
                    <a:pt x="4575575" y="0"/>
                  </a:lnTo>
                  <a:lnTo>
                    <a:pt x="4575575" y="1006626"/>
                  </a:lnTo>
                  <a:lnTo>
                    <a:pt x="0" y="1006626"/>
                  </a:lnTo>
                  <a:close/>
                </a:path>
              </a:pathLst>
            </a:custGeom>
            <a:blipFill>
              <a:blip r:embed="rId4">
                <a:alphaModFix amt="0"/>
              </a:blip>
              <a:stretch>
                <a:fillRect l="0" t="-38568" r="0" b="-38568"/>
              </a:stretch>
            </a:blipFill>
          </p:spPr>
        </p:sp>
        <p:sp>
          <p:nvSpPr>
            <p:cNvPr name="TextBox 64" id="64"/>
            <p:cNvSpPr txBox="true"/>
            <p:nvPr/>
          </p:nvSpPr>
          <p:spPr>
            <a:xfrm>
              <a:off x="0" y="0"/>
              <a:ext cx="4575569" cy="1006627"/>
            </a:xfrm>
            <a:prstGeom prst="rect">
              <a:avLst/>
            </a:prstGeom>
          </p:spPr>
          <p:txBody>
            <a:bodyPr anchor="ctr" rtlCol="false" tIns="0" lIns="0" bIns="0" rIns="0"/>
            <a:lstStyle/>
            <a:p>
              <a:pPr algn="ctr">
                <a:lnSpc>
                  <a:spcPts val="2161"/>
                </a:lnSpc>
              </a:pPr>
              <a:r>
                <a:rPr lang="en-US" sz="1801" b="true">
                  <a:solidFill>
                    <a:srgbClr val="1F4E79"/>
                  </a:solidFill>
                  <a:latin typeface="Cabin Bold"/>
                  <a:ea typeface="Cabin Bold"/>
                  <a:cs typeface="Cabin Bold"/>
                  <a:sym typeface="Cabin Bold"/>
                </a:rPr>
                <a:t>Part. 4</a:t>
              </a:r>
            </a:p>
          </p:txBody>
        </p:sp>
      </p:grpSp>
      <p:sp>
        <p:nvSpPr>
          <p:cNvPr name="AutoShape 65" id="65"/>
          <p:cNvSpPr/>
          <p:nvPr/>
        </p:nvSpPr>
        <p:spPr>
          <a:xfrm rot="5315340">
            <a:off x="14631962" y="5726144"/>
            <a:ext cx="774268" cy="0"/>
          </a:xfrm>
          <a:prstGeom prst="line">
            <a:avLst/>
          </a:prstGeom>
          <a:ln cap="rnd" w="9525">
            <a:solidFill>
              <a:srgbClr val="4A4A4A"/>
            </a:solidFill>
            <a:prstDash val="solid"/>
            <a:headEnd type="none" len="sm" w="sm"/>
            <a:tailEnd type="triangle" len="med" w="lg"/>
          </a:ln>
        </p:spPr>
      </p:sp>
      <p:grpSp>
        <p:nvGrpSpPr>
          <p:cNvPr name="Group 66" id="66"/>
          <p:cNvGrpSpPr/>
          <p:nvPr/>
        </p:nvGrpSpPr>
        <p:grpSpPr>
          <a:xfrm rot="0">
            <a:off x="13296109" y="6101239"/>
            <a:ext cx="3445983" cy="700630"/>
            <a:chOff x="0" y="0"/>
            <a:chExt cx="4594644" cy="934174"/>
          </a:xfrm>
        </p:grpSpPr>
        <p:sp>
          <p:nvSpPr>
            <p:cNvPr name="Freeform 67" id="67"/>
            <p:cNvSpPr/>
            <p:nvPr/>
          </p:nvSpPr>
          <p:spPr>
            <a:xfrm flipH="false" flipV="false" rot="0">
              <a:off x="0" y="0"/>
              <a:ext cx="4594733" cy="934212"/>
            </a:xfrm>
            <a:custGeom>
              <a:avLst/>
              <a:gdLst/>
              <a:ahLst/>
              <a:cxnLst/>
              <a:rect r="r" b="b" t="t" l="l"/>
              <a:pathLst>
                <a:path h="934212" w="4594733">
                  <a:moveTo>
                    <a:pt x="0" y="112141"/>
                  </a:moveTo>
                  <a:cubicBezTo>
                    <a:pt x="0" y="50165"/>
                    <a:pt x="50165" y="0"/>
                    <a:pt x="112141" y="0"/>
                  </a:cubicBezTo>
                  <a:lnTo>
                    <a:pt x="4482592" y="0"/>
                  </a:lnTo>
                  <a:cubicBezTo>
                    <a:pt x="4544441" y="0"/>
                    <a:pt x="4594733" y="50165"/>
                    <a:pt x="4594733" y="112141"/>
                  </a:cubicBezTo>
                  <a:lnTo>
                    <a:pt x="4594733" y="822071"/>
                  </a:lnTo>
                  <a:cubicBezTo>
                    <a:pt x="4594733" y="883920"/>
                    <a:pt x="4544568" y="934212"/>
                    <a:pt x="4482592" y="934212"/>
                  </a:cubicBezTo>
                  <a:lnTo>
                    <a:pt x="112141" y="934212"/>
                  </a:lnTo>
                  <a:cubicBezTo>
                    <a:pt x="50165" y="934212"/>
                    <a:pt x="0" y="884047"/>
                    <a:pt x="0" y="822071"/>
                  </a:cubicBezTo>
                  <a:close/>
                </a:path>
              </a:pathLst>
            </a:custGeom>
            <a:solidFill>
              <a:srgbClr val="F2F5F8"/>
            </a:solidFill>
            <a:ln w="14299" cap="sq">
              <a:solidFill>
                <a:srgbClr val="D9D9D9"/>
              </a:solidFill>
              <a:prstDash val="solid"/>
              <a:miter/>
            </a:ln>
          </p:spPr>
        </p:sp>
      </p:grpSp>
      <p:grpSp>
        <p:nvGrpSpPr>
          <p:cNvPr name="Group 68" id="68"/>
          <p:cNvGrpSpPr/>
          <p:nvPr/>
        </p:nvGrpSpPr>
        <p:grpSpPr>
          <a:xfrm rot="0">
            <a:off x="13303253" y="6108392"/>
            <a:ext cx="3431677" cy="686333"/>
            <a:chOff x="0" y="0"/>
            <a:chExt cx="4575569" cy="915111"/>
          </a:xfrm>
        </p:grpSpPr>
        <p:sp>
          <p:nvSpPr>
            <p:cNvPr name="Freeform 69" id="69"/>
            <p:cNvSpPr/>
            <p:nvPr/>
          </p:nvSpPr>
          <p:spPr>
            <a:xfrm flipH="false" flipV="false" rot="0">
              <a:off x="0" y="0"/>
              <a:ext cx="4575575" cy="915115"/>
            </a:xfrm>
            <a:custGeom>
              <a:avLst/>
              <a:gdLst/>
              <a:ahLst/>
              <a:cxnLst/>
              <a:rect r="r" b="b" t="t" l="l"/>
              <a:pathLst>
                <a:path h="915115" w="4575575">
                  <a:moveTo>
                    <a:pt x="0" y="0"/>
                  </a:moveTo>
                  <a:lnTo>
                    <a:pt x="4575575" y="0"/>
                  </a:lnTo>
                  <a:lnTo>
                    <a:pt x="4575575" y="915115"/>
                  </a:lnTo>
                  <a:lnTo>
                    <a:pt x="0" y="915115"/>
                  </a:lnTo>
                  <a:close/>
                </a:path>
              </a:pathLst>
            </a:custGeom>
            <a:blipFill>
              <a:blip r:embed="rId4">
                <a:alphaModFix amt="0"/>
              </a:blip>
              <a:stretch>
                <a:fillRect l="0" t="-47425" r="0" b="-47424"/>
              </a:stretch>
            </a:blipFill>
          </p:spPr>
        </p:sp>
        <p:sp>
          <p:nvSpPr>
            <p:cNvPr name="TextBox 70" id="70"/>
            <p:cNvSpPr txBox="true"/>
            <p:nvPr/>
          </p:nvSpPr>
          <p:spPr>
            <a:xfrm>
              <a:off x="0" y="0"/>
              <a:ext cx="4575569" cy="915111"/>
            </a:xfrm>
            <a:prstGeom prst="rect">
              <a:avLst/>
            </a:prstGeom>
          </p:spPr>
          <p:txBody>
            <a:bodyPr anchor="ctr" rtlCol="false" tIns="0" lIns="0" bIns="0" rIns="0"/>
            <a:lstStyle/>
            <a:p>
              <a:pPr algn="ctr">
                <a:lnSpc>
                  <a:spcPts val="1981"/>
                </a:lnSpc>
              </a:pPr>
              <a:r>
                <a:rPr lang="en-US" sz="1651">
                  <a:solidFill>
                    <a:srgbClr val="4A4A4A"/>
                  </a:solidFill>
                  <a:latin typeface="Cabin"/>
                  <a:ea typeface="Cabin"/>
                  <a:cs typeface="Cabin"/>
                  <a:sym typeface="Cabin"/>
                </a:rPr>
                <a:t>Task</a:t>
              </a:r>
            </a:p>
          </p:txBody>
        </p:sp>
      </p:grpSp>
      <p:grpSp>
        <p:nvGrpSpPr>
          <p:cNvPr name="Group 71" id="71"/>
          <p:cNvGrpSpPr/>
          <p:nvPr/>
        </p:nvGrpSpPr>
        <p:grpSpPr>
          <a:xfrm rot="0">
            <a:off x="686333" y="8441931"/>
            <a:ext cx="16952500" cy="823608"/>
            <a:chOff x="0" y="0"/>
            <a:chExt cx="22603333" cy="1098144"/>
          </a:xfrm>
        </p:grpSpPr>
        <p:sp>
          <p:nvSpPr>
            <p:cNvPr name="Freeform 72" id="72"/>
            <p:cNvSpPr/>
            <p:nvPr/>
          </p:nvSpPr>
          <p:spPr>
            <a:xfrm flipH="false" flipV="false" rot="0">
              <a:off x="0" y="0"/>
              <a:ext cx="22603340" cy="1098138"/>
            </a:xfrm>
            <a:custGeom>
              <a:avLst/>
              <a:gdLst/>
              <a:ahLst/>
              <a:cxnLst/>
              <a:rect r="r" b="b" t="t" l="l"/>
              <a:pathLst>
                <a:path h="1098138" w="22603340">
                  <a:moveTo>
                    <a:pt x="0" y="0"/>
                  </a:moveTo>
                  <a:lnTo>
                    <a:pt x="22603340" y="0"/>
                  </a:lnTo>
                  <a:lnTo>
                    <a:pt x="22603340" y="1098138"/>
                  </a:lnTo>
                  <a:lnTo>
                    <a:pt x="0" y="1098138"/>
                  </a:lnTo>
                  <a:close/>
                </a:path>
              </a:pathLst>
            </a:custGeom>
            <a:blipFill>
              <a:blip r:embed="rId4">
                <a:alphaModFix amt="0"/>
              </a:blip>
              <a:stretch>
                <a:fillRect l="0" t="-351066" r="0" b="-351067"/>
              </a:stretch>
            </a:blipFill>
          </p:spPr>
        </p:sp>
        <p:sp>
          <p:nvSpPr>
            <p:cNvPr name="TextBox 73" id="73"/>
            <p:cNvSpPr txBox="true"/>
            <p:nvPr/>
          </p:nvSpPr>
          <p:spPr>
            <a:xfrm>
              <a:off x="0" y="0"/>
              <a:ext cx="22603333" cy="1098144"/>
            </a:xfrm>
            <a:prstGeom prst="rect">
              <a:avLst/>
            </a:prstGeom>
          </p:spPr>
          <p:txBody>
            <a:bodyPr anchor="ctr" rtlCol="false" tIns="0" lIns="0" bIns="0" rIns="0"/>
            <a:lstStyle/>
            <a:p>
              <a:pPr algn="ctr">
                <a:lnSpc>
                  <a:spcPts val="1891"/>
                </a:lnSpc>
              </a:pPr>
              <a:r>
                <a:rPr lang="en-US" sz="1576" i="true">
                  <a:solidFill>
                    <a:srgbClr val="4A4A4A"/>
                  </a:solidFill>
                  <a:latin typeface="Cabin Italics"/>
                  <a:ea typeface="Cabin Italics"/>
                  <a:cs typeface="Cabin Italics"/>
                  <a:sym typeface="Cabin Italics"/>
                </a:rPr>
                <a:t>Số lượng Partition càng hợp lý, mức độ song song hóa càng hiệu quả — quá ít Partition sẽ lãng phí tài nguyên, quá nhiều sẽ tăng chi phí điều phối.</a:t>
              </a:r>
            </a:p>
          </p:txBody>
        </p:sp>
      </p:grpSp>
      <p:grpSp>
        <p:nvGrpSpPr>
          <p:cNvPr name="Group 74" id="74"/>
          <p:cNvGrpSpPr/>
          <p:nvPr/>
        </p:nvGrpSpPr>
        <p:grpSpPr>
          <a:xfrm rot="0">
            <a:off x="0" y="9677343"/>
            <a:ext cx="18301840" cy="617706"/>
            <a:chOff x="0" y="0"/>
            <a:chExt cx="24402453" cy="823608"/>
          </a:xfrm>
        </p:grpSpPr>
        <p:sp>
          <p:nvSpPr>
            <p:cNvPr name="Freeform 75" id="75"/>
            <p:cNvSpPr/>
            <p:nvPr/>
          </p:nvSpPr>
          <p:spPr>
            <a:xfrm flipH="false" flipV="false" rot="0">
              <a:off x="0" y="0"/>
              <a:ext cx="24402414" cy="823595"/>
            </a:xfrm>
            <a:custGeom>
              <a:avLst/>
              <a:gdLst/>
              <a:ahLst/>
              <a:cxnLst/>
              <a:rect r="r" b="b" t="t" l="l"/>
              <a:pathLst>
                <a:path h="823595" w="24402414">
                  <a:moveTo>
                    <a:pt x="0" y="0"/>
                  </a:moveTo>
                  <a:lnTo>
                    <a:pt x="24402414" y="0"/>
                  </a:lnTo>
                  <a:lnTo>
                    <a:pt x="24402414" y="823595"/>
                  </a:lnTo>
                  <a:lnTo>
                    <a:pt x="0" y="823595"/>
                  </a:lnTo>
                  <a:close/>
                </a:path>
              </a:pathLst>
            </a:custGeom>
            <a:solidFill>
              <a:srgbClr val="1F4E79"/>
            </a:solidFill>
          </p:spPr>
        </p:sp>
      </p:grpSp>
      <p:grpSp>
        <p:nvGrpSpPr>
          <p:cNvPr name="Group 76" id="76"/>
          <p:cNvGrpSpPr/>
          <p:nvPr/>
        </p:nvGrpSpPr>
        <p:grpSpPr>
          <a:xfrm rot="0">
            <a:off x="480431" y="9677343"/>
            <a:ext cx="10981382" cy="617706"/>
            <a:chOff x="0" y="0"/>
            <a:chExt cx="14641843" cy="823608"/>
          </a:xfrm>
        </p:grpSpPr>
        <p:sp>
          <p:nvSpPr>
            <p:cNvPr name="Freeform 77" id="77"/>
            <p:cNvSpPr/>
            <p:nvPr/>
          </p:nvSpPr>
          <p:spPr>
            <a:xfrm flipH="false" flipV="false" rot="0">
              <a:off x="0" y="0"/>
              <a:ext cx="14641840" cy="823603"/>
            </a:xfrm>
            <a:custGeom>
              <a:avLst/>
              <a:gdLst/>
              <a:ahLst/>
              <a:cxnLst/>
              <a:rect r="r" b="b" t="t" l="l"/>
              <a:pathLst>
                <a:path h="823603" w="14641840">
                  <a:moveTo>
                    <a:pt x="0" y="0"/>
                  </a:moveTo>
                  <a:lnTo>
                    <a:pt x="14641840" y="0"/>
                  </a:lnTo>
                  <a:lnTo>
                    <a:pt x="14641840" y="823603"/>
                  </a:lnTo>
                  <a:lnTo>
                    <a:pt x="0" y="823603"/>
                  </a:lnTo>
                  <a:close/>
                </a:path>
              </a:pathLst>
            </a:custGeom>
            <a:blipFill>
              <a:blip r:embed="rId4">
                <a:alphaModFix amt="0"/>
              </a:blip>
              <a:stretch>
                <a:fillRect l="0" t="-296400" r="0" b="-296401"/>
              </a:stretch>
            </a:blipFill>
          </p:spPr>
        </p:sp>
        <p:sp>
          <p:nvSpPr>
            <p:cNvPr name="TextBox 78" id="78"/>
            <p:cNvSpPr txBox="true"/>
            <p:nvPr/>
          </p:nvSpPr>
          <p:spPr>
            <a:xfrm>
              <a:off x="0" y="0"/>
              <a:ext cx="14641843" cy="823608"/>
            </a:xfrm>
            <a:prstGeom prst="rect">
              <a:avLst/>
            </a:prstGeom>
          </p:spPr>
          <p:txBody>
            <a:bodyPr anchor="ctr" rtlCol="false" tIns="0" lIns="0" bIns="0" rIns="0"/>
            <a:lstStyle/>
            <a:p>
              <a:pPr algn="l">
                <a:lnSpc>
                  <a:spcPts val="1621"/>
                </a:lnSpc>
              </a:pPr>
              <a:r>
                <a:rPr lang="en-US" sz="1351">
                  <a:solidFill>
                    <a:srgbClr val="FFFFFF"/>
                  </a:solidFill>
                  <a:latin typeface="Cabin"/>
                  <a:ea typeface="Cabin"/>
                  <a:cs typeface="Cabin"/>
                  <a:sym typeface="Cabin"/>
                </a:rPr>
                <a:t>VNU UET – Institute for Artificial Intelligence</a:t>
              </a:r>
            </a:p>
          </p:txBody>
        </p:sp>
      </p:grpSp>
      <p:grpSp>
        <p:nvGrpSpPr>
          <p:cNvPr name="Group 79" id="79"/>
          <p:cNvGrpSpPr/>
          <p:nvPr/>
        </p:nvGrpSpPr>
        <p:grpSpPr>
          <a:xfrm rot="0">
            <a:off x="17066438" y="9677343"/>
            <a:ext cx="823608" cy="617706"/>
            <a:chOff x="0" y="0"/>
            <a:chExt cx="1098144" cy="823608"/>
          </a:xfrm>
        </p:grpSpPr>
        <p:sp>
          <p:nvSpPr>
            <p:cNvPr name="Freeform 80" id="80"/>
            <p:cNvSpPr/>
            <p:nvPr/>
          </p:nvSpPr>
          <p:spPr>
            <a:xfrm flipH="false" flipV="false" rot="0">
              <a:off x="0" y="0"/>
              <a:ext cx="1098138" cy="823603"/>
            </a:xfrm>
            <a:custGeom>
              <a:avLst/>
              <a:gdLst/>
              <a:ahLst/>
              <a:cxnLst/>
              <a:rect r="r" b="b" t="t" l="l"/>
              <a:pathLst>
                <a:path h="823603" w="1098138">
                  <a:moveTo>
                    <a:pt x="0" y="0"/>
                  </a:moveTo>
                  <a:lnTo>
                    <a:pt x="1098138" y="0"/>
                  </a:lnTo>
                  <a:lnTo>
                    <a:pt x="1098138" y="823603"/>
                  </a:lnTo>
                  <a:lnTo>
                    <a:pt x="0" y="823603"/>
                  </a:lnTo>
                  <a:close/>
                </a:path>
              </a:pathLst>
            </a:custGeom>
            <a:blipFill>
              <a:blip r:embed="rId4">
                <a:alphaModFix amt="0"/>
              </a:blip>
              <a:stretch>
                <a:fillRect l="-46227" t="0" r="-46228" b="0"/>
              </a:stretch>
            </a:blipFill>
          </p:spPr>
        </p:sp>
        <p:sp>
          <p:nvSpPr>
            <p:cNvPr name="TextBox 81" id="81"/>
            <p:cNvSpPr txBox="true"/>
            <p:nvPr/>
          </p:nvSpPr>
          <p:spPr>
            <a:xfrm>
              <a:off x="0" y="0"/>
              <a:ext cx="1098144" cy="823608"/>
            </a:xfrm>
            <a:prstGeom prst="rect">
              <a:avLst/>
            </a:prstGeom>
          </p:spPr>
          <p:txBody>
            <a:bodyPr anchor="ctr" rtlCol="false" tIns="0" lIns="0" bIns="0" rIns="0"/>
            <a:lstStyle/>
            <a:p>
              <a:pPr algn="r">
                <a:lnSpc>
                  <a:spcPts val="1621"/>
                </a:lnSpc>
              </a:pPr>
              <a:r>
                <a:rPr lang="en-US" sz="1351">
                  <a:solidFill>
                    <a:srgbClr val="FFFFFF"/>
                  </a:solidFill>
                  <a:latin typeface="Cabin"/>
                  <a:ea typeface="Cabin"/>
                  <a:cs typeface="Cabin"/>
                  <a:sym typeface="Cabin"/>
                </a:rPr>
                <a:t>20</a:t>
              </a:r>
            </a:p>
          </p:txBody>
        </p:sp>
      </p:grpSp>
      <p:grpSp>
        <p:nvGrpSpPr>
          <p:cNvPr name="Group 82" id="82"/>
          <p:cNvGrpSpPr/>
          <p:nvPr/>
        </p:nvGrpSpPr>
        <p:grpSpPr>
          <a:xfrm rot="0">
            <a:off x="0" y="0"/>
            <a:ext cx="18288000" cy="315468"/>
            <a:chOff x="0" y="0"/>
            <a:chExt cx="24384000" cy="420624"/>
          </a:xfrm>
        </p:grpSpPr>
        <p:sp>
          <p:nvSpPr>
            <p:cNvPr name="Freeform 83" id="83"/>
            <p:cNvSpPr/>
            <p:nvPr/>
          </p:nvSpPr>
          <p:spPr>
            <a:xfrm flipH="false" flipV="false" rot="0">
              <a:off x="0" y="0"/>
              <a:ext cx="24384000" cy="420624"/>
            </a:xfrm>
            <a:custGeom>
              <a:avLst/>
              <a:gdLst/>
              <a:ahLst/>
              <a:cxnLst/>
              <a:rect r="r" b="b" t="t" l="l"/>
              <a:pathLst>
                <a:path h="420624" w="24384000">
                  <a:moveTo>
                    <a:pt x="0" y="0"/>
                  </a:moveTo>
                  <a:lnTo>
                    <a:pt x="24384000" y="0"/>
                  </a:lnTo>
                  <a:lnTo>
                    <a:pt x="24384000" y="420624"/>
                  </a:lnTo>
                  <a:lnTo>
                    <a:pt x="0" y="420624"/>
                  </a:lnTo>
                  <a:close/>
                </a:path>
              </a:pathLst>
            </a:custGeom>
            <a:solidFill>
              <a:srgbClr val="0F3F6F"/>
            </a:solidFill>
          </p:spPr>
        </p:sp>
      </p:grpSp>
      <p:grpSp>
        <p:nvGrpSpPr>
          <p:cNvPr name="Group 84" id="84"/>
          <p:cNvGrpSpPr/>
          <p:nvPr/>
        </p:nvGrpSpPr>
        <p:grpSpPr>
          <a:xfrm rot="0">
            <a:off x="13098780" y="0"/>
            <a:ext cx="1453896" cy="1508760"/>
            <a:chOff x="0" y="0"/>
            <a:chExt cx="1938528" cy="2011680"/>
          </a:xfrm>
        </p:grpSpPr>
        <p:sp>
          <p:nvSpPr>
            <p:cNvPr name="Freeform 85" id="85"/>
            <p:cNvSpPr/>
            <p:nvPr/>
          </p:nvSpPr>
          <p:spPr>
            <a:xfrm flipH="false" flipV="false" rot="0">
              <a:off x="0" y="0"/>
              <a:ext cx="1938528" cy="2011680"/>
            </a:xfrm>
            <a:custGeom>
              <a:avLst/>
              <a:gdLst/>
              <a:ahLst/>
              <a:cxnLst/>
              <a:rect r="r" b="b" t="t" l="l"/>
              <a:pathLst>
                <a:path h="2011680" w="1938528">
                  <a:moveTo>
                    <a:pt x="0" y="2011680"/>
                  </a:moveTo>
                  <a:lnTo>
                    <a:pt x="484632" y="0"/>
                  </a:lnTo>
                  <a:lnTo>
                    <a:pt x="1938528" y="0"/>
                  </a:lnTo>
                  <a:lnTo>
                    <a:pt x="1453896" y="2011680"/>
                  </a:lnTo>
                  <a:close/>
                </a:path>
              </a:pathLst>
            </a:custGeom>
            <a:solidFill>
              <a:srgbClr val="85B518"/>
            </a:solidFill>
          </p:spPr>
        </p:sp>
      </p:grpSp>
      <p:grpSp>
        <p:nvGrpSpPr>
          <p:cNvPr name="Group 86" id="86"/>
          <p:cNvGrpSpPr/>
          <p:nvPr/>
        </p:nvGrpSpPr>
        <p:grpSpPr>
          <a:xfrm rot="0">
            <a:off x="14621256" y="0"/>
            <a:ext cx="1508760" cy="1508760"/>
            <a:chOff x="0" y="0"/>
            <a:chExt cx="2011680" cy="2011680"/>
          </a:xfrm>
        </p:grpSpPr>
        <p:sp>
          <p:nvSpPr>
            <p:cNvPr name="Freeform 87" id="87"/>
            <p:cNvSpPr/>
            <p:nvPr/>
          </p:nvSpPr>
          <p:spPr>
            <a:xfrm flipH="false" flipV="false" rot="0">
              <a:off x="0" y="0"/>
              <a:ext cx="2011680" cy="2011680"/>
            </a:xfrm>
            <a:custGeom>
              <a:avLst/>
              <a:gdLst/>
              <a:ahLst/>
              <a:cxnLst/>
              <a:rect r="r" b="b" t="t" l="l"/>
              <a:pathLst>
                <a:path h="2011680" w="2011680">
                  <a:moveTo>
                    <a:pt x="0" y="2011680"/>
                  </a:moveTo>
                  <a:lnTo>
                    <a:pt x="502920" y="0"/>
                  </a:lnTo>
                  <a:lnTo>
                    <a:pt x="2011680" y="0"/>
                  </a:lnTo>
                  <a:lnTo>
                    <a:pt x="1508760" y="2011680"/>
                  </a:lnTo>
                  <a:close/>
                </a:path>
              </a:pathLst>
            </a:custGeom>
            <a:solidFill>
              <a:srgbClr val="0F3F6F"/>
            </a:solidFill>
          </p:spPr>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97801" y="384353"/>
            <a:ext cx="851059" cy="851059"/>
            <a:chOff x="0" y="0"/>
            <a:chExt cx="1134745" cy="1134745"/>
          </a:xfrm>
        </p:grpSpPr>
        <p:sp>
          <p:nvSpPr>
            <p:cNvPr name="Freeform 3" id="3" descr="/home/claude/work/assets/logo.png"/>
            <p:cNvSpPr/>
            <p:nvPr/>
          </p:nvSpPr>
          <p:spPr>
            <a:xfrm flipH="false" flipV="false" rot="0">
              <a:off x="0" y="0"/>
              <a:ext cx="1134745" cy="1134745"/>
            </a:xfrm>
            <a:custGeom>
              <a:avLst/>
              <a:gdLst/>
              <a:ahLst/>
              <a:cxnLst/>
              <a:rect r="r" b="b" t="t" l="l"/>
              <a:pathLst>
                <a:path h="1134745" w="1134745">
                  <a:moveTo>
                    <a:pt x="0" y="0"/>
                  </a:moveTo>
                  <a:lnTo>
                    <a:pt x="1134745" y="0"/>
                  </a:lnTo>
                  <a:lnTo>
                    <a:pt x="1134745" y="1134745"/>
                  </a:lnTo>
                  <a:lnTo>
                    <a:pt x="0" y="1134745"/>
                  </a:lnTo>
                  <a:lnTo>
                    <a:pt x="0" y="0"/>
                  </a:lnTo>
                  <a:close/>
                </a:path>
              </a:pathLst>
            </a:custGeom>
            <a:blipFill>
              <a:blip r:embed="rId3"/>
              <a:stretch>
                <a:fillRect l="0" t="0" r="0" b="0"/>
              </a:stretch>
            </a:blipFill>
          </p:spPr>
        </p:sp>
      </p:grpSp>
      <p:grpSp>
        <p:nvGrpSpPr>
          <p:cNvPr name="Group 4" id="4"/>
          <p:cNvGrpSpPr/>
          <p:nvPr/>
        </p:nvGrpSpPr>
        <p:grpSpPr>
          <a:xfrm rot="0">
            <a:off x="6019695" y="1570048"/>
            <a:ext cx="6262460" cy="6262460"/>
            <a:chOff x="0" y="0"/>
            <a:chExt cx="6954876" cy="6954876"/>
          </a:xfrm>
        </p:grpSpPr>
        <p:sp>
          <p:nvSpPr>
            <p:cNvPr name="Freeform 5" id="5"/>
            <p:cNvSpPr/>
            <p:nvPr/>
          </p:nvSpPr>
          <p:spPr>
            <a:xfrm flipH="false" flipV="false" rot="0">
              <a:off x="0" y="0"/>
              <a:ext cx="6954901" cy="6954901"/>
            </a:xfrm>
            <a:custGeom>
              <a:avLst/>
              <a:gdLst/>
              <a:ahLst/>
              <a:cxnLst/>
              <a:rect r="r" b="b" t="t" l="l"/>
              <a:pathLst>
                <a:path h="6954901" w="6954901">
                  <a:moveTo>
                    <a:pt x="0" y="3477387"/>
                  </a:moveTo>
                  <a:cubicBezTo>
                    <a:pt x="0" y="1556893"/>
                    <a:pt x="1556893" y="0"/>
                    <a:pt x="3477387" y="0"/>
                  </a:cubicBezTo>
                  <a:cubicBezTo>
                    <a:pt x="5397881" y="0"/>
                    <a:pt x="6954901" y="1556893"/>
                    <a:pt x="6954901" y="3477387"/>
                  </a:cubicBezTo>
                  <a:cubicBezTo>
                    <a:pt x="6954901" y="5397881"/>
                    <a:pt x="5398008" y="6954901"/>
                    <a:pt x="3477387" y="6954901"/>
                  </a:cubicBezTo>
                  <a:cubicBezTo>
                    <a:pt x="1556766" y="6954901"/>
                    <a:pt x="0" y="5398008"/>
                    <a:pt x="0" y="3477387"/>
                  </a:cubicBezTo>
                  <a:close/>
                </a:path>
              </a:pathLst>
            </a:custGeom>
            <a:solidFill>
              <a:srgbClr val="1F4E79"/>
            </a:solidFill>
          </p:spPr>
        </p:sp>
      </p:grpSp>
      <p:grpSp>
        <p:nvGrpSpPr>
          <p:cNvPr name="Group 6" id="6"/>
          <p:cNvGrpSpPr/>
          <p:nvPr/>
        </p:nvGrpSpPr>
        <p:grpSpPr>
          <a:xfrm rot="0">
            <a:off x="6019695" y="2262211"/>
            <a:ext cx="6262460" cy="494407"/>
            <a:chOff x="0" y="0"/>
            <a:chExt cx="6954876" cy="549072"/>
          </a:xfrm>
        </p:grpSpPr>
        <p:sp>
          <p:nvSpPr>
            <p:cNvPr name="Freeform 7" id="7"/>
            <p:cNvSpPr/>
            <p:nvPr/>
          </p:nvSpPr>
          <p:spPr>
            <a:xfrm flipH="false" flipV="false" rot="0">
              <a:off x="0" y="0"/>
              <a:ext cx="6954873" cy="549069"/>
            </a:xfrm>
            <a:custGeom>
              <a:avLst/>
              <a:gdLst/>
              <a:ahLst/>
              <a:cxnLst/>
              <a:rect r="r" b="b" t="t" l="l"/>
              <a:pathLst>
                <a:path h="549069" w="6954873">
                  <a:moveTo>
                    <a:pt x="0" y="0"/>
                  </a:moveTo>
                  <a:lnTo>
                    <a:pt x="6954873" y="0"/>
                  </a:lnTo>
                  <a:lnTo>
                    <a:pt x="6954873" y="549069"/>
                  </a:lnTo>
                  <a:lnTo>
                    <a:pt x="0" y="549069"/>
                  </a:lnTo>
                  <a:close/>
                </a:path>
              </a:pathLst>
            </a:custGeom>
            <a:blipFill>
              <a:blip r:embed="rId4">
                <a:alphaModFix amt="0"/>
              </a:blip>
              <a:stretch>
                <a:fillRect l="0" t="-196810" r="0" b="-196810"/>
              </a:stretch>
            </a:blipFill>
          </p:spPr>
        </p:sp>
        <p:sp>
          <p:nvSpPr>
            <p:cNvPr name="TextBox 8" id="8"/>
            <p:cNvSpPr txBox="true"/>
            <p:nvPr/>
          </p:nvSpPr>
          <p:spPr>
            <a:xfrm>
              <a:off x="0" y="0"/>
              <a:ext cx="6954876" cy="549072"/>
            </a:xfrm>
            <a:prstGeom prst="rect">
              <a:avLst/>
            </a:prstGeom>
          </p:spPr>
          <p:txBody>
            <a:bodyPr anchor="ctr" rtlCol="false" tIns="0" lIns="0" bIns="0" rIns="0"/>
            <a:lstStyle/>
            <a:p>
              <a:pPr algn="ctr">
                <a:lnSpc>
                  <a:spcPts val="1981"/>
                </a:lnSpc>
              </a:pPr>
              <a:r>
                <a:rPr lang="en-US" sz="1651" spc="300">
                  <a:solidFill>
                    <a:srgbClr val="9FB8D4"/>
                  </a:solidFill>
                  <a:latin typeface="Cabin"/>
                  <a:ea typeface="Cabin"/>
                  <a:cs typeface="Cabin"/>
                  <a:sym typeface="Cabin"/>
                </a:rPr>
                <a:t>PHẦN 5.8</a:t>
              </a:r>
            </a:p>
          </p:txBody>
        </p:sp>
      </p:grpSp>
      <p:grpSp>
        <p:nvGrpSpPr>
          <p:cNvPr name="Group 9" id="9"/>
          <p:cNvGrpSpPr/>
          <p:nvPr/>
        </p:nvGrpSpPr>
        <p:grpSpPr>
          <a:xfrm rot="0">
            <a:off x="6019695" y="2690692"/>
            <a:ext cx="6262460" cy="1236006"/>
            <a:chOff x="0" y="0"/>
            <a:chExt cx="6954876" cy="1372667"/>
          </a:xfrm>
        </p:grpSpPr>
        <p:sp>
          <p:nvSpPr>
            <p:cNvPr name="Freeform 10" id="10"/>
            <p:cNvSpPr/>
            <p:nvPr/>
          </p:nvSpPr>
          <p:spPr>
            <a:xfrm flipH="false" flipV="false" rot="0">
              <a:off x="0" y="0"/>
              <a:ext cx="6954873" cy="1372672"/>
            </a:xfrm>
            <a:custGeom>
              <a:avLst/>
              <a:gdLst/>
              <a:ahLst/>
              <a:cxnLst/>
              <a:rect r="r" b="b" t="t" l="l"/>
              <a:pathLst>
                <a:path h="1372672" w="6954873">
                  <a:moveTo>
                    <a:pt x="0" y="0"/>
                  </a:moveTo>
                  <a:lnTo>
                    <a:pt x="6954873" y="0"/>
                  </a:lnTo>
                  <a:lnTo>
                    <a:pt x="6954873" y="1372672"/>
                  </a:lnTo>
                  <a:lnTo>
                    <a:pt x="0" y="1372672"/>
                  </a:lnTo>
                  <a:close/>
                </a:path>
              </a:pathLst>
            </a:custGeom>
            <a:blipFill>
              <a:blip r:embed="rId4">
                <a:alphaModFix amt="0"/>
              </a:blip>
              <a:stretch>
                <a:fillRect l="0" t="-48724" r="0" b="-48724"/>
              </a:stretch>
            </a:blipFill>
          </p:spPr>
        </p:sp>
        <p:sp>
          <p:nvSpPr>
            <p:cNvPr name="TextBox 11" id="11"/>
            <p:cNvSpPr txBox="true"/>
            <p:nvPr/>
          </p:nvSpPr>
          <p:spPr>
            <a:xfrm>
              <a:off x="0" y="-9525"/>
              <a:ext cx="6954876" cy="1382192"/>
            </a:xfrm>
            <a:prstGeom prst="rect">
              <a:avLst/>
            </a:prstGeom>
          </p:spPr>
          <p:txBody>
            <a:bodyPr anchor="ctr" rtlCol="false" tIns="0" lIns="0" bIns="0" rIns="0"/>
            <a:lstStyle/>
            <a:p>
              <a:pPr algn="ctr">
                <a:lnSpc>
                  <a:spcPts val="6124"/>
                </a:lnSpc>
              </a:pPr>
              <a:r>
                <a:rPr lang="en-US" sz="5103" b="true">
                  <a:solidFill>
                    <a:srgbClr val="FFFFFF"/>
                  </a:solidFill>
                  <a:latin typeface="TT Rounds Condensed Bold"/>
                  <a:ea typeface="TT Rounds Condensed Bold"/>
                  <a:cs typeface="TT Rounds Condensed Bold"/>
                  <a:sym typeface="TT Rounds Condensed Bold"/>
                </a:rPr>
                <a:t>5.8</a:t>
              </a:r>
            </a:p>
          </p:txBody>
        </p:sp>
      </p:grpSp>
      <p:sp>
        <p:nvSpPr>
          <p:cNvPr name="TextBox 12" id="12"/>
          <p:cNvSpPr txBox="true"/>
          <p:nvPr/>
        </p:nvSpPr>
        <p:spPr>
          <a:xfrm rot="0">
            <a:off x="6376680" y="3965122"/>
            <a:ext cx="5548489" cy="1043831"/>
          </a:xfrm>
          <a:prstGeom prst="rect">
            <a:avLst/>
          </a:prstGeom>
        </p:spPr>
        <p:txBody>
          <a:bodyPr anchor="t" rtlCol="false" tIns="0" lIns="0" bIns="0" rIns="0">
            <a:spAutoFit/>
          </a:bodyPr>
          <a:lstStyle/>
          <a:p>
            <a:pPr algn="ctr">
              <a:lnSpc>
                <a:spcPts val="3244"/>
              </a:lnSpc>
            </a:pPr>
            <a:r>
              <a:rPr lang="en-US" sz="2703" b="true">
                <a:solidFill>
                  <a:srgbClr val="FFFFFF"/>
                </a:solidFill>
                <a:latin typeface="Cabin Bold"/>
                <a:ea typeface="Cabin Bold"/>
                <a:cs typeface="Cabin Bold"/>
                <a:sym typeface="Cabin Bold"/>
              </a:rPr>
              <a:t>RDD và DataFrame</a:t>
            </a:r>
          </a:p>
        </p:txBody>
      </p:sp>
      <p:sp>
        <p:nvSpPr>
          <p:cNvPr name="TextBox 13" id="13"/>
          <p:cNvSpPr txBox="true"/>
          <p:nvPr/>
        </p:nvSpPr>
        <p:spPr>
          <a:xfrm rot="0">
            <a:off x="6459074" y="5332970"/>
            <a:ext cx="5383691" cy="1538238"/>
          </a:xfrm>
          <a:prstGeom prst="rect">
            <a:avLst/>
          </a:prstGeom>
        </p:spPr>
        <p:txBody>
          <a:bodyPr anchor="t" rtlCol="false" tIns="0" lIns="0" bIns="0" rIns="0">
            <a:spAutoFit/>
          </a:bodyPr>
          <a:lstStyle/>
          <a:p>
            <a:pPr algn="ctr">
              <a:lnSpc>
                <a:spcPts val="2054"/>
              </a:lnSpc>
            </a:pPr>
            <a:r>
              <a:rPr lang="en-US" sz="1712">
                <a:solidFill>
                  <a:srgbClr val="D7E3F0"/>
                </a:solidFill>
                <a:latin typeface="Cabin"/>
                <a:ea typeface="Cabin"/>
                <a:cs typeface="Cabin"/>
                <a:sym typeface="Cabin"/>
              </a:rPr>
              <a:t>Trong thực hành chủ yếu sử dụng DataFrame</a:t>
            </a:r>
          </a:p>
        </p:txBody>
      </p:sp>
      <p:grpSp>
        <p:nvGrpSpPr>
          <p:cNvPr name="Group 14" id="14"/>
          <p:cNvGrpSpPr/>
          <p:nvPr/>
        </p:nvGrpSpPr>
        <p:grpSpPr>
          <a:xfrm rot="0">
            <a:off x="480431" y="9087088"/>
            <a:ext cx="1692916" cy="411804"/>
            <a:chOff x="0" y="0"/>
            <a:chExt cx="2257222" cy="549072"/>
          </a:xfrm>
        </p:grpSpPr>
        <p:sp>
          <p:nvSpPr>
            <p:cNvPr name="Freeform 15" id="15"/>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16" id="16"/>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5.1 MR→Spark</a:t>
              </a:r>
            </a:p>
          </p:txBody>
        </p:sp>
      </p:grpSp>
      <p:grpSp>
        <p:nvGrpSpPr>
          <p:cNvPr name="Group 17" id="17"/>
          <p:cNvGrpSpPr/>
          <p:nvPr/>
        </p:nvGrpSpPr>
        <p:grpSpPr>
          <a:xfrm rot="0">
            <a:off x="2214534" y="9087088"/>
            <a:ext cx="1692916" cy="411804"/>
            <a:chOff x="0" y="0"/>
            <a:chExt cx="2257222" cy="549072"/>
          </a:xfrm>
        </p:grpSpPr>
        <p:sp>
          <p:nvSpPr>
            <p:cNvPr name="Freeform 18" id="18"/>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19" id="19"/>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5.2 Spark</a:t>
              </a:r>
            </a:p>
          </p:txBody>
        </p:sp>
      </p:grpSp>
      <p:grpSp>
        <p:nvGrpSpPr>
          <p:cNvPr name="Group 20" id="20"/>
          <p:cNvGrpSpPr/>
          <p:nvPr/>
        </p:nvGrpSpPr>
        <p:grpSpPr>
          <a:xfrm rot="0">
            <a:off x="3948627" y="9087088"/>
            <a:ext cx="1692916" cy="411804"/>
            <a:chOff x="0" y="0"/>
            <a:chExt cx="2257222" cy="549072"/>
          </a:xfrm>
        </p:grpSpPr>
        <p:sp>
          <p:nvSpPr>
            <p:cNvPr name="Freeform 21" id="21"/>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22" id="22"/>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5.3 So sánh</a:t>
              </a:r>
            </a:p>
          </p:txBody>
        </p:sp>
      </p:grpSp>
      <p:grpSp>
        <p:nvGrpSpPr>
          <p:cNvPr name="Group 23" id="23"/>
          <p:cNvGrpSpPr/>
          <p:nvPr/>
        </p:nvGrpSpPr>
        <p:grpSpPr>
          <a:xfrm rot="0">
            <a:off x="5682729" y="9087088"/>
            <a:ext cx="1692916" cy="411804"/>
            <a:chOff x="0" y="0"/>
            <a:chExt cx="2257222" cy="549072"/>
          </a:xfrm>
        </p:grpSpPr>
        <p:sp>
          <p:nvSpPr>
            <p:cNvPr name="Freeform 24" id="24"/>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25" id="25"/>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5.4 Kiến trúc</a:t>
              </a:r>
            </a:p>
          </p:txBody>
        </p:sp>
      </p:grpSp>
      <p:grpSp>
        <p:nvGrpSpPr>
          <p:cNvPr name="Group 26" id="26"/>
          <p:cNvGrpSpPr/>
          <p:nvPr/>
        </p:nvGrpSpPr>
        <p:grpSpPr>
          <a:xfrm rot="0">
            <a:off x="7416822" y="9087088"/>
            <a:ext cx="1692916" cy="411804"/>
            <a:chOff x="0" y="0"/>
            <a:chExt cx="2257222" cy="549072"/>
          </a:xfrm>
        </p:grpSpPr>
        <p:sp>
          <p:nvSpPr>
            <p:cNvPr name="Freeform 27" id="27"/>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28" id="28"/>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5.5 Thực thi</a:t>
              </a:r>
            </a:p>
          </p:txBody>
        </p:sp>
      </p:grpSp>
      <p:grpSp>
        <p:nvGrpSpPr>
          <p:cNvPr name="Group 29" id="29"/>
          <p:cNvGrpSpPr/>
          <p:nvPr/>
        </p:nvGrpSpPr>
        <p:grpSpPr>
          <a:xfrm rot="0">
            <a:off x="9150925" y="9087088"/>
            <a:ext cx="1692916" cy="411804"/>
            <a:chOff x="0" y="0"/>
            <a:chExt cx="2257222" cy="549072"/>
          </a:xfrm>
        </p:grpSpPr>
        <p:sp>
          <p:nvSpPr>
            <p:cNvPr name="Freeform 30" id="30"/>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31" id="31"/>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5.6 Transform/Action</a:t>
              </a:r>
            </a:p>
          </p:txBody>
        </p:sp>
      </p:grpSp>
      <p:grpSp>
        <p:nvGrpSpPr>
          <p:cNvPr name="Group 32" id="32"/>
          <p:cNvGrpSpPr/>
          <p:nvPr/>
        </p:nvGrpSpPr>
        <p:grpSpPr>
          <a:xfrm rot="0">
            <a:off x="10885018" y="9087088"/>
            <a:ext cx="1692916" cy="411804"/>
            <a:chOff x="0" y="0"/>
            <a:chExt cx="2257222" cy="549072"/>
          </a:xfrm>
        </p:grpSpPr>
        <p:sp>
          <p:nvSpPr>
            <p:cNvPr name="Freeform 33" id="33"/>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34" id="34"/>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5.7 Partition</a:t>
              </a:r>
            </a:p>
          </p:txBody>
        </p:sp>
      </p:grpSp>
      <p:grpSp>
        <p:nvGrpSpPr>
          <p:cNvPr name="Group 35" id="35"/>
          <p:cNvGrpSpPr/>
          <p:nvPr/>
        </p:nvGrpSpPr>
        <p:grpSpPr>
          <a:xfrm rot="0">
            <a:off x="12619111" y="9087088"/>
            <a:ext cx="1692916" cy="411804"/>
            <a:chOff x="0" y="0"/>
            <a:chExt cx="2257222" cy="549072"/>
          </a:xfrm>
        </p:grpSpPr>
        <p:sp>
          <p:nvSpPr>
            <p:cNvPr name="Freeform 36" id="36"/>
            <p:cNvSpPr/>
            <p:nvPr/>
          </p:nvSpPr>
          <p:spPr>
            <a:xfrm flipH="false" flipV="false" rot="0">
              <a:off x="0" y="0"/>
              <a:ext cx="2257171" cy="549021"/>
            </a:xfrm>
            <a:custGeom>
              <a:avLst/>
              <a:gdLst/>
              <a:ahLst/>
              <a:cxnLst/>
              <a:rect r="r" b="b" t="t" l="l"/>
              <a:pathLst>
                <a:path h="549021" w="2257171">
                  <a:moveTo>
                    <a:pt x="0" y="0"/>
                  </a:moveTo>
                  <a:lnTo>
                    <a:pt x="2257171" y="0"/>
                  </a:lnTo>
                  <a:lnTo>
                    <a:pt x="2257171" y="549021"/>
                  </a:lnTo>
                  <a:lnTo>
                    <a:pt x="0" y="549021"/>
                  </a:lnTo>
                  <a:close/>
                </a:path>
              </a:pathLst>
            </a:custGeom>
            <a:solidFill>
              <a:srgbClr val="85B518"/>
            </a:solidFill>
          </p:spPr>
        </p:sp>
        <p:sp>
          <p:nvSpPr>
            <p:cNvPr name="TextBox 37" id="37"/>
            <p:cNvSpPr txBox="true"/>
            <p:nvPr/>
          </p:nvSpPr>
          <p:spPr>
            <a:xfrm>
              <a:off x="0" y="0"/>
              <a:ext cx="2257222" cy="549072"/>
            </a:xfrm>
            <a:prstGeom prst="rect">
              <a:avLst/>
            </a:prstGeom>
          </p:spPr>
          <p:txBody>
            <a:bodyPr anchor="ctr" rtlCol="false" tIns="50800" lIns="50800" bIns="50800" rIns="50800"/>
            <a:lstStyle/>
            <a:p>
              <a:pPr algn="ctr">
                <a:lnSpc>
                  <a:spcPts val="1170"/>
                </a:lnSpc>
              </a:pPr>
              <a:r>
                <a:rPr lang="en-US" sz="975" b="true">
                  <a:solidFill>
                    <a:srgbClr val="FFFFFF"/>
                  </a:solidFill>
                  <a:latin typeface="Cabin Bold"/>
                  <a:ea typeface="Cabin Bold"/>
                  <a:cs typeface="Cabin Bold"/>
                  <a:sym typeface="Cabin Bold"/>
                </a:rPr>
                <a:t>5.8 RDD/DF</a:t>
              </a:r>
            </a:p>
          </p:txBody>
        </p:sp>
      </p:grpSp>
      <p:grpSp>
        <p:nvGrpSpPr>
          <p:cNvPr name="Group 38" id="38"/>
          <p:cNvGrpSpPr/>
          <p:nvPr/>
        </p:nvGrpSpPr>
        <p:grpSpPr>
          <a:xfrm rot="0">
            <a:off x="14353213" y="9087088"/>
            <a:ext cx="1692916" cy="411804"/>
            <a:chOff x="0" y="0"/>
            <a:chExt cx="2257222" cy="549072"/>
          </a:xfrm>
        </p:grpSpPr>
        <p:sp>
          <p:nvSpPr>
            <p:cNvPr name="Freeform 39" id="39"/>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40" id="40"/>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5.9 PySpark</a:t>
              </a:r>
            </a:p>
          </p:txBody>
        </p:sp>
      </p:grpSp>
      <p:grpSp>
        <p:nvGrpSpPr>
          <p:cNvPr name="Group 41" id="41"/>
          <p:cNvGrpSpPr/>
          <p:nvPr/>
        </p:nvGrpSpPr>
        <p:grpSpPr>
          <a:xfrm rot="0">
            <a:off x="16087306" y="9087088"/>
            <a:ext cx="1692916" cy="411804"/>
            <a:chOff x="0" y="0"/>
            <a:chExt cx="2257222" cy="549072"/>
          </a:xfrm>
        </p:grpSpPr>
        <p:sp>
          <p:nvSpPr>
            <p:cNvPr name="Freeform 42" id="42"/>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43" id="43"/>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TH Thực hành</a:t>
              </a:r>
            </a:p>
          </p:txBody>
        </p:sp>
      </p:grpSp>
      <p:grpSp>
        <p:nvGrpSpPr>
          <p:cNvPr name="Group 44" id="44"/>
          <p:cNvGrpSpPr/>
          <p:nvPr/>
        </p:nvGrpSpPr>
        <p:grpSpPr>
          <a:xfrm rot="0">
            <a:off x="0" y="9677343"/>
            <a:ext cx="18301840" cy="617706"/>
            <a:chOff x="0" y="0"/>
            <a:chExt cx="24402453" cy="823608"/>
          </a:xfrm>
        </p:grpSpPr>
        <p:sp>
          <p:nvSpPr>
            <p:cNvPr name="Freeform 45" id="45"/>
            <p:cNvSpPr/>
            <p:nvPr/>
          </p:nvSpPr>
          <p:spPr>
            <a:xfrm flipH="false" flipV="false" rot="0">
              <a:off x="0" y="0"/>
              <a:ext cx="24402414" cy="823595"/>
            </a:xfrm>
            <a:custGeom>
              <a:avLst/>
              <a:gdLst/>
              <a:ahLst/>
              <a:cxnLst/>
              <a:rect r="r" b="b" t="t" l="l"/>
              <a:pathLst>
                <a:path h="823595" w="24402414">
                  <a:moveTo>
                    <a:pt x="0" y="0"/>
                  </a:moveTo>
                  <a:lnTo>
                    <a:pt x="24402414" y="0"/>
                  </a:lnTo>
                  <a:lnTo>
                    <a:pt x="24402414" y="823595"/>
                  </a:lnTo>
                  <a:lnTo>
                    <a:pt x="0" y="823595"/>
                  </a:lnTo>
                  <a:close/>
                </a:path>
              </a:pathLst>
            </a:custGeom>
            <a:solidFill>
              <a:srgbClr val="1F4E79"/>
            </a:solidFill>
          </p:spPr>
        </p:sp>
      </p:grpSp>
      <p:grpSp>
        <p:nvGrpSpPr>
          <p:cNvPr name="Group 46" id="46"/>
          <p:cNvGrpSpPr/>
          <p:nvPr/>
        </p:nvGrpSpPr>
        <p:grpSpPr>
          <a:xfrm rot="0">
            <a:off x="480431" y="9677343"/>
            <a:ext cx="10981382" cy="617706"/>
            <a:chOff x="0" y="0"/>
            <a:chExt cx="14641843" cy="823608"/>
          </a:xfrm>
        </p:grpSpPr>
        <p:sp>
          <p:nvSpPr>
            <p:cNvPr name="Freeform 47" id="47"/>
            <p:cNvSpPr/>
            <p:nvPr/>
          </p:nvSpPr>
          <p:spPr>
            <a:xfrm flipH="false" flipV="false" rot="0">
              <a:off x="0" y="0"/>
              <a:ext cx="14641840" cy="823603"/>
            </a:xfrm>
            <a:custGeom>
              <a:avLst/>
              <a:gdLst/>
              <a:ahLst/>
              <a:cxnLst/>
              <a:rect r="r" b="b" t="t" l="l"/>
              <a:pathLst>
                <a:path h="823603" w="14641840">
                  <a:moveTo>
                    <a:pt x="0" y="0"/>
                  </a:moveTo>
                  <a:lnTo>
                    <a:pt x="14641840" y="0"/>
                  </a:lnTo>
                  <a:lnTo>
                    <a:pt x="14641840" y="823603"/>
                  </a:lnTo>
                  <a:lnTo>
                    <a:pt x="0" y="823603"/>
                  </a:lnTo>
                  <a:close/>
                </a:path>
              </a:pathLst>
            </a:custGeom>
            <a:blipFill>
              <a:blip r:embed="rId4">
                <a:alphaModFix amt="0"/>
              </a:blip>
              <a:stretch>
                <a:fillRect l="0" t="-296400" r="0" b="-296401"/>
              </a:stretch>
            </a:blipFill>
          </p:spPr>
        </p:sp>
        <p:sp>
          <p:nvSpPr>
            <p:cNvPr name="TextBox 48" id="48"/>
            <p:cNvSpPr txBox="true"/>
            <p:nvPr/>
          </p:nvSpPr>
          <p:spPr>
            <a:xfrm>
              <a:off x="0" y="0"/>
              <a:ext cx="14641843" cy="823608"/>
            </a:xfrm>
            <a:prstGeom prst="rect">
              <a:avLst/>
            </a:prstGeom>
          </p:spPr>
          <p:txBody>
            <a:bodyPr anchor="ctr" rtlCol="false" tIns="0" lIns="0" bIns="0" rIns="0"/>
            <a:lstStyle/>
            <a:p>
              <a:pPr algn="l">
                <a:lnSpc>
                  <a:spcPts val="1621"/>
                </a:lnSpc>
              </a:pPr>
              <a:r>
                <a:rPr lang="en-US" sz="1351">
                  <a:solidFill>
                    <a:srgbClr val="FFFFFF"/>
                  </a:solidFill>
                  <a:latin typeface="Cabin"/>
                  <a:ea typeface="Cabin"/>
                  <a:cs typeface="Cabin"/>
                  <a:sym typeface="Cabin"/>
                </a:rPr>
                <a:t>VNU UET – Institute for Artificial Intelligence</a:t>
              </a:r>
            </a:p>
          </p:txBody>
        </p:sp>
      </p:grpSp>
      <p:grpSp>
        <p:nvGrpSpPr>
          <p:cNvPr name="Group 49" id="49"/>
          <p:cNvGrpSpPr/>
          <p:nvPr/>
        </p:nvGrpSpPr>
        <p:grpSpPr>
          <a:xfrm rot="0">
            <a:off x="17066438" y="9677343"/>
            <a:ext cx="823608" cy="617706"/>
            <a:chOff x="0" y="0"/>
            <a:chExt cx="1098144" cy="823608"/>
          </a:xfrm>
        </p:grpSpPr>
        <p:sp>
          <p:nvSpPr>
            <p:cNvPr name="Freeform 50" id="50"/>
            <p:cNvSpPr/>
            <p:nvPr/>
          </p:nvSpPr>
          <p:spPr>
            <a:xfrm flipH="false" flipV="false" rot="0">
              <a:off x="0" y="0"/>
              <a:ext cx="1098138" cy="823603"/>
            </a:xfrm>
            <a:custGeom>
              <a:avLst/>
              <a:gdLst/>
              <a:ahLst/>
              <a:cxnLst/>
              <a:rect r="r" b="b" t="t" l="l"/>
              <a:pathLst>
                <a:path h="823603" w="1098138">
                  <a:moveTo>
                    <a:pt x="0" y="0"/>
                  </a:moveTo>
                  <a:lnTo>
                    <a:pt x="1098138" y="0"/>
                  </a:lnTo>
                  <a:lnTo>
                    <a:pt x="1098138" y="823603"/>
                  </a:lnTo>
                  <a:lnTo>
                    <a:pt x="0" y="823603"/>
                  </a:lnTo>
                  <a:close/>
                </a:path>
              </a:pathLst>
            </a:custGeom>
            <a:blipFill>
              <a:blip r:embed="rId4">
                <a:alphaModFix amt="0"/>
              </a:blip>
              <a:stretch>
                <a:fillRect l="-46227" t="0" r="-46228" b="0"/>
              </a:stretch>
            </a:blipFill>
          </p:spPr>
        </p:sp>
        <p:sp>
          <p:nvSpPr>
            <p:cNvPr name="TextBox 51" id="51"/>
            <p:cNvSpPr txBox="true"/>
            <p:nvPr/>
          </p:nvSpPr>
          <p:spPr>
            <a:xfrm>
              <a:off x="0" y="0"/>
              <a:ext cx="1098144" cy="823608"/>
            </a:xfrm>
            <a:prstGeom prst="rect">
              <a:avLst/>
            </a:prstGeom>
          </p:spPr>
          <p:txBody>
            <a:bodyPr anchor="ctr" rtlCol="false" tIns="0" lIns="0" bIns="0" rIns="0"/>
            <a:lstStyle/>
            <a:p>
              <a:pPr algn="r">
                <a:lnSpc>
                  <a:spcPts val="1621"/>
                </a:lnSpc>
              </a:pPr>
              <a:r>
                <a:rPr lang="en-US" sz="1351">
                  <a:solidFill>
                    <a:srgbClr val="FFFFFF"/>
                  </a:solidFill>
                  <a:latin typeface="Cabin"/>
                  <a:ea typeface="Cabin"/>
                  <a:cs typeface="Cabin"/>
                  <a:sym typeface="Cabin"/>
                </a:rPr>
                <a:t>21</a:t>
              </a:r>
            </a:p>
          </p:txBody>
        </p:sp>
      </p:grpSp>
      <p:grpSp>
        <p:nvGrpSpPr>
          <p:cNvPr name="Group 52" id="52"/>
          <p:cNvGrpSpPr/>
          <p:nvPr/>
        </p:nvGrpSpPr>
        <p:grpSpPr>
          <a:xfrm rot="0">
            <a:off x="0" y="0"/>
            <a:ext cx="18288000" cy="315468"/>
            <a:chOff x="0" y="0"/>
            <a:chExt cx="24384000" cy="420624"/>
          </a:xfrm>
        </p:grpSpPr>
        <p:sp>
          <p:nvSpPr>
            <p:cNvPr name="Freeform 53" id="53"/>
            <p:cNvSpPr/>
            <p:nvPr/>
          </p:nvSpPr>
          <p:spPr>
            <a:xfrm flipH="false" flipV="false" rot="0">
              <a:off x="0" y="0"/>
              <a:ext cx="24384000" cy="420624"/>
            </a:xfrm>
            <a:custGeom>
              <a:avLst/>
              <a:gdLst/>
              <a:ahLst/>
              <a:cxnLst/>
              <a:rect r="r" b="b" t="t" l="l"/>
              <a:pathLst>
                <a:path h="420624" w="24384000">
                  <a:moveTo>
                    <a:pt x="0" y="0"/>
                  </a:moveTo>
                  <a:lnTo>
                    <a:pt x="24384000" y="0"/>
                  </a:lnTo>
                  <a:lnTo>
                    <a:pt x="24384000" y="420624"/>
                  </a:lnTo>
                  <a:lnTo>
                    <a:pt x="0" y="420624"/>
                  </a:lnTo>
                  <a:close/>
                </a:path>
              </a:pathLst>
            </a:custGeom>
            <a:solidFill>
              <a:srgbClr val="0F3F6F"/>
            </a:solidFill>
          </p:spPr>
        </p:sp>
      </p:grpSp>
      <p:grpSp>
        <p:nvGrpSpPr>
          <p:cNvPr name="Group 54" id="54"/>
          <p:cNvGrpSpPr/>
          <p:nvPr/>
        </p:nvGrpSpPr>
        <p:grpSpPr>
          <a:xfrm rot="0">
            <a:off x="13098780" y="0"/>
            <a:ext cx="1453896" cy="1508760"/>
            <a:chOff x="0" y="0"/>
            <a:chExt cx="1938528" cy="2011680"/>
          </a:xfrm>
        </p:grpSpPr>
        <p:sp>
          <p:nvSpPr>
            <p:cNvPr name="Freeform 55" id="55"/>
            <p:cNvSpPr/>
            <p:nvPr/>
          </p:nvSpPr>
          <p:spPr>
            <a:xfrm flipH="false" flipV="false" rot="0">
              <a:off x="0" y="0"/>
              <a:ext cx="1938528" cy="2011680"/>
            </a:xfrm>
            <a:custGeom>
              <a:avLst/>
              <a:gdLst/>
              <a:ahLst/>
              <a:cxnLst/>
              <a:rect r="r" b="b" t="t" l="l"/>
              <a:pathLst>
                <a:path h="2011680" w="1938528">
                  <a:moveTo>
                    <a:pt x="0" y="2011680"/>
                  </a:moveTo>
                  <a:lnTo>
                    <a:pt x="484632" y="0"/>
                  </a:lnTo>
                  <a:lnTo>
                    <a:pt x="1938528" y="0"/>
                  </a:lnTo>
                  <a:lnTo>
                    <a:pt x="1453896" y="2011680"/>
                  </a:lnTo>
                  <a:close/>
                </a:path>
              </a:pathLst>
            </a:custGeom>
            <a:solidFill>
              <a:srgbClr val="85B518"/>
            </a:solidFill>
          </p:spPr>
        </p:sp>
      </p:grpSp>
      <p:grpSp>
        <p:nvGrpSpPr>
          <p:cNvPr name="Group 56" id="56"/>
          <p:cNvGrpSpPr/>
          <p:nvPr/>
        </p:nvGrpSpPr>
        <p:grpSpPr>
          <a:xfrm rot="0">
            <a:off x="14621256" y="0"/>
            <a:ext cx="1508760" cy="1508760"/>
            <a:chOff x="0" y="0"/>
            <a:chExt cx="2011680" cy="2011680"/>
          </a:xfrm>
        </p:grpSpPr>
        <p:sp>
          <p:nvSpPr>
            <p:cNvPr name="Freeform 57" id="57"/>
            <p:cNvSpPr/>
            <p:nvPr/>
          </p:nvSpPr>
          <p:spPr>
            <a:xfrm flipH="false" flipV="false" rot="0">
              <a:off x="0" y="0"/>
              <a:ext cx="2011680" cy="2011680"/>
            </a:xfrm>
            <a:custGeom>
              <a:avLst/>
              <a:gdLst/>
              <a:ahLst/>
              <a:cxnLst/>
              <a:rect r="r" b="b" t="t" l="l"/>
              <a:pathLst>
                <a:path h="2011680" w="2011680">
                  <a:moveTo>
                    <a:pt x="0" y="2011680"/>
                  </a:moveTo>
                  <a:lnTo>
                    <a:pt x="502920" y="0"/>
                  </a:lnTo>
                  <a:lnTo>
                    <a:pt x="2011680" y="0"/>
                  </a:lnTo>
                  <a:lnTo>
                    <a:pt x="1508760" y="2011680"/>
                  </a:lnTo>
                  <a:close/>
                </a:path>
              </a:pathLst>
            </a:custGeom>
            <a:solidFill>
              <a:srgbClr val="0F3F6F"/>
            </a:solidFill>
          </p:spPr>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97801" y="384353"/>
            <a:ext cx="851059" cy="851059"/>
            <a:chOff x="0" y="0"/>
            <a:chExt cx="1134745" cy="1134745"/>
          </a:xfrm>
        </p:grpSpPr>
        <p:sp>
          <p:nvSpPr>
            <p:cNvPr name="Freeform 3" id="3" descr="/home/claude/work/assets/logo.png"/>
            <p:cNvSpPr/>
            <p:nvPr/>
          </p:nvSpPr>
          <p:spPr>
            <a:xfrm flipH="false" flipV="false" rot="0">
              <a:off x="0" y="0"/>
              <a:ext cx="1134745" cy="1134745"/>
            </a:xfrm>
            <a:custGeom>
              <a:avLst/>
              <a:gdLst/>
              <a:ahLst/>
              <a:cxnLst/>
              <a:rect r="r" b="b" t="t" l="l"/>
              <a:pathLst>
                <a:path h="1134745" w="1134745">
                  <a:moveTo>
                    <a:pt x="0" y="0"/>
                  </a:moveTo>
                  <a:lnTo>
                    <a:pt x="1134745" y="0"/>
                  </a:lnTo>
                  <a:lnTo>
                    <a:pt x="1134745" y="1134745"/>
                  </a:lnTo>
                  <a:lnTo>
                    <a:pt x="0" y="1134745"/>
                  </a:lnTo>
                  <a:lnTo>
                    <a:pt x="0" y="0"/>
                  </a:lnTo>
                  <a:close/>
                </a:path>
              </a:pathLst>
            </a:custGeom>
            <a:blipFill>
              <a:blip r:embed="rId3"/>
              <a:stretch>
                <a:fillRect l="0" t="0" r="0" b="0"/>
              </a:stretch>
            </a:blipFill>
          </p:spPr>
        </p:sp>
      </p:grpSp>
      <p:grpSp>
        <p:nvGrpSpPr>
          <p:cNvPr name="Group 4" id="4"/>
          <p:cNvGrpSpPr/>
          <p:nvPr/>
        </p:nvGrpSpPr>
        <p:grpSpPr>
          <a:xfrm rot="0">
            <a:off x="686333" y="384353"/>
            <a:ext cx="10981382" cy="411804"/>
            <a:chOff x="0" y="0"/>
            <a:chExt cx="14641843" cy="549072"/>
          </a:xfrm>
        </p:grpSpPr>
        <p:sp>
          <p:nvSpPr>
            <p:cNvPr name="Freeform 5" id="5"/>
            <p:cNvSpPr/>
            <p:nvPr/>
          </p:nvSpPr>
          <p:spPr>
            <a:xfrm flipH="false" flipV="false" rot="0">
              <a:off x="0" y="0"/>
              <a:ext cx="14641840" cy="549069"/>
            </a:xfrm>
            <a:custGeom>
              <a:avLst/>
              <a:gdLst/>
              <a:ahLst/>
              <a:cxnLst/>
              <a:rect r="r" b="b" t="t" l="l"/>
              <a:pathLst>
                <a:path h="549069" w="14641840">
                  <a:moveTo>
                    <a:pt x="0" y="0"/>
                  </a:moveTo>
                  <a:lnTo>
                    <a:pt x="14641840" y="0"/>
                  </a:lnTo>
                  <a:lnTo>
                    <a:pt x="14641840" y="549069"/>
                  </a:lnTo>
                  <a:lnTo>
                    <a:pt x="0" y="549069"/>
                  </a:lnTo>
                  <a:close/>
                </a:path>
              </a:pathLst>
            </a:custGeom>
            <a:blipFill>
              <a:blip r:embed="rId4">
                <a:alphaModFix amt="0"/>
              </a:blip>
              <a:stretch>
                <a:fillRect l="0" t="-469600" r="0" b="-469601"/>
              </a:stretch>
            </a:blipFill>
          </p:spPr>
        </p:sp>
        <p:sp>
          <p:nvSpPr>
            <p:cNvPr name="TextBox 6" id="6"/>
            <p:cNvSpPr txBox="true"/>
            <p:nvPr/>
          </p:nvSpPr>
          <p:spPr>
            <a:xfrm>
              <a:off x="0" y="0"/>
              <a:ext cx="14641843" cy="549072"/>
            </a:xfrm>
            <a:prstGeom prst="rect">
              <a:avLst/>
            </a:prstGeom>
          </p:spPr>
          <p:txBody>
            <a:bodyPr anchor="ctr" rtlCol="false" tIns="0" lIns="0" bIns="0" rIns="0"/>
            <a:lstStyle/>
            <a:p>
              <a:pPr algn="l">
                <a:lnSpc>
                  <a:spcPts val="1981"/>
                </a:lnSpc>
              </a:pPr>
              <a:r>
                <a:rPr lang="en-US" sz="1651" i="true">
                  <a:solidFill>
                    <a:srgbClr val="4A4A4A"/>
                  </a:solidFill>
                  <a:latin typeface="Cabin Italics"/>
                  <a:ea typeface="Cabin Italics"/>
                  <a:cs typeface="Cabin Italics"/>
                  <a:sym typeface="Cabin Italics"/>
                </a:rPr>
                <a:t>5.8. RDD và DataFrame · Bài 05</a:t>
              </a:r>
            </a:p>
          </p:txBody>
        </p:sp>
      </p:grpSp>
      <p:grpSp>
        <p:nvGrpSpPr>
          <p:cNvPr name="Group 7" id="7"/>
          <p:cNvGrpSpPr/>
          <p:nvPr/>
        </p:nvGrpSpPr>
        <p:grpSpPr>
          <a:xfrm rot="0">
            <a:off x="674418" y="839143"/>
            <a:ext cx="710165" cy="710165"/>
            <a:chOff x="0" y="0"/>
            <a:chExt cx="946887" cy="946887"/>
          </a:xfrm>
        </p:grpSpPr>
        <p:sp>
          <p:nvSpPr>
            <p:cNvPr name="Freeform 8" id="8"/>
            <p:cNvSpPr/>
            <p:nvPr/>
          </p:nvSpPr>
          <p:spPr>
            <a:xfrm flipH="false" flipV="false" rot="0">
              <a:off x="0" y="0"/>
              <a:ext cx="946912" cy="946912"/>
            </a:xfrm>
            <a:custGeom>
              <a:avLst/>
              <a:gdLst/>
              <a:ahLst/>
              <a:cxnLst/>
              <a:rect r="r" b="b" t="t" l="l"/>
              <a:pathLst>
                <a:path h="946912" w="946912">
                  <a:moveTo>
                    <a:pt x="0" y="473456"/>
                  </a:moveTo>
                  <a:cubicBezTo>
                    <a:pt x="0" y="211963"/>
                    <a:pt x="211963" y="0"/>
                    <a:pt x="473456" y="0"/>
                  </a:cubicBezTo>
                  <a:cubicBezTo>
                    <a:pt x="734949" y="0"/>
                    <a:pt x="946912" y="211963"/>
                    <a:pt x="946912" y="473456"/>
                  </a:cubicBezTo>
                  <a:cubicBezTo>
                    <a:pt x="946912" y="734949"/>
                    <a:pt x="734949" y="946912"/>
                    <a:pt x="473456" y="946912"/>
                  </a:cubicBezTo>
                  <a:cubicBezTo>
                    <a:pt x="211963" y="946912"/>
                    <a:pt x="0" y="734949"/>
                    <a:pt x="0" y="473456"/>
                  </a:cubicBezTo>
                  <a:close/>
                </a:path>
              </a:pathLst>
            </a:custGeom>
            <a:solidFill>
              <a:srgbClr val="FFFFFF"/>
            </a:solidFill>
            <a:ln w="23831" cap="sq">
              <a:solidFill>
                <a:srgbClr val="1F4E79"/>
              </a:solidFill>
              <a:prstDash val="solid"/>
              <a:miter/>
            </a:ln>
          </p:spPr>
        </p:sp>
      </p:grpSp>
      <p:grpSp>
        <p:nvGrpSpPr>
          <p:cNvPr name="Group 9" id="9"/>
          <p:cNvGrpSpPr/>
          <p:nvPr/>
        </p:nvGrpSpPr>
        <p:grpSpPr>
          <a:xfrm rot="0">
            <a:off x="686333" y="851059"/>
            <a:ext cx="686333" cy="686333"/>
            <a:chOff x="0" y="0"/>
            <a:chExt cx="915111" cy="915111"/>
          </a:xfrm>
        </p:grpSpPr>
        <p:sp>
          <p:nvSpPr>
            <p:cNvPr name="Freeform 10" id="10"/>
            <p:cNvSpPr/>
            <p:nvPr/>
          </p:nvSpPr>
          <p:spPr>
            <a:xfrm flipH="false" flipV="false" rot="0">
              <a:off x="0" y="0"/>
              <a:ext cx="915115" cy="915115"/>
            </a:xfrm>
            <a:custGeom>
              <a:avLst/>
              <a:gdLst/>
              <a:ahLst/>
              <a:cxnLst/>
              <a:rect r="r" b="b" t="t" l="l"/>
              <a:pathLst>
                <a:path h="915115" w="915115">
                  <a:moveTo>
                    <a:pt x="0" y="0"/>
                  </a:moveTo>
                  <a:lnTo>
                    <a:pt x="915115" y="0"/>
                  </a:lnTo>
                  <a:lnTo>
                    <a:pt x="915115" y="915115"/>
                  </a:lnTo>
                  <a:lnTo>
                    <a:pt x="0" y="915115"/>
                  </a:lnTo>
                  <a:close/>
                </a:path>
              </a:pathLst>
            </a:custGeom>
            <a:blipFill>
              <a:blip r:embed="rId4">
                <a:alphaModFix amt="0"/>
              </a:blip>
              <a:stretch>
                <a:fillRect l="-78303" t="0" r="-78302" b="0"/>
              </a:stretch>
            </a:blipFill>
          </p:spPr>
        </p:sp>
        <p:sp>
          <p:nvSpPr>
            <p:cNvPr name="TextBox 11" id="11"/>
            <p:cNvSpPr txBox="true"/>
            <p:nvPr/>
          </p:nvSpPr>
          <p:spPr>
            <a:xfrm>
              <a:off x="0" y="0"/>
              <a:ext cx="915111" cy="915111"/>
            </a:xfrm>
            <a:prstGeom prst="rect">
              <a:avLst/>
            </a:prstGeom>
          </p:spPr>
          <p:txBody>
            <a:bodyPr anchor="ctr" rtlCol="false" tIns="0" lIns="0" bIns="0" rIns="0"/>
            <a:lstStyle/>
            <a:p>
              <a:pPr algn="ctr">
                <a:lnSpc>
                  <a:spcPts val="2521"/>
                </a:lnSpc>
              </a:pPr>
              <a:r>
                <a:rPr lang="en-US" sz="2101" b="true">
                  <a:solidFill>
                    <a:srgbClr val="1F4E79"/>
                  </a:solidFill>
                  <a:latin typeface="Cabin Bold"/>
                  <a:ea typeface="Cabin Bold"/>
                  <a:cs typeface="Cabin Bold"/>
                  <a:sym typeface="Cabin Bold"/>
                </a:rPr>
                <a:t>08</a:t>
              </a:r>
            </a:p>
          </p:txBody>
        </p:sp>
      </p:grpSp>
      <p:grpSp>
        <p:nvGrpSpPr>
          <p:cNvPr name="Group 12" id="12"/>
          <p:cNvGrpSpPr/>
          <p:nvPr/>
        </p:nvGrpSpPr>
        <p:grpSpPr>
          <a:xfrm rot="0">
            <a:off x="1578569" y="823608"/>
            <a:ext cx="82363" cy="754971"/>
            <a:chOff x="0" y="0"/>
            <a:chExt cx="109817" cy="1006627"/>
          </a:xfrm>
        </p:grpSpPr>
        <p:sp>
          <p:nvSpPr>
            <p:cNvPr name="Freeform 13" id="13"/>
            <p:cNvSpPr/>
            <p:nvPr/>
          </p:nvSpPr>
          <p:spPr>
            <a:xfrm flipH="false" flipV="false" rot="0">
              <a:off x="0" y="0"/>
              <a:ext cx="109855" cy="1006602"/>
            </a:xfrm>
            <a:custGeom>
              <a:avLst/>
              <a:gdLst/>
              <a:ahLst/>
              <a:cxnLst/>
              <a:rect r="r" b="b" t="t" l="l"/>
              <a:pathLst>
                <a:path h="1006602" w="109855">
                  <a:moveTo>
                    <a:pt x="0" y="0"/>
                  </a:moveTo>
                  <a:lnTo>
                    <a:pt x="109855" y="0"/>
                  </a:lnTo>
                  <a:lnTo>
                    <a:pt x="109855" y="1006602"/>
                  </a:lnTo>
                  <a:lnTo>
                    <a:pt x="0" y="1006602"/>
                  </a:lnTo>
                  <a:close/>
                </a:path>
              </a:pathLst>
            </a:custGeom>
            <a:solidFill>
              <a:srgbClr val="85B518"/>
            </a:solidFill>
          </p:spPr>
        </p:sp>
      </p:grpSp>
      <p:grpSp>
        <p:nvGrpSpPr>
          <p:cNvPr name="Group 14" id="14"/>
          <p:cNvGrpSpPr/>
          <p:nvPr/>
        </p:nvGrpSpPr>
        <p:grpSpPr>
          <a:xfrm rot="0">
            <a:off x="1853108" y="796147"/>
            <a:ext cx="14938791" cy="823608"/>
            <a:chOff x="0" y="0"/>
            <a:chExt cx="19918388" cy="1098144"/>
          </a:xfrm>
        </p:grpSpPr>
        <p:sp>
          <p:nvSpPr>
            <p:cNvPr name="Freeform 15" id="15"/>
            <p:cNvSpPr/>
            <p:nvPr/>
          </p:nvSpPr>
          <p:spPr>
            <a:xfrm flipH="false" flipV="false" rot="0">
              <a:off x="0" y="0"/>
              <a:ext cx="19918392" cy="1098138"/>
            </a:xfrm>
            <a:custGeom>
              <a:avLst/>
              <a:gdLst/>
              <a:ahLst/>
              <a:cxnLst/>
              <a:rect r="r" b="b" t="t" l="l"/>
              <a:pathLst>
                <a:path h="1098138" w="19918392">
                  <a:moveTo>
                    <a:pt x="0" y="0"/>
                  </a:moveTo>
                  <a:lnTo>
                    <a:pt x="19918392" y="0"/>
                  </a:lnTo>
                  <a:lnTo>
                    <a:pt x="19918392" y="1098138"/>
                  </a:lnTo>
                  <a:lnTo>
                    <a:pt x="0" y="1098138"/>
                  </a:lnTo>
                  <a:close/>
                </a:path>
              </a:pathLst>
            </a:custGeom>
            <a:blipFill>
              <a:blip r:embed="rId4">
                <a:alphaModFix amt="0"/>
              </a:blip>
              <a:stretch>
                <a:fillRect l="0" t="-303425" r="0" b="-303426"/>
              </a:stretch>
            </a:blipFill>
          </p:spPr>
        </p:sp>
        <p:sp>
          <p:nvSpPr>
            <p:cNvPr name="TextBox 16" id="16"/>
            <p:cNvSpPr txBox="true"/>
            <p:nvPr/>
          </p:nvSpPr>
          <p:spPr>
            <a:xfrm>
              <a:off x="0" y="0"/>
              <a:ext cx="19918388" cy="1098144"/>
            </a:xfrm>
            <a:prstGeom prst="rect">
              <a:avLst/>
            </a:prstGeom>
          </p:spPr>
          <p:txBody>
            <a:bodyPr anchor="ctr" rtlCol="false" tIns="0" lIns="0" bIns="0" rIns="0"/>
            <a:lstStyle/>
            <a:p>
              <a:pPr algn="l">
                <a:lnSpc>
                  <a:spcPts val="3782"/>
                </a:lnSpc>
              </a:pPr>
              <a:r>
                <a:rPr lang="en-US" sz="3152" b="true">
                  <a:solidFill>
                    <a:srgbClr val="1F4E79"/>
                  </a:solidFill>
                  <a:latin typeface="Cabin Bold"/>
                  <a:ea typeface="Cabin Bold"/>
                  <a:cs typeface="Cabin Bold"/>
                  <a:sym typeface="Cabin Bold"/>
                </a:rPr>
                <a:t>RDD và DataFrame</a:t>
              </a:r>
            </a:p>
          </p:txBody>
        </p:sp>
      </p:grpSp>
      <p:grpSp>
        <p:nvGrpSpPr>
          <p:cNvPr name="Group 17" id="17"/>
          <p:cNvGrpSpPr/>
          <p:nvPr/>
        </p:nvGrpSpPr>
        <p:grpSpPr>
          <a:xfrm rot="0">
            <a:off x="679190" y="2120494"/>
            <a:ext cx="8113062" cy="4132316"/>
            <a:chOff x="0" y="0"/>
            <a:chExt cx="10817416" cy="5509755"/>
          </a:xfrm>
        </p:grpSpPr>
        <p:sp>
          <p:nvSpPr>
            <p:cNvPr name="Freeform 18" id="18"/>
            <p:cNvSpPr/>
            <p:nvPr/>
          </p:nvSpPr>
          <p:spPr>
            <a:xfrm flipH="false" flipV="false" rot="0">
              <a:off x="0" y="0"/>
              <a:ext cx="10817352" cy="5509768"/>
            </a:xfrm>
            <a:custGeom>
              <a:avLst/>
              <a:gdLst/>
              <a:ahLst/>
              <a:cxnLst/>
              <a:rect r="r" b="b" t="t" l="l"/>
              <a:pathLst>
                <a:path h="5509768" w="10817352">
                  <a:moveTo>
                    <a:pt x="0" y="146939"/>
                  </a:moveTo>
                  <a:cubicBezTo>
                    <a:pt x="0" y="65786"/>
                    <a:pt x="65786" y="0"/>
                    <a:pt x="146939" y="0"/>
                  </a:cubicBezTo>
                  <a:lnTo>
                    <a:pt x="10670413" y="0"/>
                  </a:lnTo>
                  <a:cubicBezTo>
                    <a:pt x="10751566" y="0"/>
                    <a:pt x="10817352" y="65786"/>
                    <a:pt x="10817352" y="146939"/>
                  </a:cubicBezTo>
                  <a:lnTo>
                    <a:pt x="10817352" y="5362829"/>
                  </a:lnTo>
                  <a:cubicBezTo>
                    <a:pt x="10817352" y="5443982"/>
                    <a:pt x="10751566" y="5509768"/>
                    <a:pt x="10670413" y="5509768"/>
                  </a:cubicBezTo>
                  <a:lnTo>
                    <a:pt x="146939" y="5509768"/>
                  </a:lnTo>
                  <a:cubicBezTo>
                    <a:pt x="65786" y="5509768"/>
                    <a:pt x="0" y="5443982"/>
                    <a:pt x="0" y="5362829"/>
                  </a:cubicBezTo>
                  <a:close/>
                </a:path>
              </a:pathLst>
            </a:custGeom>
            <a:solidFill>
              <a:srgbClr val="F2F5F8"/>
            </a:solidFill>
            <a:ln w="14299" cap="sq">
              <a:solidFill>
                <a:srgbClr val="D9D9D9"/>
              </a:solidFill>
              <a:prstDash val="solid"/>
              <a:miter/>
            </a:ln>
          </p:spPr>
        </p:sp>
      </p:grpSp>
      <p:grpSp>
        <p:nvGrpSpPr>
          <p:cNvPr name="Group 19" id="19"/>
          <p:cNvGrpSpPr/>
          <p:nvPr/>
        </p:nvGrpSpPr>
        <p:grpSpPr>
          <a:xfrm rot="0">
            <a:off x="1029500" y="2333539"/>
            <a:ext cx="7412431" cy="823608"/>
            <a:chOff x="0" y="0"/>
            <a:chExt cx="9883242" cy="1098144"/>
          </a:xfrm>
        </p:grpSpPr>
        <p:sp>
          <p:nvSpPr>
            <p:cNvPr name="Freeform 20" id="20"/>
            <p:cNvSpPr/>
            <p:nvPr/>
          </p:nvSpPr>
          <p:spPr>
            <a:xfrm flipH="false" flipV="false" rot="0">
              <a:off x="0" y="0"/>
              <a:ext cx="9883241" cy="1098138"/>
            </a:xfrm>
            <a:custGeom>
              <a:avLst/>
              <a:gdLst/>
              <a:ahLst/>
              <a:cxnLst/>
              <a:rect r="r" b="b" t="t" l="l"/>
              <a:pathLst>
                <a:path h="1098138" w="9883241">
                  <a:moveTo>
                    <a:pt x="0" y="0"/>
                  </a:moveTo>
                  <a:lnTo>
                    <a:pt x="9883241" y="0"/>
                  </a:lnTo>
                  <a:lnTo>
                    <a:pt x="9883241" y="1098138"/>
                  </a:lnTo>
                  <a:lnTo>
                    <a:pt x="0" y="1098138"/>
                  </a:lnTo>
                  <a:close/>
                </a:path>
              </a:pathLst>
            </a:custGeom>
            <a:blipFill>
              <a:blip r:embed="rId4">
                <a:alphaModFix amt="0"/>
              </a:blip>
              <a:stretch>
                <a:fillRect l="0" t="-125365" r="0" b="-125365"/>
              </a:stretch>
            </a:blipFill>
          </p:spPr>
        </p:sp>
        <p:sp>
          <p:nvSpPr>
            <p:cNvPr name="TextBox 21" id="21"/>
            <p:cNvSpPr txBox="true"/>
            <p:nvPr/>
          </p:nvSpPr>
          <p:spPr>
            <a:xfrm>
              <a:off x="0" y="-9525"/>
              <a:ext cx="9883242" cy="1107669"/>
            </a:xfrm>
            <a:prstGeom prst="rect">
              <a:avLst/>
            </a:prstGeom>
          </p:spPr>
          <p:txBody>
            <a:bodyPr anchor="ctr" rtlCol="false" tIns="0" lIns="0" bIns="0" rIns="0"/>
            <a:lstStyle/>
            <a:p>
              <a:pPr algn="l">
                <a:lnSpc>
                  <a:spcPts val="2341"/>
                </a:lnSpc>
              </a:pPr>
              <a:r>
                <a:rPr lang="en-US" sz="1951" b="true">
                  <a:solidFill>
                    <a:srgbClr val="1F4E79"/>
                  </a:solidFill>
                  <a:latin typeface="Cabin Bold"/>
                  <a:ea typeface="Cabin Bold"/>
                  <a:cs typeface="Cabin Bold"/>
                  <a:sym typeface="Cabin Bold"/>
                </a:rPr>
                <a:t>RDD (Resilient Distributed Dataset)</a:t>
              </a:r>
            </a:p>
          </p:txBody>
        </p:sp>
      </p:grpSp>
      <p:sp>
        <p:nvSpPr>
          <p:cNvPr name="TextBox 22" id="22"/>
          <p:cNvSpPr txBox="true"/>
          <p:nvPr/>
        </p:nvSpPr>
        <p:spPr>
          <a:xfrm rot="0">
            <a:off x="1120940" y="3282982"/>
            <a:ext cx="7229551" cy="2573788"/>
          </a:xfrm>
          <a:prstGeom prst="rect">
            <a:avLst/>
          </a:prstGeom>
        </p:spPr>
        <p:txBody>
          <a:bodyPr anchor="t" rtlCol="false" tIns="0" lIns="0" bIns="0" rIns="0">
            <a:spAutoFit/>
          </a:bodyPr>
          <a:lstStyle/>
          <a:p>
            <a:pPr algn="l" marL="312670" indent="-156335" lvl="1">
              <a:lnSpc>
                <a:spcPts val="2693"/>
              </a:lnSpc>
              <a:buFont typeface="Arial"/>
              <a:buChar char="•"/>
            </a:pPr>
            <a:r>
              <a:rPr lang="en-US" sz="1726">
                <a:solidFill>
                  <a:srgbClr val="000000"/>
                </a:solidFill>
                <a:latin typeface="Cabin"/>
                <a:ea typeface="Cabin"/>
                <a:cs typeface="Cabin"/>
                <a:sym typeface="Cabin"/>
              </a:rPr>
              <a:t>Distributed collection cấp thấp</a:t>
            </a:r>
          </a:p>
          <a:p>
            <a:pPr algn="l" marL="312670" indent="-156335" lvl="1">
              <a:lnSpc>
                <a:spcPts val="2693"/>
              </a:lnSpc>
              <a:buFont typeface="Arial"/>
              <a:buChar char="•"/>
            </a:pPr>
            <a:r>
              <a:rPr lang="en-US" sz="1726">
                <a:solidFill>
                  <a:srgbClr val="000000"/>
                </a:solidFill>
                <a:latin typeface="Cabin"/>
                <a:ea typeface="Cabin"/>
                <a:cs typeface="Cabin"/>
                <a:sym typeface="Cabin"/>
              </a:rPr>
              <a:t>Kiểm soát chi tiết nhưng phải tự tối ưu</a:t>
            </a:r>
          </a:p>
          <a:p>
            <a:pPr algn="l" marL="312670" indent="-156335" lvl="1">
              <a:lnSpc>
                <a:spcPts val="2693"/>
              </a:lnSpc>
              <a:buFont typeface="Arial"/>
              <a:buChar char="•"/>
            </a:pPr>
            <a:r>
              <a:rPr lang="en-US" sz="1726">
                <a:solidFill>
                  <a:srgbClr val="000000"/>
                </a:solidFill>
                <a:latin typeface="Cabin"/>
                <a:ea typeface="Cabin"/>
                <a:cs typeface="Cabin"/>
                <a:sym typeface="Cabin"/>
              </a:rPr>
              <a:t>Không có schema tường minh</a:t>
            </a:r>
          </a:p>
        </p:txBody>
      </p:sp>
      <p:grpSp>
        <p:nvGrpSpPr>
          <p:cNvPr name="Group 23" id="23"/>
          <p:cNvGrpSpPr/>
          <p:nvPr/>
        </p:nvGrpSpPr>
        <p:grpSpPr>
          <a:xfrm rot="0">
            <a:off x="9532925" y="2120494"/>
            <a:ext cx="8113062" cy="4132316"/>
            <a:chOff x="0" y="0"/>
            <a:chExt cx="10817416" cy="5509755"/>
          </a:xfrm>
        </p:grpSpPr>
        <p:sp>
          <p:nvSpPr>
            <p:cNvPr name="Freeform 24" id="24"/>
            <p:cNvSpPr/>
            <p:nvPr/>
          </p:nvSpPr>
          <p:spPr>
            <a:xfrm flipH="false" flipV="false" rot="0">
              <a:off x="0" y="0"/>
              <a:ext cx="10817352" cy="5509768"/>
            </a:xfrm>
            <a:custGeom>
              <a:avLst/>
              <a:gdLst/>
              <a:ahLst/>
              <a:cxnLst/>
              <a:rect r="r" b="b" t="t" l="l"/>
              <a:pathLst>
                <a:path h="5509768" w="10817352">
                  <a:moveTo>
                    <a:pt x="0" y="146939"/>
                  </a:moveTo>
                  <a:cubicBezTo>
                    <a:pt x="0" y="65786"/>
                    <a:pt x="65786" y="0"/>
                    <a:pt x="146939" y="0"/>
                  </a:cubicBezTo>
                  <a:lnTo>
                    <a:pt x="10670413" y="0"/>
                  </a:lnTo>
                  <a:cubicBezTo>
                    <a:pt x="10751566" y="0"/>
                    <a:pt x="10817352" y="65786"/>
                    <a:pt x="10817352" y="146939"/>
                  </a:cubicBezTo>
                  <a:lnTo>
                    <a:pt x="10817352" y="5362829"/>
                  </a:lnTo>
                  <a:cubicBezTo>
                    <a:pt x="10817352" y="5443982"/>
                    <a:pt x="10751566" y="5509768"/>
                    <a:pt x="10670413" y="5509768"/>
                  </a:cubicBezTo>
                  <a:lnTo>
                    <a:pt x="146939" y="5509768"/>
                  </a:lnTo>
                  <a:cubicBezTo>
                    <a:pt x="65786" y="5509768"/>
                    <a:pt x="0" y="5443982"/>
                    <a:pt x="0" y="5362829"/>
                  </a:cubicBezTo>
                  <a:close/>
                </a:path>
              </a:pathLst>
            </a:custGeom>
            <a:solidFill>
              <a:srgbClr val="DCEBFA"/>
            </a:solidFill>
            <a:ln w="14299" cap="sq">
              <a:solidFill>
                <a:srgbClr val="1F4E79"/>
              </a:solidFill>
              <a:prstDash val="solid"/>
              <a:miter/>
            </a:ln>
          </p:spPr>
        </p:sp>
      </p:grpSp>
      <p:grpSp>
        <p:nvGrpSpPr>
          <p:cNvPr name="Group 25" id="25"/>
          <p:cNvGrpSpPr/>
          <p:nvPr/>
        </p:nvGrpSpPr>
        <p:grpSpPr>
          <a:xfrm rot="0">
            <a:off x="9883245" y="2333539"/>
            <a:ext cx="7412431" cy="823608"/>
            <a:chOff x="0" y="0"/>
            <a:chExt cx="9883242" cy="1098144"/>
          </a:xfrm>
        </p:grpSpPr>
        <p:sp>
          <p:nvSpPr>
            <p:cNvPr name="Freeform 26" id="26"/>
            <p:cNvSpPr/>
            <p:nvPr/>
          </p:nvSpPr>
          <p:spPr>
            <a:xfrm flipH="false" flipV="false" rot="0">
              <a:off x="0" y="0"/>
              <a:ext cx="9883241" cy="1098138"/>
            </a:xfrm>
            <a:custGeom>
              <a:avLst/>
              <a:gdLst/>
              <a:ahLst/>
              <a:cxnLst/>
              <a:rect r="r" b="b" t="t" l="l"/>
              <a:pathLst>
                <a:path h="1098138" w="9883241">
                  <a:moveTo>
                    <a:pt x="0" y="0"/>
                  </a:moveTo>
                  <a:lnTo>
                    <a:pt x="9883241" y="0"/>
                  </a:lnTo>
                  <a:lnTo>
                    <a:pt x="9883241" y="1098138"/>
                  </a:lnTo>
                  <a:lnTo>
                    <a:pt x="0" y="1098138"/>
                  </a:lnTo>
                  <a:close/>
                </a:path>
              </a:pathLst>
            </a:custGeom>
            <a:blipFill>
              <a:blip r:embed="rId4">
                <a:alphaModFix amt="0"/>
              </a:blip>
              <a:stretch>
                <a:fillRect l="0" t="-125365" r="0" b="-125365"/>
              </a:stretch>
            </a:blipFill>
          </p:spPr>
        </p:sp>
        <p:sp>
          <p:nvSpPr>
            <p:cNvPr name="TextBox 27" id="27"/>
            <p:cNvSpPr txBox="true"/>
            <p:nvPr/>
          </p:nvSpPr>
          <p:spPr>
            <a:xfrm>
              <a:off x="0" y="-9525"/>
              <a:ext cx="9883242" cy="1107669"/>
            </a:xfrm>
            <a:prstGeom prst="rect">
              <a:avLst/>
            </a:prstGeom>
          </p:spPr>
          <p:txBody>
            <a:bodyPr anchor="ctr" rtlCol="false" tIns="0" lIns="0" bIns="0" rIns="0"/>
            <a:lstStyle/>
            <a:p>
              <a:pPr algn="l">
                <a:lnSpc>
                  <a:spcPts val="2341"/>
                </a:lnSpc>
              </a:pPr>
              <a:r>
                <a:rPr lang="en-US" sz="1951" b="true">
                  <a:solidFill>
                    <a:srgbClr val="1F4E79"/>
                  </a:solidFill>
                  <a:latin typeface="Cabin Bold"/>
                  <a:ea typeface="Cabin Bold"/>
                  <a:cs typeface="Cabin Bold"/>
                  <a:sym typeface="Cabin Bold"/>
                </a:rPr>
                <a:t>DataFrame</a:t>
              </a:r>
            </a:p>
          </p:txBody>
        </p:sp>
      </p:grpSp>
      <p:sp>
        <p:nvSpPr>
          <p:cNvPr name="TextBox 28" id="28"/>
          <p:cNvSpPr txBox="true"/>
          <p:nvPr/>
        </p:nvSpPr>
        <p:spPr>
          <a:xfrm rot="0">
            <a:off x="9974685" y="3282982"/>
            <a:ext cx="7229551" cy="2573788"/>
          </a:xfrm>
          <a:prstGeom prst="rect">
            <a:avLst/>
          </a:prstGeom>
        </p:spPr>
        <p:txBody>
          <a:bodyPr anchor="t" rtlCol="false" tIns="0" lIns="0" bIns="0" rIns="0">
            <a:spAutoFit/>
          </a:bodyPr>
          <a:lstStyle/>
          <a:p>
            <a:pPr algn="l" marL="312670" indent="-156335" lvl="1">
              <a:lnSpc>
                <a:spcPts val="2693"/>
              </a:lnSpc>
              <a:buFont typeface="Arial"/>
              <a:buChar char="•"/>
            </a:pPr>
            <a:r>
              <a:rPr lang="en-US" sz="1726">
                <a:solidFill>
                  <a:srgbClr val="000000"/>
                </a:solidFill>
                <a:latin typeface="Cabin"/>
                <a:ea typeface="Cabin"/>
                <a:cs typeface="Cabin"/>
                <a:sym typeface="Cabin"/>
              </a:rPr>
              <a:t>Dữ liệu dạng bảng, có schema rõ ràng</a:t>
            </a:r>
          </a:p>
          <a:p>
            <a:pPr algn="l" marL="312670" indent="-156335" lvl="1">
              <a:lnSpc>
                <a:spcPts val="2693"/>
              </a:lnSpc>
              <a:buFont typeface="Arial"/>
              <a:buChar char="•"/>
            </a:pPr>
            <a:r>
              <a:rPr lang="en-US" sz="1726">
                <a:solidFill>
                  <a:srgbClr val="000000"/>
                </a:solidFill>
                <a:latin typeface="Cabin"/>
                <a:ea typeface="Cabin"/>
                <a:cs typeface="Cabin"/>
                <a:sym typeface="Cabin"/>
              </a:rPr>
              <a:t>API dễ sử dụng, giống Pandas/SQL</a:t>
            </a:r>
          </a:p>
          <a:p>
            <a:pPr algn="l" marL="312670" indent="-156335" lvl="1">
              <a:lnSpc>
                <a:spcPts val="2693"/>
              </a:lnSpc>
              <a:buFont typeface="Arial"/>
              <a:buChar char="•"/>
            </a:pPr>
            <a:r>
              <a:rPr lang="en-US" sz="1726">
                <a:solidFill>
                  <a:srgbClr val="000000"/>
                </a:solidFill>
                <a:latin typeface="Cabin"/>
                <a:ea typeface="Cabin"/>
                <a:cs typeface="Cabin"/>
                <a:sym typeface="Cabin"/>
              </a:rPr>
              <a:t>Spark SQL có thể tự động tối ưu truy vấn</a:t>
            </a:r>
          </a:p>
        </p:txBody>
      </p:sp>
      <p:grpSp>
        <p:nvGrpSpPr>
          <p:cNvPr name="Group 29" id="29"/>
          <p:cNvGrpSpPr/>
          <p:nvPr/>
        </p:nvGrpSpPr>
        <p:grpSpPr>
          <a:xfrm rot="0">
            <a:off x="686333" y="6794725"/>
            <a:ext cx="16952500" cy="1029500"/>
            <a:chOff x="0" y="0"/>
            <a:chExt cx="22603333" cy="1372667"/>
          </a:xfrm>
        </p:grpSpPr>
        <p:sp>
          <p:nvSpPr>
            <p:cNvPr name="Freeform 30" id="30"/>
            <p:cNvSpPr/>
            <p:nvPr/>
          </p:nvSpPr>
          <p:spPr>
            <a:xfrm flipH="false" flipV="false" rot="0">
              <a:off x="0" y="0"/>
              <a:ext cx="22603461" cy="1372743"/>
            </a:xfrm>
            <a:custGeom>
              <a:avLst/>
              <a:gdLst/>
              <a:ahLst/>
              <a:cxnLst/>
              <a:rect r="r" b="b" t="t" l="l"/>
              <a:pathLst>
                <a:path h="1372743" w="22603461">
                  <a:moveTo>
                    <a:pt x="0" y="109855"/>
                  </a:moveTo>
                  <a:cubicBezTo>
                    <a:pt x="0" y="49149"/>
                    <a:pt x="49149" y="0"/>
                    <a:pt x="109855" y="0"/>
                  </a:cubicBezTo>
                  <a:lnTo>
                    <a:pt x="22493605" y="0"/>
                  </a:lnTo>
                  <a:cubicBezTo>
                    <a:pt x="22554312" y="0"/>
                    <a:pt x="22603461" y="49149"/>
                    <a:pt x="22603461" y="109855"/>
                  </a:cubicBezTo>
                  <a:lnTo>
                    <a:pt x="22603461" y="1262888"/>
                  </a:lnTo>
                  <a:cubicBezTo>
                    <a:pt x="22603461" y="1323594"/>
                    <a:pt x="22554312" y="1372743"/>
                    <a:pt x="22493605" y="1372743"/>
                  </a:cubicBezTo>
                  <a:lnTo>
                    <a:pt x="109855" y="1372743"/>
                  </a:lnTo>
                  <a:cubicBezTo>
                    <a:pt x="49149" y="1372743"/>
                    <a:pt x="0" y="1323594"/>
                    <a:pt x="0" y="1262888"/>
                  </a:cubicBezTo>
                  <a:close/>
                </a:path>
              </a:pathLst>
            </a:custGeom>
            <a:solidFill>
              <a:srgbClr val="1F4E79"/>
            </a:solidFill>
          </p:spPr>
        </p:sp>
      </p:grpSp>
      <p:grpSp>
        <p:nvGrpSpPr>
          <p:cNvPr name="Group 31" id="31"/>
          <p:cNvGrpSpPr/>
          <p:nvPr/>
        </p:nvGrpSpPr>
        <p:grpSpPr>
          <a:xfrm rot="0">
            <a:off x="960872" y="6794725"/>
            <a:ext cx="16472068" cy="1029500"/>
            <a:chOff x="0" y="0"/>
            <a:chExt cx="21962758" cy="1372667"/>
          </a:xfrm>
        </p:grpSpPr>
        <p:sp>
          <p:nvSpPr>
            <p:cNvPr name="Freeform 32" id="32"/>
            <p:cNvSpPr/>
            <p:nvPr/>
          </p:nvSpPr>
          <p:spPr>
            <a:xfrm flipH="false" flipV="false" rot="0">
              <a:off x="0" y="0"/>
              <a:ext cx="21962759" cy="1372672"/>
            </a:xfrm>
            <a:custGeom>
              <a:avLst/>
              <a:gdLst/>
              <a:ahLst/>
              <a:cxnLst/>
              <a:rect r="r" b="b" t="t" l="l"/>
              <a:pathLst>
                <a:path h="1372672" w="21962759">
                  <a:moveTo>
                    <a:pt x="0" y="0"/>
                  </a:moveTo>
                  <a:lnTo>
                    <a:pt x="21962759" y="0"/>
                  </a:lnTo>
                  <a:lnTo>
                    <a:pt x="21962759" y="1372672"/>
                  </a:lnTo>
                  <a:lnTo>
                    <a:pt x="0" y="1372672"/>
                  </a:lnTo>
                  <a:close/>
                </a:path>
              </a:pathLst>
            </a:custGeom>
            <a:blipFill>
              <a:blip r:embed="rId4">
                <a:alphaModFix amt="0"/>
              </a:blip>
              <a:stretch>
                <a:fillRect l="0" t="-261760" r="0" b="-261760"/>
              </a:stretch>
            </a:blipFill>
          </p:spPr>
        </p:sp>
        <p:sp>
          <p:nvSpPr>
            <p:cNvPr name="TextBox 33" id="33"/>
            <p:cNvSpPr txBox="true"/>
            <p:nvPr/>
          </p:nvSpPr>
          <p:spPr>
            <a:xfrm>
              <a:off x="0" y="0"/>
              <a:ext cx="21962758" cy="1372667"/>
            </a:xfrm>
            <a:prstGeom prst="rect">
              <a:avLst/>
            </a:prstGeom>
          </p:spPr>
          <p:txBody>
            <a:bodyPr anchor="ctr" rtlCol="false" tIns="0" lIns="0" bIns="0" rIns="0"/>
            <a:lstStyle/>
            <a:p>
              <a:pPr algn="l">
                <a:lnSpc>
                  <a:spcPts val="1981"/>
                </a:lnSpc>
              </a:pPr>
              <a:r>
                <a:rPr lang="en-US" sz="1651" i="true">
                  <a:solidFill>
                    <a:srgbClr val="FFFFFF"/>
                  </a:solidFill>
                  <a:latin typeface="Cabin Italics"/>
                  <a:ea typeface="Cabin Italics"/>
                  <a:cs typeface="Cabin Italics"/>
                  <a:sym typeface="Cabin Italics"/>
                </a:rPr>
                <a:t>Trong thực hành, khóa học chủ yếu sử dụng DataFrame — API trực quan, hiệu năng được Spark SQL tối ưu tự động, không cần hiểu sâu RDD.</a:t>
              </a:r>
            </a:p>
          </p:txBody>
        </p:sp>
      </p:grpSp>
      <p:grpSp>
        <p:nvGrpSpPr>
          <p:cNvPr name="Group 34" id="34"/>
          <p:cNvGrpSpPr/>
          <p:nvPr/>
        </p:nvGrpSpPr>
        <p:grpSpPr>
          <a:xfrm rot="0">
            <a:off x="0" y="9677343"/>
            <a:ext cx="18301840" cy="617706"/>
            <a:chOff x="0" y="0"/>
            <a:chExt cx="24402453" cy="823608"/>
          </a:xfrm>
        </p:grpSpPr>
        <p:sp>
          <p:nvSpPr>
            <p:cNvPr name="Freeform 35" id="35"/>
            <p:cNvSpPr/>
            <p:nvPr/>
          </p:nvSpPr>
          <p:spPr>
            <a:xfrm flipH="false" flipV="false" rot="0">
              <a:off x="0" y="0"/>
              <a:ext cx="24402414" cy="823595"/>
            </a:xfrm>
            <a:custGeom>
              <a:avLst/>
              <a:gdLst/>
              <a:ahLst/>
              <a:cxnLst/>
              <a:rect r="r" b="b" t="t" l="l"/>
              <a:pathLst>
                <a:path h="823595" w="24402414">
                  <a:moveTo>
                    <a:pt x="0" y="0"/>
                  </a:moveTo>
                  <a:lnTo>
                    <a:pt x="24402414" y="0"/>
                  </a:lnTo>
                  <a:lnTo>
                    <a:pt x="24402414" y="823595"/>
                  </a:lnTo>
                  <a:lnTo>
                    <a:pt x="0" y="823595"/>
                  </a:lnTo>
                  <a:close/>
                </a:path>
              </a:pathLst>
            </a:custGeom>
            <a:solidFill>
              <a:srgbClr val="1F4E79"/>
            </a:solidFill>
          </p:spPr>
        </p:sp>
      </p:grpSp>
      <p:grpSp>
        <p:nvGrpSpPr>
          <p:cNvPr name="Group 36" id="36"/>
          <p:cNvGrpSpPr/>
          <p:nvPr/>
        </p:nvGrpSpPr>
        <p:grpSpPr>
          <a:xfrm rot="0">
            <a:off x="480431" y="9677343"/>
            <a:ext cx="10981382" cy="617706"/>
            <a:chOff x="0" y="0"/>
            <a:chExt cx="14641843" cy="823608"/>
          </a:xfrm>
        </p:grpSpPr>
        <p:sp>
          <p:nvSpPr>
            <p:cNvPr name="Freeform 37" id="37"/>
            <p:cNvSpPr/>
            <p:nvPr/>
          </p:nvSpPr>
          <p:spPr>
            <a:xfrm flipH="false" flipV="false" rot="0">
              <a:off x="0" y="0"/>
              <a:ext cx="14641840" cy="823603"/>
            </a:xfrm>
            <a:custGeom>
              <a:avLst/>
              <a:gdLst/>
              <a:ahLst/>
              <a:cxnLst/>
              <a:rect r="r" b="b" t="t" l="l"/>
              <a:pathLst>
                <a:path h="823603" w="14641840">
                  <a:moveTo>
                    <a:pt x="0" y="0"/>
                  </a:moveTo>
                  <a:lnTo>
                    <a:pt x="14641840" y="0"/>
                  </a:lnTo>
                  <a:lnTo>
                    <a:pt x="14641840" y="823603"/>
                  </a:lnTo>
                  <a:lnTo>
                    <a:pt x="0" y="823603"/>
                  </a:lnTo>
                  <a:close/>
                </a:path>
              </a:pathLst>
            </a:custGeom>
            <a:blipFill>
              <a:blip r:embed="rId4">
                <a:alphaModFix amt="0"/>
              </a:blip>
              <a:stretch>
                <a:fillRect l="0" t="-296400" r="0" b="-296401"/>
              </a:stretch>
            </a:blipFill>
          </p:spPr>
        </p:sp>
        <p:sp>
          <p:nvSpPr>
            <p:cNvPr name="TextBox 38" id="38"/>
            <p:cNvSpPr txBox="true"/>
            <p:nvPr/>
          </p:nvSpPr>
          <p:spPr>
            <a:xfrm>
              <a:off x="0" y="0"/>
              <a:ext cx="14641843" cy="823608"/>
            </a:xfrm>
            <a:prstGeom prst="rect">
              <a:avLst/>
            </a:prstGeom>
          </p:spPr>
          <p:txBody>
            <a:bodyPr anchor="ctr" rtlCol="false" tIns="0" lIns="0" bIns="0" rIns="0"/>
            <a:lstStyle/>
            <a:p>
              <a:pPr algn="l">
                <a:lnSpc>
                  <a:spcPts val="1621"/>
                </a:lnSpc>
              </a:pPr>
              <a:r>
                <a:rPr lang="en-US" sz="1351">
                  <a:solidFill>
                    <a:srgbClr val="FFFFFF"/>
                  </a:solidFill>
                  <a:latin typeface="Cabin"/>
                  <a:ea typeface="Cabin"/>
                  <a:cs typeface="Cabin"/>
                  <a:sym typeface="Cabin"/>
                </a:rPr>
                <a:t>VNU UET – Institute for Artificial Intelligence</a:t>
              </a:r>
            </a:p>
          </p:txBody>
        </p:sp>
      </p:grpSp>
      <p:grpSp>
        <p:nvGrpSpPr>
          <p:cNvPr name="Group 39" id="39"/>
          <p:cNvGrpSpPr/>
          <p:nvPr/>
        </p:nvGrpSpPr>
        <p:grpSpPr>
          <a:xfrm rot="0">
            <a:off x="17066438" y="9677343"/>
            <a:ext cx="823608" cy="617706"/>
            <a:chOff x="0" y="0"/>
            <a:chExt cx="1098144" cy="823608"/>
          </a:xfrm>
        </p:grpSpPr>
        <p:sp>
          <p:nvSpPr>
            <p:cNvPr name="Freeform 40" id="40"/>
            <p:cNvSpPr/>
            <p:nvPr/>
          </p:nvSpPr>
          <p:spPr>
            <a:xfrm flipH="false" flipV="false" rot="0">
              <a:off x="0" y="0"/>
              <a:ext cx="1098138" cy="823603"/>
            </a:xfrm>
            <a:custGeom>
              <a:avLst/>
              <a:gdLst/>
              <a:ahLst/>
              <a:cxnLst/>
              <a:rect r="r" b="b" t="t" l="l"/>
              <a:pathLst>
                <a:path h="823603" w="1098138">
                  <a:moveTo>
                    <a:pt x="0" y="0"/>
                  </a:moveTo>
                  <a:lnTo>
                    <a:pt x="1098138" y="0"/>
                  </a:lnTo>
                  <a:lnTo>
                    <a:pt x="1098138" y="823603"/>
                  </a:lnTo>
                  <a:lnTo>
                    <a:pt x="0" y="823603"/>
                  </a:lnTo>
                  <a:close/>
                </a:path>
              </a:pathLst>
            </a:custGeom>
            <a:blipFill>
              <a:blip r:embed="rId4">
                <a:alphaModFix amt="0"/>
              </a:blip>
              <a:stretch>
                <a:fillRect l="-46227" t="0" r="-46228" b="0"/>
              </a:stretch>
            </a:blipFill>
          </p:spPr>
        </p:sp>
        <p:sp>
          <p:nvSpPr>
            <p:cNvPr name="TextBox 41" id="41"/>
            <p:cNvSpPr txBox="true"/>
            <p:nvPr/>
          </p:nvSpPr>
          <p:spPr>
            <a:xfrm>
              <a:off x="0" y="0"/>
              <a:ext cx="1098144" cy="823608"/>
            </a:xfrm>
            <a:prstGeom prst="rect">
              <a:avLst/>
            </a:prstGeom>
          </p:spPr>
          <p:txBody>
            <a:bodyPr anchor="ctr" rtlCol="false" tIns="0" lIns="0" bIns="0" rIns="0"/>
            <a:lstStyle/>
            <a:p>
              <a:pPr algn="r">
                <a:lnSpc>
                  <a:spcPts val="1621"/>
                </a:lnSpc>
              </a:pPr>
              <a:r>
                <a:rPr lang="en-US" sz="1351">
                  <a:solidFill>
                    <a:srgbClr val="FFFFFF"/>
                  </a:solidFill>
                  <a:latin typeface="Cabin"/>
                  <a:ea typeface="Cabin"/>
                  <a:cs typeface="Cabin"/>
                  <a:sym typeface="Cabin"/>
                </a:rPr>
                <a:t>22</a:t>
              </a:r>
            </a:p>
          </p:txBody>
        </p:sp>
      </p:grpSp>
      <p:grpSp>
        <p:nvGrpSpPr>
          <p:cNvPr name="Group 42" id="42"/>
          <p:cNvGrpSpPr/>
          <p:nvPr/>
        </p:nvGrpSpPr>
        <p:grpSpPr>
          <a:xfrm rot="0">
            <a:off x="0" y="0"/>
            <a:ext cx="18288000" cy="315468"/>
            <a:chOff x="0" y="0"/>
            <a:chExt cx="24384000" cy="420624"/>
          </a:xfrm>
        </p:grpSpPr>
        <p:sp>
          <p:nvSpPr>
            <p:cNvPr name="Freeform 43" id="43"/>
            <p:cNvSpPr/>
            <p:nvPr/>
          </p:nvSpPr>
          <p:spPr>
            <a:xfrm flipH="false" flipV="false" rot="0">
              <a:off x="0" y="0"/>
              <a:ext cx="24384000" cy="420624"/>
            </a:xfrm>
            <a:custGeom>
              <a:avLst/>
              <a:gdLst/>
              <a:ahLst/>
              <a:cxnLst/>
              <a:rect r="r" b="b" t="t" l="l"/>
              <a:pathLst>
                <a:path h="420624" w="24384000">
                  <a:moveTo>
                    <a:pt x="0" y="0"/>
                  </a:moveTo>
                  <a:lnTo>
                    <a:pt x="24384000" y="0"/>
                  </a:lnTo>
                  <a:lnTo>
                    <a:pt x="24384000" y="420624"/>
                  </a:lnTo>
                  <a:lnTo>
                    <a:pt x="0" y="420624"/>
                  </a:lnTo>
                  <a:close/>
                </a:path>
              </a:pathLst>
            </a:custGeom>
            <a:solidFill>
              <a:srgbClr val="0F3F6F"/>
            </a:solidFill>
          </p:spPr>
        </p:sp>
      </p:grpSp>
      <p:grpSp>
        <p:nvGrpSpPr>
          <p:cNvPr name="Group 44" id="44"/>
          <p:cNvGrpSpPr/>
          <p:nvPr/>
        </p:nvGrpSpPr>
        <p:grpSpPr>
          <a:xfrm rot="0">
            <a:off x="13098780" y="0"/>
            <a:ext cx="1453896" cy="1508760"/>
            <a:chOff x="0" y="0"/>
            <a:chExt cx="1938528" cy="2011680"/>
          </a:xfrm>
        </p:grpSpPr>
        <p:sp>
          <p:nvSpPr>
            <p:cNvPr name="Freeform 45" id="45"/>
            <p:cNvSpPr/>
            <p:nvPr/>
          </p:nvSpPr>
          <p:spPr>
            <a:xfrm flipH="false" flipV="false" rot="0">
              <a:off x="0" y="0"/>
              <a:ext cx="1938528" cy="2011680"/>
            </a:xfrm>
            <a:custGeom>
              <a:avLst/>
              <a:gdLst/>
              <a:ahLst/>
              <a:cxnLst/>
              <a:rect r="r" b="b" t="t" l="l"/>
              <a:pathLst>
                <a:path h="2011680" w="1938528">
                  <a:moveTo>
                    <a:pt x="0" y="2011680"/>
                  </a:moveTo>
                  <a:lnTo>
                    <a:pt x="484632" y="0"/>
                  </a:lnTo>
                  <a:lnTo>
                    <a:pt x="1938528" y="0"/>
                  </a:lnTo>
                  <a:lnTo>
                    <a:pt x="1453896" y="2011680"/>
                  </a:lnTo>
                  <a:close/>
                </a:path>
              </a:pathLst>
            </a:custGeom>
            <a:solidFill>
              <a:srgbClr val="85B518"/>
            </a:solidFill>
          </p:spPr>
        </p:sp>
      </p:grpSp>
      <p:grpSp>
        <p:nvGrpSpPr>
          <p:cNvPr name="Group 46" id="46"/>
          <p:cNvGrpSpPr/>
          <p:nvPr/>
        </p:nvGrpSpPr>
        <p:grpSpPr>
          <a:xfrm rot="0">
            <a:off x="14621256" y="0"/>
            <a:ext cx="1508760" cy="1508760"/>
            <a:chOff x="0" y="0"/>
            <a:chExt cx="2011680" cy="2011680"/>
          </a:xfrm>
        </p:grpSpPr>
        <p:sp>
          <p:nvSpPr>
            <p:cNvPr name="Freeform 47" id="47"/>
            <p:cNvSpPr/>
            <p:nvPr/>
          </p:nvSpPr>
          <p:spPr>
            <a:xfrm flipH="false" flipV="false" rot="0">
              <a:off x="0" y="0"/>
              <a:ext cx="2011680" cy="2011680"/>
            </a:xfrm>
            <a:custGeom>
              <a:avLst/>
              <a:gdLst/>
              <a:ahLst/>
              <a:cxnLst/>
              <a:rect r="r" b="b" t="t" l="l"/>
              <a:pathLst>
                <a:path h="2011680" w="2011680">
                  <a:moveTo>
                    <a:pt x="0" y="2011680"/>
                  </a:moveTo>
                  <a:lnTo>
                    <a:pt x="502920" y="0"/>
                  </a:lnTo>
                  <a:lnTo>
                    <a:pt x="2011680" y="0"/>
                  </a:lnTo>
                  <a:lnTo>
                    <a:pt x="1508760" y="2011680"/>
                  </a:lnTo>
                  <a:close/>
                </a:path>
              </a:pathLst>
            </a:custGeom>
            <a:solidFill>
              <a:srgbClr val="0F3F6F"/>
            </a:solidFill>
          </p:spPr>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97801" y="384353"/>
            <a:ext cx="851059" cy="851059"/>
            <a:chOff x="0" y="0"/>
            <a:chExt cx="1134745" cy="1134745"/>
          </a:xfrm>
        </p:grpSpPr>
        <p:sp>
          <p:nvSpPr>
            <p:cNvPr name="Freeform 3" id="3" descr="/home/claude/work/assets/logo.png"/>
            <p:cNvSpPr/>
            <p:nvPr/>
          </p:nvSpPr>
          <p:spPr>
            <a:xfrm flipH="false" flipV="false" rot="0">
              <a:off x="0" y="0"/>
              <a:ext cx="1134745" cy="1134745"/>
            </a:xfrm>
            <a:custGeom>
              <a:avLst/>
              <a:gdLst/>
              <a:ahLst/>
              <a:cxnLst/>
              <a:rect r="r" b="b" t="t" l="l"/>
              <a:pathLst>
                <a:path h="1134745" w="1134745">
                  <a:moveTo>
                    <a:pt x="0" y="0"/>
                  </a:moveTo>
                  <a:lnTo>
                    <a:pt x="1134745" y="0"/>
                  </a:lnTo>
                  <a:lnTo>
                    <a:pt x="1134745" y="1134745"/>
                  </a:lnTo>
                  <a:lnTo>
                    <a:pt x="0" y="1134745"/>
                  </a:lnTo>
                  <a:lnTo>
                    <a:pt x="0" y="0"/>
                  </a:lnTo>
                  <a:close/>
                </a:path>
              </a:pathLst>
            </a:custGeom>
            <a:blipFill>
              <a:blip r:embed="rId3"/>
              <a:stretch>
                <a:fillRect l="0" t="0" r="0" b="0"/>
              </a:stretch>
            </a:blipFill>
          </p:spPr>
        </p:sp>
      </p:grpSp>
      <p:grpSp>
        <p:nvGrpSpPr>
          <p:cNvPr name="Group 4" id="4"/>
          <p:cNvGrpSpPr/>
          <p:nvPr/>
        </p:nvGrpSpPr>
        <p:grpSpPr>
          <a:xfrm rot="0">
            <a:off x="5919837" y="1806504"/>
            <a:ext cx="6379802" cy="6379802"/>
            <a:chOff x="0" y="0"/>
            <a:chExt cx="6954876" cy="6954876"/>
          </a:xfrm>
        </p:grpSpPr>
        <p:sp>
          <p:nvSpPr>
            <p:cNvPr name="Freeform 5" id="5"/>
            <p:cNvSpPr/>
            <p:nvPr/>
          </p:nvSpPr>
          <p:spPr>
            <a:xfrm flipH="false" flipV="false" rot="0">
              <a:off x="0" y="0"/>
              <a:ext cx="6954901" cy="6954901"/>
            </a:xfrm>
            <a:custGeom>
              <a:avLst/>
              <a:gdLst/>
              <a:ahLst/>
              <a:cxnLst/>
              <a:rect r="r" b="b" t="t" l="l"/>
              <a:pathLst>
                <a:path h="6954901" w="6954901">
                  <a:moveTo>
                    <a:pt x="0" y="3477387"/>
                  </a:moveTo>
                  <a:cubicBezTo>
                    <a:pt x="0" y="1556893"/>
                    <a:pt x="1556893" y="0"/>
                    <a:pt x="3477387" y="0"/>
                  </a:cubicBezTo>
                  <a:cubicBezTo>
                    <a:pt x="5397881" y="0"/>
                    <a:pt x="6954901" y="1556893"/>
                    <a:pt x="6954901" y="3477387"/>
                  </a:cubicBezTo>
                  <a:cubicBezTo>
                    <a:pt x="6954901" y="5397881"/>
                    <a:pt x="5398008" y="6954901"/>
                    <a:pt x="3477387" y="6954901"/>
                  </a:cubicBezTo>
                  <a:cubicBezTo>
                    <a:pt x="1556766" y="6954901"/>
                    <a:pt x="0" y="5398008"/>
                    <a:pt x="0" y="3477387"/>
                  </a:cubicBezTo>
                  <a:close/>
                </a:path>
              </a:pathLst>
            </a:custGeom>
            <a:solidFill>
              <a:srgbClr val="1F4E79"/>
            </a:solidFill>
          </p:spPr>
        </p:sp>
      </p:grpSp>
      <p:grpSp>
        <p:nvGrpSpPr>
          <p:cNvPr name="Group 6" id="6"/>
          <p:cNvGrpSpPr/>
          <p:nvPr/>
        </p:nvGrpSpPr>
        <p:grpSpPr>
          <a:xfrm rot="0">
            <a:off x="5919837" y="2511637"/>
            <a:ext cx="6379802" cy="503671"/>
            <a:chOff x="0" y="0"/>
            <a:chExt cx="6954876" cy="549072"/>
          </a:xfrm>
        </p:grpSpPr>
        <p:sp>
          <p:nvSpPr>
            <p:cNvPr name="Freeform 7" id="7"/>
            <p:cNvSpPr/>
            <p:nvPr/>
          </p:nvSpPr>
          <p:spPr>
            <a:xfrm flipH="false" flipV="false" rot="0">
              <a:off x="0" y="0"/>
              <a:ext cx="6954873" cy="549069"/>
            </a:xfrm>
            <a:custGeom>
              <a:avLst/>
              <a:gdLst/>
              <a:ahLst/>
              <a:cxnLst/>
              <a:rect r="r" b="b" t="t" l="l"/>
              <a:pathLst>
                <a:path h="549069" w="6954873">
                  <a:moveTo>
                    <a:pt x="0" y="0"/>
                  </a:moveTo>
                  <a:lnTo>
                    <a:pt x="6954873" y="0"/>
                  </a:lnTo>
                  <a:lnTo>
                    <a:pt x="6954873" y="549069"/>
                  </a:lnTo>
                  <a:lnTo>
                    <a:pt x="0" y="549069"/>
                  </a:lnTo>
                  <a:close/>
                </a:path>
              </a:pathLst>
            </a:custGeom>
            <a:blipFill>
              <a:blip r:embed="rId4">
                <a:alphaModFix amt="0"/>
              </a:blip>
              <a:stretch>
                <a:fillRect l="0" t="-196810" r="0" b="-196810"/>
              </a:stretch>
            </a:blipFill>
          </p:spPr>
        </p:sp>
        <p:sp>
          <p:nvSpPr>
            <p:cNvPr name="TextBox 8" id="8"/>
            <p:cNvSpPr txBox="true"/>
            <p:nvPr/>
          </p:nvSpPr>
          <p:spPr>
            <a:xfrm>
              <a:off x="0" y="0"/>
              <a:ext cx="6954876" cy="549072"/>
            </a:xfrm>
            <a:prstGeom prst="rect">
              <a:avLst/>
            </a:prstGeom>
          </p:spPr>
          <p:txBody>
            <a:bodyPr anchor="ctr" rtlCol="false" tIns="0" lIns="0" bIns="0" rIns="0"/>
            <a:lstStyle/>
            <a:p>
              <a:pPr algn="ctr">
                <a:lnSpc>
                  <a:spcPts val="1981"/>
                </a:lnSpc>
              </a:pPr>
              <a:r>
                <a:rPr lang="en-US" sz="1651" spc="300">
                  <a:solidFill>
                    <a:srgbClr val="9FB8D4"/>
                  </a:solidFill>
                  <a:latin typeface="Cabin"/>
                  <a:ea typeface="Cabin"/>
                  <a:cs typeface="Cabin"/>
                  <a:sym typeface="Cabin"/>
                </a:rPr>
                <a:t>PHẦN 5.9</a:t>
              </a:r>
            </a:p>
          </p:txBody>
        </p:sp>
      </p:grpSp>
      <p:grpSp>
        <p:nvGrpSpPr>
          <p:cNvPr name="Group 9" id="9"/>
          <p:cNvGrpSpPr/>
          <p:nvPr/>
        </p:nvGrpSpPr>
        <p:grpSpPr>
          <a:xfrm rot="0">
            <a:off x="5919837" y="2948146"/>
            <a:ext cx="6379802" cy="1259166"/>
            <a:chOff x="0" y="0"/>
            <a:chExt cx="6954876" cy="1372667"/>
          </a:xfrm>
        </p:grpSpPr>
        <p:sp>
          <p:nvSpPr>
            <p:cNvPr name="Freeform 10" id="10"/>
            <p:cNvSpPr/>
            <p:nvPr/>
          </p:nvSpPr>
          <p:spPr>
            <a:xfrm flipH="false" flipV="false" rot="0">
              <a:off x="0" y="0"/>
              <a:ext cx="6954873" cy="1372672"/>
            </a:xfrm>
            <a:custGeom>
              <a:avLst/>
              <a:gdLst/>
              <a:ahLst/>
              <a:cxnLst/>
              <a:rect r="r" b="b" t="t" l="l"/>
              <a:pathLst>
                <a:path h="1372672" w="6954873">
                  <a:moveTo>
                    <a:pt x="0" y="0"/>
                  </a:moveTo>
                  <a:lnTo>
                    <a:pt x="6954873" y="0"/>
                  </a:lnTo>
                  <a:lnTo>
                    <a:pt x="6954873" y="1372672"/>
                  </a:lnTo>
                  <a:lnTo>
                    <a:pt x="0" y="1372672"/>
                  </a:lnTo>
                  <a:close/>
                </a:path>
              </a:pathLst>
            </a:custGeom>
            <a:blipFill>
              <a:blip r:embed="rId4">
                <a:alphaModFix amt="0"/>
              </a:blip>
              <a:stretch>
                <a:fillRect l="0" t="-48724" r="0" b="-48724"/>
              </a:stretch>
            </a:blipFill>
          </p:spPr>
        </p:sp>
        <p:sp>
          <p:nvSpPr>
            <p:cNvPr name="TextBox 11" id="11"/>
            <p:cNvSpPr txBox="true"/>
            <p:nvPr/>
          </p:nvSpPr>
          <p:spPr>
            <a:xfrm>
              <a:off x="0" y="-9525"/>
              <a:ext cx="6954876" cy="1382192"/>
            </a:xfrm>
            <a:prstGeom prst="rect">
              <a:avLst/>
            </a:prstGeom>
          </p:spPr>
          <p:txBody>
            <a:bodyPr anchor="ctr" rtlCol="false" tIns="0" lIns="0" bIns="0" rIns="0"/>
            <a:lstStyle/>
            <a:p>
              <a:pPr algn="ctr">
                <a:lnSpc>
                  <a:spcPts val="6124"/>
                </a:lnSpc>
              </a:pPr>
              <a:r>
                <a:rPr lang="en-US" sz="5103" b="true">
                  <a:solidFill>
                    <a:srgbClr val="FFFFFF"/>
                  </a:solidFill>
                  <a:latin typeface="TT Rounds Condensed Bold"/>
                  <a:ea typeface="TT Rounds Condensed Bold"/>
                  <a:cs typeface="TT Rounds Condensed Bold"/>
                  <a:sym typeface="TT Rounds Condensed Bold"/>
                </a:rPr>
                <a:t>5.9</a:t>
              </a:r>
            </a:p>
          </p:txBody>
        </p:sp>
      </p:grpSp>
      <p:sp>
        <p:nvSpPr>
          <p:cNvPr name="TextBox 12" id="12"/>
          <p:cNvSpPr txBox="true"/>
          <p:nvPr/>
        </p:nvSpPr>
        <p:spPr>
          <a:xfrm rot="0">
            <a:off x="6283512" y="4236931"/>
            <a:ext cx="5652454" cy="1072915"/>
          </a:xfrm>
          <a:prstGeom prst="rect">
            <a:avLst/>
          </a:prstGeom>
        </p:spPr>
        <p:txBody>
          <a:bodyPr anchor="t" rtlCol="false" tIns="0" lIns="0" bIns="0" rIns="0">
            <a:spAutoFit/>
          </a:bodyPr>
          <a:lstStyle/>
          <a:p>
            <a:pPr algn="ctr">
              <a:lnSpc>
                <a:spcPts val="3304"/>
              </a:lnSpc>
            </a:pPr>
            <a:r>
              <a:rPr lang="en-US" sz="2754" b="true">
                <a:solidFill>
                  <a:srgbClr val="FFFFFF"/>
                </a:solidFill>
                <a:latin typeface="Cabin Bold"/>
                <a:ea typeface="Cabin Bold"/>
                <a:cs typeface="Cabin Bold"/>
                <a:sym typeface="Cabin Bold"/>
              </a:rPr>
              <a:t>PySpark</a:t>
            </a:r>
          </a:p>
        </p:txBody>
      </p:sp>
      <p:sp>
        <p:nvSpPr>
          <p:cNvPr name="TextBox 13" id="13"/>
          <p:cNvSpPr txBox="true"/>
          <p:nvPr/>
        </p:nvSpPr>
        <p:spPr>
          <a:xfrm rot="0">
            <a:off x="6367449" y="5639933"/>
            <a:ext cx="5484567" cy="1567061"/>
          </a:xfrm>
          <a:prstGeom prst="rect">
            <a:avLst/>
          </a:prstGeom>
        </p:spPr>
        <p:txBody>
          <a:bodyPr anchor="t" rtlCol="false" tIns="0" lIns="0" bIns="0" rIns="0">
            <a:spAutoFit/>
          </a:bodyPr>
          <a:lstStyle/>
          <a:p>
            <a:pPr algn="ctr">
              <a:lnSpc>
                <a:spcPts val="2093"/>
              </a:lnSpc>
            </a:pPr>
            <a:r>
              <a:rPr lang="en-US" sz="1744">
                <a:solidFill>
                  <a:srgbClr val="D7E3F0"/>
                </a:solidFill>
                <a:latin typeface="Cabin"/>
                <a:ea typeface="Cabin"/>
                <a:cs typeface="Cabin"/>
                <a:sym typeface="Cabin"/>
              </a:rPr>
              <a:t>Python API cho Spark — các thao tác cốt lõi khi phân tích dữ liệu</a:t>
            </a:r>
          </a:p>
        </p:txBody>
      </p:sp>
      <p:grpSp>
        <p:nvGrpSpPr>
          <p:cNvPr name="Group 14" id="14"/>
          <p:cNvGrpSpPr/>
          <p:nvPr/>
        </p:nvGrpSpPr>
        <p:grpSpPr>
          <a:xfrm rot="0">
            <a:off x="480431" y="9087088"/>
            <a:ext cx="1692916" cy="411804"/>
            <a:chOff x="0" y="0"/>
            <a:chExt cx="2257222" cy="549072"/>
          </a:xfrm>
        </p:grpSpPr>
        <p:sp>
          <p:nvSpPr>
            <p:cNvPr name="Freeform 15" id="15"/>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16" id="16"/>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5.1 MR→Spark</a:t>
              </a:r>
            </a:p>
          </p:txBody>
        </p:sp>
      </p:grpSp>
      <p:grpSp>
        <p:nvGrpSpPr>
          <p:cNvPr name="Group 17" id="17"/>
          <p:cNvGrpSpPr/>
          <p:nvPr/>
        </p:nvGrpSpPr>
        <p:grpSpPr>
          <a:xfrm rot="0">
            <a:off x="2214534" y="9087088"/>
            <a:ext cx="1692916" cy="411804"/>
            <a:chOff x="0" y="0"/>
            <a:chExt cx="2257222" cy="549072"/>
          </a:xfrm>
        </p:grpSpPr>
        <p:sp>
          <p:nvSpPr>
            <p:cNvPr name="Freeform 18" id="18"/>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19" id="19"/>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5.2 Spark</a:t>
              </a:r>
            </a:p>
          </p:txBody>
        </p:sp>
      </p:grpSp>
      <p:grpSp>
        <p:nvGrpSpPr>
          <p:cNvPr name="Group 20" id="20"/>
          <p:cNvGrpSpPr/>
          <p:nvPr/>
        </p:nvGrpSpPr>
        <p:grpSpPr>
          <a:xfrm rot="0">
            <a:off x="3948627" y="9087088"/>
            <a:ext cx="1692916" cy="411804"/>
            <a:chOff x="0" y="0"/>
            <a:chExt cx="2257222" cy="549072"/>
          </a:xfrm>
        </p:grpSpPr>
        <p:sp>
          <p:nvSpPr>
            <p:cNvPr name="Freeform 21" id="21"/>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22" id="22"/>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5.3 So sánh</a:t>
              </a:r>
            </a:p>
          </p:txBody>
        </p:sp>
      </p:grpSp>
      <p:grpSp>
        <p:nvGrpSpPr>
          <p:cNvPr name="Group 23" id="23"/>
          <p:cNvGrpSpPr/>
          <p:nvPr/>
        </p:nvGrpSpPr>
        <p:grpSpPr>
          <a:xfrm rot="0">
            <a:off x="5682729" y="9087088"/>
            <a:ext cx="1692916" cy="411804"/>
            <a:chOff x="0" y="0"/>
            <a:chExt cx="2257222" cy="549072"/>
          </a:xfrm>
        </p:grpSpPr>
        <p:sp>
          <p:nvSpPr>
            <p:cNvPr name="Freeform 24" id="24"/>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25" id="25"/>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5.4 Kiến trúc</a:t>
              </a:r>
            </a:p>
          </p:txBody>
        </p:sp>
      </p:grpSp>
      <p:grpSp>
        <p:nvGrpSpPr>
          <p:cNvPr name="Group 26" id="26"/>
          <p:cNvGrpSpPr/>
          <p:nvPr/>
        </p:nvGrpSpPr>
        <p:grpSpPr>
          <a:xfrm rot="0">
            <a:off x="7416822" y="9087088"/>
            <a:ext cx="1692916" cy="411804"/>
            <a:chOff x="0" y="0"/>
            <a:chExt cx="2257222" cy="549072"/>
          </a:xfrm>
        </p:grpSpPr>
        <p:sp>
          <p:nvSpPr>
            <p:cNvPr name="Freeform 27" id="27"/>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28" id="28"/>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5.5 Thực thi</a:t>
              </a:r>
            </a:p>
          </p:txBody>
        </p:sp>
      </p:grpSp>
      <p:grpSp>
        <p:nvGrpSpPr>
          <p:cNvPr name="Group 29" id="29"/>
          <p:cNvGrpSpPr/>
          <p:nvPr/>
        </p:nvGrpSpPr>
        <p:grpSpPr>
          <a:xfrm rot="0">
            <a:off x="9150925" y="9087088"/>
            <a:ext cx="1692916" cy="411804"/>
            <a:chOff x="0" y="0"/>
            <a:chExt cx="2257222" cy="549072"/>
          </a:xfrm>
        </p:grpSpPr>
        <p:sp>
          <p:nvSpPr>
            <p:cNvPr name="Freeform 30" id="30"/>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31" id="31"/>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5.6 Transform/Action</a:t>
              </a:r>
            </a:p>
          </p:txBody>
        </p:sp>
      </p:grpSp>
      <p:grpSp>
        <p:nvGrpSpPr>
          <p:cNvPr name="Group 32" id="32"/>
          <p:cNvGrpSpPr/>
          <p:nvPr/>
        </p:nvGrpSpPr>
        <p:grpSpPr>
          <a:xfrm rot="0">
            <a:off x="10885018" y="9087088"/>
            <a:ext cx="1692916" cy="411804"/>
            <a:chOff x="0" y="0"/>
            <a:chExt cx="2257222" cy="549072"/>
          </a:xfrm>
        </p:grpSpPr>
        <p:sp>
          <p:nvSpPr>
            <p:cNvPr name="Freeform 33" id="33"/>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34" id="34"/>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5.7 Partition</a:t>
              </a:r>
            </a:p>
          </p:txBody>
        </p:sp>
      </p:grpSp>
      <p:grpSp>
        <p:nvGrpSpPr>
          <p:cNvPr name="Group 35" id="35"/>
          <p:cNvGrpSpPr/>
          <p:nvPr/>
        </p:nvGrpSpPr>
        <p:grpSpPr>
          <a:xfrm rot="0">
            <a:off x="12619111" y="9087088"/>
            <a:ext cx="1692916" cy="411804"/>
            <a:chOff x="0" y="0"/>
            <a:chExt cx="2257222" cy="549072"/>
          </a:xfrm>
        </p:grpSpPr>
        <p:sp>
          <p:nvSpPr>
            <p:cNvPr name="Freeform 36" id="36"/>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37" id="37"/>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5.8 RDD/DF</a:t>
              </a:r>
            </a:p>
          </p:txBody>
        </p:sp>
      </p:grpSp>
      <p:grpSp>
        <p:nvGrpSpPr>
          <p:cNvPr name="Group 38" id="38"/>
          <p:cNvGrpSpPr/>
          <p:nvPr/>
        </p:nvGrpSpPr>
        <p:grpSpPr>
          <a:xfrm rot="0">
            <a:off x="14353213" y="9087088"/>
            <a:ext cx="1692916" cy="411804"/>
            <a:chOff x="0" y="0"/>
            <a:chExt cx="2257222" cy="549072"/>
          </a:xfrm>
        </p:grpSpPr>
        <p:sp>
          <p:nvSpPr>
            <p:cNvPr name="Freeform 39" id="39"/>
            <p:cNvSpPr/>
            <p:nvPr/>
          </p:nvSpPr>
          <p:spPr>
            <a:xfrm flipH="false" flipV="false" rot="0">
              <a:off x="0" y="0"/>
              <a:ext cx="2257171" cy="549021"/>
            </a:xfrm>
            <a:custGeom>
              <a:avLst/>
              <a:gdLst/>
              <a:ahLst/>
              <a:cxnLst/>
              <a:rect r="r" b="b" t="t" l="l"/>
              <a:pathLst>
                <a:path h="549021" w="2257171">
                  <a:moveTo>
                    <a:pt x="0" y="0"/>
                  </a:moveTo>
                  <a:lnTo>
                    <a:pt x="2257171" y="0"/>
                  </a:lnTo>
                  <a:lnTo>
                    <a:pt x="2257171" y="549021"/>
                  </a:lnTo>
                  <a:lnTo>
                    <a:pt x="0" y="549021"/>
                  </a:lnTo>
                  <a:close/>
                </a:path>
              </a:pathLst>
            </a:custGeom>
            <a:solidFill>
              <a:srgbClr val="85B518"/>
            </a:solidFill>
          </p:spPr>
        </p:sp>
        <p:sp>
          <p:nvSpPr>
            <p:cNvPr name="TextBox 40" id="40"/>
            <p:cNvSpPr txBox="true"/>
            <p:nvPr/>
          </p:nvSpPr>
          <p:spPr>
            <a:xfrm>
              <a:off x="0" y="0"/>
              <a:ext cx="2257222" cy="549072"/>
            </a:xfrm>
            <a:prstGeom prst="rect">
              <a:avLst/>
            </a:prstGeom>
          </p:spPr>
          <p:txBody>
            <a:bodyPr anchor="ctr" rtlCol="false" tIns="50800" lIns="50800" bIns="50800" rIns="50800"/>
            <a:lstStyle/>
            <a:p>
              <a:pPr algn="ctr">
                <a:lnSpc>
                  <a:spcPts val="1170"/>
                </a:lnSpc>
              </a:pPr>
              <a:r>
                <a:rPr lang="en-US" sz="975" b="true">
                  <a:solidFill>
                    <a:srgbClr val="FFFFFF"/>
                  </a:solidFill>
                  <a:latin typeface="Cabin Bold"/>
                  <a:ea typeface="Cabin Bold"/>
                  <a:cs typeface="Cabin Bold"/>
                  <a:sym typeface="Cabin Bold"/>
                </a:rPr>
                <a:t>5.9 PySpark</a:t>
              </a:r>
            </a:p>
          </p:txBody>
        </p:sp>
      </p:grpSp>
      <p:grpSp>
        <p:nvGrpSpPr>
          <p:cNvPr name="Group 41" id="41"/>
          <p:cNvGrpSpPr/>
          <p:nvPr/>
        </p:nvGrpSpPr>
        <p:grpSpPr>
          <a:xfrm rot="0">
            <a:off x="16087306" y="9087088"/>
            <a:ext cx="1692916" cy="411804"/>
            <a:chOff x="0" y="0"/>
            <a:chExt cx="2257222" cy="549072"/>
          </a:xfrm>
        </p:grpSpPr>
        <p:sp>
          <p:nvSpPr>
            <p:cNvPr name="Freeform 42" id="42"/>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43" id="43"/>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TH Thực hành</a:t>
              </a:r>
            </a:p>
          </p:txBody>
        </p:sp>
      </p:grpSp>
      <p:grpSp>
        <p:nvGrpSpPr>
          <p:cNvPr name="Group 44" id="44"/>
          <p:cNvGrpSpPr/>
          <p:nvPr/>
        </p:nvGrpSpPr>
        <p:grpSpPr>
          <a:xfrm rot="0">
            <a:off x="0" y="9677343"/>
            <a:ext cx="18301840" cy="617706"/>
            <a:chOff x="0" y="0"/>
            <a:chExt cx="24402453" cy="823608"/>
          </a:xfrm>
        </p:grpSpPr>
        <p:sp>
          <p:nvSpPr>
            <p:cNvPr name="Freeform 45" id="45"/>
            <p:cNvSpPr/>
            <p:nvPr/>
          </p:nvSpPr>
          <p:spPr>
            <a:xfrm flipH="false" flipV="false" rot="0">
              <a:off x="0" y="0"/>
              <a:ext cx="24402414" cy="823595"/>
            </a:xfrm>
            <a:custGeom>
              <a:avLst/>
              <a:gdLst/>
              <a:ahLst/>
              <a:cxnLst/>
              <a:rect r="r" b="b" t="t" l="l"/>
              <a:pathLst>
                <a:path h="823595" w="24402414">
                  <a:moveTo>
                    <a:pt x="0" y="0"/>
                  </a:moveTo>
                  <a:lnTo>
                    <a:pt x="24402414" y="0"/>
                  </a:lnTo>
                  <a:lnTo>
                    <a:pt x="24402414" y="823595"/>
                  </a:lnTo>
                  <a:lnTo>
                    <a:pt x="0" y="823595"/>
                  </a:lnTo>
                  <a:close/>
                </a:path>
              </a:pathLst>
            </a:custGeom>
            <a:solidFill>
              <a:srgbClr val="1F4E79"/>
            </a:solidFill>
          </p:spPr>
        </p:sp>
      </p:grpSp>
      <p:grpSp>
        <p:nvGrpSpPr>
          <p:cNvPr name="Group 46" id="46"/>
          <p:cNvGrpSpPr/>
          <p:nvPr/>
        </p:nvGrpSpPr>
        <p:grpSpPr>
          <a:xfrm rot="0">
            <a:off x="480431" y="9677343"/>
            <a:ext cx="10981382" cy="617706"/>
            <a:chOff x="0" y="0"/>
            <a:chExt cx="14641843" cy="823608"/>
          </a:xfrm>
        </p:grpSpPr>
        <p:sp>
          <p:nvSpPr>
            <p:cNvPr name="Freeform 47" id="47"/>
            <p:cNvSpPr/>
            <p:nvPr/>
          </p:nvSpPr>
          <p:spPr>
            <a:xfrm flipH="false" flipV="false" rot="0">
              <a:off x="0" y="0"/>
              <a:ext cx="14641840" cy="823603"/>
            </a:xfrm>
            <a:custGeom>
              <a:avLst/>
              <a:gdLst/>
              <a:ahLst/>
              <a:cxnLst/>
              <a:rect r="r" b="b" t="t" l="l"/>
              <a:pathLst>
                <a:path h="823603" w="14641840">
                  <a:moveTo>
                    <a:pt x="0" y="0"/>
                  </a:moveTo>
                  <a:lnTo>
                    <a:pt x="14641840" y="0"/>
                  </a:lnTo>
                  <a:lnTo>
                    <a:pt x="14641840" y="823603"/>
                  </a:lnTo>
                  <a:lnTo>
                    <a:pt x="0" y="823603"/>
                  </a:lnTo>
                  <a:close/>
                </a:path>
              </a:pathLst>
            </a:custGeom>
            <a:blipFill>
              <a:blip r:embed="rId4">
                <a:alphaModFix amt="0"/>
              </a:blip>
              <a:stretch>
                <a:fillRect l="0" t="-296400" r="0" b="-296401"/>
              </a:stretch>
            </a:blipFill>
          </p:spPr>
        </p:sp>
        <p:sp>
          <p:nvSpPr>
            <p:cNvPr name="TextBox 48" id="48"/>
            <p:cNvSpPr txBox="true"/>
            <p:nvPr/>
          </p:nvSpPr>
          <p:spPr>
            <a:xfrm>
              <a:off x="0" y="0"/>
              <a:ext cx="14641843" cy="823608"/>
            </a:xfrm>
            <a:prstGeom prst="rect">
              <a:avLst/>
            </a:prstGeom>
          </p:spPr>
          <p:txBody>
            <a:bodyPr anchor="ctr" rtlCol="false" tIns="0" lIns="0" bIns="0" rIns="0"/>
            <a:lstStyle/>
            <a:p>
              <a:pPr algn="l">
                <a:lnSpc>
                  <a:spcPts val="1621"/>
                </a:lnSpc>
              </a:pPr>
              <a:r>
                <a:rPr lang="en-US" sz="1351">
                  <a:solidFill>
                    <a:srgbClr val="FFFFFF"/>
                  </a:solidFill>
                  <a:latin typeface="Cabin"/>
                  <a:ea typeface="Cabin"/>
                  <a:cs typeface="Cabin"/>
                  <a:sym typeface="Cabin"/>
                </a:rPr>
                <a:t>VNU UET – Institute for Artificial Intelligence</a:t>
              </a:r>
            </a:p>
          </p:txBody>
        </p:sp>
      </p:grpSp>
      <p:grpSp>
        <p:nvGrpSpPr>
          <p:cNvPr name="Group 49" id="49"/>
          <p:cNvGrpSpPr/>
          <p:nvPr/>
        </p:nvGrpSpPr>
        <p:grpSpPr>
          <a:xfrm rot="0">
            <a:off x="17066438" y="9677343"/>
            <a:ext cx="823608" cy="617706"/>
            <a:chOff x="0" y="0"/>
            <a:chExt cx="1098144" cy="823608"/>
          </a:xfrm>
        </p:grpSpPr>
        <p:sp>
          <p:nvSpPr>
            <p:cNvPr name="Freeform 50" id="50"/>
            <p:cNvSpPr/>
            <p:nvPr/>
          </p:nvSpPr>
          <p:spPr>
            <a:xfrm flipH="false" flipV="false" rot="0">
              <a:off x="0" y="0"/>
              <a:ext cx="1098138" cy="823603"/>
            </a:xfrm>
            <a:custGeom>
              <a:avLst/>
              <a:gdLst/>
              <a:ahLst/>
              <a:cxnLst/>
              <a:rect r="r" b="b" t="t" l="l"/>
              <a:pathLst>
                <a:path h="823603" w="1098138">
                  <a:moveTo>
                    <a:pt x="0" y="0"/>
                  </a:moveTo>
                  <a:lnTo>
                    <a:pt x="1098138" y="0"/>
                  </a:lnTo>
                  <a:lnTo>
                    <a:pt x="1098138" y="823603"/>
                  </a:lnTo>
                  <a:lnTo>
                    <a:pt x="0" y="823603"/>
                  </a:lnTo>
                  <a:close/>
                </a:path>
              </a:pathLst>
            </a:custGeom>
            <a:blipFill>
              <a:blip r:embed="rId4">
                <a:alphaModFix amt="0"/>
              </a:blip>
              <a:stretch>
                <a:fillRect l="-46227" t="0" r="-46228" b="0"/>
              </a:stretch>
            </a:blipFill>
          </p:spPr>
        </p:sp>
        <p:sp>
          <p:nvSpPr>
            <p:cNvPr name="TextBox 51" id="51"/>
            <p:cNvSpPr txBox="true"/>
            <p:nvPr/>
          </p:nvSpPr>
          <p:spPr>
            <a:xfrm>
              <a:off x="0" y="0"/>
              <a:ext cx="1098144" cy="823608"/>
            </a:xfrm>
            <a:prstGeom prst="rect">
              <a:avLst/>
            </a:prstGeom>
          </p:spPr>
          <p:txBody>
            <a:bodyPr anchor="ctr" rtlCol="false" tIns="0" lIns="0" bIns="0" rIns="0"/>
            <a:lstStyle/>
            <a:p>
              <a:pPr algn="r">
                <a:lnSpc>
                  <a:spcPts val="1621"/>
                </a:lnSpc>
              </a:pPr>
              <a:r>
                <a:rPr lang="en-US" sz="1351">
                  <a:solidFill>
                    <a:srgbClr val="FFFFFF"/>
                  </a:solidFill>
                  <a:latin typeface="Cabin"/>
                  <a:ea typeface="Cabin"/>
                  <a:cs typeface="Cabin"/>
                  <a:sym typeface="Cabin"/>
                </a:rPr>
                <a:t>23</a:t>
              </a:r>
            </a:p>
          </p:txBody>
        </p:sp>
      </p:grpSp>
      <p:grpSp>
        <p:nvGrpSpPr>
          <p:cNvPr name="Group 52" id="52"/>
          <p:cNvGrpSpPr/>
          <p:nvPr/>
        </p:nvGrpSpPr>
        <p:grpSpPr>
          <a:xfrm rot="0">
            <a:off x="0" y="0"/>
            <a:ext cx="18288000" cy="315468"/>
            <a:chOff x="0" y="0"/>
            <a:chExt cx="24384000" cy="420624"/>
          </a:xfrm>
        </p:grpSpPr>
        <p:sp>
          <p:nvSpPr>
            <p:cNvPr name="Freeform 53" id="53"/>
            <p:cNvSpPr/>
            <p:nvPr/>
          </p:nvSpPr>
          <p:spPr>
            <a:xfrm flipH="false" flipV="false" rot="0">
              <a:off x="0" y="0"/>
              <a:ext cx="24384000" cy="420624"/>
            </a:xfrm>
            <a:custGeom>
              <a:avLst/>
              <a:gdLst/>
              <a:ahLst/>
              <a:cxnLst/>
              <a:rect r="r" b="b" t="t" l="l"/>
              <a:pathLst>
                <a:path h="420624" w="24384000">
                  <a:moveTo>
                    <a:pt x="0" y="0"/>
                  </a:moveTo>
                  <a:lnTo>
                    <a:pt x="24384000" y="0"/>
                  </a:lnTo>
                  <a:lnTo>
                    <a:pt x="24384000" y="420624"/>
                  </a:lnTo>
                  <a:lnTo>
                    <a:pt x="0" y="420624"/>
                  </a:lnTo>
                  <a:close/>
                </a:path>
              </a:pathLst>
            </a:custGeom>
            <a:solidFill>
              <a:srgbClr val="0F3F6F"/>
            </a:solidFill>
          </p:spPr>
        </p:sp>
      </p:grpSp>
      <p:grpSp>
        <p:nvGrpSpPr>
          <p:cNvPr name="Group 54" id="54"/>
          <p:cNvGrpSpPr/>
          <p:nvPr/>
        </p:nvGrpSpPr>
        <p:grpSpPr>
          <a:xfrm rot="0">
            <a:off x="13098780" y="0"/>
            <a:ext cx="1453896" cy="1508760"/>
            <a:chOff x="0" y="0"/>
            <a:chExt cx="1938528" cy="2011680"/>
          </a:xfrm>
        </p:grpSpPr>
        <p:sp>
          <p:nvSpPr>
            <p:cNvPr name="Freeform 55" id="55"/>
            <p:cNvSpPr/>
            <p:nvPr/>
          </p:nvSpPr>
          <p:spPr>
            <a:xfrm flipH="false" flipV="false" rot="0">
              <a:off x="0" y="0"/>
              <a:ext cx="1938528" cy="2011680"/>
            </a:xfrm>
            <a:custGeom>
              <a:avLst/>
              <a:gdLst/>
              <a:ahLst/>
              <a:cxnLst/>
              <a:rect r="r" b="b" t="t" l="l"/>
              <a:pathLst>
                <a:path h="2011680" w="1938528">
                  <a:moveTo>
                    <a:pt x="0" y="2011680"/>
                  </a:moveTo>
                  <a:lnTo>
                    <a:pt x="484632" y="0"/>
                  </a:lnTo>
                  <a:lnTo>
                    <a:pt x="1938528" y="0"/>
                  </a:lnTo>
                  <a:lnTo>
                    <a:pt x="1453896" y="2011680"/>
                  </a:lnTo>
                  <a:close/>
                </a:path>
              </a:pathLst>
            </a:custGeom>
            <a:solidFill>
              <a:srgbClr val="85B518"/>
            </a:solidFill>
          </p:spPr>
        </p:sp>
      </p:grpSp>
      <p:grpSp>
        <p:nvGrpSpPr>
          <p:cNvPr name="Group 56" id="56"/>
          <p:cNvGrpSpPr/>
          <p:nvPr/>
        </p:nvGrpSpPr>
        <p:grpSpPr>
          <a:xfrm rot="0">
            <a:off x="14621256" y="0"/>
            <a:ext cx="1508760" cy="1508760"/>
            <a:chOff x="0" y="0"/>
            <a:chExt cx="2011680" cy="2011680"/>
          </a:xfrm>
        </p:grpSpPr>
        <p:sp>
          <p:nvSpPr>
            <p:cNvPr name="Freeform 57" id="57"/>
            <p:cNvSpPr/>
            <p:nvPr/>
          </p:nvSpPr>
          <p:spPr>
            <a:xfrm flipH="false" flipV="false" rot="0">
              <a:off x="0" y="0"/>
              <a:ext cx="2011680" cy="2011680"/>
            </a:xfrm>
            <a:custGeom>
              <a:avLst/>
              <a:gdLst/>
              <a:ahLst/>
              <a:cxnLst/>
              <a:rect r="r" b="b" t="t" l="l"/>
              <a:pathLst>
                <a:path h="2011680" w="2011680">
                  <a:moveTo>
                    <a:pt x="0" y="2011680"/>
                  </a:moveTo>
                  <a:lnTo>
                    <a:pt x="502920" y="0"/>
                  </a:lnTo>
                  <a:lnTo>
                    <a:pt x="2011680" y="0"/>
                  </a:lnTo>
                  <a:lnTo>
                    <a:pt x="1508760" y="2011680"/>
                  </a:lnTo>
                  <a:close/>
                </a:path>
              </a:pathLst>
            </a:custGeom>
            <a:solidFill>
              <a:srgbClr val="0F3F6F"/>
            </a:solidFill>
          </p:spPr>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97801" y="384353"/>
            <a:ext cx="851059" cy="851059"/>
            <a:chOff x="0" y="0"/>
            <a:chExt cx="1134745" cy="1134745"/>
          </a:xfrm>
        </p:grpSpPr>
        <p:sp>
          <p:nvSpPr>
            <p:cNvPr name="Freeform 3" id="3" descr="/home/claude/work/assets/logo.png"/>
            <p:cNvSpPr/>
            <p:nvPr/>
          </p:nvSpPr>
          <p:spPr>
            <a:xfrm flipH="false" flipV="false" rot="0">
              <a:off x="0" y="0"/>
              <a:ext cx="1134745" cy="1134745"/>
            </a:xfrm>
            <a:custGeom>
              <a:avLst/>
              <a:gdLst/>
              <a:ahLst/>
              <a:cxnLst/>
              <a:rect r="r" b="b" t="t" l="l"/>
              <a:pathLst>
                <a:path h="1134745" w="1134745">
                  <a:moveTo>
                    <a:pt x="0" y="0"/>
                  </a:moveTo>
                  <a:lnTo>
                    <a:pt x="1134745" y="0"/>
                  </a:lnTo>
                  <a:lnTo>
                    <a:pt x="1134745" y="1134745"/>
                  </a:lnTo>
                  <a:lnTo>
                    <a:pt x="0" y="1134745"/>
                  </a:lnTo>
                  <a:lnTo>
                    <a:pt x="0" y="0"/>
                  </a:lnTo>
                  <a:close/>
                </a:path>
              </a:pathLst>
            </a:custGeom>
            <a:blipFill>
              <a:blip r:embed="rId3"/>
              <a:stretch>
                <a:fillRect l="0" t="0" r="0" b="0"/>
              </a:stretch>
            </a:blipFill>
          </p:spPr>
        </p:sp>
      </p:grpSp>
      <p:grpSp>
        <p:nvGrpSpPr>
          <p:cNvPr name="Group 4" id="4"/>
          <p:cNvGrpSpPr/>
          <p:nvPr/>
        </p:nvGrpSpPr>
        <p:grpSpPr>
          <a:xfrm rot="0">
            <a:off x="686333" y="384353"/>
            <a:ext cx="10981382" cy="411804"/>
            <a:chOff x="0" y="0"/>
            <a:chExt cx="14641843" cy="549072"/>
          </a:xfrm>
        </p:grpSpPr>
        <p:sp>
          <p:nvSpPr>
            <p:cNvPr name="Freeform 5" id="5"/>
            <p:cNvSpPr/>
            <p:nvPr/>
          </p:nvSpPr>
          <p:spPr>
            <a:xfrm flipH="false" flipV="false" rot="0">
              <a:off x="0" y="0"/>
              <a:ext cx="14641840" cy="549069"/>
            </a:xfrm>
            <a:custGeom>
              <a:avLst/>
              <a:gdLst/>
              <a:ahLst/>
              <a:cxnLst/>
              <a:rect r="r" b="b" t="t" l="l"/>
              <a:pathLst>
                <a:path h="549069" w="14641840">
                  <a:moveTo>
                    <a:pt x="0" y="0"/>
                  </a:moveTo>
                  <a:lnTo>
                    <a:pt x="14641840" y="0"/>
                  </a:lnTo>
                  <a:lnTo>
                    <a:pt x="14641840" y="549069"/>
                  </a:lnTo>
                  <a:lnTo>
                    <a:pt x="0" y="549069"/>
                  </a:lnTo>
                  <a:close/>
                </a:path>
              </a:pathLst>
            </a:custGeom>
            <a:blipFill>
              <a:blip r:embed="rId4">
                <a:alphaModFix amt="0"/>
              </a:blip>
              <a:stretch>
                <a:fillRect l="0" t="-469600" r="0" b="-469601"/>
              </a:stretch>
            </a:blipFill>
          </p:spPr>
        </p:sp>
        <p:sp>
          <p:nvSpPr>
            <p:cNvPr name="TextBox 6" id="6"/>
            <p:cNvSpPr txBox="true"/>
            <p:nvPr/>
          </p:nvSpPr>
          <p:spPr>
            <a:xfrm>
              <a:off x="0" y="0"/>
              <a:ext cx="14641843" cy="549072"/>
            </a:xfrm>
            <a:prstGeom prst="rect">
              <a:avLst/>
            </a:prstGeom>
          </p:spPr>
          <p:txBody>
            <a:bodyPr anchor="ctr" rtlCol="false" tIns="0" lIns="0" bIns="0" rIns="0"/>
            <a:lstStyle/>
            <a:p>
              <a:pPr algn="l">
                <a:lnSpc>
                  <a:spcPts val="1981"/>
                </a:lnSpc>
              </a:pPr>
              <a:r>
                <a:rPr lang="en-US" sz="1651" i="true">
                  <a:solidFill>
                    <a:srgbClr val="4A4A4A"/>
                  </a:solidFill>
                  <a:latin typeface="Cabin Italics"/>
                  <a:ea typeface="Cabin Italics"/>
                  <a:cs typeface="Cabin Italics"/>
                  <a:sym typeface="Cabin Italics"/>
                </a:rPr>
                <a:t>5.9. PySpark · Bài 05</a:t>
              </a:r>
            </a:p>
          </p:txBody>
        </p:sp>
      </p:grpSp>
      <p:grpSp>
        <p:nvGrpSpPr>
          <p:cNvPr name="Group 7" id="7"/>
          <p:cNvGrpSpPr/>
          <p:nvPr/>
        </p:nvGrpSpPr>
        <p:grpSpPr>
          <a:xfrm rot="0">
            <a:off x="674418" y="839143"/>
            <a:ext cx="710165" cy="710165"/>
            <a:chOff x="0" y="0"/>
            <a:chExt cx="946887" cy="946887"/>
          </a:xfrm>
        </p:grpSpPr>
        <p:sp>
          <p:nvSpPr>
            <p:cNvPr name="Freeform 8" id="8"/>
            <p:cNvSpPr/>
            <p:nvPr/>
          </p:nvSpPr>
          <p:spPr>
            <a:xfrm flipH="false" flipV="false" rot="0">
              <a:off x="0" y="0"/>
              <a:ext cx="946912" cy="946912"/>
            </a:xfrm>
            <a:custGeom>
              <a:avLst/>
              <a:gdLst/>
              <a:ahLst/>
              <a:cxnLst/>
              <a:rect r="r" b="b" t="t" l="l"/>
              <a:pathLst>
                <a:path h="946912" w="946912">
                  <a:moveTo>
                    <a:pt x="0" y="473456"/>
                  </a:moveTo>
                  <a:cubicBezTo>
                    <a:pt x="0" y="211963"/>
                    <a:pt x="211963" y="0"/>
                    <a:pt x="473456" y="0"/>
                  </a:cubicBezTo>
                  <a:cubicBezTo>
                    <a:pt x="734949" y="0"/>
                    <a:pt x="946912" y="211963"/>
                    <a:pt x="946912" y="473456"/>
                  </a:cubicBezTo>
                  <a:cubicBezTo>
                    <a:pt x="946912" y="734949"/>
                    <a:pt x="734949" y="946912"/>
                    <a:pt x="473456" y="946912"/>
                  </a:cubicBezTo>
                  <a:cubicBezTo>
                    <a:pt x="211963" y="946912"/>
                    <a:pt x="0" y="734949"/>
                    <a:pt x="0" y="473456"/>
                  </a:cubicBezTo>
                  <a:close/>
                </a:path>
              </a:pathLst>
            </a:custGeom>
            <a:solidFill>
              <a:srgbClr val="FFFFFF"/>
            </a:solidFill>
            <a:ln w="23831" cap="sq">
              <a:solidFill>
                <a:srgbClr val="1F4E79"/>
              </a:solidFill>
              <a:prstDash val="solid"/>
              <a:miter/>
            </a:ln>
          </p:spPr>
        </p:sp>
      </p:grpSp>
      <p:grpSp>
        <p:nvGrpSpPr>
          <p:cNvPr name="Group 9" id="9"/>
          <p:cNvGrpSpPr/>
          <p:nvPr/>
        </p:nvGrpSpPr>
        <p:grpSpPr>
          <a:xfrm rot="0">
            <a:off x="686333" y="851059"/>
            <a:ext cx="686333" cy="686333"/>
            <a:chOff x="0" y="0"/>
            <a:chExt cx="915111" cy="915111"/>
          </a:xfrm>
        </p:grpSpPr>
        <p:sp>
          <p:nvSpPr>
            <p:cNvPr name="Freeform 10" id="10"/>
            <p:cNvSpPr/>
            <p:nvPr/>
          </p:nvSpPr>
          <p:spPr>
            <a:xfrm flipH="false" flipV="false" rot="0">
              <a:off x="0" y="0"/>
              <a:ext cx="915115" cy="915115"/>
            </a:xfrm>
            <a:custGeom>
              <a:avLst/>
              <a:gdLst/>
              <a:ahLst/>
              <a:cxnLst/>
              <a:rect r="r" b="b" t="t" l="l"/>
              <a:pathLst>
                <a:path h="915115" w="915115">
                  <a:moveTo>
                    <a:pt x="0" y="0"/>
                  </a:moveTo>
                  <a:lnTo>
                    <a:pt x="915115" y="0"/>
                  </a:lnTo>
                  <a:lnTo>
                    <a:pt x="915115" y="915115"/>
                  </a:lnTo>
                  <a:lnTo>
                    <a:pt x="0" y="915115"/>
                  </a:lnTo>
                  <a:close/>
                </a:path>
              </a:pathLst>
            </a:custGeom>
            <a:blipFill>
              <a:blip r:embed="rId4">
                <a:alphaModFix amt="0"/>
              </a:blip>
              <a:stretch>
                <a:fillRect l="-78303" t="0" r="-78302" b="0"/>
              </a:stretch>
            </a:blipFill>
          </p:spPr>
        </p:sp>
        <p:sp>
          <p:nvSpPr>
            <p:cNvPr name="TextBox 11" id="11"/>
            <p:cNvSpPr txBox="true"/>
            <p:nvPr/>
          </p:nvSpPr>
          <p:spPr>
            <a:xfrm>
              <a:off x="0" y="0"/>
              <a:ext cx="915111" cy="915111"/>
            </a:xfrm>
            <a:prstGeom prst="rect">
              <a:avLst/>
            </a:prstGeom>
          </p:spPr>
          <p:txBody>
            <a:bodyPr anchor="ctr" rtlCol="false" tIns="0" lIns="0" bIns="0" rIns="0"/>
            <a:lstStyle/>
            <a:p>
              <a:pPr algn="ctr">
                <a:lnSpc>
                  <a:spcPts val="2521"/>
                </a:lnSpc>
              </a:pPr>
              <a:r>
                <a:rPr lang="en-US" sz="2101" b="true">
                  <a:solidFill>
                    <a:srgbClr val="1F4E79"/>
                  </a:solidFill>
                  <a:latin typeface="Cabin Bold"/>
                  <a:ea typeface="Cabin Bold"/>
                  <a:cs typeface="Cabin Bold"/>
                  <a:sym typeface="Cabin Bold"/>
                </a:rPr>
                <a:t>09</a:t>
              </a:r>
            </a:p>
          </p:txBody>
        </p:sp>
      </p:grpSp>
      <p:grpSp>
        <p:nvGrpSpPr>
          <p:cNvPr name="Group 12" id="12"/>
          <p:cNvGrpSpPr/>
          <p:nvPr/>
        </p:nvGrpSpPr>
        <p:grpSpPr>
          <a:xfrm rot="0">
            <a:off x="1578569" y="823608"/>
            <a:ext cx="82363" cy="754971"/>
            <a:chOff x="0" y="0"/>
            <a:chExt cx="109817" cy="1006627"/>
          </a:xfrm>
        </p:grpSpPr>
        <p:sp>
          <p:nvSpPr>
            <p:cNvPr name="Freeform 13" id="13"/>
            <p:cNvSpPr/>
            <p:nvPr/>
          </p:nvSpPr>
          <p:spPr>
            <a:xfrm flipH="false" flipV="false" rot="0">
              <a:off x="0" y="0"/>
              <a:ext cx="109855" cy="1006602"/>
            </a:xfrm>
            <a:custGeom>
              <a:avLst/>
              <a:gdLst/>
              <a:ahLst/>
              <a:cxnLst/>
              <a:rect r="r" b="b" t="t" l="l"/>
              <a:pathLst>
                <a:path h="1006602" w="109855">
                  <a:moveTo>
                    <a:pt x="0" y="0"/>
                  </a:moveTo>
                  <a:lnTo>
                    <a:pt x="109855" y="0"/>
                  </a:lnTo>
                  <a:lnTo>
                    <a:pt x="109855" y="1006602"/>
                  </a:lnTo>
                  <a:lnTo>
                    <a:pt x="0" y="1006602"/>
                  </a:lnTo>
                  <a:close/>
                </a:path>
              </a:pathLst>
            </a:custGeom>
            <a:solidFill>
              <a:srgbClr val="85B518"/>
            </a:solidFill>
          </p:spPr>
        </p:sp>
      </p:grpSp>
      <p:grpSp>
        <p:nvGrpSpPr>
          <p:cNvPr name="Group 14" id="14"/>
          <p:cNvGrpSpPr/>
          <p:nvPr/>
        </p:nvGrpSpPr>
        <p:grpSpPr>
          <a:xfrm rot="0">
            <a:off x="1853108" y="796147"/>
            <a:ext cx="14938791" cy="823608"/>
            <a:chOff x="0" y="0"/>
            <a:chExt cx="19918388" cy="1098144"/>
          </a:xfrm>
        </p:grpSpPr>
        <p:sp>
          <p:nvSpPr>
            <p:cNvPr name="Freeform 15" id="15"/>
            <p:cNvSpPr/>
            <p:nvPr/>
          </p:nvSpPr>
          <p:spPr>
            <a:xfrm flipH="false" flipV="false" rot="0">
              <a:off x="0" y="0"/>
              <a:ext cx="19918392" cy="1098138"/>
            </a:xfrm>
            <a:custGeom>
              <a:avLst/>
              <a:gdLst/>
              <a:ahLst/>
              <a:cxnLst/>
              <a:rect r="r" b="b" t="t" l="l"/>
              <a:pathLst>
                <a:path h="1098138" w="19918392">
                  <a:moveTo>
                    <a:pt x="0" y="0"/>
                  </a:moveTo>
                  <a:lnTo>
                    <a:pt x="19918392" y="0"/>
                  </a:lnTo>
                  <a:lnTo>
                    <a:pt x="19918392" y="1098138"/>
                  </a:lnTo>
                  <a:lnTo>
                    <a:pt x="0" y="1098138"/>
                  </a:lnTo>
                  <a:close/>
                </a:path>
              </a:pathLst>
            </a:custGeom>
            <a:blipFill>
              <a:blip r:embed="rId4">
                <a:alphaModFix amt="0"/>
              </a:blip>
              <a:stretch>
                <a:fillRect l="0" t="-303425" r="0" b="-303426"/>
              </a:stretch>
            </a:blipFill>
          </p:spPr>
        </p:sp>
        <p:sp>
          <p:nvSpPr>
            <p:cNvPr name="TextBox 16" id="16"/>
            <p:cNvSpPr txBox="true"/>
            <p:nvPr/>
          </p:nvSpPr>
          <p:spPr>
            <a:xfrm>
              <a:off x="0" y="0"/>
              <a:ext cx="19918388" cy="1098144"/>
            </a:xfrm>
            <a:prstGeom prst="rect">
              <a:avLst/>
            </a:prstGeom>
          </p:spPr>
          <p:txBody>
            <a:bodyPr anchor="ctr" rtlCol="false" tIns="0" lIns="0" bIns="0" rIns="0"/>
            <a:lstStyle/>
            <a:p>
              <a:pPr algn="l">
                <a:lnSpc>
                  <a:spcPts val="3782"/>
                </a:lnSpc>
              </a:pPr>
              <a:r>
                <a:rPr lang="en-US" sz="3152" b="true">
                  <a:solidFill>
                    <a:srgbClr val="1F4E79"/>
                  </a:solidFill>
                  <a:latin typeface="Cabin Bold"/>
                  <a:ea typeface="Cabin Bold"/>
                  <a:cs typeface="Cabin Bold"/>
                  <a:sym typeface="Cabin Bold"/>
                </a:rPr>
                <a:t>PySpark — Python API cho Spark</a:t>
              </a:r>
            </a:p>
          </p:txBody>
        </p:sp>
      </p:grpSp>
      <p:grpSp>
        <p:nvGrpSpPr>
          <p:cNvPr name="Group 17" id="17"/>
          <p:cNvGrpSpPr/>
          <p:nvPr/>
        </p:nvGrpSpPr>
        <p:grpSpPr>
          <a:xfrm rot="0">
            <a:off x="686333" y="2059010"/>
            <a:ext cx="16952500" cy="686333"/>
            <a:chOff x="0" y="0"/>
            <a:chExt cx="22603333" cy="915111"/>
          </a:xfrm>
        </p:grpSpPr>
        <p:sp>
          <p:nvSpPr>
            <p:cNvPr name="Freeform 18" id="18"/>
            <p:cNvSpPr/>
            <p:nvPr/>
          </p:nvSpPr>
          <p:spPr>
            <a:xfrm flipH="false" flipV="false" rot="0">
              <a:off x="0" y="0"/>
              <a:ext cx="22603340" cy="915115"/>
            </a:xfrm>
            <a:custGeom>
              <a:avLst/>
              <a:gdLst/>
              <a:ahLst/>
              <a:cxnLst/>
              <a:rect r="r" b="b" t="t" l="l"/>
              <a:pathLst>
                <a:path h="915115" w="22603340">
                  <a:moveTo>
                    <a:pt x="0" y="0"/>
                  </a:moveTo>
                  <a:lnTo>
                    <a:pt x="22603340" y="0"/>
                  </a:lnTo>
                  <a:lnTo>
                    <a:pt x="22603340" y="915115"/>
                  </a:lnTo>
                  <a:lnTo>
                    <a:pt x="0" y="915115"/>
                  </a:lnTo>
                  <a:close/>
                </a:path>
              </a:pathLst>
            </a:custGeom>
            <a:blipFill>
              <a:blip r:embed="rId4">
                <a:alphaModFix amt="0"/>
              </a:blip>
              <a:stretch>
                <a:fillRect l="0" t="-431280" r="0" b="-431280"/>
              </a:stretch>
            </a:blipFill>
          </p:spPr>
        </p:sp>
        <p:sp>
          <p:nvSpPr>
            <p:cNvPr name="TextBox 19" id="19"/>
            <p:cNvSpPr txBox="true"/>
            <p:nvPr/>
          </p:nvSpPr>
          <p:spPr>
            <a:xfrm>
              <a:off x="0" y="0"/>
              <a:ext cx="22603333" cy="915111"/>
            </a:xfrm>
            <a:prstGeom prst="rect">
              <a:avLst/>
            </a:prstGeom>
          </p:spPr>
          <p:txBody>
            <a:bodyPr anchor="ctr" rtlCol="false" tIns="0" lIns="0" bIns="0" rIns="0"/>
            <a:lstStyle/>
            <a:p>
              <a:pPr algn="l">
                <a:lnSpc>
                  <a:spcPts val="2161"/>
                </a:lnSpc>
              </a:pPr>
              <a:r>
                <a:rPr lang="en-US" sz="1801">
                  <a:solidFill>
                    <a:srgbClr val="000000"/>
                  </a:solidFill>
                  <a:latin typeface="Cabin"/>
                  <a:ea typeface="Cabin"/>
                  <a:cs typeface="Cabin"/>
                  <a:sym typeface="Cabin"/>
                </a:rPr>
                <a:t>PySpark cho phép lập trình viên Python thao tác với Spark bằng cú pháp quen thuộc, không cần viết Scala/Java.</a:t>
              </a:r>
            </a:p>
          </p:txBody>
        </p:sp>
      </p:grpSp>
      <p:grpSp>
        <p:nvGrpSpPr>
          <p:cNvPr name="Group 20" id="20"/>
          <p:cNvGrpSpPr/>
          <p:nvPr/>
        </p:nvGrpSpPr>
        <p:grpSpPr>
          <a:xfrm rot="0">
            <a:off x="679190" y="3149994"/>
            <a:ext cx="3995052" cy="1524238"/>
            <a:chOff x="0" y="0"/>
            <a:chExt cx="5326736" cy="2032318"/>
          </a:xfrm>
        </p:grpSpPr>
        <p:sp>
          <p:nvSpPr>
            <p:cNvPr name="Freeform 21" id="21"/>
            <p:cNvSpPr/>
            <p:nvPr/>
          </p:nvSpPr>
          <p:spPr>
            <a:xfrm flipH="false" flipV="false" rot="0">
              <a:off x="0" y="0"/>
              <a:ext cx="5326761" cy="2032381"/>
            </a:xfrm>
            <a:custGeom>
              <a:avLst/>
              <a:gdLst/>
              <a:ahLst/>
              <a:cxnLst/>
              <a:rect r="r" b="b" t="t" l="l"/>
              <a:pathLst>
                <a:path h="2032381" w="5326761">
                  <a:moveTo>
                    <a:pt x="0" y="147828"/>
                  </a:moveTo>
                  <a:cubicBezTo>
                    <a:pt x="0" y="66167"/>
                    <a:pt x="66167" y="0"/>
                    <a:pt x="147828" y="0"/>
                  </a:cubicBezTo>
                  <a:lnTo>
                    <a:pt x="5178933" y="0"/>
                  </a:lnTo>
                  <a:cubicBezTo>
                    <a:pt x="5260594" y="0"/>
                    <a:pt x="5326761" y="66167"/>
                    <a:pt x="5326761" y="147828"/>
                  </a:cubicBezTo>
                  <a:lnTo>
                    <a:pt x="5326761" y="1884553"/>
                  </a:lnTo>
                  <a:cubicBezTo>
                    <a:pt x="5326761" y="1966214"/>
                    <a:pt x="5260594" y="2032381"/>
                    <a:pt x="5178933" y="2032381"/>
                  </a:cubicBezTo>
                  <a:lnTo>
                    <a:pt x="147828" y="2032381"/>
                  </a:lnTo>
                  <a:cubicBezTo>
                    <a:pt x="66167" y="2032381"/>
                    <a:pt x="0" y="1966087"/>
                    <a:pt x="0" y="1884553"/>
                  </a:cubicBezTo>
                  <a:close/>
                </a:path>
              </a:pathLst>
            </a:custGeom>
            <a:solidFill>
              <a:srgbClr val="F2F5F8"/>
            </a:solidFill>
            <a:ln w="14299" cap="sq">
              <a:solidFill>
                <a:srgbClr val="D9D9D9"/>
              </a:solidFill>
              <a:prstDash val="solid"/>
              <a:miter/>
            </a:ln>
          </p:spPr>
        </p:sp>
      </p:grpSp>
      <p:grpSp>
        <p:nvGrpSpPr>
          <p:cNvPr name="Group 22" id="22"/>
          <p:cNvGrpSpPr/>
          <p:nvPr/>
        </p:nvGrpSpPr>
        <p:grpSpPr>
          <a:xfrm rot="0">
            <a:off x="686333" y="3157147"/>
            <a:ext cx="3980755" cy="1509941"/>
            <a:chOff x="0" y="0"/>
            <a:chExt cx="5307673" cy="2013255"/>
          </a:xfrm>
        </p:grpSpPr>
        <p:sp>
          <p:nvSpPr>
            <p:cNvPr name="Freeform 23" id="23"/>
            <p:cNvSpPr/>
            <p:nvPr/>
          </p:nvSpPr>
          <p:spPr>
            <a:xfrm flipH="false" flipV="false" rot="0">
              <a:off x="0" y="0"/>
              <a:ext cx="5307667" cy="2013253"/>
            </a:xfrm>
            <a:custGeom>
              <a:avLst/>
              <a:gdLst/>
              <a:ahLst/>
              <a:cxnLst/>
              <a:rect r="r" b="b" t="t" l="l"/>
              <a:pathLst>
                <a:path h="2013253" w="5307667">
                  <a:moveTo>
                    <a:pt x="0" y="0"/>
                  </a:moveTo>
                  <a:lnTo>
                    <a:pt x="5307667" y="0"/>
                  </a:lnTo>
                  <a:lnTo>
                    <a:pt x="5307667" y="2013253"/>
                  </a:lnTo>
                  <a:lnTo>
                    <a:pt x="0" y="2013253"/>
                  </a:lnTo>
                  <a:close/>
                </a:path>
              </a:pathLst>
            </a:custGeom>
            <a:blipFill>
              <a:blip r:embed="rId4">
                <a:alphaModFix amt="0"/>
              </a:blip>
              <a:stretch>
                <a:fillRect l="0" t="-1369" r="0" b="-1369"/>
              </a:stretch>
            </a:blipFill>
          </p:spPr>
        </p:sp>
        <p:sp>
          <p:nvSpPr>
            <p:cNvPr name="TextBox 24" id="24"/>
            <p:cNvSpPr txBox="true"/>
            <p:nvPr/>
          </p:nvSpPr>
          <p:spPr>
            <a:xfrm>
              <a:off x="0" y="-9525"/>
              <a:ext cx="5307673" cy="2022780"/>
            </a:xfrm>
            <a:prstGeom prst="rect">
              <a:avLst/>
            </a:prstGeom>
          </p:spPr>
          <p:txBody>
            <a:bodyPr anchor="ctr" rtlCol="false" tIns="0" lIns="0" bIns="0" rIns="0"/>
            <a:lstStyle/>
            <a:p>
              <a:pPr algn="ctr">
                <a:lnSpc>
                  <a:spcPts val="2341"/>
                </a:lnSpc>
              </a:pPr>
              <a:r>
                <a:rPr lang="en-US" sz="1951" b="true">
                  <a:solidFill>
                    <a:srgbClr val="1F4E79"/>
                  </a:solidFill>
                  <a:latin typeface="Cabin Bold"/>
                  <a:ea typeface="Cabin Bold"/>
                  <a:cs typeface="Cabin Bold"/>
                  <a:sym typeface="Cabin Bold"/>
                </a:rPr>
                <a:t>SparkSession</a:t>
              </a:r>
            </a:p>
          </p:txBody>
        </p:sp>
      </p:grpSp>
      <p:grpSp>
        <p:nvGrpSpPr>
          <p:cNvPr name="Group 25" id="25"/>
          <p:cNvGrpSpPr/>
          <p:nvPr/>
        </p:nvGrpSpPr>
        <p:grpSpPr>
          <a:xfrm rot="0">
            <a:off x="4961925" y="3149994"/>
            <a:ext cx="3995052" cy="1524238"/>
            <a:chOff x="0" y="0"/>
            <a:chExt cx="5326736" cy="2032318"/>
          </a:xfrm>
        </p:grpSpPr>
        <p:sp>
          <p:nvSpPr>
            <p:cNvPr name="Freeform 26" id="26"/>
            <p:cNvSpPr/>
            <p:nvPr/>
          </p:nvSpPr>
          <p:spPr>
            <a:xfrm flipH="false" flipV="false" rot="0">
              <a:off x="0" y="0"/>
              <a:ext cx="5326761" cy="2032381"/>
            </a:xfrm>
            <a:custGeom>
              <a:avLst/>
              <a:gdLst/>
              <a:ahLst/>
              <a:cxnLst/>
              <a:rect r="r" b="b" t="t" l="l"/>
              <a:pathLst>
                <a:path h="2032381" w="5326761">
                  <a:moveTo>
                    <a:pt x="0" y="147828"/>
                  </a:moveTo>
                  <a:cubicBezTo>
                    <a:pt x="0" y="66167"/>
                    <a:pt x="66167" y="0"/>
                    <a:pt x="147828" y="0"/>
                  </a:cubicBezTo>
                  <a:lnTo>
                    <a:pt x="5178933" y="0"/>
                  </a:lnTo>
                  <a:cubicBezTo>
                    <a:pt x="5260594" y="0"/>
                    <a:pt x="5326761" y="66167"/>
                    <a:pt x="5326761" y="147828"/>
                  </a:cubicBezTo>
                  <a:lnTo>
                    <a:pt x="5326761" y="1884553"/>
                  </a:lnTo>
                  <a:cubicBezTo>
                    <a:pt x="5326761" y="1966214"/>
                    <a:pt x="5260594" y="2032381"/>
                    <a:pt x="5178933" y="2032381"/>
                  </a:cubicBezTo>
                  <a:lnTo>
                    <a:pt x="147828" y="2032381"/>
                  </a:lnTo>
                  <a:cubicBezTo>
                    <a:pt x="66167" y="2032381"/>
                    <a:pt x="0" y="1966087"/>
                    <a:pt x="0" y="1884553"/>
                  </a:cubicBezTo>
                  <a:close/>
                </a:path>
              </a:pathLst>
            </a:custGeom>
            <a:solidFill>
              <a:srgbClr val="F2F5F8"/>
            </a:solidFill>
            <a:ln w="14299" cap="sq">
              <a:solidFill>
                <a:srgbClr val="D9D9D9"/>
              </a:solidFill>
              <a:prstDash val="solid"/>
              <a:miter/>
            </a:ln>
          </p:spPr>
        </p:sp>
      </p:grpSp>
      <p:grpSp>
        <p:nvGrpSpPr>
          <p:cNvPr name="Group 27" id="27"/>
          <p:cNvGrpSpPr/>
          <p:nvPr/>
        </p:nvGrpSpPr>
        <p:grpSpPr>
          <a:xfrm rot="0">
            <a:off x="4969078" y="3157147"/>
            <a:ext cx="3980755" cy="1509941"/>
            <a:chOff x="0" y="0"/>
            <a:chExt cx="5307673" cy="2013255"/>
          </a:xfrm>
        </p:grpSpPr>
        <p:sp>
          <p:nvSpPr>
            <p:cNvPr name="Freeform 28" id="28"/>
            <p:cNvSpPr/>
            <p:nvPr/>
          </p:nvSpPr>
          <p:spPr>
            <a:xfrm flipH="false" flipV="false" rot="0">
              <a:off x="0" y="0"/>
              <a:ext cx="5307667" cy="2013253"/>
            </a:xfrm>
            <a:custGeom>
              <a:avLst/>
              <a:gdLst/>
              <a:ahLst/>
              <a:cxnLst/>
              <a:rect r="r" b="b" t="t" l="l"/>
              <a:pathLst>
                <a:path h="2013253" w="5307667">
                  <a:moveTo>
                    <a:pt x="0" y="0"/>
                  </a:moveTo>
                  <a:lnTo>
                    <a:pt x="5307667" y="0"/>
                  </a:lnTo>
                  <a:lnTo>
                    <a:pt x="5307667" y="2013253"/>
                  </a:lnTo>
                  <a:lnTo>
                    <a:pt x="0" y="2013253"/>
                  </a:lnTo>
                  <a:close/>
                </a:path>
              </a:pathLst>
            </a:custGeom>
            <a:blipFill>
              <a:blip r:embed="rId4">
                <a:alphaModFix amt="0"/>
              </a:blip>
              <a:stretch>
                <a:fillRect l="0" t="-1369" r="0" b="-1369"/>
              </a:stretch>
            </a:blipFill>
          </p:spPr>
        </p:sp>
        <p:sp>
          <p:nvSpPr>
            <p:cNvPr name="TextBox 29" id="29"/>
            <p:cNvSpPr txBox="true"/>
            <p:nvPr/>
          </p:nvSpPr>
          <p:spPr>
            <a:xfrm>
              <a:off x="0" y="-9525"/>
              <a:ext cx="5307673" cy="2022780"/>
            </a:xfrm>
            <a:prstGeom prst="rect">
              <a:avLst/>
            </a:prstGeom>
          </p:spPr>
          <p:txBody>
            <a:bodyPr anchor="ctr" rtlCol="false" tIns="0" lIns="0" bIns="0" rIns="0"/>
            <a:lstStyle/>
            <a:p>
              <a:pPr algn="ctr">
                <a:lnSpc>
                  <a:spcPts val="2341"/>
                </a:lnSpc>
              </a:pPr>
              <a:r>
                <a:rPr lang="en-US" sz="1951" b="true">
                  <a:solidFill>
                    <a:srgbClr val="1F4E79"/>
                  </a:solidFill>
                  <a:latin typeface="Cabin Bold"/>
                  <a:ea typeface="Cabin Bold"/>
                  <a:cs typeface="Cabin Bold"/>
                  <a:sym typeface="Cabin Bold"/>
                </a:rPr>
                <a:t>Đọc dữ liệu</a:t>
              </a:r>
            </a:p>
          </p:txBody>
        </p:sp>
      </p:grpSp>
      <p:grpSp>
        <p:nvGrpSpPr>
          <p:cNvPr name="Group 30" id="30"/>
          <p:cNvGrpSpPr/>
          <p:nvPr/>
        </p:nvGrpSpPr>
        <p:grpSpPr>
          <a:xfrm rot="0">
            <a:off x="9244660" y="3149994"/>
            <a:ext cx="3995052" cy="1524238"/>
            <a:chOff x="0" y="0"/>
            <a:chExt cx="5326736" cy="2032318"/>
          </a:xfrm>
        </p:grpSpPr>
        <p:sp>
          <p:nvSpPr>
            <p:cNvPr name="Freeform 31" id="31"/>
            <p:cNvSpPr/>
            <p:nvPr/>
          </p:nvSpPr>
          <p:spPr>
            <a:xfrm flipH="false" flipV="false" rot="0">
              <a:off x="0" y="0"/>
              <a:ext cx="5326761" cy="2032381"/>
            </a:xfrm>
            <a:custGeom>
              <a:avLst/>
              <a:gdLst/>
              <a:ahLst/>
              <a:cxnLst/>
              <a:rect r="r" b="b" t="t" l="l"/>
              <a:pathLst>
                <a:path h="2032381" w="5326761">
                  <a:moveTo>
                    <a:pt x="0" y="147828"/>
                  </a:moveTo>
                  <a:cubicBezTo>
                    <a:pt x="0" y="66167"/>
                    <a:pt x="66167" y="0"/>
                    <a:pt x="147828" y="0"/>
                  </a:cubicBezTo>
                  <a:lnTo>
                    <a:pt x="5178933" y="0"/>
                  </a:lnTo>
                  <a:cubicBezTo>
                    <a:pt x="5260594" y="0"/>
                    <a:pt x="5326761" y="66167"/>
                    <a:pt x="5326761" y="147828"/>
                  </a:cubicBezTo>
                  <a:lnTo>
                    <a:pt x="5326761" y="1884553"/>
                  </a:lnTo>
                  <a:cubicBezTo>
                    <a:pt x="5326761" y="1966214"/>
                    <a:pt x="5260594" y="2032381"/>
                    <a:pt x="5178933" y="2032381"/>
                  </a:cubicBezTo>
                  <a:lnTo>
                    <a:pt x="147828" y="2032381"/>
                  </a:lnTo>
                  <a:cubicBezTo>
                    <a:pt x="66167" y="2032381"/>
                    <a:pt x="0" y="1966087"/>
                    <a:pt x="0" y="1884553"/>
                  </a:cubicBezTo>
                  <a:close/>
                </a:path>
              </a:pathLst>
            </a:custGeom>
            <a:solidFill>
              <a:srgbClr val="F2F5F8"/>
            </a:solidFill>
            <a:ln w="14299" cap="sq">
              <a:solidFill>
                <a:srgbClr val="D9D9D9"/>
              </a:solidFill>
              <a:prstDash val="solid"/>
              <a:miter/>
            </a:ln>
          </p:spPr>
        </p:sp>
      </p:grpSp>
      <p:grpSp>
        <p:nvGrpSpPr>
          <p:cNvPr name="Group 32" id="32"/>
          <p:cNvGrpSpPr/>
          <p:nvPr/>
        </p:nvGrpSpPr>
        <p:grpSpPr>
          <a:xfrm rot="0">
            <a:off x="9251813" y="3157147"/>
            <a:ext cx="3980755" cy="1509941"/>
            <a:chOff x="0" y="0"/>
            <a:chExt cx="5307673" cy="2013255"/>
          </a:xfrm>
        </p:grpSpPr>
        <p:sp>
          <p:nvSpPr>
            <p:cNvPr name="Freeform 33" id="33"/>
            <p:cNvSpPr/>
            <p:nvPr/>
          </p:nvSpPr>
          <p:spPr>
            <a:xfrm flipH="false" flipV="false" rot="0">
              <a:off x="0" y="0"/>
              <a:ext cx="5307667" cy="2013253"/>
            </a:xfrm>
            <a:custGeom>
              <a:avLst/>
              <a:gdLst/>
              <a:ahLst/>
              <a:cxnLst/>
              <a:rect r="r" b="b" t="t" l="l"/>
              <a:pathLst>
                <a:path h="2013253" w="5307667">
                  <a:moveTo>
                    <a:pt x="0" y="0"/>
                  </a:moveTo>
                  <a:lnTo>
                    <a:pt x="5307667" y="0"/>
                  </a:lnTo>
                  <a:lnTo>
                    <a:pt x="5307667" y="2013253"/>
                  </a:lnTo>
                  <a:lnTo>
                    <a:pt x="0" y="2013253"/>
                  </a:lnTo>
                  <a:close/>
                </a:path>
              </a:pathLst>
            </a:custGeom>
            <a:blipFill>
              <a:blip r:embed="rId4">
                <a:alphaModFix amt="0"/>
              </a:blip>
              <a:stretch>
                <a:fillRect l="0" t="-1369" r="0" b="-1369"/>
              </a:stretch>
            </a:blipFill>
          </p:spPr>
        </p:sp>
        <p:sp>
          <p:nvSpPr>
            <p:cNvPr name="TextBox 34" id="34"/>
            <p:cNvSpPr txBox="true"/>
            <p:nvPr/>
          </p:nvSpPr>
          <p:spPr>
            <a:xfrm>
              <a:off x="0" y="-9525"/>
              <a:ext cx="5307673" cy="2022780"/>
            </a:xfrm>
            <a:prstGeom prst="rect">
              <a:avLst/>
            </a:prstGeom>
          </p:spPr>
          <p:txBody>
            <a:bodyPr anchor="ctr" rtlCol="false" tIns="0" lIns="0" bIns="0" rIns="0"/>
            <a:lstStyle/>
            <a:p>
              <a:pPr algn="ctr">
                <a:lnSpc>
                  <a:spcPts val="2341"/>
                </a:lnSpc>
              </a:pPr>
              <a:r>
                <a:rPr lang="en-US" sz="1951" b="true">
                  <a:solidFill>
                    <a:srgbClr val="1F4E79"/>
                  </a:solidFill>
                  <a:latin typeface="Cabin Bold"/>
                  <a:ea typeface="Cabin Bold"/>
                  <a:cs typeface="Cabin Bold"/>
                  <a:sym typeface="Cabin Bold"/>
                </a:rPr>
                <a:t>Select</a:t>
              </a:r>
            </a:p>
          </p:txBody>
        </p:sp>
      </p:grpSp>
      <p:grpSp>
        <p:nvGrpSpPr>
          <p:cNvPr name="Group 35" id="35"/>
          <p:cNvGrpSpPr/>
          <p:nvPr/>
        </p:nvGrpSpPr>
        <p:grpSpPr>
          <a:xfrm rot="0">
            <a:off x="13527405" y="3149994"/>
            <a:ext cx="3995052" cy="1524238"/>
            <a:chOff x="0" y="0"/>
            <a:chExt cx="5326736" cy="2032318"/>
          </a:xfrm>
        </p:grpSpPr>
        <p:sp>
          <p:nvSpPr>
            <p:cNvPr name="Freeform 36" id="36"/>
            <p:cNvSpPr/>
            <p:nvPr/>
          </p:nvSpPr>
          <p:spPr>
            <a:xfrm flipH="false" flipV="false" rot="0">
              <a:off x="0" y="0"/>
              <a:ext cx="5326761" cy="2032381"/>
            </a:xfrm>
            <a:custGeom>
              <a:avLst/>
              <a:gdLst/>
              <a:ahLst/>
              <a:cxnLst/>
              <a:rect r="r" b="b" t="t" l="l"/>
              <a:pathLst>
                <a:path h="2032381" w="5326761">
                  <a:moveTo>
                    <a:pt x="0" y="147828"/>
                  </a:moveTo>
                  <a:cubicBezTo>
                    <a:pt x="0" y="66167"/>
                    <a:pt x="66167" y="0"/>
                    <a:pt x="147828" y="0"/>
                  </a:cubicBezTo>
                  <a:lnTo>
                    <a:pt x="5178933" y="0"/>
                  </a:lnTo>
                  <a:cubicBezTo>
                    <a:pt x="5260594" y="0"/>
                    <a:pt x="5326761" y="66167"/>
                    <a:pt x="5326761" y="147828"/>
                  </a:cubicBezTo>
                  <a:lnTo>
                    <a:pt x="5326761" y="1884553"/>
                  </a:lnTo>
                  <a:cubicBezTo>
                    <a:pt x="5326761" y="1966214"/>
                    <a:pt x="5260594" y="2032381"/>
                    <a:pt x="5178933" y="2032381"/>
                  </a:cubicBezTo>
                  <a:lnTo>
                    <a:pt x="147828" y="2032381"/>
                  </a:lnTo>
                  <a:cubicBezTo>
                    <a:pt x="66167" y="2032381"/>
                    <a:pt x="0" y="1966087"/>
                    <a:pt x="0" y="1884553"/>
                  </a:cubicBezTo>
                  <a:close/>
                </a:path>
              </a:pathLst>
            </a:custGeom>
            <a:solidFill>
              <a:srgbClr val="F2F5F8"/>
            </a:solidFill>
            <a:ln w="14299" cap="sq">
              <a:solidFill>
                <a:srgbClr val="D9D9D9"/>
              </a:solidFill>
              <a:prstDash val="solid"/>
              <a:miter/>
            </a:ln>
          </p:spPr>
        </p:sp>
      </p:grpSp>
      <p:grpSp>
        <p:nvGrpSpPr>
          <p:cNvPr name="Group 37" id="37"/>
          <p:cNvGrpSpPr/>
          <p:nvPr/>
        </p:nvGrpSpPr>
        <p:grpSpPr>
          <a:xfrm rot="0">
            <a:off x="13534549" y="3157147"/>
            <a:ext cx="3980755" cy="1509941"/>
            <a:chOff x="0" y="0"/>
            <a:chExt cx="5307673" cy="2013255"/>
          </a:xfrm>
        </p:grpSpPr>
        <p:sp>
          <p:nvSpPr>
            <p:cNvPr name="Freeform 38" id="38"/>
            <p:cNvSpPr/>
            <p:nvPr/>
          </p:nvSpPr>
          <p:spPr>
            <a:xfrm flipH="false" flipV="false" rot="0">
              <a:off x="0" y="0"/>
              <a:ext cx="5307667" cy="2013253"/>
            </a:xfrm>
            <a:custGeom>
              <a:avLst/>
              <a:gdLst/>
              <a:ahLst/>
              <a:cxnLst/>
              <a:rect r="r" b="b" t="t" l="l"/>
              <a:pathLst>
                <a:path h="2013253" w="5307667">
                  <a:moveTo>
                    <a:pt x="0" y="0"/>
                  </a:moveTo>
                  <a:lnTo>
                    <a:pt x="5307667" y="0"/>
                  </a:lnTo>
                  <a:lnTo>
                    <a:pt x="5307667" y="2013253"/>
                  </a:lnTo>
                  <a:lnTo>
                    <a:pt x="0" y="2013253"/>
                  </a:lnTo>
                  <a:close/>
                </a:path>
              </a:pathLst>
            </a:custGeom>
            <a:blipFill>
              <a:blip r:embed="rId4">
                <a:alphaModFix amt="0"/>
              </a:blip>
              <a:stretch>
                <a:fillRect l="0" t="-1369" r="0" b="-1369"/>
              </a:stretch>
            </a:blipFill>
          </p:spPr>
        </p:sp>
        <p:sp>
          <p:nvSpPr>
            <p:cNvPr name="TextBox 39" id="39"/>
            <p:cNvSpPr txBox="true"/>
            <p:nvPr/>
          </p:nvSpPr>
          <p:spPr>
            <a:xfrm>
              <a:off x="0" y="-9525"/>
              <a:ext cx="5307673" cy="2022780"/>
            </a:xfrm>
            <a:prstGeom prst="rect">
              <a:avLst/>
            </a:prstGeom>
          </p:spPr>
          <p:txBody>
            <a:bodyPr anchor="ctr" rtlCol="false" tIns="0" lIns="0" bIns="0" rIns="0"/>
            <a:lstStyle/>
            <a:p>
              <a:pPr algn="ctr">
                <a:lnSpc>
                  <a:spcPts val="2341"/>
                </a:lnSpc>
              </a:pPr>
              <a:r>
                <a:rPr lang="en-US" sz="1951" b="true">
                  <a:solidFill>
                    <a:srgbClr val="1F4E79"/>
                  </a:solidFill>
                  <a:latin typeface="Cabin Bold"/>
                  <a:ea typeface="Cabin Bold"/>
                  <a:cs typeface="Cabin Bold"/>
                  <a:sym typeface="Cabin Bold"/>
                </a:rPr>
                <a:t>Filter</a:t>
              </a:r>
            </a:p>
          </p:txBody>
        </p:sp>
      </p:grpSp>
      <p:grpSp>
        <p:nvGrpSpPr>
          <p:cNvPr name="Group 40" id="40"/>
          <p:cNvGrpSpPr/>
          <p:nvPr/>
        </p:nvGrpSpPr>
        <p:grpSpPr>
          <a:xfrm rot="0">
            <a:off x="679190" y="5003102"/>
            <a:ext cx="3995052" cy="1524238"/>
            <a:chOff x="0" y="0"/>
            <a:chExt cx="5326736" cy="2032318"/>
          </a:xfrm>
        </p:grpSpPr>
        <p:sp>
          <p:nvSpPr>
            <p:cNvPr name="Freeform 41" id="41"/>
            <p:cNvSpPr/>
            <p:nvPr/>
          </p:nvSpPr>
          <p:spPr>
            <a:xfrm flipH="false" flipV="false" rot="0">
              <a:off x="0" y="0"/>
              <a:ext cx="5326761" cy="2032381"/>
            </a:xfrm>
            <a:custGeom>
              <a:avLst/>
              <a:gdLst/>
              <a:ahLst/>
              <a:cxnLst/>
              <a:rect r="r" b="b" t="t" l="l"/>
              <a:pathLst>
                <a:path h="2032381" w="5326761">
                  <a:moveTo>
                    <a:pt x="0" y="147828"/>
                  </a:moveTo>
                  <a:cubicBezTo>
                    <a:pt x="0" y="66167"/>
                    <a:pt x="66167" y="0"/>
                    <a:pt x="147828" y="0"/>
                  </a:cubicBezTo>
                  <a:lnTo>
                    <a:pt x="5178933" y="0"/>
                  </a:lnTo>
                  <a:cubicBezTo>
                    <a:pt x="5260594" y="0"/>
                    <a:pt x="5326761" y="66167"/>
                    <a:pt x="5326761" y="147828"/>
                  </a:cubicBezTo>
                  <a:lnTo>
                    <a:pt x="5326761" y="1884553"/>
                  </a:lnTo>
                  <a:cubicBezTo>
                    <a:pt x="5326761" y="1966214"/>
                    <a:pt x="5260594" y="2032381"/>
                    <a:pt x="5178933" y="2032381"/>
                  </a:cubicBezTo>
                  <a:lnTo>
                    <a:pt x="147828" y="2032381"/>
                  </a:lnTo>
                  <a:cubicBezTo>
                    <a:pt x="66167" y="2032381"/>
                    <a:pt x="0" y="1966087"/>
                    <a:pt x="0" y="1884553"/>
                  </a:cubicBezTo>
                  <a:close/>
                </a:path>
              </a:pathLst>
            </a:custGeom>
            <a:solidFill>
              <a:srgbClr val="F2F5F8"/>
            </a:solidFill>
            <a:ln w="14299" cap="sq">
              <a:solidFill>
                <a:srgbClr val="D9D9D9"/>
              </a:solidFill>
              <a:prstDash val="solid"/>
              <a:miter/>
            </a:ln>
          </p:spPr>
        </p:sp>
      </p:grpSp>
      <p:grpSp>
        <p:nvGrpSpPr>
          <p:cNvPr name="Group 42" id="42"/>
          <p:cNvGrpSpPr/>
          <p:nvPr/>
        </p:nvGrpSpPr>
        <p:grpSpPr>
          <a:xfrm rot="0">
            <a:off x="686333" y="5010255"/>
            <a:ext cx="3980755" cy="1509941"/>
            <a:chOff x="0" y="0"/>
            <a:chExt cx="5307673" cy="2013255"/>
          </a:xfrm>
        </p:grpSpPr>
        <p:sp>
          <p:nvSpPr>
            <p:cNvPr name="Freeform 43" id="43"/>
            <p:cNvSpPr/>
            <p:nvPr/>
          </p:nvSpPr>
          <p:spPr>
            <a:xfrm flipH="false" flipV="false" rot="0">
              <a:off x="0" y="0"/>
              <a:ext cx="5307667" cy="2013253"/>
            </a:xfrm>
            <a:custGeom>
              <a:avLst/>
              <a:gdLst/>
              <a:ahLst/>
              <a:cxnLst/>
              <a:rect r="r" b="b" t="t" l="l"/>
              <a:pathLst>
                <a:path h="2013253" w="5307667">
                  <a:moveTo>
                    <a:pt x="0" y="0"/>
                  </a:moveTo>
                  <a:lnTo>
                    <a:pt x="5307667" y="0"/>
                  </a:lnTo>
                  <a:lnTo>
                    <a:pt x="5307667" y="2013253"/>
                  </a:lnTo>
                  <a:lnTo>
                    <a:pt x="0" y="2013253"/>
                  </a:lnTo>
                  <a:close/>
                </a:path>
              </a:pathLst>
            </a:custGeom>
            <a:blipFill>
              <a:blip r:embed="rId4">
                <a:alphaModFix amt="0"/>
              </a:blip>
              <a:stretch>
                <a:fillRect l="0" t="-1369" r="0" b="-1369"/>
              </a:stretch>
            </a:blipFill>
          </p:spPr>
        </p:sp>
        <p:sp>
          <p:nvSpPr>
            <p:cNvPr name="TextBox 44" id="44"/>
            <p:cNvSpPr txBox="true"/>
            <p:nvPr/>
          </p:nvSpPr>
          <p:spPr>
            <a:xfrm>
              <a:off x="0" y="-9525"/>
              <a:ext cx="5307673" cy="2022780"/>
            </a:xfrm>
            <a:prstGeom prst="rect">
              <a:avLst/>
            </a:prstGeom>
          </p:spPr>
          <p:txBody>
            <a:bodyPr anchor="ctr" rtlCol="false" tIns="0" lIns="0" bIns="0" rIns="0"/>
            <a:lstStyle/>
            <a:p>
              <a:pPr algn="ctr">
                <a:lnSpc>
                  <a:spcPts val="2341"/>
                </a:lnSpc>
              </a:pPr>
              <a:r>
                <a:rPr lang="en-US" sz="1951" b="true">
                  <a:solidFill>
                    <a:srgbClr val="1F4E79"/>
                  </a:solidFill>
                  <a:latin typeface="Cabin Bold"/>
                  <a:ea typeface="Cabin Bold"/>
                  <a:cs typeface="Cabin Bold"/>
                  <a:sym typeface="Cabin Bold"/>
                </a:rPr>
                <a:t>GroupBy</a:t>
              </a:r>
            </a:p>
          </p:txBody>
        </p:sp>
      </p:grpSp>
      <p:grpSp>
        <p:nvGrpSpPr>
          <p:cNvPr name="Group 45" id="45"/>
          <p:cNvGrpSpPr/>
          <p:nvPr/>
        </p:nvGrpSpPr>
        <p:grpSpPr>
          <a:xfrm rot="0">
            <a:off x="4961925" y="5003102"/>
            <a:ext cx="3995052" cy="1524238"/>
            <a:chOff x="0" y="0"/>
            <a:chExt cx="5326736" cy="2032318"/>
          </a:xfrm>
        </p:grpSpPr>
        <p:sp>
          <p:nvSpPr>
            <p:cNvPr name="Freeform 46" id="46"/>
            <p:cNvSpPr/>
            <p:nvPr/>
          </p:nvSpPr>
          <p:spPr>
            <a:xfrm flipH="false" flipV="false" rot="0">
              <a:off x="0" y="0"/>
              <a:ext cx="5326761" cy="2032381"/>
            </a:xfrm>
            <a:custGeom>
              <a:avLst/>
              <a:gdLst/>
              <a:ahLst/>
              <a:cxnLst/>
              <a:rect r="r" b="b" t="t" l="l"/>
              <a:pathLst>
                <a:path h="2032381" w="5326761">
                  <a:moveTo>
                    <a:pt x="0" y="147828"/>
                  </a:moveTo>
                  <a:cubicBezTo>
                    <a:pt x="0" y="66167"/>
                    <a:pt x="66167" y="0"/>
                    <a:pt x="147828" y="0"/>
                  </a:cubicBezTo>
                  <a:lnTo>
                    <a:pt x="5178933" y="0"/>
                  </a:lnTo>
                  <a:cubicBezTo>
                    <a:pt x="5260594" y="0"/>
                    <a:pt x="5326761" y="66167"/>
                    <a:pt x="5326761" y="147828"/>
                  </a:cubicBezTo>
                  <a:lnTo>
                    <a:pt x="5326761" y="1884553"/>
                  </a:lnTo>
                  <a:cubicBezTo>
                    <a:pt x="5326761" y="1966214"/>
                    <a:pt x="5260594" y="2032381"/>
                    <a:pt x="5178933" y="2032381"/>
                  </a:cubicBezTo>
                  <a:lnTo>
                    <a:pt x="147828" y="2032381"/>
                  </a:lnTo>
                  <a:cubicBezTo>
                    <a:pt x="66167" y="2032381"/>
                    <a:pt x="0" y="1966087"/>
                    <a:pt x="0" y="1884553"/>
                  </a:cubicBezTo>
                  <a:close/>
                </a:path>
              </a:pathLst>
            </a:custGeom>
            <a:solidFill>
              <a:srgbClr val="F2F5F8"/>
            </a:solidFill>
            <a:ln w="14299" cap="sq">
              <a:solidFill>
                <a:srgbClr val="D9D9D9"/>
              </a:solidFill>
              <a:prstDash val="solid"/>
              <a:miter/>
            </a:ln>
          </p:spPr>
        </p:sp>
      </p:grpSp>
      <p:grpSp>
        <p:nvGrpSpPr>
          <p:cNvPr name="Group 47" id="47"/>
          <p:cNvGrpSpPr/>
          <p:nvPr/>
        </p:nvGrpSpPr>
        <p:grpSpPr>
          <a:xfrm rot="0">
            <a:off x="4969078" y="5010255"/>
            <a:ext cx="3980755" cy="1509941"/>
            <a:chOff x="0" y="0"/>
            <a:chExt cx="5307673" cy="2013255"/>
          </a:xfrm>
        </p:grpSpPr>
        <p:sp>
          <p:nvSpPr>
            <p:cNvPr name="Freeform 48" id="48"/>
            <p:cNvSpPr/>
            <p:nvPr/>
          </p:nvSpPr>
          <p:spPr>
            <a:xfrm flipH="false" flipV="false" rot="0">
              <a:off x="0" y="0"/>
              <a:ext cx="5307667" cy="2013253"/>
            </a:xfrm>
            <a:custGeom>
              <a:avLst/>
              <a:gdLst/>
              <a:ahLst/>
              <a:cxnLst/>
              <a:rect r="r" b="b" t="t" l="l"/>
              <a:pathLst>
                <a:path h="2013253" w="5307667">
                  <a:moveTo>
                    <a:pt x="0" y="0"/>
                  </a:moveTo>
                  <a:lnTo>
                    <a:pt x="5307667" y="0"/>
                  </a:lnTo>
                  <a:lnTo>
                    <a:pt x="5307667" y="2013253"/>
                  </a:lnTo>
                  <a:lnTo>
                    <a:pt x="0" y="2013253"/>
                  </a:lnTo>
                  <a:close/>
                </a:path>
              </a:pathLst>
            </a:custGeom>
            <a:blipFill>
              <a:blip r:embed="rId4">
                <a:alphaModFix amt="0"/>
              </a:blip>
              <a:stretch>
                <a:fillRect l="0" t="-1369" r="0" b="-1369"/>
              </a:stretch>
            </a:blipFill>
          </p:spPr>
        </p:sp>
        <p:sp>
          <p:nvSpPr>
            <p:cNvPr name="TextBox 49" id="49"/>
            <p:cNvSpPr txBox="true"/>
            <p:nvPr/>
          </p:nvSpPr>
          <p:spPr>
            <a:xfrm>
              <a:off x="0" y="-9525"/>
              <a:ext cx="5307673" cy="2022780"/>
            </a:xfrm>
            <a:prstGeom prst="rect">
              <a:avLst/>
            </a:prstGeom>
          </p:spPr>
          <p:txBody>
            <a:bodyPr anchor="ctr" rtlCol="false" tIns="0" lIns="0" bIns="0" rIns="0"/>
            <a:lstStyle/>
            <a:p>
              <a:pPr algn="ctr">
                <a:lnSpc>
                  <a:spcPts val="2341"/>
                </a:lnSpc>
              </a:pPr>
              <a:r>
                <a:rPr lang="en-US" sz="1951" b="true">
                  <a:solidFill>
                    <a:srgbClr val="1F4E79"/>
                  </a:solidFill>
                  <a:latin typeface="Cabin Bold"/>
                  <a:ea typeface="Cabin Bold"/>
                  <a:cs typeface="Cabin Bold"/>
                  <a:sym typeface="Cabin Bold"/>
                </a:rPr>
                <a:t>Aggregation</a:t>
              </a:r>
            </a:p>
          </p:txBody>
        </p:sp>
      </p:grpSp>
      <p:grpSp>
        <p:nvGrpSpPr>
          <p:cNvPr name="Group 50" id="50"/>
          <p:cNvGrpSpPr/>
          <p:nvPr/>
        </p:nvGrpSpPr>
        <p:grpSpPr>
          <a:xfrm rot="0">
            <a:off x="9244660" y="5003102"/>
            <a:ext cx="3995052" cy="1524238"/>
            <a:chOff x="0" y="0"/>
            <a:chExt cx="5326736" cy="2032318"/>
          </a:xfrm>
        </p:grpSpPr>
        <p:sp>
          <p:nvSpPr>
            <p:cNvPr name="Freeform 51" id="51"/>
            <p:cNvSpPr/>
            <p:nvPr/>
          </p:nvSpPr>
          <p:spPr>
            <a:xfrm flipH="false" flipV="false" rot="0">
              <a:off x="0" y="0"/>
              <a:ext cx="5326761" cy="2032381"/>
            </a:xfrm>
            <a:custGeom>
              <a:avLst/>
              <a:gdLst/>
              <a:ahLst/>
              <a:cxnLst/>
              <a:rect r="r" b="b" t="t" l="l"/>
              <a:pathLst>
                <a:path h="2032381" w="5326761">
                  <a:moveTo>
                    <a:pt x="0" y="147828"/>
                  </a:moveTo>
                  <a:cubicBezTo>
                    <a:pt x="0" y="66167"/>
                    <a:pt x="66167" y="0"/>
                    <a:pt x="147828" y="0"/>
                  </a:cubicBezTo>
                  <a:lnTo>
                    <a:pt x="5178933" y="0"/>
                  </a:lnTo>
                  <a:cubicBezTo>
                    <a:pt x="5260594" y="0"/>
                    <a:pt x="5326761" y="66167"/>
                    <a:pt x="5326761" y="147828"/>
                  </a:cubicBezTo>
                  <a:lnTo>
                    <a:pt x="5326761" y="1884553"/>
                  </a:lnTo>
                  <a:cubicBezTo>
                    <a:pt x="5326761" y="1966214"/>
                    <a:pt x="5260594" y="2032381"/>
                    <a:pt x="5178933" y="2032381"/>
                  </a:cubicBezTo>
                  <a:lnTo>
                    <a:pt x="147828" y="2032381"/>
                  </a:lnTo>
                  <a:cubicBezTo>
                    <a:pt x="66167" y="2032381"/>
                    <a:pt x="0" y="1966087"/>
                    <a:pt x="0" y="1884553"/>
                  </a:cubicBezTo>
                  <a:close/>
                </a:path>
              </a:pathLst>
            </a:custGeom>
            <a:solidFill>
              <a:srgbClr val="F2F5F8"/>
            </a:solidFill>
            <a:ln w="14299" cap="sq">
              <a:solidFill>
                <a:srgbClr val="D9D9D9"/>
              </a:solidFill>
              <a:prstDash val="solid"/>
              <a:miter/>
            </a:ln>
          </p:spPr>
        </p:sp>
      </p:grpSp>
      <p:grpSp>
        <p:nvGrpSpPr>
          <p:cNvPr name="Group 52" id="52"/>
          <p:cNvGrpSpPr/>
          <p:nvPr/>
        </p:nvGrpSpPr>
        <p:grpSpPr>
          <a:xfrm rot="0">
            <a:off x="9251813" y="5010255"/>
            <a:ext cx="3980755" cy="1509941"/>
            <a:chOff x="0" y="0"/>
            <a:chExt cx="5307673" cy="2013255"/>
          </a:xfrm>
        </p:grpSpPr>
        <p:sp>
          <p:nvSpPr>
            <p:cNvPr name="Freeform 53" id="53"/>
            <p:cNvSpPr/>
            <p:nvPr/>
          </p:nvSpPr>
          <p:spPr>
            <a:xfrm flipH="false" flipV="false" rot="0">
              <a:off x="0" y="0"/>
              <a:ext cx="5307667" cy="2013253"/>
            </a:xfrm>
            <a:custGeom>
              <a:avLst/>
              <a:gdLst/>
              <a:ahLst/>
              <a:cxnLst/>
              <a:rect r="r" b="b" t="t" l="l"/>
              <a:pathLst>
                <a:path h="2013253" w="5307667">
                  <a:moveTo>
                    <a:pt x="0" y="0"/>
                  </a:moveTo>
                  <a:lnTo>
                    <a:pt x="5307667" y="0"/>
                  </a:lnTo>
                  <a:lnTo>
                    <a:pt x="5307667" y="2013253"/>
                  </a:lnTo>
                  <a:lnTo>
                    <a:pt x="0" y="2013253"/>
                  </a:lnTo>
                  <a:close/>
                </a:path>
              </a:pathLst>
            </a:custGeom>
            <a:blipFill>
              <a:blip r:embed="rId4">
                <a:alphaModFix amt="0"/>
              </a:blip>
              <a:stretch>
                <a:fillRect l="0" t="-1369" r="0" b="-1369"/>
              </a:stretch>
            </a:blipFill>
          </p:spPr>
        </p:sp>
        <p:sp>
          <p:nvSpPr>
            <p:cNvPr name="TextBox 54" id="54"/>
            <p:cNvSpPr txBox="true"/>
            <p:nvPr/>
          </p:nvSpPr>
          <p:spPr>
            <a:xfrm>
              <a:off x="0" y="-9525"/>
              <a:ext cx="5307673" cy="2022780"/>
            </a:xfrm>
            <a:prstGeom prst="rect">
              <a:avLst/>
            </a:prstGeom>
          </p:spPr>
          <p:txBody>
            <a:bodyPr anchor="ctr" rtlCol="false" tIns="0" lIns="0" bIns="0" rIns="0"/>
            <a:lstStyle/>
            <a:p>
              <a:pPr algn="ctr">
                <a:lnSpc>
                  <a:spcPts val="2341"/>
                </a:lnSpc>
              </a:pPr>
              <a:r>
                <a:rPr lang="en-US" sz="1951" b="true">
                  <a:solidFill>
                    <a:srgbClr val="1F4E79"/>
                  </a:solidFill>
                  <a:latin typeface="Cabin Bold"/>
                  <a:ea typeface="Cabin Bold"/>
                  <a:cs typeface="Cabin Bold"/>
                  <a:sym typeface="Cabin Bold"/>
                </a:rPr>
                <a:t>Join</a:t>
              </a:r>
            </a:p>
          </p:txBody>
        </p:sp>
      </p:grpSp>
      <p:grpSp>
        <p:nvGrpSpPr>
          <p:cNvPr name="Group 55" id="55"/>
          <p:cNvGrpSpPr/>
          <p:nvPr/>
        </p:nvGrpSpPr>
        <p:grpSpPr>
          <a:xfrm rot="0">
            <a:off x="13527405" y="5003102"/>
            <a:ext cx="3995052" cy="1524238"/>
            <a:chOff x="0" y="0"/>
            <a:chExt cx="5326736" cy="2032318"/>
          </a:xfrm>
        </p:grpSpPr>
        <p:sp>
          <p:nvSpPr>
            <p:cNvPr name="Freeform 56" id="56"/>
            <p:cNvSpPr/>
            <p:nvPr/>
          </p:nvSpPr>
          <p:spPr>
            <a:xfrm flipH="false" flipV="false" rot="0">
              <a:off x="0" y="0"/>
              <a:ext cx="5326761" cy="2032381"/>
            </a:xfrm>
            <a:custGeom>
              <a:avLst/>
              <a:gdLst/>
              <a:ahLst/>
              <a:cxnLst/>
              <a:rect r="r" b="b" t="t" l="l"/>
              <a:pathLst>
                <a:path h="2032381" w="5326761">
                  <a:moveTo>
                    <a:pt x="0" y="147828"/>
                  </a:moveTo>
                  <a:cubicBezTo>
                    <a:pt x="0" y="66167"/>
                    <a:pt x="66167" y="0"/>
                    <a:pt x="147828" y="0"/>
                  </a:cubicBezTo>
                  <a:lnTo>
                    <a:pt x="5178933" y="0"/>
                  </a:lnTo>
                  <a:cubicBezTo>
                    <a:pt x="5260594" y="0"/>
                    <a:pt x="5326761" y="66167"/>
                    <a:pt x="5326761" y="147828"/>
                  </a:cubicBezTo>
                  <a:lnTo>
                    <a:pt x="5326761" y="1884553"/>
                  </a:lnTo>
                  <a:cubicBezTo>
                    <a:pt x="5326761" y="1966214"/>
                    <a:pt x="5260594" y="2032381"/>
                    <a:pt x="5178933" y="2032381"/>
                  </a:cubicBezTo>
                  <a:lnTo>
                    <a:pt x="147828" y="2032381"/>
                  </a:lnTo>
                  <a:cubicBezTo>
                    <a:pt x="66167" y="2032381"/>
                    <a:pt x="0" y="1966087"/>
                    <a:pt x="0" y="1884553"/>
                  </a:cubicBezTo>
                  <a:close/>
                </a:path>
              </a:pathLst>
            </a:custGeom>
            <a:solidFill>
              <a:srgbClr val="F2F5F8"/>
            </a:solidFill>
            <a:ln w="14299" cap="sq">
              <a:solidFill>
                <a:srgbClr val="D9D9D9"/>
              </a:solidFill>
              <a:prstDash val="solid"/>
              <a:miter/>
            </a:ln>
          </p:spPr>
        </p:sp>
      </p:grpSp>
      <p:grpSp>
        <p:nvGrpSpPr>
          <p:cNvPr name="Group 57" id="57"/>
          <p:cNvGrpSpPr/>
          <p:nvPr/>
        </p:nvGrpSpPr>
        <p:grpSpPr>
          <a:xfrm rot="0">
            <a:off x="13534549" y="5010255"/>
            <a:ext cx="3980755" cy="1509941"/>
            <a:chOff x="0" y="0"/>
            <a:chExt cx="5307673" cy="2013255"/>
          </a:xfrm>
        </p:grpSpPr>
        <p:sp>
          <p:nvSpPr>
            <p:cNvPr name="Freeform 58" id="58"/>
            <p:cNvSpPr/>
            <p:nvPr/>
          </p:nvSpPr>
          <p:spPr>
            <a:xfrm flipH="false" flipV="false" rot="0">
              <a:off x="0" y="0"/>
              <a:ext cx="5307667" cy="2013253"/>
            </a:xfrm>
            <a:custGeom>
              <a:avLst/>
              <a:gdLst/>
              <a:ahLst/>
              <a:cxnLst/>
              <a:rect r="r" b="b" t="t" l="l"/>
              <a:pathLst>
                <a:path h="2013253" w="5307667">
                  <a:moveTo>
                    <a:pt x="0" y="0"/>
                  </a:moveTo>
                  <a:lnTo>
                    <a:pt x="5307667" y="0"/>
                  </a:lnTo>
                  <a:lnTo>
                    <a:pt x="5307667" y="2013253"/>
                  </a:lnTo>
                  <a:lnTo>
                    <a:pt x="0" y="2013253"/>
                  </a:lnTo>
                  <a:close/>
                </a:path>
              </a:pathLst>
            </a:custGeom>
            <a:blipFill>
              <a:blip r:embed="rId4">
                <a:alphaModFix amt="0"/>
              </a:blip>
              <a:stretch>
                <a:fillRect l="0" t="-1369" r="0" b="-1369"/>
              </a:stretch>
            </a:blipFill>
          </p:spPr>
        </p:sp>
        <p:sp>
          <p:nvSpPr>
            <p:cNvPr name="TextBox 59" id="59"/>
            <p:cNvSpPr txBox="true"/>
            <p:nvPr/>
          </p:nvSpPr>
          <p:spPr>
            <a:xfrm>
              <a:off x="0" y="-9525"/>
              <a:ext cx="5307673" cy="2022780"/>
            </a:xfrm>
            <a:prstGeom prst="rect">
              <a:avLst/>
            </a:prstGeom>
          </p:spPr>
          <p:txBody>
            <a:bodyPr anchor="ctr" rtlCol="false" tIns="0" lIns="0" bIns="0" rIns="0"/>
            <a:lstStyle/>
            <a:p>
              <a:pPr algn="ctr">
                <a:lnSpc>
                  <a:spcPts val="2341"/>
                </a:lnSpc>
              </a:pPr>
              <a:r>
                <a:rPr lang="en-US" sz="1951" b="true">
                  <a:solidFill>
                    <a:srgbClr val="1F4E79"/>
                  </a:solidFill>
                  <a:latin typeface="Cabin Bold"/>
                  <a:ea typeface="Cabin Bold"/>
                  <a:cs typeface="Cabin Bold"/>
                  <a:sym typeface="Cabin Bold"/>
                </a:rPr>
                <a:t>SQL</a:t>
              </a:r>
            </a:p>
          </p:txBody>
        </p:sp>
      </p:grpSp>
      <p:grpSp>
        <p:nvGrpSpPr>
          <p:cNvPr name="Group 60" id="60"/>
          <p:cNvGrpSpPr/>
          <p:nvPr/>
        </p:nvGrpSpPr>
        <p:grpSpPr>
          <a:xfrm rot="0">
            <a:off x="0" y="9677343"/>
            <a:ext cx="18301840" cy="617706"/>
            <a:chOff x="0" y="0"/>
            <a:chExt cx="24402453" cy="823608"/>
          </a:xfrm>
        </p:grpSpPr>
        <p:sp>
          <p:nvSpPr>
            <p:cNvPr name="Freeform 61" id="61"/>
            <p:cNvSpPr/>
            <p:nvPr/>
          </p:nvSpPr>
          <p:spPr>
            <a:xfrm flipH="false" flipV="false" rot="0">
              <a:off x="0" y="0"/>
              <a:ext cx="24402414" cy="823595"/>
            </a:xfrm>
            <a:custGeom>
              <a:avLst/>
              <a:gdLst/>
              <a:ahLst/>
              <a:cxnLst/>
              <a:rect r="r" b="b" t="t" l="l"/>
              <a:pathLst>
                <a:path h="823595" w="24402414">
                  <a:moveTo>
                    <a:pt x="0" y="0"/>
                  </a:moveTo>
                  <a:lnTo>
                    <a:pt x="24402414" y="0"/>
                  </a:lnTo>
                  <a:lnTo>
                    <a:pt x="24402414" y="823595"/>
                  </a:lnTo>
                  <a:lnTo>
                    <a:pt x="0" y="823595"/>
                  </a:lnTo>
                  <a:close/>
                </a:path>
              </a:pathLst>
            </a:custGeom>
            <a:solidFill>
              <a:srgbClr val="1F4E79"/>
            </a:solidFill>
          </p:spPr>
        </p:sp>
      </p:grpSp>
      <p:grpSp>
        <p:nvGrpSpPr>
          <p:cNvPr name="Group 62" id="62"/>
          <p:cNvGrpSpPr/>
          <p:nvPr/>
        </p:nvGrpSpPr>
        <p:grpSpPr>
          <a:xfrm rot="0">
            <a:off x="480431" y="9677343"/>
            <a:ext cx="10981382" cy="617706"/>
            <a:chOff x="0" y="0"/>
            <a:chExt cx="14641843" cy="823608"/>
          </a:xfrm>
        </p:grpSpPr>
        <p:sp>
          <p:nvSpPr>
            <p:cNvPr name="Freeform 63" id="63"/>
            <p:cNvSpPr/>
            <p:nvPr/>
          </p:nvSpPr>
          <p:spPr>
            <a:xfrm flipH="false" flipV="false" rot="0">
              <a:off x="0" y="0"/>
              <a:ext cx="14641840" cy="823603"/>
            </a:xfrm>
            <a:custGeom>
              <a:avLst/>
              <a:gdLst/>
              <a:ahLst/>
              <a:cxnLst/>
              <a:rect r="r" b="b" t="t" l="l"/>
              <a:pathLst>
                <a:path h="823603" w="14641840">
                  <a:moveTo>
                    <a:pt x="0" y="0"/>
                  </a:moveTo>
                  <a:lnTo>
                    <a:pt x="14641840" y="0"/>
                  </a:lnTo>
                  <a:lnTo>
                    <a:pt x="14641840" y="823603"/>
                  </a:lnTo>
                  <a:lnTo>
                    <a:pt x="0" y="823603"/>
                  </a:lnTo>
                  <a:close/>
                </a:path>
              </a:pathLst>
            </a:custGeom>
            <a:blipFill>
              <a:blip r:embed="rId4">
                <a:alphaModFix amt="0"/>
              </a:blip>
              <a:stretch>
                <a:fillRect l="0" t="-296400" r="0" b="-296401"/>
              </a:stretch>
            </a:blipFill>
          </p:spPr>
        </p:sp>
        <p:sp>
          <p:nvSpPr>
            <p:cNvPr name="TextBox 64" id="64"/>
            <p:cNvSpPr txBox="true"/>
            <p:nvPr/>
          </p:nvSpPr>
          <p:spPr>
            <a:xfrm>
              <a:off x="0" y="0"/>
              <a:ext cx="14641843" cy="823608"/>
            </a:xfrm>
            <a:prstGeom prst="rect">
              <a:avLst/>
            </a:prstGeom>
          </p:spPr>
          <p:txBody>
            <a:bodyPr anchor="ctr" rtlCol="false" tIns="0" lIns="0" bIns="0" rIns="0"/>
            <a:lstStyle/>
            <a:p>
              <a:pPr algn="l">
                <a:lnSpc>
                  <a:spcPts val="1621"/>
                </a:lnSpc>
              </a:pPr>
              <a:r>
                <a:rPr lang="en-US" sz="1351">
                  <a:solidFill>
                    <a:srgbClr val="FFFFFF"/>
                  </a:solidFill>
                  <a:latin typeface="Cabin"/>
                  <a:ea typeface="Cabin"/>
                  <a:cs typeface="Cabin"/>
                  <a:sym typeface="Cabin"/>
                </a:rPr>
                <a:t>VNU UET – Institute for Artificial Intelligence</a:t>
              </a:r>
            </a:p>
          </p:txBody>
        </p:sp>
      </p:grpSp>
      <p:grpSp>
        <p:nvGrpSpPr>
          <p:cNvPr name="Group 65" id="65"/>
          <p:cNvGrpSpPr/>
          <p:nvPr/>
        </p:nvGrpSpPr>
        <p:grpSpPr>
          <a:xfrm rot="0">
            <a:off x="17066438" y="9677343"/>
            <a:ext cx="823608" cy="617706"/>
            <a:chOff x="0" y="0"/>
            <a:chExt cx="1098144" cy="823608"/>
          </a:xfrm>
        </p:grpSpPr>
        <p:sp>
          <p:nvSpPr>
            <p:cNvPr name="Freeform 66" id="66"/>
            <p:cNvSpPr/>
            <p:nvPr/>
          </p:nvSpPr>
          <p:spPr>
            <a:xfrm flipH="false" flipV="false" rot="0">
              <a:off x="0" y="0"/>
              <a:ext cx="1098138" cy="823603"/>
            </a:xfrm>
            <a:custGeom>
              <a:avLst/>
              <a:gdLst/>
              <a:ahLst/>
              <a:cxnLst/>
              <a:rect r="r" b="b" t="t" l="l"/>
              <a:pathLst>
                <a:path h="823603" w="1098138">
                  <a:moveTo>
                    <a:pt x="0" y="0"/>
                  </a:moveTo>
                  <a:lnTo>
                    <a:pt x="1098138" y="0"/>
                  </a:lnTo>
                  <a:lnTo>
                    <a:pt x="1098138" y="823603"/>
                  </a:lnTo>
                  <a:lnTo>
                    <a:pt x="0" y="823603"/>
                  </a:lnTo>
                  <a:close/>
                </a:path>
              </a:pathLst>
            </a:custGeom>
            <a:blipFill>
              <a:blip r:embed="rId4">
                <a:alphaModFix amt="0"/>
              </a:blip>
              <a:stretch>
                <a:fillRect l="-46227" t="0" r="-46228" b="0"/>
              </a:stretch>
            </a:blipFill>
          </p:spPr>
        </p:sp>
        <p:sp>
          <p:nvSpPr>
            <p:cNvPr name="TextBox 67" id="67"/>
            <p:cNvSpPr txBox="true"/>
            <p:nvPr/>
          </p:nvSpPr>
          <p:spPr>
            <a:xfrm>
              <a:off x="0" y="0"/>
              <a:ext cx="1098144" cy="823608"/>
            </a:xfrm>
            <a:prstGeom prst="rect">
              <a:avLst/>
            </a:prstGeom>
          </p:spPr>
          <p:txBody>
            <a:bodyPr anchor="ctr" rtlCol="false" tIns="0" lIns="0" bIns="0" rIns="0"/>
            <a:lstStyle/>
            <a:p>
              <a:pPr algn="r">
                <a:lnSpc>
                  <a:spcPts val="1621"/>
                </a:lnSpc>
              </a:pPr>
              <a:r>
                <a:rPr lang="en-US" sz="1351">
                  <a:solidFill>
                    <a:srgbClr val="FFFFFF"/>
                  </a:solidFill>
                  <a:latin typeface="Cabin"/>
                  <a:ea typeface="Cabin"/>
                  <a:cs typeface="Cabin"/>
                  <a:sym typeface="Cabin"/>
                </a:rPr>
                <a:t>24</a:t>
              </a:r>
            </a:p>
          </p:txBody>
        </p:sp>
      </p:grpSp>
      <p:grpSp>
        <p:nvGrpSpPr>
          <p:cNvPr name="Group 68" id="68"/>
          <p:cNvGrpSpPr/>
          <p:nvPr/>
        </p:nvGrpSpPr>
        <p:grpSpPr>
          <a:xfrm rot="0">
            <a:off x="0" y="0"/>
            <a:ext cx="18288000" cy="315468"/>
            <a:chOff x="0" y="0"/>
            <a:chExt cx="24384000" cy="420624"/>
          </a:xfrm>
        </p:grpSpPr>
        <p:sp>
          <p:nvSpPr>
            <p:cNvPr name="Freeform 69" id="69"/>
            <p:cNvSpPr/>
            <p:nvPr/>
          </p:nvSpPr>
          <p:spPr>
            <a:xfrm flipH="false" flipV="false" rot="0">
              <a:off x="0" y="0"/>
              <a:ext cx="24384000" cy="420624"/>
            </a:xfrm>
            <a:custGeom>
              <a:avLst/>
              <a:gdLst/>
              <a:ahLst/>
              <a:cxnLst/>
              <a:rect r="r" b="b" t="t" l="l"/>
              <a:pathLst>
                <a:path h="420624" w="24384000">
                  <a:moveTo>
                    <a:pt x="0" y="0"/>
                  </a:moveTo>
                  <a:lnTo>
                    <a:pt x="24384000" y="0"/>
                  </a:lnTo>
                  <a:lnTo>
                    <a:pt x="24384000" y="420624"/>
                  </a:lnTo>
                  <a:lnTo>
                    <a:pt x="0" y="420624"/>
                  </a:lnTo>
                  <a:close/>
                </a:path>
              </a:pathLst>
            </a:custGeom>
            <a:solidFill>
              <a:srgbClr val="0F3F6F"/>
            </a:solidFill>
          </p:spPr>
        </p:sp>
      </p:grpSp>
      <p:grpSp>
        <p:nvGrpSpPr>
          <p:cNvPr name="Group 70" id="70"/>
          <p:cNvGrpSpPr/>
          <p:nvPr/>
        </p:nvGrpSpPr>
        <p:grpSpPr>
          <a:xfrm rot="0">
            <a:off x="13098780" y="0"/>
            <a:ext cx="1453896" cy="1508760"/>
            <a:chOff x="0" y="0"/>
            <a:chExt cx="1938528" cy="2011680"/>
          </a:xfrm>
        </p:grpSpPr>
        <p:sp>
          <p:nvSpPr>
            <p:cNvPr name="Freeform 71" id="71"/>
            <p:cNvSpPr/>
            <p:nvPr/>
          </p:nvSpPr>
          <p:spPr>
            <a:xfrm flipH="false" flipV="false" rot="0">
              <a:off x="0" y="0"/>
              <a:ext cx="1938528" cy="2011680"/>
            </a:xfrm>
            <a:custGeom>
              <a:avLst/>
              <a:gdLst/>
              <a:ahLst/>
              <a:cxnLst/>
              <a:rect r="r" b="b" t="t" l="l"/>
              <a:pathLst>
                <a:path h="2011680" w="1938528">
                  <a:moveTo>
                    <a:pt x="0" y="2011680"/>
                  </a:moveTo>
                  <a:lnTo>
                    <a:pt x="484632" y="0"/>
                  </a:lnTo>
                  <a:lnTo>
                    <a:pt x="1938528" y="0"/>
                  </a:lnTo>
                  <a:lnTo>
                    <a:pt x="1453896" y="2011680"/>
                  </a:lnTo>
                  <a:close/>
                </a:path>
              </a:pathLst>
            </a:custGeom>
            <a:solidFill>
              <a:srgbClr val="85B518"/>
            </a:solidFill>
          </p:spPr>
        </p:sp>
      </p:grpSp>
      <p:grpSp>
        <p:nvGrpSpPr>
          <p:cNvPr name="Group 72" id="72"/>
          <p:cNvGrpSpPr/>
          <p:nvPr/>
        </p:nvGrpSpPr>
        <p:grpSpPr>
          <a:xfrm rot="0">
            <a:off x="14621256" y="0"/>
            <a:ext cx="1508760" cy="1508760"/>
            <a:chOff x="0" y="0"/>
            <a:chExt cx="2011680" cy="2011680"/>
          </a:xfrm>
        </p:grpSpPr>
        <p:sp>
          <p:nvSpPr>
            <p:cNvPr name="Freeform 73" id="73"/>
            <p:cNvSpPr/>
            <p:nvPr/>
          </p:nvSpPr>
          <p:spPr>
            <a:xfrm flipH="false" flipV="false" rot="0">
              <a:off x="0" y="0"/>
              <a:ext cx="2011680" cy="2011680"/>
            </a:xfrm>
            <a:custGeom>
              <a:avLst/>
              <a:gdLst/>
              <a:ahLst/>
              <a:cxnLst/>
              <a:rect r="r" b="b" t="t" l="l"/>
              <a:pathLst>
                <a:path h="2011680" w="2011680">
                  <a:moveTo>
                    <a:pt x="0" y="2011680"/>
                  </a:moveTo>
                  <a:lnTo>
                    <a:pt x="502920" y="0"/>
                  </a:lnTo>
                  <a:lnTo>
                    <a:pt x="2011680" y="0"/>
                  </a:lnTo>
                  <a:lnTo>
                    <a:pt x="1508760" y="2011680"/>
                  </a:lnTo>
                  <a:close/>
                </a:path>
              </a:pathLst>
            </a:custGeom>
            <a:solidFill>
              <a:srgbClr val="0F3F6F"/>
            </a:solidFill>
          </p:spPr>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97801" y="384353"/>
            <a:ext cx="851059" cy="851059"/>
            <a:chOff x="0" y="0"/>
            <a:chExt cx="1134745" cy="1134745"/>
          </a:xfrm>
        </p:grpSpPr>
        <p:sp>
          <p:nvSpPr>
            <p:cNvPr name="Freeform 3" id="3" descr="/home/claude/work/assets/logo.png"/>
            <p:cNvSpPr/>
            <p:nvPr/>
          </p:nvSpPr>
          <p:spPr>
            <a:xfrm flipH="false" flipV="false" rot="0">
              <a:off x="0" y="0"/>
              <a:ext cx="1134745" cy="1134745"/>
            </a:xfrm>
            <a:custGeom>
              <a:avLst/>
              <a:gdLst/>
              <a:ahLst/>
              <a:cxnLst/>
              <a:rect r="r" b="b" t="t" l="l"/>
              <a:pathLst>
                <a:path h="1134745" w="1134745">
                  <a:moveTo>
                    <a:pt x="0" y="0"/>
                  </a:moveTo>
                  <a:lnTo>
                    <a:pt x="1134745" y="0"/>
                  </a:lnTo>
                  <a:lnTo>
                    <a:pt x="1134745" y="1134745"/>
                  </a:lnTo>
                  <a:lnTo>
                    <a:pt x="0" y="1134745"/>
                  </a:lnTo>
                  <a:lnTo>
                    <a:pt x="0" y="0"/>
                  </a:lnTo>
                  <a:close/>
                </a:path>
              </a:pathLst>
            </a:custGeom>
            <a:blipFill>
              <a:blip r:embed="rId3"/>
              <a:stretch>
                <a:fillRect l="0" t="0" r="0" b="0"/>
              </a:stretch>
            </a:blipFill>
          </p:spPr>
        </p:sp>
      </p:grpSp>
      <p:grpSp>
        <p:nvGrpSpPr>
          <p:cNvPr name="Group 4" id="4"/>
          <p:cNvGrpSpPr/>
          <p:nvPr/>
        </p:nvGrpSpPr>
        <p:grpSpPr>
          <a:xfrm rot="0">
            <a:off x="5682729" y="1718439"/>
            <a:ext cx="6555934" cy="6555934"/>
            <a:chOff x="0" y="0"/>
            <a:chExt cx="6954876" cy="6954876"/>
          </a:xfrm>
        </p:grpSpPr>
        <p:sp>
          <p:nvSpPr>
            <p:cNvPr name="Freeform 5" id="5"/>
            <p:cNvSpPr/>
            <p:nvPr/>
          </p:nvSpPr>
          <p:spPr>
            <a:xfrm flipH="false" flipV="false" rot="0">
              <a:off x="0" y="0"/>
              <a:ext cx="6954901" cy="6954901"/>
            </a:xfrm>
            <a:custGeom>
              <a:avLst/>
              <a:gdLst/>
              <a:ahLst/>
              <a:cxnLst/>
              <a:rect r="r" b="b" t="t" l="l"/>
              <a:pathLst>
                <a:path h="6954901" w="6954901">
                  <a:moveTo>
                    <a:pt x="0" y="3477387"/>
                  </a:moveTo>
                  <a:cubicBezTo>
                    <a:pt x="0" y="1556893"/>
                    <a:pt x="1556893" y="0"/>
                    <a:pt x="3477387" y="0"/>
                  </a:cubicBezTo>
                  <a:cubicBezTo>
                    <a:pt x="5397881" y="0"/>
                    <a:pt x="6954901" y="1556893"/>
                    <a:pt x="6954901" y="3477387"/>
                  </a:cubicBezTo>
                  <a:cubicBezTo>
                    <a:pt x="6954901" y="5397881"/>
                    <a:pt x="5398008" y="6954901"/>
                    <a:pt x="3477387" y="6954901"/>
                  </a:cubicBezTo>
                  <a:cubicBezTo>
                    <a:pt x="1556766" y="6954901"/>
                    <a:pt x="0" y="5398008"/>
                    <a:pt x="0" y="3477387"/>
                  </a:cubicBezTo>
                  <a:close/>
                </a:path>
              </a:pathLst>
            </a:custGeom>
            <a:solidFill>
              <a:srgbClr val="1F4E79"/>
            </a:solidFill>
          </p:spPr>
        </p:sp>
      </p:grpSp>
      <p:grpSp>
        <p:nvGrpSpPr>
          <p:cNvPr name="Group 6" id="6"/>
          <p:cNvGrpSpPr/>
          <p:nvPr/>
        </p:nvGrpSpPr>
        <p:grpSpPr>
          <a:xfrm rot="0">
            <a:off x="5682729" y="2443038"/>
            <a:ext cx="6555934" cy="517576"/>
            <a:chOff x="0" y="0"/>
            <a:chExt cx="6954876" cy="549072"/>
          </a:xfrm>
        </p:grpSpPr>
        <p:sp>
          <p:nvSpPr>
            <p:cNvPr name="Freeform 7" id="7"/>
            <p:cNvSpPr/>
            <p:nvPr/>
          </p:nvSpPr>
          <p:spPr>
            <a:xfrm flipH="false" flipV="false" rot="0">
              <a:off x="0" y="0"/>
              <a:ext cx="6954873" cy="549069"/>
            </a:xfrm>
            <a:custGeom>
              <a:avLst/>
              <a:gdLst/>
              <a:ahLst/>
              <a:cxnLst/>
              <a:rect r="r" b="b" t="t" l="l"/>
              <a:pathLst>
                <a:path h="549069" w="6954873">
                  <a:moveTo>
                    <a:pt x="0" y="0"/>
                  </a:moveTo>
                  <a:lnTo>
                    <a:pt x="6954873" y="0"/>
                  </a:lnTo>
                  <a:lnTo>
                    <a:pt x="6954873" y="549069"/>
                  </a:lnTo>
                  <a:lnTo>
                    <a:pt x="0" y="549069"/>
                  </a:lnTo>
                  <a:close/>
                </a:path>
              </a:pathLst>
            </a:custGeom>
            <a:blipFill>
              <a:blip r:embed="rId4">
                <a:alphaModFix amt="0"/>
              </a:blip>
              <a:stretch>
                <a:fillRect l="0" t="-196810" r="0" b="-196810"/>
              </a:stretch>
            </a:blipFill>
          </p:spPr>
        </p:sp>
        <p:sp>
          <p:nvSpPr>
            <p:cNvPr name="TextBox 8" id="8"/>
            <p:cNvSpPr txBox="true"/>
            <p:nvPr/>
          </p:nvSpPr>
          <p:spPr>
            <a:xfrm>
              <a:off x="0" y="0"/>
              <a:ext cx="6954876" cy="549072"/>
            </a:xfrm>
            <a:prstGeom prst="rect">
              <a:avLst/>
            </a:prstGeom>
          </p:spPr>
          <p:txBody>
            <a:bodyPr anchor="ctr" rtlCol="false" tIns="0" lIns="0" bIns="0" rIns="0"/>
            <a:lstStyle/>
            <a:p>
              <a:pPr algn="ctr">
                <a:lnSpc>
                  <a:spcPts val="1981"/>
                </a:lnSpc>
              </a:pPr>
              <a:r>
                <a:rPr lang="en-US" sz="1651" spc="300">
                  <a:solidFill>
                    <a:srgbClr val="9FB8D4"/>
                  </a:solidFill>
                  <a:latin typeface="Cabin"/>
                  <a:ea typeface="Cabin"/>
                  <a:cs typeface="Cabin"/>
                  <a:sym typeface="Cabin"/>
                </a:rPr>
                <a:t>PHẦN TH</a:t>
              </a:r>
            </a:p>
          </p:txBody>
        </p:sp>
      </p:grpSp>
      <p:grpSp>
        <p:nvGrpSpPr>
          <p:cNvPr name="Group 9" id="9"/>
          <p:cNvGrpSpPr/>
          <p:nvPr/>
        </p:nvGrpSpPr>
        <p:grpSpPr>
          <a:xfrm rot="0">
            <a:off x="5682729" y="2891599"/>
            <a:ext cx="6555934" cy="1293929"/>
            <a:chOff x="0" y="0"/>
            <a:chExt cx="6954876" cy="1372667"/>
          </a:xfrm>
        </p:grpSpPr>
        <p:sp>
          <p:nvSpPr>
            <p:cNvPr name="Freeform 10" id="10"/>
            <p:cNvSpPr/>
            <p:nvPr/>
          </p:nvSpPr>
          <p:spPr>
            <a:xfrm flipH="false" flipV="false" rot="0">
              <a:off x="0" y="0"/>
              <a:ext cx="6954873" cy="1372672"/>
            </a:xfrm>
            <a:custGeom>
              <a:avLst/>
              <a:gdLst/>
              <a:ahLst/>
              <a:cxnLst/>
              <a:rect r="r" b="b" t="t" l="l"/>
              <a:pathLst>
                <a:path h="1372672" w="6954873">
                  <a:moveTo>
                    <a:pt x="0" y="0"/>
                  </a:moveTo>
                  <a:lnTo>
                    <a:pt x="6954873" y="0"/>
                  </a:lnTo>
                  <a:lnTo>
                    <a:pt x="6954873" y="1372672"/>
                  </a:lnTo>
                  <a:lnTo>
                    <a:pt x="0" y="1372672"/>
                  </a:lnTo>
                  <a:close/>
                </a:path>
              </a:pathLst>
            </a:custGeom>
            <a:blipFill>
              <a:blip r:embed="rId4">
                <a:alphaModFix amt="0"/>
              </a:blip>
              <a:stretch>
                <a:fillRect l="0" t="-48724" r="0" b="-48724"/>
              </a:stretch>
            </a:blipFill>
          </p:spPr>
        </p:sp>
        <p:sp>
          <p:nvSpPr>
            <p:cNvPr name="TextBox 11" id="11"/>
            <p:cNvSpPr txBox="true"/>
            <p:nvPr/>
          </p:nvSpPr>
          <p:spPr>
            <a:xfrm>
              <a:off x="0" y="-9525"/>
              <a:ext cx="6954876" cy="1382192"/>
            </a:xfrm>
            <a:prstGeom prst="rect">
              <a:avLst/>
            </a:prstGeom>
          </p:spPr>
          <p:txBody>
            <a:bodyPr anchor="ctr" rtlCol="false" tIns="0" lIns="0" bIns="0" rIns="0"/>
            <a:lstStyle/>
            <a:p>
              <a:pPr algn="ctr">
                <a:lnSpc>
                  <a:spcPts val="6124"/>
                </a:lnSpc>
              </a:pPr>
              <a:r>
                <a:rPr lang="en-US" sz="5103" b="true">
                  <a:solidFill>
                    <a:srgbClr val="FFFFFF"/>
                  </a:solidFill>
                  <a:latin typeface="TT Rounds Condensed Bold"/>
                  <a:ea typeface="TT Rounds Condensed Bold"/>
                  <a:cs typeface="TT Rounds Condensed Bold"/>
                  <a:sym typeface="TT Rounds Condensed Bold"/>
                </a:rPr>
                <a:t>TH</a:t>
              </a:r>
            </a:p>
          </p:txBody>
        </p:sp>
      </p:grpSp>
      <p:sp>
        <p:nvSpPr>
          <p:cNvPr name="TextBox 12" id="12"/>
          <p:cNvSpPr txBox="true"/>
          <p:nvPr/>
        </p:nvSpPr>
        <p:spPr>
          <a:xfrm rot="0">
            <a:off x="6056444" y="4235276"/>
            <a:ext cx="5808504" cy="1083222"/>
          </a:xfrm>
          <a:prstGeom prst="rect">
            <a:avLst/>
          </a:prstGeom>
        </p:spPr>
        <p:txBody>
          <a:bodyPr anchor="t" rtlCol="false" tIns="0" lIns="0" bIns="0" rIns="0">
            <a:spAutoFit/>
          </a:bodyPr>
          <a:lstStyle/>
          <a:p>
            <a:pPr algn="ctr">
              <a:lnSpc>
                <a:spcPts val="3396"/>
              </a:lnSpc>
            </a:pPr>
            <a:r>
              <a:rPr lang="en-US" sz="2830" b="true">
                <a:solidFill>
                  <a:srgbClr val="FFFFFF"/>
                </a:solidFill>
                <a:latin typeface="Cabin Bold"/>
                <a:ea typeface="Cabin Bold"/>
                <a:cs typeface="Cabin Bold"/>
                <a:sym typeface="Cabin Bold"/>
              </a:rPr>
              <a:t>Thực hành Bài 5</a:t>
            </a:r>
          </a:p>
        </p:txBody>
      </p:sp>
      <p:sp>
        <p:nvSpPr>
          <p:cNvPr name="TextBox 13" id="13"/>
          <p:cNvSpPr txBox="true"/>
          <p:nvPr/>
        </p:nvSpPr>
        <p:spPr>
          <a:xfrm rot="0">
            <a:off x="6142699" y="5657700"/>
            <a:ext cx="5635983" cy="1610324"/>
          </a:xfrm>
          <a:prstGeom prst="rect">
            <a:avLst/>
          </a:prstGeom>
        </p:spPr>
        <p:txBody>
          <a:bodyPr anchor="t" rtlCol="false" tIns="0" lIns="0" bIns="0" rIns="0">
            <a:spAutoFit/>
          </a:bodyPr>
          <a:lstStyle/>
          <a:p>
            <a:pPr algn="ctr">
              <a:lnSpc>
                <a:spcPts val="2150"/>
              </a:lnSpc>
            </a:pPr>
            <a:r>
              <a:rPr lang="en-US" sz="1792">
                <a:solidFill>
                  <a:srgbClr val="D7E3F0"/>
                </a:solidFill>
                <a:latin typeface="Cabin"/>
                <a:ea typeface="Cabin"/>
                <a:cs typeface="Cabin"/>
                <a:sym typeface="Cabin"/>
              </a:rPr>
              <a:t>Nối trực tiếp dataset của Bài 4 — cài đặt Spark, xử lý PySpark và Spark SQL</a:t>
            </a:r>
          </a:p>
        </p:txBody>
      </p:sp>
      <p:grpSp>
        <p:nvGrpSpPr>
          <p:cNvPr name="Group 14" id="14"/>
          <p:cNvGrpSpPr/>
          <p:nvPr/>
        </p:nvGrpSpPr>
        <p:grpSpPr>
          <a:xfrm rot="0">
            <a:off x="480431" y="9087088"/>
            <a:ext cx="1692916" cy="411804"/>
            <a:chOff x="0" y="0"/>
            <a:chExt cx="2257222" cy="549072"/>
          </a:xfrm>
        </p:grpSpPr>
        <p:sp>
          <p:nvSpPr>
            <p:cNvPr name="Freeform 15" id="15"/>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16" id="16"/>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5.1 MR→Spark</a:t>
              </a:r>
            </a:p>
          </p:txBody>
        </p:sp>
      </p:grpSp>
      <p:grpSp>
        <p:nvGrpSpPr>
          <p:cNvPr name="Group 17" id="17"/>
          <p:cNvGrpSpPr/>
          <p:nvPr/>
        </p:nvGrpSpPr>
        <p:grpSpPr>
          <a:xfrm rot="0">
            <a:off x="2214534" y="9087088"/>
            <a:ext cx="1692916" cy="411804"/>
            <a:chOff x="0" y="0"/>
            <a:chExt cx="2257222" cy="549072"/>
          </a:xfrm>
        </p:grpSpPr>
        <p:sp>
          <p:nvSpPr>
            <p:cNvPr name="Freeform 18" id="18"/>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19" id="19"/>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5.2 Spark</a:t>
              </a:r>
            </a:p>
          </p:txBody>
        </p:sp>
      </p:grpSp>
      <p:grpSp>
        <p:nvGrpSpPr>
          <p:cNvPr name="Group 20" id="20"/>
          <p:cNvGrpSpPr/>
          <p:nvPr/>
        </p:nvGrpSpPr>
        <p:grpSpPr>
          <a:xfrm rot="0">
            <a:off x="3948627" y="9087088"/>
            <a:ext cx="1692916" cy="411804"/>
            <a:chOff x="0" y="0"/>
            <a:chExt cx="2257222" cy="549072"/>
          </a:xfrm>
        </p:grpSpPr>
        <p:sp>
          <p:nvSpPr>
            <p:cNvPr name="Freeform 21" id="21"/>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22" id="22"/>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5.3 So sánh</a:t>
              </a:r>
            </a:p>
          </p:txBody>
        </p:sp>
      </p:grpSp>
      <p:grpSp>
        <p:nvGrpSpPr>
          <p:cNvPr name="Group 23" id="23"/>
          <p:cNvGrpSpPr/>
          <p:nvPr/>
        </p:nvGrpSpPr>
        <p:grpSpPr>
          <a:xfrm rot="0">
            <a:off x="5682729" y="9087088"/>
            <a:ext cx="1692916" cy="411804"/>
            <a:chOff x="0" y="0"/>
            <a:chExt cx="2257222" cy="549072"/>
          </a:xfrm>
        </p:grpSpPr>
        <p:sp>
          <p:nvSpPr>
            <p:cNvPr name="Freeform 24" id="24"/>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25" id="25"/>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5.4 Kiến trúc</a:t>
              </a:r>
            </a:p>
          </p:txBody>
        </p:sp>
      </p:grpSp>
      <p:grpSp>
        <p:nvGrpSpPr>
          <p:cNvPr name="Group 26" id="26"/>
          <p:cNvGrpSpPr/>
          <p:nvPr/>
        </p:nvGrpSpPr>
        <p:grpSpPr>
          <a:xfrm rot="0">
            <a:off x="7416822" y="9087088"/>
            <a:ext cx="1692916" cy="411804"/>
            <a:chOff x="0" y="0"/>
            <a:chExt cx="2257222" cy="549072"/>
          </a:xfrm>
        </p:grpSpPr>
        <p:sp>
          <p:nvSpPr>
            <p:cNvPr name="Freeform 27" id="27"/>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28" id="28"/>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5.5 Thực thi</a:t>
              </a:r>
            </a:p>
          </p:txBody>
        </p:sp>
      </p:grpSp>
      <p:grpSp>
        <p:nvGrpSpPr>
          <p:cNvPr name="Group 29" id="29"/>
          <p:cNvGrpSpPr/>
          <p:nvPr/>
        </p:nvGrpSpPr>
        <p:grpSpPr>
          <a:xfrm rot="0">
            <a:off x="9150925" y="9087088"/>
            <a:ext cx="1692916" cy="411804"/>
            <a:chOff x="0" y="0"/>
            <a:chExt cx="2257222" cy="549072"/>
          </a:xfrm>
        </p:grpSpPr>
        <p:sp>
          <p:nvSpPr>
            <p:cNvPr name="Freeform 30" id="30"/>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31" id="31"/>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5.6 Transform/Action</a:t>
              </a:r>
            </a:p>
          </p:txBody>
        </p:sp>
      </p:grpSp>
      <p:grpSp>
        <p:nvGrpSpPr>
          <p:cNvPr name="Group 32" id="32"/>
          <p:cNvGrpSpPr/>
          <p:nvPr/>
        </p:nvGrpSpPr>
        <p:grpSpPr>
          <a:xfrm rot="0">
            <a:off x="10885018" y="9087088"/>
            <a:ext cx="1692916" cy="411804"/>
            <a:chOff x="0" y="0"/>
            <a:chExt cx="2257222" cy="549072"/>
          </a:xfrm>
        </p:grpSpPr>
        <p:sp>
          <p:nvSpPr>
            <p:cNvPr name="Freeform 33" id="33"/>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34" id="34"/>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5.7 Partition</a:t>
              </a:r>
            </a:p>
          </p:txBody>
        </p:sp>
      </p:grpSp>
      <p:grpSp>
        <p:nvGrpSpPr>
          <p:cNvPr name="Group 35" id="35"/>
          <p:cNvGrpSpPr/>
          <p:nvPr/>
        </p:nvGrpSpPr>
        <p:grpSpPr>
          <a:xfrm rot="0">
            <a:off x="12619111" y="9087088"/>
            <a:ext cx="1692916" cy="411804"/>
            <a:chOff x="0" y="0"/>
            <a:chExt cx="2257222" cy="549072"/>
          </a:xfrm>
        </p:grpSpPr>
        <p:sp>
          <p:nvSpPr>
            <p:cNvPr name="Freeform 36" id="36"/>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37" id="37"/>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5.8 RDD/DF</a:t>
              </a:r>
            </a:p>
          </p:txBody>
        </p:sp>
      </p:grpSp>
      <p:grpSp>
        <p:nvGrpSpPr>
          <p:cNvPr name="Group 38" id="38"/>
          <p:cNvGrpSpPr/>
          <p:nvPr/>
        </p:nvGrpSpPr>
        <p:grpSpPr>
          <a:xfrm rot="0">
            <a:off x="14353213" y="9087088"/>
            <a:ext cx="1692916" cy="411804"/>
            <a:chOff x="0" y="0"/>
            <a:chExt cx="2257222" cy="549072"/>
          </a:xfrm>
        </p:grpSpPr>
        <p:sp>
          <p:nvSpPr>
            <p:cNvPr name="Freeform 39" id="39"/>
            <p:cNvSpPr/>
            <p:nvPr/>
          </p:nvSpPr>
          <p:spPr>
            <a:xfrm flipH="false" flipV="false" rot="0">
              <a:off x="0" y="0"/>
              <a:ext cx="2257223" cy="549069"/>
            </a:xfrm>
            <a:custGeom>
              <a:avLst/>
              <a:gdLst/>
              <a:ahLst/>
              <a:cxnLst/>
              <a:rect r="r" b="b" t="t" l="l"/>
              <a:pathLst>
                <a:path h="549069" w="2257223">
                  <a:moveTo>
                    <a:pt x="0" y="0"/>
                  </a:moveTo>
                  <a:lnTo>
                    <a:pt x="2257223" y="0"/>
                  </a:lnTo>
                  <a:lnTo>
                    <a:pt x="2257223" y="549069"/>
                  </a:lnTo>
                  <a:lnTo>
                    <a:pt x="0" y="549069"/>
                  </a:lnTo>
                  <a:close/>
                </a:path>
              </a:pathLst>
            </a:custGeom>
            <a:blipFill>
              <a:blip r:embed="rId4">
                <a:alphaModFix amt="0"/>
              </a:blip>
              <a:stretch>
                <a:fillRect l="0" t="-30102" r="0" b="-30103"/>
              </a:stretch>
            </a:blipFill>
          </p:spPr>
        </p:sp>
        <p:sp>
          <p:nvSpPr>
            <p:cNvPr name="TextBox 40" id="40"/>
            <p:cNvSpPr txBox="true"/>
            <p:nvPr/>
          </p:nvSpPr>
          <p:spPr>
            <a:xfrm>
              <a:off x="0" y="0"/>
              <a:ext cx="2257222" cy="549072"/>
            </a:xfrm>
            <a:prstGeom prst="rect">
              <a:avLst/>
            </a:prstGeom>
          </p:spPr>
          <p:txBody>
            <a:bodyPr anchor="ctr" rtlCol="false" tIns="0" lIns="0" bIns="0" rIns="0"/>
            <a:lstStyle/>
            <a:p>
              <a:pPr algn="ctr">
                <a:lnSpc>
                  <a:spcPts val="1170"/>
                </a:lnSpc>
              </a:pPr>
              <a:r>
                <a:rPr lang="en-US" sz="975">
                  <a:solidFill>
                    <a:srgbClr val="B9C7D6"/>
                  </a:solidFill>
                  <a:latin typeface="Cabin"/>
                  <a:ea typeface="Cabin"/>
                  <a:cs typeface="Cabin"/>
                  <a:sym typeface="Cabin"/>
                </a:rPr>
                <a:t>5.9 PySpark</a:t>
              </a:r>
            </a:p>
          </p:txBody>
        </p:sp>
      </p:grpSp>
      <p:grpSp>
        <p:nvGrpSpPr>
          <p:cNvPr name="Group 41" id="41"/>
          <p:cNvGrpSpPr/>
          <p:nvPr/>
        </p:nvGrpSpPr>
        <p:grpSpPr>
          <a:xfrm rot="0">
            <a:off x="16087306" y="9087088"/>
            <a:ext cx="1692916" cy="411804"/>
            <a:chOff x="0" y="0"/>
            <a:chExt cx="2257222" cy="549072"/>
          </a:xfrm>
        </p:grpSpPr>
        <p:sp>
          <p:nvSpPr>
            <p:cNvPr name="Freeform 42" id="42"/>
            <p:cNvSpPr/>
            <p:nvPr/>
          </p:nvSpPr>
          <p:spPr>
            <a:xfrm flipH="false" flipV="false" rot="0">
              <a:off x="0" y="0"/>
              <a:ext cx="2257171" cy="549021"/>
            </a:xfrm>
            <a:custGeom>
              <a:avLst/>
              <a:gdLst/>
              <a:ahLst/>
              <a:cxnLst/>
              <a:rect r="r" b="b" t="t" l="l"/>
              <a:pathLst>
                <a:path h="549021" w="2257171">
                  <a:moveTo>
                    <a:pt x="0" y="0"/>
                  </a:moveTo>
                  <a:lnTo>
                    <a:pt x="2257171" y="0"/>
                  </a:lnTo>
                  <a:lnTo>
                    <a:pt x="2257171" y="549021"/>
                  </a:lnTo>
                  <a:lnTo>
                    <a:pt x="0" y="549021"/>
                  </a:lnTo>
                  <a:close/>
                </a:path>
              </a:pathLst>
            </a:custGeom>
            <a:solidFill>
              <a:srgbClr val="85B518"/>
            </a:solidFill>
          </p:spPr>
        </p:sp>
        <p:sp>
          <p:nvSpPr>
            <p:cNvPr name="TextBox 43" id="43"/>
            <p:cNvSpPr txBox="true"/>
            <p:nvPr/>
          </p:nvSpPr>
          <p:spPr>
            <a:xfrm>
              <a:off x="0" y="0"/>
              <a:ext cx="2257222" cy="549072"/>
            </a:xfrm>
            <a:prstGeom prst="rect">
              <a:avLst/>
            </a:prstGeom>
          </p:spPr>
          <p:txBody>
            <a:bodyPr anchor="ctr" rtlCol="false" tIns="50800" lIns="50800" bIns="50800" rIns="50800"/>
            <a:lstStyle/>
            <a:p>
              <a:pPr algn="ctr">
                <a:lnSpc>
                  <a:spcPts val="1170"/>
                </a:lnSpc>
              </a:pPr>
              <a:r>
                <a:rPr lang="en-US" sz="975" b="true">
                  <a:solidFill>
                    <a:srgbClr val="FFFFFF"/>
                  </a:solidFill>
                  <a:latin typeface="Cabin Bold"/>
                  <a:ea typeface="Cabin Bold"/>
                  <a:cs typeface="Cabin Bold"/>
                  <a:sym typeface="Cabin Bold"/>
                </a:rPr>
                <a:t>TH Thực hành</a:t>
              </a:r>
            </a:p>
          </p:txBody>
        </p:sp>
      </p:grpSp>
      <p:grpSp>
        <p:nvGrpSpPr>
          <p:cNvPr name="Group 44" id="44"/>
          <p:cNvGrpSpPr/>
          <p:nvPr/>
        </p:nvGrpSpPr>
        <p:grpSpPr>
          <a:xfrm rot="0">
            <a:off x="0" y="9677343"/>
            <a:ext cx="18301840" cy="617706"/>
            <a:chOff x="0" y="0"/>
            <a:chExt cx="24402453" cy="823608"/>
          </a:xfrm>
        </p:grpSpPr>
        <p:sp>
          <p:nvSpPr>
            <p:cNvPr name="Freeform 45" id="45"/>
            <p:cNvSpPr/>
            <p:nvPr/>
          </p:nvSpPr>
          <p:spPr>
            <a:xfrm flipH="false" flipV="false" rot="0">
              <a:off x="0" y="0"/>
              <a:ext cx="24402414" cy="823595"/>
            </a:xfrm>
            <a:custGeom>
              <a:avLst/>
              <a:gdLst/>
              <a:ahLst/>
              <a:cxnLst/>
              <a:rect r="r" b="b" t="t" l="l"/>
              <a:pathLst>
                <a:path h="823595" w="24402414">
                  <a:moveTo>
                    <a:pt x="0" y="0"/>
                  </a:moveTo>
                  <a:lnTo>
                    <a:pt x="24402414" y="0"/>
                  </a:lnTo>
                  <a:lnTo>
                    <a:pt x="24402414" y="823595"/>
                  </a:lnTo>
                  <a:lnTo>
                    <a:pt x="0" y="823595"/>
                  </a:lnTo>
                  <a:close/>
                </a:path>
              </a:pathLst>
            </a:custGeom>
            <a:solidFill>
              <a:srgbClr val="1F4E79"/>
            </a:solidFill>
          </p:spPr>
        </p:sp>
      </p:grpSp>
      <p:grpSp>
        <p:nvGrpSpPr>
          <p:cNvPr name="Group 46" id="46"/>
          <p:cNvGrpSpPr/>
          <p:nvPr/>
        </p:nvGrpSpPr>
        <p:grpSpPr>
          <a:xfrm rot="0">
            <a:off x="480431" y="9677343"/>
            <a:ext cx="10981382" cy="617706"/>
            <a:chOff x="0" y="0"/>
            <a:chExt cx="14641843" cy="823608"/>
          </a:xfrm>
        </p:grpSpPr>
        <p:sp>
          <p:nvSpPr>
            <p:cNvPr name="Freeform 47" id="47"/>
            <p:cNvSpPr/>
            <p:nvPr/>
          </p:nvSpPr>
          <p:spPr>
            <a:xfrm flipH="false" flipV="false" rot="0">
              <a:off x="0" y="0"/>
              <a:ext cx="14641840" cy="823603"/>
            </a:xfrm>
            <a:custGeom>
              <a:avLst/>
              <a:gdLst/>
              <a:ahLst/>
              <a:cxnLst/>
              <a:rect r="r" b="b" t="t" l="l"/>
              <a:pathLst>
                <a:path h="823603" w="14641840">
                  <a:moveTo>
                    <a:pt x="0" y="0"/>
                  </a:moveTo>
                  <a:lnTo>
                    <a:pt x="14641840" y="0"/>
                  </a:lnTo>
                  <a:lnTo>
                    <a:pt x="14641840" y="823603"/>
                  </a:lnTo>
                  <a:lnTo>
                    <a:pt x="0" y="823603"/>
                  </a:lnTo>
                  <a:close/>
                </a:path>
              </a:pathLst>
            </a:custGeom>
            <a:blipFill>
              <a:blip r:embed="rId4">
                <a:alphaModFix amt="0"/>
              </a:blip>
              <a:stretch>
                <a:fillRect l="0" t="-296400" r="0" b="-296401"/>
              </a:stretch>
            </a:blipFill>
          </p:spPr>
        </p:sp>
        <p:sp>
          <p:nvSpPr>
            <p:cNvPr name="TextBox 48" id="48"/>
            <p:cNvSpPr txBox="true"/>
            <p:nvPr/>
          </p:nvSpPr>
          <p:spPr>
            <a:xfrm>
              <a:off x="0" y="0"/>
              <a:ext cx="14641843" cy="823608"/>
            </a:xfrm>
            <a:prstGeom prst="rect">
              <a:avLst/>
            </a:prstGeom>
          </p:spPr>
          <p:txBody>
            <a:bodyPr anchor="ctr" rtlCol="false" tIns="0" lIns="0" bIns="0" rIns="0"/>
            <a:lstStyle/>
            <a:p>
              <a:pPr algn="l">
                <a:lnSpc>
                  <a:spcPts val="1621"/>
                </a:lnSpc>
              </a:pPr>
              <a:r>
                <a:rPr lang="en-US" sz="1351">
                  <a:solidFill>
                    <a:srgbClr val="FFFFFF"/>
                  </a:solidFill>
                  <a:latin typeface="Cabin"/>
                  <a:ea typeface="Cabin"/>
                  <a:cs typeface="Cabin"/>
                  <a:sym typeface="Cabin"/>
                </a:rPr>
                <a:t>VNU UET – Institute for Artificial Intelligence</a:t>
              </a:r>
            </a:p>
          </p:txBody>
        </p:sp>
      </p:grpSp>
      <p:grpSp>
        <p:nvGrpSpPr>
          <p:cNvPr name="Group 49" id="49"/>
          <p:cNvGrpSpPr/>
          <p:nvPr/>
        </p:nvGrpSpPr>
        <p:grpSpPr>
          <a:xfrm rot="0">
            <a:off x="17066438" y="9677343"/>
            <a:ext cx="823608" cy="617706"/>
            <a:chOff x="0" y="0"/>
            <a:chExt cx="1098144" cy="823608"/>
          </a:xfrm>
        </p:grpSpPr>
        <p:sp>
          <p:nvSpPr>
            <p:cNvPr name="Freeform 50" id="50"/>
            <p:cNvSpPr/>
            <p:nvPr/>
          </p:nvSpPr>
          <p:spPr>
            <a:xfrm flipH="false" flipV="false" rot="0">
              <a:off x="0" y="0"/>
              <a:ext cx="1098138" cy="823603"/>
            </a:xfrm>
            <a:custGeom>
              <a:avLst/>
              <a:gdLst/>
              <a:ahLst/>
              <a:cxnLst/>
              <a:rect r="r" b="b" t="t" l="l"/>
              <a:pathLst>
                <a:path h="823603" w="1098138">
                  <a:moveTo>
                    <a:pt x="0" y="0"/>
                  </a:moveTo>
                  <a:lnTo>
                    <a:pt x="1098138" y="0"/>
                  </a:lnTo>
                  <a:lnTo>
                    <a:pt x="1098138" y="823603"/>
                  </a:lnTo>
                  <a:lnTo>
                    <a:pt x="0" y="823603"/>
                  </a:lnTo>
                  <a:close/>
                </a:path>
              </a:pathLst>
            </a:custGeom>
            <a:blipFill>
              <a:blip r:embed="rId4">
                <a:alphaModFix amt="0"/>
              </a:blip>
              <a:stretch>
                <a:fillRect l="-46227" t="0" r="-46228" b="0"/>
              </a:stretch>
            </a:blipFill>
          </p:spPr>
        </p:sp>
        <p:sp>
          <p:nvSpPr>
            <p:cNvPr name="TextBox 51" id="51"/>
            <p:cNvSpPr txBox="true"/>
            <p:nvPr/>
          </p:nvSpPr>
          <p:spPr>
            <a:xfrm>
              <a:off x="0" y="0"/>
              <a:ext cx="1098144" cy="823608"/>
            </a:xfrm>
            <a:prstGeom prst="rect">
              <a:avLst/>
            </a:prstGeom>
          </p:spPr>
          <p:txBody>
            <a:bodyPr anchor="ctr" rtlCol="false" tIns="0" lIns="0" bIns="0" rIns="0"/>
            <a:lstStyle/>
            <a:p>
              <a:pPr algn="r">
                <a:lnSpc>
                  <a:spcPts val="1621"/>
                </a:lnSpc>
              </a:pPr>
              <a:r>
                <a:rPr lang="en-US" sz="1351">
                  <a:solidFill>
                    <a:srgbClr val="FFFFFF"/>
                  </a:solidFill>
                  <a:latin typeface="Cabin"/>
                  <a:ea typeface="Cabin"/>
                  <a:cs typeface="Cabin"/>
                  <a:sym typeface="Cabin"/>
                </a:rPr>
                <a:t>25</a:t>
              </a:r>
            </a:p>
          </p:txBody>
        </p:sp>
      </p:grpSp>
      <p:grpSp>
        <p:nvGrpSpPr>
          <p:cNvPr name="Group 52" id="52"/>
          <p:cNvGrpSpPr/>
          <p:nvPr/>
        </p:nvGrpSpPr>
        <p:grpSpPr>
          <a:xfrm rot="0">
            <a:off x="0" y="0"/>
            <a:ext cx="18288000" cy="315468"/>
            <a:chOff x="0" y="0"/>
            <a:chExt cx="24384000" cy="420624"/>
          </a:xfrm>
        </p:grpSpPr>
        <p:sp>
          <p:nvSpPr>
            <p:cNvPr name="Freeform 53" id="53"/>
            <p:cNvSpPr/>
            <p:nvPr/>
          </p:nvSpPr>
          <p:spPr>
            <a:xfrm flipH="false" flipV="false" rot="0">
              <a:off x="0" y="0"/>
              <a:ext cx="24384000" cy="420624"/>
            </a:xfrm>
            <a:custGeom>
              <a:avLst/>
              <a:gdLst/>
              <a:ahLst/>
              <a:cxnLst/>
              <a:rect r="r" b="b" t="t" l="l"/>
              <a:pathLst>
                <a:path h="420624" w="24384000">
                  <a:moveTo>
                    <a:pt x="0" y="0"/>
                  </a:moveTo>
                  <a:lnTo>
                    <a:pt x="24384000" y="0"/>
                  </a:lnTo>
                  <a:lnTo>
                    <a:pt x="24384000" y="420624"/>
                  </a:lnTo>
                  <a:lnTo>
                    <a:pt x="0" y="420624"/>
                  </a:lnTo>
                  <a:close/>
                </a:path>
              </a:pathLst>
            </a:custGeom>
            <a:solidFill>
              <a:srgbClr val="0F3F6F"/>
            </a:solidFill>
          </p:spPr>
        </p:sp>
      </p:grpSp>
      <p:grpSp>
        <p:nvGrpSpPr>
          <p:cNvPr name="Group 54" id="54"/>
          <p:cNvGrpSpPr/>
          <p:nvPr/>
        </p:nvGrpSpPr>
        <p:grpSpPr>
          <a:xfrm rot="0">
            <a:off x="13098780" y="0"/>
            <a:ext cx="1453896" cy="1508760"/>
            <a:chOff x="0" y="0"/>
            <a:chExt cx="1938528" cy="2011680"/>
          </a:xfrm>
        </p:grpSpPr>
        <p:sp>
          <p:nvSpPr>
            <p:cNvPr name="Freeform 55" id="55"/>
            <p:cNvSpPr/>
            <p:nvPr/>
          </p:nvSpPr>
          <p:spPr>
            <a:xfrm flipH="false" flipV="false" rot="0">
              <a:off x="0" y="0"/>
              <a:ext cx="1938528" cy="2011680"/>
            </a:xfrm>
            <a:custGeom>
              <a:avLst/>
              <a:gdLst/>
              <a:ahLst/>
              <a:cxnLst/>
              <a:rect r="r" b="b" t="t" l="l"/>
              <a:pathLst>
                <a:path h="2011680" w="1938528">
                  <a:moveTo>
                    <a:pt x="0" y="2011680"/>
                  </a:moveTo>
                  <a:lnTo>
                    <a:pt x="484632" y="0"/>
                  </a:lnTo>
                  <a:lnTo>
                    <a:pt x="1938528" y="0"/>
                  </a:lnTo>
                  <a:lnTo>
                    <a:pt x="1453896" y="2011680"/>
                  </a:lnTo>
                  <a:close/>
                </a:path>
              </a:pathLst>
            </a:custGeom>
            <a:solidFill>
              <a:srgbClr val="85B518"/>
            </a:solidFill>
          </p:spPr>
        </p:sp>
      </p:grpSp>
      <p:grpSp>
        <p:nvGrpSpPr>
          <p:cNvPr name="Group 56" id="56"/>
          <p:cNvGrpSpPr/>
          <p:nvPr/>
        </p:nvGrpSpPr>
        <p:grpSpPr>
          <a:xfrm rot="0">
            <a:off x="14621256" y="0"/>
            <a:ext cx="1508760" cy="1508760"/>
            <a:chOff x="0" y="0"/>
            <a:chExt cx="2011680" cy="2011680"/>
          </a:xfrm>
        </p:grpSpPr>
        <p:sp>
          <p:nvSpPr>
            <p:cNvPr name="Freeform 57" id="57"/>
            <p:cNvSpPr/>
            <p:nvPr/>
          </p:nvSpPr>
          <p:spPr>
            <a:xfrm flipH="false" flipV="false" rot="0">
              <a:off x="0" y="0"/>
              <a:ext cx="2011680" cy="2011680"/>
            </a:xfrm>
            <a:custGeom>
              <a:avLst/>
              <a:gdLst/>
              <a:ahLst/>
              <a:cxnLst/>
              <a:rect r="r" b="b" t="t" l="l"/>
              <a:pathLst>
                <a:path h="2011680" w="2011680">
                  <a:moveTo>
                    <a:pt x="0" y="2011680"/>
                  </a:moveTo>
                  <a:lnTo>
                    <a:pt x="502920" y="0"/>
                  </a:lnTo>
                  <a:lnTo>
                    <a:pt x="2011680" y="0"/>
                  </a:lnTo>
                  <a:lnTo>
                    <a:pt x="1508760" y="2011680"/>
                  </a:lnTo>
                  <a:close/>
                </a:path>
              </a:pathLst>
            </a:custGeom>
            <a:solidFill>
              <a:srgbClr val="0F3F6F"/>
            </a:solidFill>
          </p:spPr>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97801" y="384353"/>
            <a:ext cx="851059" cy="851059"/>
            <a:chOff x="0" y="0"/>
            <a:chExt cx="1134745" cy="1134745"/>
          </a:xfrm>
        </p:grpSpPr>
        <p:sp>
          <p:nvSpPr>
            <p:cNvPr name="Freeform 3" id="3" descr="/home/claude/work/assets/logo.png"/>
            <p:cNvSpPr/>
            <p:nvPr/>
          </p:nvSpPr>
          <p:spPr>
            <a:xfrm flipH="false" flipV="false" rot="0">
              <a:off x="0" y="0"/>
              <a:ext cx="1134745" cy="1134745"/>
            </a:xfrm>
            <a:custGeom>
              <a:avLst/>
              <a:gdLst/>
              <a:ahLst/>
              <a:cxnLst/>
              <a:rect r="r" b="b" t="t" l="l"/>
              <a:pathLst>
                <a:path h="1134745" w="1134745">
                  <a:moveTo>
                    <a:pt x="0" y="0"/>
                  </a:moveTo>
                  <a:lnTo>
                    <a:pt x="1134745" y="0"/>
                  </a:lnTo>
                  <a:lnTo>
                    <a:pt x="1134745" y="1134745"/>
                  </a:lnTo>
                  <a:lnTo>
                    <a:pt x="0" y="1134745"/>
                  </a:lnTo>
                  <a:lnTo>
                    <a:pt x="0" y="0"/>
                  </a:lnTo>
                  <a:close/>
                </a:path>
              </a:pathLst>
            </a:custGeom>
            <a:blipFill>
              <a:blip r:embed="rId3"/>
              <a:stretch>
                <a:fillRect l="0" t="0" r="0" b="0"/>
              </a:stretch>
            </a:blipFill>
          </p:spPr>
        </p:sp>
      </p:grpSp>
      <p:grpSp>
        <p:nvGrpSpPr>
          <p:cNvPr name="Group 4" id="4"/>
          <p:cNvGrpSpPr/>
          <p:nvPr/>
        </p:nvGrpSpPr>
        <p:grpSpPr>
          <a:xfrm rot="0">
            <a:off x="686333" y="384353"/>
            <a:ext cx="10981382" cy="411804"/>
            <a:chOff x="0" y="0"/>
            <a:chExt cx="14641843" cy="549072"/>
          </a:xfrm>
        </p:grpSpPr>
        <p:sp>
          <p:nvSpPr>
            <p:cNvPr name="Freeform 5" id="5"/>
            <p:cNvSpPr/>
            <p:nvPr/>
          </p:nvSpPr>
          <p:spPr>
            <a:xfrm flipH="false" flipV="false" rot="0">
              <a:off x="0" y="0"/>
              <a:ext cx="14641840" cy="549069"/>
            </a:xfrm>
            <a:custGeom>
              <a:avLst/>
              <a:gdLst/>
              <a:ahLst/>
              <a:cxnLst/>
              <a:rect r="r" b="b" t="t" l="l"/>
              <a:pathLst>
                <a:path h="549069" w="14641840">
                  <a:moveTo>
                    <a:pt x="0" y="0"/>
                  </a:moveTo>
                  <a:lnTo>
                    <a:pt x="14641840" y="0"/>
                  </a:lnTo>
                  <a:lnTo>
                    <a:pt x="14641840" y="549069"/>
                  </a:lnTo>
                  <a:lnTo>
                    <a:pt x="0" y="549069"/>
                  </a:lnTo>
                  <a:close/>
                </a:path>
              </a:pathLst>
            </a:custGeom>
            <a:blipFill>
              <a:blip r:embed="rId4">
                <a:alphaModFix amt="0"/>
              </a:blip>
              <a:stretch>
                <a:fillRect l="0" t="-469600" r="0" b="-469601"/>
              </a:stretch>
            </a:blipFill>
          </p:spPr>
        </p:sp>
        <p:sp>
          <p:nvSpPr>
            <p:cNvPr name="TextBox 6" id="6"/>
            <p:cNvSpPr txBox="true"/>
            <p:nvPr/>
          </p:nvSpPr>
          <p:spPr>
            <a:xfrm>
              <a:off x="0" y="0"/>
              <a:ext cx="14641843" cy="549072"/>
            </a:xfrm>
            <a:prstGeom prst="rect">
              <a:avLst/>
            </a:prstGeom>
          </p:spPr>
          <p:txBody>
            <a:bodyPr anchor="ctr" rtlCol="false" tIns="0" lIns="0" bIns="0" rIns="0"/>
            <a:lstStyle/>
            <a:p>
              <a:pPr algn="l">
                <a:lnSpc>
                  <a:spcPts val="1981"/>
                </a:lnSpc>
              </a:pPr>
              <a:r>
                <a:rPr lang="en-US" sz="1651" i="true">
                  <a:solidFill>
                    <a:srgbClr val="4A4A4A"/>
                  </a:solidFill>
                  <a:latin typeface="Cabin Italics"/>
                  <a:ea typeface="Cabin Italics"/>
                  <a:cs typeface="Cabin Italics"/>
                  <a:sym typeface="Cabin Italics"/>
                </a:rPr>
                <a:t>5.10. Cài đặt Apache Spark và PySpark · Bài 05 · Thực hành</a:t>
              </a:r>
            </a:p>
          </p:txBody>
        </p:sp>
      </p:grpSp>
      <p:grpSp>
        <p:nvGrpSpPr>
          <p:cNvPr name="Group 7" id="7"/>
          <p:cNvGrpSpPr/>
          <p:nvPr/>
        </p:nvGrpSpPr>
        <p:grpSpPr>
          <a:xfrm rot="0">
            <a:off x="686333" y="823608"/>
            <a:ext cx="82363" cy="754971"/>
            <a:chOff x="0" y="0"/>
            <a:chExt cx="109817" cy="1006627"/>
          </a:xfrm>
        </p:grpSpPr>
        <p:sp>
          <p:nvSpPr>
            <p:cNvPr name="Freeform 8" id="8"/>
            <p:cNvSpPr/>
            <p:nvPr/>
          </p:nvSpPr>
          <p:spPr>
            <a:xfrm flipH="false" flipV="false" rot="0">
              <a:off x="0" y="0"/>
              <a:ext cx="109855" cy="1006602"/>
            </a:xfrm>
            <a:custGeom>
              <a:avLst/>
              <a:gdLst/>
              <a:ahLst/>
              <a:cxnLst/>
              <a:rect r="r" b="b" t="t" l="l"/>
              <a:pathLst>
                <a:path h="1006602" w="109855">
                  <a:moveTo>
                    <a:pt x="0" y="0"/>
                  </a:moveTo>
                  <a:lnTo>
                    <a:pt x="109855" y="0"/>
                  </a:lnTo>
                  <a:lnTo>
                    <a:pt x="109855" y="1006602"/>
                  </a:lnTo>
                  <a:lnTo>
                    <a:pt x="0" y="1006602"/>
                  </a:lnTo>
                  <a:close/>
                </a:path>
              </a:pathLst>
            </a:custGeom>
            <a:solidFill>
              <a:srgbClr val="85B518"/>
            </a:solidFill>
          </p:spPr>
        </p:sp>
      </p:grpSp>
      <p:grpSp>
        <p:nvGrpSpPr>
          <p:cNvPr name="Group 9" id="9"/>
          <p:cNvGrpSpPr/>
          <p:nvPr/>
        </p:nvGrpSpPr>
        <p:grpSpPr>
          <a:xfrm rot="0">
            <a:off x="960872" y="796147"/>
            <a:ext cx="15831026" cy="823608"/>
            <a:chOff x="0" y="0"/>
            <a:chExt cx="21108035" cy="1098144"/>
          </a:xfrm>
        </p:grpSpPr>
        <p:sp>
          <p:nvSpPr>
            <p:cNvPr name="Freeform 10" id="10"/>
            <p:cNvSpPr/>
            <p:nvPr/>
          </p:nvSpPr>
          <p:spPr>
            <a:xfrm flipH="false" flipV="false" rot="0">
              <a:off x="0" y="0"/>
              <a:ext cx="21108040" cy="1098138"/>
            </a:xfrm>
            <a:custGeom>
              <a:avLst/>
              <a:gdLst/>
              <a:ahLst/>
              <a:cxnLst/>
              <a:rect r="r" b="b" t="t" l="l"/>
              <a:pathLst>
                <a:path h="1098138" w="21108040">
                  <a:moveTo>
                    <a:pt x="0" y="0"/>
                  </a:moveTo>
                  <a:lnTo>
                    <a:pt x="21108040" y="0"/>
                  </a:lnTo>
                  <a:lnTo>
                    <a:pt x="21108040" y="1098138"/>
                  </a:lnTo>
                  <a:lnTo>
                    <a:pt x="0" y="1098138"/>
                  </a:lnTo>
                  <a:close/>
                </a:path>
              </a:pathLst>
            </a:custGeom>
            <a:blipFill>
              <a:blip r:embed="rId4">
                <a:alphaModFix amt="0"/>
              </a:blip>
              <a:stretch>
                <a:fillRect l="0" t="-324534" r="0" b="-324535"/>
              </a:stretch>
            </a:blipFill>
          </p:spPr>
        </p:sp>
        <p:sp>
          <p:nvSpPr>
            <p:cNvPr name="TextBox 11" id="11"/>
            <p:cNvSpPr txBox="true"/>
            <p:nvPr/>
          </p:nvSpPr>
          <p:spPr>
            <a:xfrm>
              <a:off x="0" y="0"/>
              <a:ext cx="21108035" cy="1098144"/>
            </a:xfrm>
            <a:prstGeom prst="rect">
              <a:avLst/>
            </a:prstGeom>
          </p:spPr>
          <p:txBody>
            <a:bodyPr anchor="ctr" rtlCol="false" tIns="0" lIns="0" bIns="0" rIns="0"/>
            <a:lstStyle/>
            <a:p>
              <a:pPr algn="l">
                <a:lnSpc>
                  <a:spcPts val="3782"/>
                </a:lnSpc>
              </a:pPr>
              <a:r>
                <a:rPr lang="en-US" sz="3152" b="true">
                  <a:solidFill>
                    <a:srgbClr val="1F4E79"/>
                  </a:solidFill>
                  <a:latin typeface="Cabin Bold"/>
                  <a:ea typeface="Cabin Bold"/>
                  <a:cs typeface="Cabin Bold"/>
                  <a:sym typeface="Cabin Bold"/>
                </a:rPr>
                <a:t>Cài đặt Apache Spark và PySpark</a:t>
              </a:r>
            </a:p>
          </p:txBody>
        </p:sp>
      </p:grpSp>
      <p:grpSp>
        <p:nvGrpSpPr>
          <p:cNvPr name="Group 12" id="12"/>
          <p:cNvGrpSpPr/>
          <p:nvPr/>
        </p:nvGrpSpPr>
        <p:grpSpPr>
          <a:xfrm rot="0">
            <a:off x="686333" y="2059010"/>
            <a:ext cx="10981382" cy="480431"/>
            <a:chOff x="0" y="0"/>
            <a:chExt cx="14641843" cy="640575"/>
          </a:xfrm>
        </p:grpSpPr>
        <p:sp>
          <p:nvSpPr>
            <p:cNvPr name="Freeform 13" id="13"/>
            <p:cNvSpPr/>
            <p:nvPr/>
          </p:nvSpPr>
          <p:spPr>
            <a:xfrm flipH="false" flipV="false" rot="0">
              <a:off x="0" y="0"/>
              <a:ext cx="14641840" cy="640580"/>
            </a:xfrm>
            <a:custGeom>
              <a:avLst/>
              <a:gdLst/>
              <a:ahLst/>
              <a:cxnLst/>
              <a:rect r="r" b="b" t="t" l="l"/>
              <a:pathLst>
                <a:path h="640580" w="14641840">
                  <a:moveTo>
                    <a:pt x="0" y="0"/>
                  </a:moveTo>
                  <a:lnTo>
                    <a:pt x="14641840" y="0"/>
                  </a:lnTo>
                  <a:lnTo>
                    <a:pt x="14641840" y="640580"/>
                  </a:lnTo>
                  <a:lnTo>
                    <a:pt x="0" y="640580"/>
                  </a:lnTo>
                  <a:close/>
                </a:path>
              </a:pathLst>
            </a:custGeom>
            <a:blipFill>
              <a:blip r:embed="rId4">
                <a:alphaModFix amt="0"/>
              </a:blip>
              <a:stretch>
                <a:fillRect l="0" t="-395372" r="0" b="-395372"/>
              </a:stretch>
            </a:blipFill>
          </p:spPr>
        </p:sp>
        <p:sp>
          <p:nvSpPr>
            <p:cNvPr name="TextBox 14" id="14"/>
            <p:cNvSpPr txBox="true"/>
            <p:nvPr/>
          </p:nvSpPr>
          <p:spPr>
            <a:xfrm>
              <a:off x="0" y="0"/>
              <a:ext cx="14641843" cy="640575"/>
            </a:xfrm>
            <a:prstGeom prst="rect">
              <a:avLst/>
            </a:prstGeom>
          </p:spPr>
          <p:txBody>
            <a:bodyPr anchor="ctr" rtlCol="false" tIns="0" lIns="0" bIns="0" rIns="0"/>
            <a:lstStyle/>
            <a:p>
              <a:pPr algn="l">
                <a:lnSpc>
                  <a:spcPts val="2251"/>
                </a:lnSpc>
              </a:pPr>
              <a:r>
                <a:rPr lang="en-US" sz="1876" b="true">
                  <a:solidFill>
                    <a:srgbClr val="1F4E79"/>
                  </a:solidFill>
                  <a:latin typeface="Cabin Bold"/>
                  <a:ea typeface="Cabin Bold"/>
                  <a:cs typeface="Cabin Bold"/>
                  <a:sym typeface="Cabin Bold"/>
                </a:rPr>
                <a:t>Học viên cần chuẩn bị:</a:t>
              </a:r>
            </a:p>
          </p:txBody>
        </p:sp>
      </p:grpSp>
      <p:grpSp>
        <p:nvGrpSpPr>
          <p:cNvPr name="Group 15" id="15"/>
          <p:cNvGrpSpPr/>
          <p:nvPr/>
        </p:nvGrpSpPr>
        <p:grpSpPr>
          <a:xfrm rot="0">
            <a:off x="679190" y="2669562"/>
            <a:ext cx="3995052" cy="1181071"/>
            <a:chOff x="0" y="0"/>
            <a:chExt cx="5326736" cy="1574762"/>
          </a:xfrm>
        </p:grpSpPr>
        <p:sp>
          <p:nvSpPr>
            <p:cNvPr name="Freeform 16" id="16"/>
            <p:cNvSpPr/>
            <p:nvPr/>
          </p:nvSpPr>
          <p:spPr>
            <a:xfrm flipH="false" flipV="false" rot="0">
              <a:off x="0" y="0"/>
              <a:ext cx="5326761" cy="1574800"/>
            </a:xfrm>
            <a:custGeom>
              <a:avLst/>
              <a:gdLst/>
              <a:ahLst/>
              <a:cxnLst/>
              <a:rect r="r" b="b" t="t" l="l"/>
              <a:pathLst>
                <a:path h="1574800" w="5326761">
                  <a:moveTo>
                    <a:pt x="0" y="148209"/>
                  </a:moveTo>
                  <a:cubicBezTo>
                    <a:pt x="0" y="66421"/>
                    <a:pt x="66421" y="0"/>
                    <a:pt x="148209" y="0"/>
                  </a:cubicBezTo>
                  <a:lnTo>
                    <a:pt x="5178552" y="0"/>
                  </a:lnTo>
                  <a:cubicBezTo>
                    <a:pt x="5260467" y="0"/>
                    <a:pt x="5326761" y="66421"/>
                    <a:pt x="5326761" y="148209"/>
                  </a:cubicBezTo>
                  <a:lnTo>
                    <a:pt x="5326761" y="1426591"/>
                  </a:lnTo>
                  <a:cubicBezTo>
                    <a:pt x="5326761" y="1508506"/>
                    <a:pt x="5260340" y="1574800"/>
                    <a:pt x="5178552" y="1574800"/>
                  </a:cubicBezTo>
                  <a:lnTo>
                    <a:pt x="148209" y="1574800"/>
                  </a:lnTo>
                  <a:cubicBezTo>
                    <a:pt x="66421" y="1574800"/>
                    <a:pt x="0" y="1508379"/>
                    <a:pt x="0" y="1426591"/>
                  </a:cubicBezTo>
                  <a:close/>
                </a:path>
              </a:pathLst>
            </a:custGeom>
            <a:solidFill>
              <a:srgbClr val="DCEBFA"/>
            </a:solidFill>
            <a:ln w="14299" cap="sq">
              <a:solidFill>
                <a:srgbClr val="1F4E79"/>
              </a:solidFill>
              <a:prstDash val="solid"/>
              <a:miter/>
            </a:ln>
          </p:spPr>
        </p:sp>
      </p:grpSp>
      <p:grpSp>
        <p:nvGrpSpPr>
          <p:cNvPr name="Group 17" id="17"/>
          <p:cNvGrpSpPr/>
          <p:nvPr/>
        </p:nvGrpSpPr>
        <p:grpSpPr>
          <a:xfrm rot="0">
            <a:off x="823608" y="2676716"/>
            <a:ext cx="3706216" cy="1166774"/>
            <a:chOff x="0" y="0"/>
            <a:chExt cx="4941621" cy="1555699"/>
          </a:xfrm>
        </p:grpSpPr>
        <p:sp>
          <p:nvSpPr>
            <p:cNvPr name="Freeform 18" id="18"/>
            <p:cNvSpPr/>
            <p:nvPr/>
          </p:nvSpPr>
          <p:spPr>
            <a:xfrm flipH="false" flipV="false" rot="0">
              <a:off x="0" y="0"/>
              <a:ext cx="4941620" cy="1555695"/>
            </a:xfrm>
            <a:custGeom>
              <a:avLst/>
              <a:gdLst/>
              <a:ahLst/>
              <a:cxnLst/>
              <a:rect r="r" b="b" t="t" l="l"/>
              <a:pathLst>
                <a:path h="1555695" w="4941620">
                  <a:moveTo>
                    <a:pt x="0" y="0"/>
                  </a:moveTo>
                  <a:lnTo>
                    <a:pt x="4941620" y="0"/>
                  </a:lnTo>
                  <a:lnTo>
                    <a:pt x="4941620" y="1555695"/>
                  </a:lnTo>
                  <a:lnTo>
                    <a:pt x="0" y="1555695"/>
                  </a:lnTo>
                  <a:close/>
                </a:path>
              </a:pathLst>
            </a:custGeom>
            <a:blipFill>
              <a:blip r:embed="rId4">
                <a:alphaModFix amt="0"/>
              </a:blip>
              <a:stretch>
                <a:fillRect l="0" t="-11893" r="0" b="-11893"/>
              </a:stretch>
            </a:blipFill>
          </p:spPr>
        </p:sp>
        <p:sp>
          <p:nvSpPr>
            <p:cNvPr name="TextBox 19" id="19"/>
            <p:cNvSpPr txBox="true"/>
            <p:nvPr/>
          </p:nvSpPr>
          <p:spPr>
            <a:xfrm>
              <a:off x="0" y="0"/>
              <a:ext cx="4941621" cy="1555699"/>
            </a:xfrm>
            <a:prstGeom prst="rect">
              <a:avLst/>
            </a:prstGeom>
          </p:spPr>
          <p:txBody>
            <a:bodyPr anchor="ctr" rtlCol="false" tIns="0" lIns="0" bIns="0" rIns="0"/>
            <a:lstStyle/>
            <a:p>
              <a:pPr algn="ctr">
                <a:lnSpc>
                  <a:spcPts val="1891"/>
                </a:lnSpc>
              </a:pPr>
              <a:r>
                <a:rPr lang="en-US" sz="1576" b="true">
                  <a:solidFill>
                    <a:srgbClr val="1F4E79"/>
                  </a:solidFill>
                  <a:latin typeface="Cabin Bold"/>
                  <a:ea typeface="Cabin Bold"/>
                  <a:cs typeface="Cabin Bold"/>
                  <a:sym typeface="Cabin Bold"/>
                </a:rPr>
                <a:t>Java (nếu môi trường Spark yêu cầu)</a:t>
              </a:r>
            </a:p>
          </p:txBody>
        </p:sp>
      </p:grpSp>
      <p:grpSp>
        <p:nvGrpSpPr>
          <p:cNvPr name="Group 20" id="20"/>
          <p:cNvGrpSpPr/>
          <p:nvPr/>
        </p:nvGrpSpPr>
        <p:grpSpPr>
          <a:xfrm rot="0">
            <a:off x="4961925" y="2669562"/>
            <a:ext cx="3995052" cy="1181071"/>
            <a:chOff x="0" y="0"/>
            <a:chExt cx="5326736" cy="1574762"/>
          </a:xfrm>
        </p:grpSpPr>
        <p:sp>
          <p:nvSpPr>
            <p:cNvPr name="Freeform 21" id="21"/>
            <p:cNvSpPr/>
            <p:nvPr/>
          </p:nvSpPr>
          <p:spPr>
            <a:xfrm flipH="false" flipV="false" rot="0">
              <a:off x="0" y="0"/>
              <a:ext cx="5326761" cy="1574800"/>
            </a:xfrm>
            <a:custGeom>
              <a:avLst/>
              <a:gdLst/>
              <a:ahLst/>
              <a:cxnLst/>
              <a:rect r="r" b="b" t="t" l="l"/>
              <a:pathLst>
                <a:path h="1574800" w="5326761">
                  <a:moveTo>
                    <a:pt x="0" y="148209"/>
                  </a:moveTo>
                  <a:cubicBezTo>
                    <a:pt x="0" y="66421"/>
                    <a:pt x="66421" y="0"/>
                    <a:pt x="148209" y="0"/>
                  </a:cubicBezTo>
                  <a:lnTo>
                    <a:pt x="5178552" y="0"/>
                  </a:lnTo>
                  <a:cubicBezTo>
                    <a:pt x="5260467" y="0"/>
                    <a:pt x="5326761" y="66421"/>
                    <a:pt x="5326761" y="148209"/>
                  </a:cubicBezTo>
                  <a:lnTo>
                    <a:pt x="5326761" y="1426591"/>
                  </a:lnTo>
                  <a:cubicBezTo>
                    <a:pt x="5326761" y="1508506"/>
                    <a:pt x="5260340" y="1574800"/>
                    <a:pt x="5178552" y="1574800"/>
                  </a:cubicBezTo>
                  <a:lnTo>
                    <a:pt x="148209" y="1574800"/>
                  </a:lnTo>
                  <a:cubicBezTo>
                    <a:pt x="66421" y="1574800"/>
                    <a:pt x="0" y="1508379"/>
                    <a:pt x="0" y="1426591"/>
                  </a:cubicBezTo>
                  <a:close/>
                </a:path>
              </a:pathLst>
            </a:custGeom>
            <a:solidFill>
              <a:srgbClr val="DCEBFA"/>
            </a:solidFill>
            <a:ln w="14299" cap="sq">
              <a:solidFill>
                <a:srgbClr val="1F4E79"/>
              </a:solidFill>
              <a:prstDash val="solid"/>
              <a:miter/>
            </a:ln>
          </p:spPr>
        </p:sp>
      </p:grpSp>
      <p:grpSp>
        <p:nvGrpSpPr>
          <p:cNvPr name="Group 22" id="22"/>
          <p:cNvGrpSpPr/>
          <p:nvPr/>
        </p:nvGrpSpPr>
        <p:grpSpPr>
          <a:xfrm rot="0">
            <a:off x="5106343" y="2676716"/>
            <a:ext cx="3706216" cy="1166774"/>
            <a:chOff x="0" y="0"/>
            <a:chExt cx="4941621" cy="1555699"/>
          </a:xfrm>
        </p:grpSpPr>
        <p:sp>
          <p:nvSpPr>
            <p:cNvPr name="Freeform 23" id="23"/>
            <p:cNvSpPr/>
            <p:nvPr/>
          </p:nvSpPr>
          <p:spPr>
            <a:xfrm flipH="false" flipV="false" rot="0">
              <a:off x="0" y="0"/>
              <a:ext cx="4941620" cy="1555695"/>
            </a:xfrm>
            <a:custGeom>
              <a:avLst/>
              <a:gdLst/>
              <a:ahLst/>
              <a:cxnLst/>
              <a:rect r="r" b="b" t="t" l="l"/>
              <a:pathLst>
                <a:path h="1555695" w="4941620">
                  <a:moveTo>
                    <a:pt x="0" y="0"/>
                  </a:moveTo>
                  <a:lnTo>
                    <a:pt x="4941620" y="0"/>
                  </a:lnTo>
                  <a:lnTo>
                    <a:pt x="4941620" y="1555695"/>
                  </a:lnTo>
                  <a:lnTo>
                    <a:pt x="0" y="1555695"/>
                  </a:lnTo>
                  <a:close/>
                </a:path>
              </a:pathLst>
            </a:custGeom>
            <a:blipFill>
              <a:blip r:embed="rId4">
                <a:alphaModFix amt="0"/>
              </a:blip>
              <a:stretch>
                <a:fillRect l="0" t="-11893" r="0" b="-11893"/>
              </a:stretch>
            </a:blipFill>
          </p:spPr>
        </p:sp>
        <p:sp>
          <p:nvSpPr>
            <p:cNvPr name="TextBox 24" id="24"/>
            <p:cNvSpPr txBox="true"/>
            <p:nvPr/>
          </p:nvSpPr>
          <p:spPr>
            <a:xfrm>
              <a:off x="0" y="0"/>
              <a:ext cx="4941621" cy="1555699"/>
            </a:xfrm>
            <a:prstGeom prst="rect">
              <a:avLst/>
            </a:prstGeom>
          </p:spPr>
          <p:txBody>
            <a:bodyPr anchor="ctr" rtlCol="false" tIns="0" lIns="0" bIns="0" rIns="0"/>
            <a:lstStyle/>
            <a:p>
              <a:pPr algn="ctr">
                <a:lnSpc>
                  <a:spcPts val="1891"/>
                </a:lnSpc>
              </a:pPr>
              <a:r>
                <a:rPr lang="en-US" sz="1576" b="true">
                  <a:solidFill>
                    <a:srgbClr val="1F4E79"/>
                  </a:solidFill>
                  <a:latin typeface="Cabin Bold"/>
                  <a:ea typeface="Cabin Bold"/>
                  <a:cs typeface="Cabin Bold"/>
                  <a:sym typeface="Cabin Bold"/>
                </a:rPr>
                <a:t>Python</a:t>
              </a:r>
            </a:p>
          </p:txBody>
        </p:sp>
      </p:grpSp>
      <p:grpSp>
        <p:nvGrpSpPr>
          <p:cNvPr name="Group 25" id="25"/>
          <p:cNvGrpSpPr/>
          <p:nvPr/>
        </p:nvGrpSpPr>
        <p:grpSpPr>
          <a:xfrm rot="0">
            <a:off x="9244660" y="2669562"/>
            <a:ext cx="3995052" cy="1181071"/>
            <a:chOff x="0" y="0"/>
            <a:chExt cx="5326736" cy="1574762"/>
          </a:xfrm>
        </p:grpSpPr>
        <p:sp>
          <p:nvSpPr>
            <p:cNvPr name="Freeform 26" id="26"/>
            <p:cNvSpPr/>
            <p:nvPr/>
          </p:nvSpPr>
          <p:spPr>
            <a:xfrm flipH="false" flipV="false" rot="0">
              <a:off x="0" y="0"/>
              <a:ext cx="5326761" cy="1574800"/>
            </a:xfrm>
            <a:custGeom>
              <a:avLst/>
              <a:gdLst/>
              <a:ahLst/>
              <a:cxnLst/>
              <a:rect r="r" b="b" t="t" l="l"/>
              <a:pathLst>
                <a:path h="1574800" w="5326761">
                  <a:moveTo>
                    <a:pt x="0" y="148209"/>
                  </a:moveTo>
                  <a:cubicBezTo>
                    <a:pt x="0" y="66421"/>
                    <a:pt x="66421" y="0"/>
                    <a:pt x="148209" y="0"/>
                  </a:cubicBezTo>
                  <a:lnTo>
                    <a:pt x="5178552" y="0"/>
                  </a:lnTo>
                  <a:cubicBezTo>
                    <a:pt x="5260467" y="0"/>
                    <a:pt x="5326761" y="66421"/>
                    <a:pt x="5326761" y="148209"/>
                  </a:cubicBezTo>
                  <a:lnTo>
                    <a:pt x="5326761" y="1426591"/>
                  </a:lnTo>
                  <a:cubicBezTo>
                    <a:pt x="5326761" y="1508506"/>
                    <a:pt x="5260340" y="1574800"/>
                    <a:pt x="5178552" y="1574800"/>
                  </a:cubicBezTo>
                  <a:lnTo>
                    <a:pt x="148209" y="1574800"/>
                  </a:lnTo>
                  <a:cubicBezTo>
                    <a:pt x="66421" y="1574800"/>
                    <a:pt x="0" y="1508379"/>
                    <a:pt x="0" y="1426591"/>
                  </a:cubicBezTo>
                  <a:close/>
                </a:path>
              </a:pathLst>
            </a:custGeom>
            <a:solidFill>
              <a:srgbClr val="DCEBFA"/>
            </a:solidFill>
            <a:ln w="14299" cap="sq">
              <a:solidFill>
                <a:srgbClr val="1F4E79"/>
              </a:solidFill>
              <a:prstDash val="solid"/>
              <a:miter/>
            </a:ln>
          </p:spPr>
        </p:sp>
      </p:grpSp>
      <p:grpSp>
        <p:nvGrpSpPr>
          <p:cNvPr name="Group 27" id="27"/>
          <p:cNvGrpSpPr/>
          <p:nvPr/>
        </p:nvGrpSpPr>
        <p:grpSpPr>
          <a:xfrm rot="0">
            <a:off x="9389078" y="2676716"/>
            <a:ext cx="3706216" cy="1166774"/>
            <a:chOff x="0" y="0"/>
            <a:chExt cx="4941621" cy="1555699"/>
          </a:xfrm>
        </p:grpSpPr>
        <p:sp>
          <p:nvSpPr>
            <p:cNvPr name="Freeform 28" id="28"/>
            <p:cNvSpPr/>
            <p:nvPr/>
          </p:nvSpPr>
          <p:spPr>
            <a:xfrm flipH="false" flipV="false" rot="0">
              <a:off x="0" y="0"/>
              <a:ext cx="4941620" cy="1555695"/>
            </a:xfrm>
            <a:custGeom>
              <a:avLst/>
              <a:gdLst/>
              <a:ahLst/>
              <a:cxnLst/>
              <a:rect r="r" b="b" t="t" l="l"/>
              <a:pathLst>
                <a:path h="1555695" w="4941620">
                  <a:moveTo>
                    <a:pt x="0" y="0"/>
                  </a:moveTo>
                  <a:lnTo>
                    <a:pt x="4941620" y="0"/>
                  </a:lnTo>
                  <a:lnTo>
                    <a:pt x="4941620" y="1555695"/>
                  </a:lnTo>
                  <a:lnTo>
                    <a:pt x="0" y="1555695"/>
                  </a:lnTo>
                  <a:close/>
                </a:path>
              </a:pathLst>
            </a:custGeom>
            <a:blipFill>
              <a:blip r:embed="rId4">
                <a:alphaModFix amt="0"/>
              </a:blip>
              <a:stretch>
                <a:fillRect l="0" t="-11893" r="0" b="-11893"/>
              </a:stretch>
            </a:blipFill>
          </p:spPr>
        </p:sp>
        <p:sp>
          <p:nvSpPr>
            <p:cNvPr name="TextBox 29" id="29"/>
            <p:cNvSpPr txBox="true"/>
            <p:nvPr/>
          </p:nvSpPr>
          <p:spPr>
            <a:xfrm>
              <a:off x="0" y="0"/>
              <a:ext cx="4941621" cy="1555699"/>
            </a:xfrm>
            <a:prstGeom prst="rect">
              <a:avLst/>
            </a:prstGeom>
          </p:spPr>
          <p:txBody>
            <a:bodyPr anchor="ctr" rtlCol="false" tIns="0" lIns="0" bIns="0" rIns="0"/>
            <a:lstStyle/>
            <a:p>
              <a:pPr algn="ctr">
                <a:lnSpc>
                  <a:spcPts val="1891"/>
                </a:lnSpc>
              </a:pPr>
              <a:r>
                <a:rPr lang="en-US" sz="1576" b="true">
                  <a:solidFill>
                    <a:srgbClr val="1F4E79"/>
                  </a:solidFill>
                  <a:latin typeface="Cabin Bold"/>
                  <a:ea typeface="Cabin Bold"/>
                  <a:cs typeface="Cabin Bold"/>
                  <a:sym typeface="Cabin Bold"/>
                </a:rPr>
                <a:t>PySpark</a:t>
              </a:r>
            </a:p>
          </p:txBody>
        </p:sp>
      </p:grpSp>
      <p:grpSp>
        <p:nvGrpSpPr>
          <p:cNvPr name="Group 30" id="30"/>
          <p:cNvGrpSpPr/>
          <p:nvPr/>
        </p:nvGrpSpPr>
        <p:grpSpPr>
          <a:xfrm rot="0">
            <a:off x="13527405" y="2669562"/>
            <a:ext cx="3995052" cy="1181071"/>
            <a:chOff x="0" y="0"/>
            <a:chExt cx="5326736" cy="1574762"/>
          </a:xfrm>
        </p:grpSpPr>
        <p:sp>
          <p:nvSpPr>
            <p:cNvPr name="Freeform 31" id="31"/>
            <p:cNvSpPr/>
            <p:nvPr/>
          </p:nvSpPr>
          <p:spPr>
            <a:xfrm flipH="false" flipV="false" rot="0">
              <a:off x="0" y="0"/>
              <a:ext cx="5326761" cy="1574800"/>
            </a:xfrm>
            <a:custGeom>
              <a:avLst/>
              <a:gdLst/>
              <a:ahLst/>
              <a:cxnLst/>
              <a:rect r="r" b="b" t="t" l="l"/>
              <a:pathLst>
                <a:path h="1574800" w="5326761">
                  <a:moveTo>
                    <a:pt x="0" y="148209"/>
                  </a:moveTo>
                  <a:cubicBezTo>
                    <a:pt x="0" y="66421"/>
                    <a:pt x="66421" y="0"/>
                    <a:pt x="148209" y="0"/>
                  </a:cubicBezTo>
                  <a:lnTo>
                    <a:pt x="5178552" y="0"/>
                  </a:lnTo>
                  <a:cubicBezTo>
                    <a:pt x="5260467" y="0"/>
                    <a:pt x="5326761" y="66421"/>
                    <a:pt x="5326761" y="148209"/>
                  </a:cubicBezTo>
                  <a:lnTo>
                    <a:pt x="5326761" y="1426591"/>
                  </a:lnTo>
                  <a:cubicBezTo>
                    <a:pt x="5326761" y="1508506"/>
                    <a:pt x="5260340" y="1574800"/>
                    <a:pt x="5178552" y="1574800"/>
                  </a:cubicBezTo>
                  <a:lnTo>
                    <a:pt x="148209" y="1574800"/>
                  </a:lnTo>
                  <a:cubicBezTo>
                    <a:pt x="66421" y="1574800"/>
                    <a:pt x="0" y="1508379"/>
                    <a:pt x="0" y="1426591"/>
                  </a:cubicBezTo>
                  <a:close/>
                </a:path>
              </a:pathLst>
            </a:custGeom>
            <a:solidFill>
              <a:srgbClr val="DCEBFA"/>
            </a:solidFill>
            <a:ln w="14299" cap="sq">
              <a:solidFill>
                <a:srgbClr val="1F4E79"/>
              </a:solidFill>
              <a:prstDash val="solid"/>
              <a:miter/>
            </a:ln>
          </p:spPr>
        </p:sp>
      </p:grpSp>
      <p:grpSp>
        <p:nvGrpSpPr>
          <p:cNvPr name="Group 32" id="32"/>
          <p:cNvGrpSpPr/>
          <p:nvPr/>
        </p:nvGrpSpPr>
        <p:grpSpPr>
          <a:xfrm rot="0">
            <a:off x="13671814" y="2676716"/>
            <a:ext cx="3706216" cy="1166774"/>
            <a:chOff x="0" y="0"/>
            <a:chExt cx="4941621" cy="1555699"/>
          </a:xfrm>
        </p:grpSpPr>
        <p:sp>
          <p:nvSpPr>
            <p:cNvPr name="Freeform 33" id="33"/>
            <p:cNvSpPr/>
            <p:nvPr/>
          </p:nvSpPr>
          <p:spPr>
            <a:xfrm flipH="false" flipV="false" rot="0">
              <a:off x="0" y="0"/>
              <a:ext cx="4941620" cy="1555695"/>
            </a:xfrm>
            <a:custGeom>
              <a:avLst/>
              <a:gdLst/>
              <a:ahLst/>
              <a:cxnLst/>
              <a:rect r="r" b="b" t="t" l="l"/>
              <a:pathLst>
                <a:path h="1555695" w="4941620">
                  <a:moveTo>
                    <a:pt x="0" y="0"/>
                  </a:moveTo>
                  <a:lnTo>
                    <a:pt x="4941620" y="0"/>
                  </a:lnTo>
                  <a:lnTo>
                    <a:pt x="4941620" y="1555695"/>
                  </a:lnTo>
                  <a:lnTo>
                    <a:pt x="0" y="1555695"/>
                  </a:lnTo>
                  <a:close/>
                </a:path>
              </a:pathLst>
            </a:custGeom>
            <a:blipFill>
              <a:blip r:embed="rId4">
                <a:alphaModFix amt="0"/>
              </a:blip>
              <a:stretch>
                <a:fillRect l="0" t="-11893" r="0" b="-11893"/>
              </a:stretch>
            </a:blipFill>
          </p:spPr>
        </p:sp>
        <p:sp>
          <p:nvSpPr>
            <p:cNvPr name="TextBox 34" id="34"/>
            <p:cNvSpPr txBox="true"/>
            <p:nvPr/>
          </p:nvSpPr>
          <p:spPr>
            <a:xfrm>
              <a:off x="0" y="0"/>
              <a:ext cx="4941621" cy="1555699"/>
            </a:xfrm>
            <a:prstGeom prst="rect">
              <a:avLst/>
            </a:prstGeom>
          </p:spPr>
          <p:txBody>
            <a:bodyPr anchor="ctr" rtlCol="false" tIns="0" lIns="0" bIns="0" rIns="0"/>
            <a:lstStyle/>
            <a:p>
              <a:pPr algn="ctr">
                <a:lnSpc>
                  <a:spcPts val="1891"/>
                </a:lnSpc>
              </a:pPr>
              <a:r>
                <a:rPr lang="en-US" sz="1576" b="true">
                  <a:solidFill>
                    <a:srgbClr val="1F4E79"/>
                  </a:solidFill>
                  <a:latin typeface="Cabin Bold"/>
                  <a:ea typeface="Cabin Bold"/>
                  <a:cs typeface="Cabin Bold"/>
                  <a:sym typeface="Cabin Bold"/>
                </a:rPr>
                <a:t>Jupyter Notebook hoặc VS Code</a:t>
              </a:r>
            </a:p>
          </p:txBody>
        </p:sp>
      </p:grpSp>
      <p:grpSp>
        <p:nvGrpSpPr>
          <p:cNvPr name="Group 35" id="35"/>
          <p:cNvGrpSpPr/>
          <p:nvPr/>
        </p:nvGrpSpPr>
        <p:grpSpPr>
          <a:xfrm rot="0">
            <a:off x="686333" y="4323921"/>
            <a:ext cx="10981382" cy="480431"/>
            <a:chOff x="0" y="0"/>
            <a:chExt cx="14641843" cy="640575"/>
          </a:xfrm>
        </p:grpSpPr>
        <p:sp>
          <p:nvSpPr>
            <p:cNvPr name="Freeform 36" id="36"/>
            <p:cNvSpPr/>
            <p:nvPr/>
          </p:nvSpPr>
          <p:spPr>
            <a:xfrm flipH="false" flipV="false" rot="0">
              <a:off x="0" y="0"/>
              <a:ext cx="14641840" cy="640580"/>
            </a:xfrm>
            <a:custGeom>
              <a:avLst/>
              <a:gdLst/>
              <a:ahLst/>
              <a:cxnLst/>
              <a:rect r="r" b="b" t="t" l="l"/>
              <a:pathLst>
                <a:path h="640580" w="14641840">
                  <a:moveTo>
                    <a:pt x="0" y="0"/>
                  </a:moveTo>
                  <a:lnTo>
                    <a:pt x="14641840" y="0"/>
                  </a:lnTo>
                  <a:lnTo>
                    <a:pt x="14641840" y="640580"/>
                  </a:lnTo>
                  <a:lnTo>
                    <a:pt x="0" y="640580"/>
                  </a:lnTo>
                  <a:close/>
                </a:path>
              </a:pathLst>
            </a:custGeom>
            <a:blipFill>
              <a:blip r:embed="rId4">
                <a:alphaModFix amt="0"/>
              </a:blip>
              <a:stretch>
                <a:fillRect l="0" t="-395372" r="0" b="-395372"/>
              </a:stretch>
            </a:blipFill>
          </p:spPr>
        </p:sp>
        <p:sp>
          <p:nvSpPr>
            <p:cNvPr name="TextBox 37" id="37"/>
            <p:cNvSpPr txBox="true"/>
            <p:nvPr/>
          </p:nvSpPr>
          <p:spPr>
            <a:xfrm>
              <a:off x="0" y="0"/>
              <a:ext cx="14641843" cy="640575"/>
            </a:xfrm>
            <a:prstGeom prst="rect">
              <a:avLst/>
            </a:prstGeom>
          </p:spPr>
          <p:txBody>
            <a:bodyPr anchor="ctr" rtlCol="false" tIns="0" lIns="0" bIns="0" rIns="0"/>
            <a:lstStyle/>
            <a:p>
              <a:pPr algn="l">
                <a:lnSpc>
                  <a:spcPts val="2251"/>
                </a:lnSpc>
              </a:pPr>
              <a:r>
                <a:rPr lang="en-US" sz="1876" b="true">
                  <a:solidFill>
                    <a:srgbClr val="1F4E79"/>
                  </a:solidFill>
                  <a:latin typeface="Cabin Bold"/>
                  <a:ea typeface="Cabin Bold"/>
                  <a:cs typeface="Cabin Bold"/>
                  <a:sym typeface="Cabin Bold"/>
                </a:rPr>
                <a:t>Kiểm tra cài đặt thành công</a:t>
              </a:r>
            </a:p>
          </p:txBody>
        </p:sp>
      </p:grpSp>
      <p:grpSp>
        <p:nvGrpSpPr>
          <p:cNvPr name="Group 38" id="38"/>
          <p:cNvGrpSpPr/>
          <p:nvPr/>
        </p:nvGrpSpPr>
        <p:grpSpPr>
          <a:xfrm rot="0">
            <a:off x="686333" y="4872990"/>
            <a:ext cx="16952500" cy="2882608"/>
            <a:chOff x="0" y="0"/>
            <a:chExt cx="22603333" cy="3843477"/>
          </a:xfrm>
        </p:grpSpPr>
        <p:sp>
          <p:nvSpPr>
            <p:cNvPr name="Freeform 39" id="39"/>
            <p:cNvSpPr/>
            <p:nvPr/>
          </p:nvSpPr>
          <p:spPr>
            <a:xfrm flipH="false" flipV="false" rot="0">
              <a:off x="0" y="0"/>
              <a:ext cx="22603461" cy="3843528"/>
            </a:xfrm>
            <a:custGeom>
              <a:avLst/>
              <a:gdLst/>
              <a:ahLst/>
              <a:cxnLst/>
              <a:rect r="r" b="b" t="t" l="l"/>
              <a:pathLst>
                <a:path h="3843528" w="22603461">
                  <a:moveTo>
                    <a:pt x="0" y="109855"/>
                  </a:moveTo>
                  <a:cubicBezTo>
                    <a:pt x="0" y="49149"/>
                    <a:pt x="49149" y="0"/>
                    <a:pt x="109855" y="0"/>
                  </a:cubicBezTo>
                  <a:lnTo>
                    <a:pt x="22493605" y="0"/>
                  </a:lnTo>
                  <a:cubicBezTo>
                    <a:pt x="22554312" y="0"/>
                    <a:pt x="22603461" y="49149"/>
                    <a:pt x="22603461" y="109855"/>
                  </a:cubicBezTo>
                  <a:lnTo>
                    <a:pt x="22603461" y="3733673"/>
                  </a:lnTo>
                  <a:cubicBezTo>
                    <a:pt x="22603461" y="3794379"/>
                    <a:pt x="22554312" y="3843528"/>
                    <a:pt x="22493605" y="3843528"/>
                  </a:cubicBezTo>
                  <a:lnTo>
                    <a:pt x="109855" y="3843528"/>
                  </a:lnTo>
                  <a:cubicBezTo>
                    <a:pt x="49149" y="3843528"/>
                    <a:pt x="0" y="3794379"/>
                    <a:pt x="0" y="3733673"/>
                  </a:cubicBezTo>
                  <a:close/>
                </a:path>
              </a:pathLst>
            </a:custGeom>
            <a:solidFill>
              <a:srgbClr val="1B2A3C"/>
            </a:solidFill>
          </p:spPr>
        </p:sp>
      </p:grpSp>
      <p:sp>
        <p:nvSpPr>
          <p:cNvPr name="TextBox 40" id="40"/>
          <p:cNvSpPr txBox="true"/>
          <p:nvPr/>
        </p:nvSpPr>
        <p:spPr>
          <a:xfrm rot="0">
            <a:off x="1079764" y="5034677"/>
            <a:ext cx="16165649" cy="2483025"/>
          </a:xfrm>
          <a:prstGeom prst="rect">
            <a:avLst/>
          </a:prstGeom>
        </p:spPr>
        <p:txBody>
          <a:bodyPr anchor="t" rtlCol="false" tIns="0" lIns="0" bIns="0" rIns="0">
            <a:spAutoFit/>
          </a:bodyPr>
          <a:lstStyle/>
          <a:p>
            <a:pPr algn="l">
              <a:lnSpc>
                <a:spcPts val="2476"/>
              </a:lnSpc>
            </a:pPr>
            <a:r>
              <a:rPr lang="en-US" sz="1651">
                <a:solidFill>
                  <a:srgbClr val="E8EEF5"/>
                </a:solidFill>
                <a:latin typeface="Consolas"/>
                <a:ea typeface="Consolas"/>
                <a:cs typeface="Consolas"/>
                <a:sym typeface="Consolas"/>
              </a:rPr>
              <a:t>from pyspark.sql import SparkSession</a:t>
            </a:r>
          </a:p>
          <a:p>
            <a:pPr algn="l">
              <a:lnSpc>
                <a:spcPts val="2476"/>
              </a:lnSpc>
            </a:pPr>
          </a:p>
          <a:p>
            <a:pPr algn="l">
              <a:lnSpc>
                <a:spcPts val="2476"/>
              </a:lnSpc>
            </a:pPr>
            <a:r>
              <a:rPr lang="en-US" sz="1651">
                <a:solidFill>
                  <a:srgbClr val="E8EEF5"/>
                </a:solidFill>
                <a:latin typeface="Consolas"/>
                <a:ea typeface="Consolas"/>
                <a:cs typeface="Consolas"/>
                <a:sym typeface="Consolas"/>
              </a:rPr>
              <a:t>spark = SparkSession.builder \</a:t>
            </a:r>
          </a:p>
          <a:p>
            <a:pPr algn="l">
              <a:lnSpc>
                <a:spcPts val="2476"/>
              </a:lnSpc>
            </a:pPr>
            <a:r>
              <a:rPr lang="en-US" sz="1651">
                <a:solidFill>
                  <a:srgbClr val="E8EEF5"/>
                </a:solidFill>
                <a:latin typeface="Consolas"/>
                <a:ea typeface="Consolas"/>
                <a:cs typeface="Consolas"/>
                <a:sym typeface="Consolas"/>
              </a:rPr>
              <a:t>    .appName("BigDataLab") \</a:t>
            </a:r>
          </a:p>
          <a:p>
            <a:pPr algn="l">
              <a:lnSpc>
                <a:spcPts val="2476"/>
              </a:lnSpc>
            </a:pPr>
            <a:r>
              <a:rPr lang="en-US" sz="1651">
                <a:solidFill>
                  <a:srgbClr val="E8EEF5"/>
                </a:solidFill>
                <a:latin typeface="Consolas"/>
                <a:ea typeface="Consolas"/>
                <a:cs typeface="Consolas"/>
                <a:sym typeface="Consolas"/>
              </a:rPr>
              <a:t>    .master("local[*]") \</a:t>
            </a:r>
          </a:p>
          <a:p>
            <a:pPr algn="l">
              <a:lnSpc>
                <a:spcPts val="2476"/>
              </a:lnSpc>
            </a:pPr>
            <a:r>
              <a:rPr lang="en-US" sz="1651">
                <a:solidFill>
                  <a:srgbClr val="E8EEF5"/>
                </a:solidFill>
                <a:latin typeface="Consolas"/>
                <a:ea typeface="Consolas"/>
                <a:cs typeface="Consolas"/>
                <a:sym typeface="Consolas"/>
              </a:rPr>
              <a:t>    .getOrCreate()</a:t>
            </a:r>
          </a:p>
          <a:p>
            <a:pPr algn="l">
              <a:lnSpc>
                <a:spcPts val="2476"/>
              </a:lnSpc>
            </a:pPr>
          </a:p>
          <a:p>
            <a:pPr algn="l">
              <a:lnSpc>
                <a:spcPts val="2476"/>
              </a:lnSpc>
            </a:pPr>
            <a:r>
              <a:rPr lang="en-US" sz="1651">
                <a:solidFill>
                  <a:srgbClr val="E8EEF5"/>
                </a:solidFill>
                <a:latin typeface="Consolas"/>
                <a:ea typeface="Consolas"/>
                <a:cs typeface="Consolas"/>
                <a:sym typeface="Consolas"/>
              </a:rPr>
              <a:t>print(spark.version)</a:t>
            </a:r>
          </a:p>
        </p:txBody>
      </p:sp>
      <p:grpSp>
        <p:nvGrpSpPr>
          <p:cNvPr name="Group 41" id="41"/>
          <p:cNvGrpSpPr/>
          <p:nvPr/>
        </p:nvGrpSpPr>
        <p:grpSpPr>
          <a:xfrm rot="0">
            <a:off x="0" y="9677343"/>
            <a:ext cx="18301840" cy="617706"/>
            <a:chOff x="0" y="0"/>
            <a:chExt cx="24402453" cy="823608"/>
          </a:xfrm>
        </p:grpSpPr>
        <p:sp>
          <p:nvSpPr>
            <p:cNvPr name="Freeform 42" id="42"/>
            <p:cNvSpPr/>
            <p:nvPr/>
          </p:nvSpPr>
          <p:spPr>
            <a:xfrm flipH="false" flipV="false" rot="0">
              <a:off x="0" y="0"/>
              <a:ext cx="24402414" cy="823595"/>
            </a:xfrm>
            <a:custGeom>
              <a:avLst/>
              <a:gdLst/>
              <a:ahLst/>
              <a:cxnLst/>
              <a:rect r="r" b="b" t="t" l="l"/>
              <a:pathLst>
                <a:path h="823595" w="24402414">
                  <a:moveTo>
                    <a:pt x="0" y="0"/>
                  </a:moveTo>
                  <a:lnTo>
                    <a:pt x="24402414" y="0"/>
                  </a:lnTo>
                  <a:lnTo>
                    <a:pt x="24402414" y="823595"/>
                  </a:lnTo>
                  <a:lnTo>
                    <a:pt x="0" y="823595"/>
                  </a:lnTo>
                  <a:close/>
                </a:path>
              </a:pathLst>
            </a:custGeom>
            <a:solidFill>
              <a:srgbClr val="1F4E79"/>
            </a:solidFill>
          </p:spPr>
        </p:sp>
      </p:grpSp>
      <p:grpSp>
        <p:nvGrpSpPr>
          <p:cNvPr name="Group 43" id="43"/>
          <p:cNvGrpSpPr/>
          <p:nvPr/>
        </p:nvGrpSpPr>
        <p:grpSpPr>
          <a:xfrm rot="0">
            <a:off x="480431" y="9677343"/>
            <a:ext cx="10981382" cy="617706"/>
            <a:chOff x="0" y="0"/>
            <a:chExt cx="14641843" cy="823608"/>
          </a:xfrm>
        </p:grpSpPr>
        <p:sp>
          <p:nvSpPr>
            <p:cNvPr name="Freeform 44" id="44"/>
            <p:cNvSpPr/>
            <p:nvPr/>
          </p:nvSpPr>
          <p:spPr>
            <a:xfrm flipH="false" flipV="false" rot="0">
              <a:off x="0" y="0"/>
              <a:ext cx="14641840" cy="823603"/>
            </a:xfrm>
            <a:custGeom>
              <a:avLst/>
              <a:gdLst/>
              <a:ahLst/>
              <a:cxnLst/>
              <a:rect r="r" b="b" t="t" l="l"/>
              <a:pathLst>
                <a:path h="823603" w="14641840">
                  <a:moveTo>
                    <a:pt x="0" y="0"/>
                  </a:moveTo>
                  <a:lnTo>
                    <a:pt x="14641840" y="0"/>
                  </a:lnTo>
                  <a:lnTo>
                    <a:pt x="14641840" y="823603"/>
                  </a:lnTo>
                  <a:lnTo>
                    <a:pt x="0" y="823603"/>
                  </a:lnTo>
                  <a:close/>
                </a:path>
              </a:pathLst>
            </a:custGeom>
            <a:blipFill>
              <a:blip r:embed="rId4">
                <a:alphaModFix amt="0"/>
              </a:blip>
              <a:stretch>
                <a:fillRect l="0" t="-296400" r="0" b="-296401"/>
              </a:stretch>
            </a:blipFill>
          </p:spPr>
        </p:sp>
        <p:sp>
          <p:nvSpPr>
            <p:cNvPr name="TextBox 45" id="45"/>
            <p:cNvSpPr txBox="true"/>
            <p:nvPr/>
          </p:nvSpPr>
          <p:spPr>
            <a:xfrm>
              <a:off x="0" y="0"/>
              <a:ext cx="14641843" cy="823608"/>
            </a:xfrm>
            <a:prstGeom prst="rect">
              <a:avLst/>
            </a:prstGeom>
          </p:spPr>
          <p:txBody>
            <a:bodyPr anchor="ctr" rtlCol="false" tIns="0" lIns="0" bIns="0" rIns="0"/>
            <a:lstStyle/>
            <a:p>
              <a:pPr algn="l">
                <a:lnSpc>
                  <a:spcPts val="1621"/>
                </a:lnSpc>
              </a:pPr>
              <a:r>
                <a:rPr lang="en-US" sz="1351">
                  <a:solidFill>
                    <a:srgbClr val="FFFFFF"/>
                  </a:solidFill>
                  <a:latin typeface="Cabin"/>
                  <a:ea typeface="Cabin"/>
                  <a:cs typeface="Cabin"/>
                  <a:sym typeface="Cabin"/>
                </a:rPr>
                <a:t>VNU UET – Institute for Artificial Intelligence</a:t>
              </a:r>
            </a:p>
          </p:txBody>
        </p:sp>
      </p:grpSp>
      <p:grpSp>
        <p:nvGrpSpPr>
          <p:cNvPr name="Group 46" id="46"/>
          <p:cNvGrpSpPr/>
          <p:nvPr/>
        </p:nvGrpSpPr>
        <p:grpSpPr>
          <a:xfrm rot="0">
            <a:off x="17066438" y="9677343"/>
            <a:ext cx="823608" cy="617706"/>
            <a:chOff x="0" y="0"/>
            <a:chExt cx="1098144" cy="823608"/>
          </a:xfrm>
        </p:grpSpPr>
        <p:sp>
          <p:nvSpPr>
            <p:cNvPr name="Freeform 47" id="47"/>
            <p:cNvSpPr/>
            <p:nvPr/>
          </p:nvSpPr>
          <p:spPr>
            <a:xfrm flipH="false" flipV="false" rot="0">
              <a:off x="0" y="0"/>
              <a:ext cx="1098138" cy="823603"/>
            </a:xfrm>
            <a:custGeom>
              <a:avLst/>
              <a:gdLst/>
              <a:ahLst/>
              <a:cxnLst/>
              <a:rect r="r" b="b" t="t" l="l"/>
              <a:pathLst>
                <a:path h="823603" w="1098138">
                  <a:moveTo>
                    <a:pt x="0" y="0"/>
                  </a:moveTo>
                  <a:lnTo>
                    <a:pt x="1098138" y="0"/>
                  </a:lnTo>
                  <a:lnTo>
                    <a:pt x="1098138" y="823603"/>
                  </a:lnTo>
                  <a:lnTo>
                    <a:pt x="0" y="823603"/>
                  </a:lnTo>
                  <a:close/>
                </a:path>
              </a:pathLst>
            </a:custGeom>
            <a:blipFill>
              <a:blip r:embed="rId4">
                <a:alphaModFix amt="0"/>
              </a:blip>
              <a:stretch>
                <a:fillRect l="-46227" t="0" r="-46228" b="0"/>
              </a:stretch>
            </a:blipFill>
          </p:spPr>
        </p:sp>
        <p:sp>
          <p:nvSpPr>
            <p:cNvPr name="TextBox 48" id="48"/>
            <p:cNvSpPr txBox="true"/>
            <p:nvPr/>
          </p:nvSpPr>
          <p:spPr>
            <a:xfrm>
              <a:off x="0" y="0"/>
              <a:ext cx="1098144" cy="823608"/>
            </a:xfrm>
            <a:prstGeom prst="rect">
              <a:avLst/>
            </a:prstGeom>
          </p:spPr>
          <p:txBody>
            <a:bodyPr anchor="ctr" rtlCol="false" tIns="0" lIns="0" bIns="0" rIns="0"/>
            <a:lstStyle/>
            <a:p>
              <a:pPr algn="r">
                <a:lnSpc>
                  <a:spcPts val="1621"/>
                </a:lnSpc>
              </a:pPr>
              <a:r>
                <a:rPr lang="en-US" sz="1351">
                  <a:solidFill>
                    <a:srgbClr val="FFFFFF"/>
                  </a:solidFill>
                  <a:latin typeface="Cabin"/>
                  <a:ea typeface="Cabin"/>
                  <a:cs typeface="Cabin"/>
                  <a:sym typeface="Cabin"/>
                </a:rPr>
                <a:t>26</a:t>
              </a:r>
            </a:p>
          </p:txBody>
        </p:sp>
      </p:grpSp>
      <p:grpSp>
        <p:nvGrpSpPr>
          <p:cNvPr name="Group 49" id="49"/>
          <p:cNvGrpSpPr/>
          <p:nvPr/>
        </p:nvGrpSpPr>
        <p:grpSpPr>
          <a:xfrm rot="0">
            <a:off x="0" y="0"/>
            <a:ext cx="18288000" cy="315468"/>
            <a:chOff x="0" y="0"/>
            <a:chExt cx="24384000" cy="420624"/>
          </a:xfrm>
        </p:grpSpPr>
        <p:sp>
          <p:nvSpPr>
            <p:cNvPr name="Freeform 50" id="50"/>
            <p:cNvSpPr/>
            <p:nvPr/>
          </p:nvSpPr>
          <p:spPr>
            <a:xfrm flipH="false" flipV="false" rot="0">
              <a:off x="0" y="0"/>
              <a:ext cx="24384000" cy="420624"/>
            </a:xfrm>
            <a:custGeom>
              <a:avLst/>
              <a:gdLst/>
              <a:ahLst/>
              <a:cxnLst/>
              <a:rect r="r" b="b" t="t" l="l"/>
              <a:pathLst>
                <a:path h="420624" w="24384000">
                  <a:moveTo>
                    <a:pt x="0" y="0"/>
                  </a:moveTo>
                  <a:lnTo>
                    <a:pt x="24384000" y="0"/>
                  </a:lnTo>
                  <a:lnTo>
                    <a:pt x="24384000" y="420624"/>
                  </a:lnTo>
                  <a:lnTo>
                    <a:pt x="0" y="420624"/>
                  </a:lnTo>
                  <a:close/>
                </a:path>
              </a:pathLst>
            </a:custGeom>
            <a:solidFill>
              <a:srgbClr val="0F3F6F"/>
            </a:solidFill>
          </p:spPr>
        </p:sp>
      </p:grpSp>
      <p:grpSp>
        <p:nvGrpSpPr>
          <p:cNvPr name="Group 51" id="51"/>
          <p:cNvGrpSpPr/>
          <p:nvPr/>
        </p:nvGrpSpPr>
        <p:grpSpPr>
          <a:xfrm rot="0">
            <a:off x="13098780" y="0"/>
            <a:ext cx="1453896" cy="1508760"/>
            <a:chOff x="0" y="0"/>
            <a:chExt cx="1938528" cy="2011680"/>
          </a:xfrm>
        </p:grpSpPr>
        <p:sp>
          <p:nvSpPr>
            <p:cNvPr name="Freeform 52" id="52"/>
            <p:cNvSpPr/>
            <p:nvPr/>
          </p:nvSpPr>
          <p:spPr>
            <a:xfrm flipH="false" flipV="false" rot="0">
              <a:off x="0" y="0"/>
              <a:ext cx="1938528" cy="2011680"/>
            </a:xfrm>
            <a:custGeom>
              <a:avLst/>
              <a:gdLst/>
              <a:ahLst/>
              <a:cxnLst/>
              <a:rect r="r" b="b" t="t" l="l"/>
              <a:pathLst>
                <a:path h="2011680" w="1938528">
                  <a:moveTo>
                    <a:pt x="0" y="2011680"/>
                  </a:moveTo>
                  <a:lnTo>
                    <a:pt x="484632" y="0"/>
                  </a:lnTo>
                  <a:lnTo>
                    <a:pt x="1938528" y="0"/>
                  </a:lnTo>
                  <a:lnTo>
                    <a:pt x="1453896" y="2011680"/>
                  </a:lnTo>
                  <a:close/>
                </a:path>
              </a:pathLst>
            </a:custGeom>
            <a:solidFill>
              <a:srgbClr val="85B518"/>
            </a:solidFill>
          </p:spPr>
        </p:sp>
      </p:grpSp>
      <p:grpSp>
        <p:nvGrpSpPr>
          <p:cNvPr name="Group 53" id="53"/>
          <p:cNvGrpSpPr/>
          <p:nvPr/>
        </p:nvGrpSpPr>
        <p:grpSpPr>
          <a:xfrm rot="0">
            <a:off x="14621256" y="0"/>
            <a:ext cx="1508760" cy="1508760"/>
            <a:chOff x="0" y="0"/>
            <a:chExt cx="2011680" cy="2011680"/>
          </a:xfrm>
        </p:grpSpPr>
        <p:sp>
          <p:nvSpPr>
            <p:cNvPr name="Freeform 54" id="54"/>
            <p:cNvSpPr/>
            <p:nvPr/>
          </p:nvSpPr>
          <p:spPr>
            <a:xfrm flipH="false" flipV="false" rot="0">
              <a:off x="0" y="0"/>
              <a:ext cx="2011680" cy="2011680"/>
            </a:xfrm>
            <a:custGeom>
              <a:avLst/>
              <a:gdLst/>
              <a:ahLst/>
              <a:cxnLst/>
              <a:rect r="r" b="b" t="t" l="l"/>
              <a:pathLst>
                <a:path h="2011680" w="2011680">
                  <a:moveTo>
                    <a:pt x="0" y="2011680"/>
                  </a:moveTo>
                  <a:lnTo>
                    <a:pt x="502920" y="0"/>
                  </a:lnTo>
                  <a:lnTo>
                    <a:pt x="2011680" y="0"/>
                  </a:lnTo>
                  <a:lnTo>
                    <a:pt x="1508760" y="2011680"/>
                  </a:lnTo>
                  <a:close/>
                </a:path>
              </a:pathLst>
            </a:custGeom>
            <a:solidFill>
              <a:srgbClr val="0F3F6F"/>
            </a:solidFill>
          </p:spPr>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97801" y="384353"/>
            <a:ext cx="851059" cy="851059"/>
            <a:chOff x="0" y="0"/>
            <a:chExt cx="1134745" cy="1134745"/>
          </a:xfrm>
        </p:grpSpPr>
        <p:sp>
          <p:nvSpPr>
            <p:cNvPr name="Freeform 3" id="3" descr="/home/claude/work/assets/logo.png"/>
            <p:cNvSpPr/>
            <p:nvPr/>
          </p:nvSpPr>
          <p:spPr>
            <a:xfrm flipH="false" flipV="false" rot="0">
              <a:off x="0" y="0"/>
              <a:ext cx="1134745" cy="1134745"/>
            </a:xfrm>
            <a:custGeom>
              <a:avLst/>
              <a:gdLst/>
              <a:ahLst/>
              <a:cxnLst/>
              <a:rect r="r" b="b" t="t" l="l"/>
              <a:pathLst>
                <a:path h="1134745" w="1134745">
                  <a:moveTo>
                    <a:pt x="0" y="0"/>
                  </a:moveTo>
                  <a:lnTo>
                    <a:pt x="1134745" y="0"/>
                  </a:lnTo>
                  <a:lnTo>
                    <a:pt x="1134745" y="1134745"/>
                  </a:lnTo>
                  <a:lnTo>
                    <a:pt x="0" y="1134745"/>
                  </a:lnTo>
                  <a:lnTo>
                    <a:pt x="0" y="0"/>
                  </a:lnTo>
                  <a:close/>
                </a:path>
              </a:pathLst>
            </a:custGeom>
            <a:blipFill>
              <a:blip r:embed="rId3"/>
              <a:stretch>
                <a:fillRect l="0" t="0" r="0" b="0"/>
              </a:stretch>
            </a:blipFill>
          </p:spPr>
        </p:sp>
      </p:grpSp>
      <p:grpSp>
        <p:nvGrpSpPr>
          <p:cNvPr name="Group 4" id="4"/>
          <p:cNvGrpSpPr/>
          <p:nvPr/>
        </p:nvGrpSpPr>
        <p:grpSpPr>
          <a:xfrm rot="0">
            <a:off x="686333" y="384353"/>
            <a:ext cx="10981382" cy="411804"/>
            <a:chOff x="0" y="0"/>
            <a:chExt cx="14641843" cy="549072"/>
          </a:xfrm>
        </p:grpSpPr>
        <p:sp>
          <p:nvSpPr>
            <p:cNvPr name="Freeform 5" id="5"/>
            <p:cNvSpPr/>
            <p:nvPr/>
          </p:nvSpPr>
          <p:spPr>
            <a:xfrm flipH="false" flipV="false" rot="0">
              <a:off x="0" y="0"/>
              <a:ext cx="14641840" cy="549069"/>
            </a:xfrm>
            <a:custGeom>
              <a:avLst/>
              <a:gdLst/>
              <a:ahLst/>
              <a:cxnLst/>
              <a:rect r="r" b="b" t="t" l="l"/>
              <a:pathLst>
                <a:path h="549069" w="14641840">
                  <a:moveTo>
                    <a:pt x="0" y="0"/>
                  </a:moveTo>
                  <a:lnTo>
                    <a:pt x="14641840" y="0"/>
                  </a:lnTo>
                  <a:lnTo>
                    <a:pt x="14641840" y="549069"/>
                  </a:lnTo>
                  <a:lnTo>
                    <a:pt x="0" y="549069"/>
                  </a:lnTo>
                  <a:close/>
                </a:path>
              </a:pathLst>
            </a:custGeom>
            <a:blipFill>
              <a:blip r:embed="rId4">
                <a:alphaModFix amt="0"/>
              </a:blip>
              <a:stretch>
                <a:fillRect l="0" t="-469600" r="0" b="-469601"/>
              </a:stretch>
            </a:blipFill>
          </p:spPr>
        </p:sp>
        <p:sp>
          <p:nvSpPr>
            <p:cNvPr name="TextBox 6" id="6"/>
            <p:cNvSpPr txBox="true"/>
            <p:nvPr/>
          </p:nvSpPr>
          <p:spPr>
            <a:xfrm>
              <a:off x="0" y="0"/>
              <a:ext cx="14641843" cy="549072"/>
            </a:xfrm>
            <a:prstGeom prst="rect">
              <a:avLst/>
            </a:prstGeom>
          </p:spPr>
          <p:txBody>
            <a:bodyPr anchor="ctr" rtlCol="false" tIns="0" lIns="0" bIns="0" rIns="0"/>
            <a:lstStyle/>
            <a:p>
              <a:pPr algn="l">
                <a:lnSpc>
                  <a:spcPts val="1981"/>
                </a:lnSpc>
              </a:pPr>
              <a:r>
                <a:rPr lang="en-US" sz="1651" i="true">
                  <a:solidFill>
                    <a:srgbClr val="4A4A4A"/>
                  </a:solidFill>
                  <a:latin typeface="Cabin Italics"/>
                  <a:ea typeface="Cabin Italics"/>
                  <a:cs typeface="Cabin Italics"/>
                  <a:sym typeface="Cabin Italics"/>
                </a:rPr>
                <a:t>5.11. Đọc dữ liệu bằng Spark · Bài 05 · Thực hành</a:t>
              </a:r>
            </a:p>
          </p:txBody>
        </p:sp>
      </p:grpSp>
      <p:grpSp>
        <p:nvGrpSpPr>
          <p:cNvPr name="Group 7" id="7"/>
          <p:cNvGrpSpPr/>
          <p:nvPr/>
        </p:nvGrpSpPr>
        <p:grpSpPr>
          <a:xfrm rot="0">
            <a:off x="686333" y="823608"/>
            <a:ext cx="82363" cy="754971"/>
            <a:chOff x="0" y="0"/>
            <a:chExt cx="109817" cy="1006627"/>
          </a:xfrm>
        </p:grpSpPr>
        <p:sp>
          <p:nvSpPr>
            <p:cNvPr name="Freeform 8" id="8"/>
            <p:cNvSpPr/>
            <p:nvPr/>
          </p:nvSpPr>
          <p:spPr>
            <a:xfrm flipH="false" flipV="false" rot="0">
              <a:off x="0" y="0"/>
              <a:ext cx="109855" cy="1006602"/>
            </a:xfrm>
            <a:custGeom>
              <a:avLst/>
              <a:gdLst/>
              <a:ahLst/>
              <a:cxnLst/>
              <a:rect r="r" b="b" t="t" l="l"/>
              <a:pathLst>
                <a:path h="1006602" w="109855">
                  <a:moveTo>
                    <a:pt x="0" y="0"/>
                  </a:moveTo>
                  <a:lnTo>
                    <a:pt x="109855" y="0"/>
                  </a:lnTo>
                  <a:lnTo>
                    <a:pt x="109855" y="1006602"/>
                  </a:lnTo>
                  <a:lnTo>
                    <a:pt x="0" y="1006602"/>
                  </a:lnTo>
                  <a:close/>
                </a:path>
              </a:pathLst>
            </a:custGeom>
            <a:solidFill>
              <a:srgbClr val="85B518"/>
            </a:solidFill>
          </p:spPr>
        </p:sp>
      </p:grpSp>
      <p:grpSp>
        <p:nvGrpSpPr>
          <p:cNvPr name="Group 9" id="9"/>
          <p:cNvGrpSpPr/>
          <p:nvPr/>
        </p:nvGrpSpPr>
        <p:grpSpPr>
          <a:xfrm rot="0">
            <a:off x="960872" y="796147"/>
            <a:ext cx="15831026" cy="823608"/>
            <a:chOff x="0" y="0"/>
            <a:chExt cx="21108035" cy="1098144"/>
          </a:xfrm>
        </p:grpSpPr>
        <p:sp>
          <p:nvSpPr>
            <p:cNvPr name="Freeform 10" id="10"/>
            <p:cNvSpPr/>
            <p:nvPr/>
          </p:nvSpPr>
          <p:spPr>
            <a:xfrm flipH="false" flipV="false" rot="0">
              <a:off x="0" y="0"/>
              <a:ext cx="21108040" cy="1098138"/>
            </a:xfrm>
            <a:custGeom>
              <a:avLst/>
              <a:gdLst/>
              <a:ahLst/>
              <a:cxnLst/>
              <a:rect r="r" b="b" t="t" l="l"/>
              <a:pathLst>
                <a:path h="1098138" w="21108040">
                  <a:moveTo>
                    <a:pt x="0" y="0"/>
                  </a:moveTo>
                  <a:lnTo>
                    <a:pt x="21108040" y="0"/>
                  </a:lnTo>
                  <a:lnTo>
                    <a:pt x="21108040" y="1098138"/>
                  </a:lnTo>
                  <a:lnTo>
                    <a:pt x="0" y="1098138"/>
                  </a:lnTo>
                  <a:close/>
                </a:path>
              </a:pathLst>
            </a:custGeom>
            <a:blipFill>
              <a:blip r:embed="rId4">
                <a:alphaModFix amt="0"/>
              </a:blip>
              <a:stretch>
                <a:fillRect l="0" t="-324534" r="0" b="-324535"/>
              </a:stretch>
            </a:blipFill>
          </p:spPr>
        </p:sp>
        <p:sp>
          <p:nvSpPr>
            <p:cNvPr name="TextBox 11" id="11"/>
            <p:cNvSpPr txBox="true"/>
            <p:nvPr/>
          </p:nvSpPr>
          <p:spPr>
            <a:xfrm>
              <a:off x="0" y="0"/>
              <a:ext cx="21108035" cy="1098144"/>
            </a:xfrm>
            <a:prstGeom prst="rect">
              <a:avLst/>
            </a:prstGeom>
          </p:spPr>
          <p:txBody>
            <a:bodyPr anchor="ctr" rtlCol="false" tIns="0" lIns="0" bIns="0" rIns="0"/>
            <a:lstStyle/>
            <a:p>
              <a:pPr algn="l">
                <a:lnSpc>
                  <a:spcPts val="3782"/>
                </a:lnSpc>
              </a:pPr>
              <a:r>
                <a:rPr lang="en-US" sz="3152" b="true">
                  <a:solidFill>
                    <a:srgbClr val="1F4E79"/>
                  </a:solidFill>
                  <a:latin typeface="Cabin Bold"/>
                  <a:ea typeface="Cabin Bold"/>
                  <a:cs typeface="Cabin Bold"/>
                  <a:sym typeface="Cabin Bold"/>
                </a:rPr>
                <a:t>Đọc dữ liệu bằng Spark</a:t>
              </a:r>
            </a:p>
          </p:txBody>
        </p:sp>
      </p:grpSp>
      <p:grpSp>
        <p:nvGrpSpPr>
          <p:cNvPr name="Group 12" id="12"/>
          <p:cNvGrpSpPr/>
          <p:nvPr/>
        </p:nvGrpSpPr>
        <p:grpSpPr>
          <a:xfrm rot="0">
            <a:off x="686333" y="2059010"/>
            <a:ext cx="16883872" cy="549069"/>
            <a:chOff x="0" y="0"/>
            <a:chExt cx="22511830" cy="732092"/>
          </a:xfrm>
        </p:grpSpPr>
        <p:sp>
          <p:nvSpPr>
            <p:cNvPr name="Freeform 13" id="13"/>
            <p:cNvSpPr/>
            <p:nvPr/>
          </p:nvSpPr>
          <p:spPr>
            <a:xfrm flipH="false" flipV="false" rot="0">
              <a:off x="0" y="0"/>
              <a:ext cx="22511827" cy="732092"/>
            </a:xfrm>
            <a:custGeom>
              <a:avLst/>
              <a:gdLst/>
              <a:ahLst/>
              <a:cxnLst/>
              <a:rect r="r" b="b" t="t" l="l"/>
              <a:pathLst>
                <a:path h="732092" w="22511827">
                  <a:moveTo>
                    <a:pt x="0" y="0"/>
                  </a:moveTo>
                  <a:lnTo>
                    <a:pt x="22511827" y="0"/>
                  </a:lnTo>
                  <a:lnTo>
                    <a:pt x="22511827" y="732092"/>
                  </a:lnTo>
                  <a:lnTo>
                    <a:pt x="0" y="732092"/>
                  </a:lnTo>
                  <a:close/>
                </a:path>
              </a:pathLst>
            </a:custGeom>
            <a:blipFill>
              <a:blip r:embed="rId4">
                <a:alphaModFix amt="0"/>
              </a:blip>
              <a:stretch>
                <a:fillRect l="0" t="-549165" r="0" b="-549164"/>
              </a:stretch>
            </a:blipFill>
          </p:spPr>
        </p:sp>
        <p:sp>
          <p:nvSpPr>
            <p:cNvPr name="TextBox 14" id="14"/>
            <p:cNvSpPr txBox="true"/>
            <p:nvPr/>
          </p:nvSpPr>
          <p:spPr>
            <a:xfrm>
              <a:off x="0" y="0"/>
              <a:ext cx="22511830" cy="732092"/>
            </a:xfrm>
            <a:prstGeom prst="rect">
              <a:avLst/>
            </a:prstGeom>
          </p:spPr>
          <p:txBody>
            <a:bodyPr anchor="ctr" rtlCol="false" tIns="0" lIns="0" bIns="0" rIns="0"/>
            <a:lstStyle/>
            <a:p>
              <a:pPr algn="l">
                <a:lnSpc>
                  <a:spcPts val="2071"/>
                </a:lnSpc>
              </a:pPr>
              <a:r>
                <a:rPr lang="en-US" sz="1726" i="true">
                  <a:solidFill>
                    <a:srgbClr val="4A4A4A"/>
                  </a:solidFill>
                  <a:latin typeface="Cabin Italics"/>
                  <a:ea typeface="Cabin Italics"/>
                  <a:cs typeface="Cabin Italics"/>
                  <a:sym typeface="Cabin Italics"/>
                </a:rPr>
                <a:t>Tiếp nối trực tiếp dataset giao dịch (transactions.csv) đã dùng ở Bài 4.</a:t>
              </a:r>
            </a:p>
          </p:txBody>
        </p:sp>
      </p:grpSp>
      <p:grpSp>
        <p:nvGrpSpPr>
          <p:cNvPr name="Group 15" id="15"/>
          <p:cNvGrpSpPr/>
          <p:nvPr/>
        </p:nvGrpSpPr>
        <p:grpSpPr>
          <a:xfrm rot="0">
            <a:off x="686333" y="2813980"/>
            <a:ext cx="10981382" cy="480431"/>
            <a:chOff x="0" y="0"/>
            <a:chExt cx="14641843" cy="640575"/>
          </a:xfrm>
        </p:grpSpPr>
        <p:sp>
          <p:nvSpPr>
            <p:cNvPr name="Freeform 16" id="16"/>
            <p:cNvSpPr/>
            <p:nvPr/>
          </p:nvSpPr>
          <p:spPr>
            <a:xfrm flipH="false" flipV="false" rot="0">
              <a:off x="0" y="0"/>
              <a:ext cx="14641840" cy="640580"/>
            </a:xfrm>
            <a:custGeom>
              <a:avLst/>
              <a:gdLst/>
              <a:ahLst/>
              <a:cxnLst/>
              <a:rect r="r" b="b" t="t" l="l"/>
              <a:pathLst>
                <a:path h="640580" w="14641840">
                  <a:moveTo>
                    <a:pt x="0" y="0"/>
                  </a:moveTo>
                  <a:lnTo>
                    <a:pt x="14641840" y="0"/>
                  </a:lnTo>
                  <a:lnTo>
                    <a:pt x="14641840" y="640580"/>
                  </a:lnTo>
                  <a:lnTo>
                    <a:pt x="0" y="640580"/>
                  </a:lnTo>
                  <a:close/>
                </a:path>
              </a:pathLst>
            </a:custGeom>
            <a:blipFill>
              <a:blip r:embed="rId4">
                <a:alphaModFix amt="0"/>
              </a:blip>
              <a:stretch>
                <a:fillRect l="0" t="-395372" r="0" b="-395372"/>
              </a:stretch>
            </a:blipFill>
          </p:spPr>
        </p:sp>
        <p:sp>
          <p:nvSpPr>
            <p:cNvPr name="TextBox 17" id="17"/>
            <p:cNvSpPr txBox="true"/>
            <p:nvPr/>
          </p:nvSpPr>
          <p:spPr>
            <a:xfrm>
              <a:off x="0" y="0"/>
              <a:ext cx="14641843" cy="640575"/>
            </a:xfrm>
            <a:prstGeom prst="rect">
              <a:avLst/>
            </a:prstGeom>
          </p:spPr>
          <p:txBody>
            <a:bodyPr anchor="ctr" rtlCol="false" tIns="0" lIns="0" bIns="0" rIns="0"/>
            <a:lstStyle/>
            <a:p>
              <a:pPr algn="l">
                <a:lnSpc>
                  <a:spcPts val="2251"/>
                </a:lnSpc>
              </a:pPr>
              <a:r>
                <a:rPr lang="en-US" sz="1876" b="true">
                  <a:solidFill>
                    <a:srgbClr val="1F4E79"/>
                  </a:solidFill>
                  <a:latin typeface="Cabin Bold"/>
                  <a:ea typeface="Cabin Bold"/>
                  <a:cs typeface="Cabin Bold"/>
                  <a:sym typeface="Cabin Bold"/>
                </a:rPr>
                <a:t>Đọc file CSV bằng PySpark</a:t>
              </a:r>
            </a:p>
          </p:txBody>
        </p:sp>
      </p:grpSp>
      <p:grpSp>
        <p:nvGrpSpPr>
          <p:cNvPr name="Group 18" id="18"/>
          <p:cNvGrpSpPr/>
          <p:nvPr/>
        </p:nvGrpSpPr>
        <p:grpSpPr>
          <a:xfrm rot="0">
            <a:off x="686333" y="3363049"/>
            <a:ext cx="16952500" cy="2608078"/>
            <a:chOff x="0" y="0"/>
            <a:chExt cx="22603333" cy="3477438"/>
          </a:xfrm>
        </p:grpSpPr>
        <p:sp>
          <p:nvSpPr>
            <p:cNvPr name="Freeform 19" id="19"/>
            <p:cNvSpPr/>
            <p:nvPr/>
          </p:nvSpPr>
          <p:spPr>
            <a:xfrm flipH="false" flipV="false" rot="0">
              <a:off x="0" y="0"/>
              <a:ext cx="22603461" cy="3477514"/>
            </a:xfrm>
            <a:custGeom>
              <a:avLst/>
              <a:gdLst/>
              <a:ahLst/>
              <a:cxnLst/>
              <a:rect r="r" b="b" t="t" l="l"/>
              <a:pathLst>
                <a:path h="3477514" w="22603461">
                  <a:moveTo>
                    <a:pt x="0" y="109855"/>
                  </a:moveTo>
                  <a:cubicBezTo>
                    <a:pt x="0" y="49149"/>
                    <a:pt x="49149" y="0"/>
                    <a:pt x="109855" y="0"/>
                  </a:cubicBezTo>
                  <a:lnTo>
                    <a:pt x="22493605" y="0"/>
                  </a:lnTo>
                  <a:cubicBezTo>
                    <a:pt x="22554312" y="0"/>
                    <a:pt x="22603461" y="49149"/>
                    <a:pt x="22603461" y="109855"/>
                  </a:cubicBezTo>
                  <a:lnTo>
                    <a:pt x="22603461" y="3367659"/>
                  </a:lnTo>
                  <a:cubicBezTo>
                    <a:pt x="22603461" y="3428365"/>
                    <a:pt x="22554312" y="3477514"/>
                    <a:pt x="22493605" y="3477514"/>
                  </a:cubicBezTo>
                  <a:lnTo>
                    <a:pt x="109855" y="3477514"/>
                  </a:lnTo>
                  <a:cubicBezTo>
                    <a:pt x="49149" y="3477514"/>
                    <a:pt x="0" y="3428365"/>
                    <a:pt x="0" y="3367659"/>
                  </a:cubicBezTo>
                  <a:close/>
                </a:path>
              </a:pathLst>
            </a:custGeom>
            <a:solidFill>
              <a:srgbClr val="1B2A3C"/>
            </a:solidFill>
          </p:spPr>
        </p:sp>
      </p:grpSp>
      <p:sp>
        <p:nvSpPr>
          <p:cNvPr name="TextBox 20" id="20"/>
          <p:cNvSpPr txBox="true"/>
          <p:nvPr/>
        </p:nvSpPr>
        <p:spPr>
          <a:xfrm rot="0">
            <a:off x="1079764" y="3524745"/>
            <a:ext cx="16165649" cy="2208486"/>
          </a:xfrm>
          <a:prstGeom prst="rect">
            <a:avLst/>
          </a:prstGeom>
        </p:spPr>
        <p:txBody>
          <a:bodyPr anchor="t" rtlCol="false" tIns="0" lIns="0" bIns="0" rIns="0">
            <a:spAutoFit/>
          </a:bodyPr>
          <a:lstStyle/>
          <a:p>
            <a:pPr algn="l">
              <a:lnSpc>
                <a:spcPts val="2476"/>
              </a:lnSpc>
            </a:pPr>
            <a:r>
              <a:rPr lang="en-US" sz="1651">
                <a:solidFill>
                  <a:srgbClr val="E8EEF5"/>
                </a:solidFill>
                <a:latin typeface="Consolas"/>
                <a:ea typeface="Consolas"/>
                <a:cs typeface="Consolas"/>
                <a:sym typeface="Consolas"/>
              </a:rPr>
              <a:t>df = spark.read.csv(</a:t>
            </a:r>
          </a:p>
          <a:p>
            <a:pPr algn="l">
              <a:lnSpc>
                <a:spcPts val="2476"/>
              </a:lnSpc>
            </a:pPr>
            <a:r>
              <a:rPr lang="en-US" sz="1651">
                <a:solidFill>
                  <a:srgbClr val="E8EEF5"/>
                </a:solidFill>
                <a:latin typeface="Consolas"/>
                <a:ea typeface="Consolas"/>
                <a:cs typeface="Consolas"/>
                <a:sym typeface="Consolas"/>
              </a:rPr>
              <a:t>    "transactions.csv",</a:t>
            </a:r>
          </a:p>
          <a:p>
            <a:pPr algn="l">
              <a:lnSpc>
                <a:spcPts val="2476"/>
              </a:lnSpc>
            </a:pPr>
            <a:r>
              <a:rPr lang="en-US" sz="1651">
                <a:solidFill>
                  <a:srgbClr val="E8EEF5"/>
                </a:solidFill>
                <a:latin typeface="Consolas"/>
                <a:ea typeface="Consolas"/>
                <a:cs typeface="Consolas"/>
                <a:sym typeface="Consolas"/>
              </a:rPr>
              <a:t>    header=True,</a:t>
            </a:r>
          </a:p>
          <a:p>
            <a:pPr algn="l">
              <a:lnSpc>
                <a:spcPts val="2476"/>
              </a:lnSpc>
            </a:pPr>
            <a:r>
              <a:rPr lang="en-US" sz="1651">
                <a:solidFill>
                  <a:srgbClr val="E8EEF5"/>
                </a:solidFill>
                <a:latin typeface="Consolas"/>
                <a:ea typeface="Consolas"/>
                <a:cs typeface="Consolas"/>
                <a:sym typeface="Consolas"/>
              </a:rPr>
              <a:t>    inferSchema=True</a:t>
            </a:r>
          </a:p>
          <a:p>
            <a:pPr algn="l">
              <a:lnSpc>
                <a:spcPts val="2476"/>
              </a:lnSpc>
            </a:pPr>
            <a:r>
              <a:rPr lang="en-US" sz="1651">
                <a:solidFill>
                  <a:srgbClr val="E8EEF5"/>
                </a:solidFill>
                <a:latin typeface="Consolas"/>
                <a:ea typeface="Consolas"/>
                <a:cs typeface="Consolas"/>
                <a:sym typeface="Consolas"/>
              </a:rPr>
              <a:t>)</a:t>
            </a:r>
          </a:p>
          <a:p>
            <a:pPr algn="l">
              <a:lnSpc>
                <a:spcPts val="2476"/>
              </a:lnSpc>
            </a:pPr>
          </a:p>
          <a:p>
            <a:pPr algn="l">
              <a:lnSpc>
                <a:spcPts val="2476"/>
              </a:lnSpc>
            </a:pPr>
            <a:r>
              <a:rPr lang="en-US" sz="1651">
                <a:solidFill>
                  <a:srgbClr val="E8EEF5"/>
                </a:solidFill>
                <a:latin typeface="Consolas"/>
                <a:ea typeface="Consolas"/>
                <a:cs typeface="Consolas"/>
                <a:sym typeface="Consolas"/>
              </a:rPr>
              <a:t>df.show()</a:t>
            </a:r>
          </a:p>
        </p:txBody>
      </p:sp>
      <p:grpSp>
        <p:nvGrpSpPr>
          <p:cNvPr name="Group 21" id="21"/>
          <p:cNvGrpSpPr/>
          <p:nvPr/>
        </p:nvGrpSpPr>
        <p:grpSpPr>
          <a:xfrm rot="0">
            <a:off x="679190" y="6307141"/>
            <a:ext cx="16966806" cy="1181071"/>
            <a:chOff x="0" y="0"/>
            <a:chExt cx="22622408" cy="1574762"/>
          </a:xfrm>
        </p:grpSpPr>
        <p:sp>
          <p:nvSpPr>
            <p:cNvPr name="Freeform 22" id="22"/>
            <p:cNvSpPr/>
            <p:nvPr/>
          </p:nvSpPr>
          <p:spPr>
            <a:xfrm flipH="false" flipV="false" rot="0">
              <a:off x="0" y="0"/>
              <a:ext cx="22622383" cy="1574673"/>
            </a:xfrm>
            <a:custGeom>
              <a:avLst/>
              <a:gdLst/>
              <a:ahLst/>
              <a:cxnLst/>
              <a:rect r="r" b="b" t="t" l="l"/>
              <a:pathLst>
                <a:path h="1574673" w="22622383">
                  <a:moveTo>
                    <a:pt x="0" y="111125"/>
                  </a:moveTo>
                  <a:cubicBezTo>
                    <a:pt x="0" y="49784"/>
                    <a:pt x="49784" y="0"/>
                    <a:pt x="111125" y="0"/>
                  </a:cubicBezTo>
                  <a:lnTo>
                    <a:pt x="22511258" y="0"/>
                  </a:lnTo>
                  <a:cubicBezTo>
                    <a:pt x="22572599" y="0"/>
                    <a:pt x="22622383" y="49784"/>
                    <a:pt x="22622383" y="111125"/>
                  </a:cubicBezTo>
                  <a:lnTo>
                    <a:pt x="22622383" y="1463548"/>
                  </a:lnTo>
                  <a:cubicBezTo>
                    <a:pt x="22622383" y="1524889"/>
                    <a:pt x="22572599" y="1574673"/>
                    <a:pt x="22511258" y="1574673"/>
                  </a:cubicBezTo>
                  <a:lnTo>
                    <a:pt x="111125" y="1574673"/>
                  </a:lnTo>
                  <a:cubicBezTo>
                    <a:pt x="49784" y="1574800"/>
                    <a:pt x="0" y="1525016"/>
                    <a:pt x="0" y="1463548"/>
                  </a:cubicBezTo>
                  <a:close/>
                </a:path>
              </a:pathLst>
            </a:custGeom>
            <a:solidFill>
              <a:srgbClr val="F2F5F8"/>
            </a:solidFill>
            <a:ln w="14299" cap="sq">
              <a:solidFill>
                <a:srgbClr val="D9D9D9"/>
              </a:solidFill>
              <a:prstDash val="solid"/>
              <a:miter/>
            </a:ln>
          </p:spPr>
        </p:sp>
      </p:grpSp>
      <p:grpSp>
        <p:nvGrpSpPr>
          <p:cNvPr name="Group 23" id="23"/>
          <p:cNvGrpSpPr/>
          <p:nvPr/>
        </p:nvGrpSpPr>
        <p:grpSpPr>
          <a:xfrm rot="0">
            <a:off x="960872" y="6314294"/>
            <a:ext cx="16472068" cy="1166774"/>
            <a:chOff x="0" y="0"/>
            <a:chExt cx="21962758" cy="1555699"/>
          </a:xfrm>
        </p:grpSpPr>
        <p:sp>
          <p:nvSpPr>
            <p:cNvPr name="Freeform 24" id="24"/>
            <p:cNvSpPr/>
            <p:nvPr/>
          </p:nvSpPr>
          <p:spPr>
            <a:xfrm flipH="false" flipV="false" rot="0">
              <a:off x="0" y="0"/>
              <a:ext cx="21962759" cy="1555695"/>
            </a:xfrm>
            <a:custGeom>
              <a:avLst/>
              <a:gdLst/>
              <a:ahLst/>
              <a:cxnLst/>
              <a:rect r="r" b="b" t="t" l="l"/>
              <a:pathLst>
                <a:path h="1555695" w="21962759">
                  <a:moveTo>
                    <a:pt x="0" y="0"/>
                  </a:moveTo>
                  <a:lnTo>
                    <a:pt x="21962759" y="0"/>
                  </a:lnTo>
                  <a:lnTo>
                    <a:pt x="21962759" y="1555695"/>
                  </a:lnTo>
                  <a:lnTo>
                    <a:pt x="0" y="1555695"/>
                  </a:lnTo>
                  <a:close/>
                </a:path>
              </a:pathLst>
            </a:custGeom>
            <a:blipFill>
              <a:blip r:embed="rId4">
                <a:alphaModFix amt="0"/>
              </a:blip>
              <a:stretch>
                <a:fillRect l="0" t="-225082" r="0" b="-225082"/>
              </a:stretch>
            </a:blipFill>
          </p:spPr>
        </p:sp>
        <p:sp>
          <p:nvSpPr>
            <p:cNvPr name="TextBox 25" id="25"/>
            <p:cNvSpPr txBox="true"/>
            <p:nvPr/>
          </p:nvSpPr>
          <p:spPr>
            <a:xfrm>
              <a:off x="0" y="0"/>
              <a:ext cx="21962758" cy="1555699"/>
            </a:xfrm>
            <a:prstGeom prst="rect">
              <a:avLst/>
            </a:prstGeom>
          </p:spPr>
          <p:txBody>
            <a:bodyPr anchor="ctr" rtlCol="false" tIns="0" lIns="0" bIns="0" rIns="0"/>
            <a:lstStyle/>
            <a:p>
              <a:pPr algn="l">
                <a:lnSpc>
                  <a:spcPts val="1891"/>
                </a:lnSpc>
              </a:pPr>
              <a:r>
                <a:rPr lang="en-US" sz="1576">
                  <a:solidFill>
                    <a:srgbClr val="000000"/>
                  </a:solidFill>
                  <a:latin typeface="Cabin"/>
                  <a:ea typeface="Cabin"/>
                  <a:cs typeface="Cabin"/>
                  <a:sym typeface="Cabin"/>
                </a:rPr>
                <a:t>header=True: dòng đầu tiên là tên cột.  inferSchema=True: Spark tự suy luận kiểu dữ liệu từng cột thay vì đọc tất cả dưới dạng chuỗi.</a:t>
              </a:r>
            </a:p>
          </p:txBody>
        </p:sp>
      </p:grpSp>
      <p:grpSp>
        <p:nvGrpSpPr>
          <p:cNvPr name="Group 26" id="26"/>
          <p:cNvGrpSpPr/>
          <p:nvPr/>
        </p:nvGrpSpPr>
        <p:grpSpPr>
          <a:xfrm rot="0">
            <a:off x="0" y="9677343"/>
            <a:ext cx="18301840" cy="617706"/>
            <a:chOff x="0" y="0"/>
            <a:chExt cx="24402453" cy="823608"/>
          </a:xfrm>
        </p:grpSpPr>
        <p:sp>
          <p:nvSpPr>
            <p:cNvPr name="Freeform 27" id="27"/>
            <p:cNvSpPr/>
            <p:nvPr/>
          </p:nvSpPr>
          <p:spPr>
            <a:xfrm flipH="false" flipV="false" rot="0">
              <a:off x="0" y="0"/>
              <a:ext cx="24402414" cy="823595"/>
            </a:xfrm>
            <a:custGeom>
              <a:avLst/>
              <a:gdLst/>
              <a:ahLst/>
              <a:cxnLst/>
              <a:rect r="r" b="b" t="t" l="l"/>
              <a:pathLst>
                <a:path h="823595" w="24402414">
                  <a:moveTo>
                    <a:pt x="0" y="0"/>
                  </a:moveTo>
                  <a:lnTo>
                    <a:pt x="24402414" y="0"/>
                  </a:lnTo>
                  <a:lnTo>
                    <a:pt x="24402414" y="823595"/>
                  </a:lnTo>
                  <a:lnTo>
                    <a:pt x="0" y="823595"/>
                  </a:lnTo>
                  <a:close/>
                </a:path>
              </a:pathLst>
            </a:custGeom>
            <a:solidFill>
              <a:srgbClr val="1F4E79"/>
            </a:solidFill>
          </p:spPr>
        </p:sp>
      </p:grpSp>
      <p:grpSp>
        <p:nvGrpSpPr>
          <p:cNvPr name="Group 28" id="28"/>
          <p:cNvGrpSpPr/>
          <p:nvPr/>
        </p:nvGrpSpPr>
        <p:grpSpPr>
          <a:xfrm rot="0">
            <a:off x="480431" y="9677343"/>
            <a:ext cx="10981382" cy="617706"/>
            <a:chOff x="0" y="0"/>
            <a:chExt cx="14641843" cy="823608"/>
          </a:xfrm>
        </p:grpSpPr>
        <p:sp>
          <p:nvSpPr>
            <p:cNvPr name="Freeform 29" id="29"/>
            <p:cNvSpPr/>
            <p:nvPr/>
          </p:nvSpPr>
          <p:spPr>
            <a:xfrm flipH="false" flipV="false" rot="0">
              <a:off x="0" y="0"/>
              <a:ext cx="14641840" cy="823603"/>
            </a:xfrm>
            <a:custGeom>
              <a:avLst/>
              <a:gdLst/>
              <a:ahLst/>
              <a:cxnLst/>
              <a:rect r="r" b="b" t="t" l="l"/>
              <a:pathLst>
                <a:path h="823603" w="14641840">
                  <a:moveTo>
                    <a:pt x="0" y="0"/>
                  </a:moveTo>
                  <a:lnTo>
                    <a:pt x="14641840" y="0"/>
                  </a:lnTo>
                  <a:lnTo>
                    <a:pt x="14641840" y="823603"/>
                  </a:lnTo>
                  <a:lnTo>
                    <a:pt x="0" y="823603"/>
                  </a:lnTo>
                  <a:close/>
                </a:path>
              </a:pathLst>
            </a:custGeom>
            <a:blipFill>
              <a:blip r:embed="rId4">
                <a:alphaModFix amt="0"/>
              </a:blip>
              <a:stretch>
                <a:fillRect l="0" t="-296400" r="0" b="-296401"/>
              </a:stretch>
            </a:blipFill>
          </p:spPr>
        </p:sp>
        <p:sp>
          <p:nvSpPr>
            <p:cNvPr name="TextBox 30" id="30"/>
            <p:cNvSpPr txBox="true"/>
            <p:nvPr/>
          </p:nvSpPr>
          <p:spPr>
            <a:xfrm>
              <a:off x="0" y="0"/>
              <a:ext cx="14641843" cy="823608"/>
            </a:xfrm>
            <a:prstGeom prst="rect">
              <a:avLst/>
            </a:prstGeom>
          </p:spPr>
          <p:txBody>
            <a:bodyPr anchor="ctr" rtlCol="false" tIns="0" lIns="0" bIns="0" rIns="0"/>
            <a:lstStyle/>
            <a:p>
              <a:pPr algn="l">
                <a:lnSpc>
                  <a:spcPts val="1621"/>
                </a:lnSpc>
              </a:pPr>
              <a:r>
                <a:rPr lang="en-US" sz="1351">
                  <a:solidFill>
                    <a:srgbClr val="FFFFFF"/>
                  </a:solidFill>
                  <a:latin typeface="Cabin"/>
                  <a:ea typeface="Cabin"/>
                  <a:cs typeface="Cabin"/>
                  <a:sym typeface="Cabin"/>
                </a:rPr>
                <a:t>VNU UET – Institute for Artificial Intelligence</a:t>
              </a:r>
            </a:p>
          </p:txBody>
        </p:sp>
      </p:grpSp>
      <p:grpSp>
        <p:nvGrpSpPr>
          <p:cNvPr name="Group 31" id="31"/>
          <p:cNvGrpSpPr/>
          <p:nvPr/>
        </p:nvGrpSpPr>
        <p:grpSpPr>
          <a:xfrm rot="0">
            <a:off x="17066438" y="9677343"/>
            <a:ext cx="823608" cy="617706"/>
            <a:chOff x="0" y="0"/>
            <a:chExt cx="1098144" cy="823608"/>
          </a:xfrm>
        </p:grpSpPr>
        <p:sp>
          <p:nvSpPr>
            <p:cNvPr name="Freeform 32" id="32"/>
            <p:cNvSpPr/>
            <p:nvPr/>
          </p:nvSpPr>
          <p:spPr>
            <a:xfrm flipH="false" flipV="false" rot="0">
              <a:off x="0" y="0"/>
              <a:ext cx="1098138" cy="823603"/>
            </a:xfrm>
            <a:custGeom>
              <a:avLst/>
              <a:gdLst/>
              <a:ahLst/>
              <a:cxnLst/>
              <a:rect r="r" b="b" t="t" l="l"/>
              <a:pathLst>
                <a:path h="823603" w="1098138">
                  <a:moveTo>
                    <a:pt x="0" y="0"/>
                  </a:moveTo>
                  <a:lnTo>
                    <a:pt x="1098138" y="0"/>
                  </a:lnTo>
                  <a:lnTo>
                    <a:pt x="1098138" y="823603"/>
                  </a:lnTo>
                  <a:lnTo>
                    <a:pt x="0" y="823603"/>
                  </a:lnTo>
                  <a:close/>
                </a:path>
              </a:pathLst>
            </a:custGeom>
            <a:blipFill>
              <a:blip r:embed="rId4">
                <a:alphaModFix amt="0"/>
              </a:blip>
              <a:stretch>
                <a:fillRect l="-46227" t="0" r="-46228" b="0"/>
              </a:stretch>
            </a:blipFill>
          </p:spPr>
        </p:sp>
        <p:sp>
          <p:nvSpPr>
            <p:cNvPr name="TextBox 33" id="33"/>
            <p:cNvSpPr txBox="true"/>
            <p:nvPr/>
          </p:nvSpPr>
          <p:spPr>
            <a:xfrm>
              <a:off x="0" y="0"/>
              <a:ext cx="1098144" cy="823608"/>
            </a:xfrm>
            <a:prstGeom prst="rect">
              <a:avLst/>
            </a:prstGeom>
          </p:spPr>
          <p:txBody>
            <a:bodyPr anchor="ctr" rtlCol="false" tIns="0" lIns="0" bIns="0" rIns="0"/>
            <a:lstStyle/>
            <a:p>
              <a:pPr algn="r">
                <a:lnSpc>
                  <a:spcPts val="1621"/>
                </a:lnSpc>
              </a:pPr>
              <a:r>
                <a:rPr lang="en-US" sz="1351">
                  <a:solidFill>
                    <a:srgbClr val="FFFFFF"/>
                  </a:solidFill>
                  <a:latin typeface="Cabin"/>
                  <a:ea typeface="Cabin"/>
                  <a:cs typeface="Cabin"/>
                  <a:sym typeface="Cabin"/>
                </a:rPr>
                <a:t>27</a:t>
              </a:r>
            </a:p>
          </p:txBody>
        </p:sp>
      </p:grpSp>
      <p:grpSp>
        <p:nvGrpSpPr>
          <p:cNvPr name="Group 34" id="34"/>
          <p:cNvGrpSpPr/>
          <p:nvPr/>
        </p:nvGrpSpPr>
        <p:grpSpPr>
          <a:xfrm rot="0">
            <a:off x="0" y="0"/>
            <a:ext cx="18288000" cy="315468"/>
            <a:chOff x="0" y="0"/>
            <a:chExt cx="24384000" cy="420624"/>
          </a:xfrm>
        </p:grpSpPr>
        <p:sp>
          <p:nvSpPr>
            <p:cNvPr name="Freeform 35" id="35"/>
            <p:cNvSpPr/>
            <p:nvPr/>
          </p:nvSpPr>
          <p:spPr>
            <a:xfrm flipH="false" flipV="false" rot="0">
              <a:off x="0" y="0"/>
              <a:ext cx="24384000" cy="420624"/>
            </a:xfrm>
            <a:custGeom>
              <a:avLst/>
              <a:gdLst/>
              <a:ahLst/>
              <a:cxnLst/>
              <a:rect r="r" b="b" t="t" l="l"/>
              <a:pathLst>
                <a:path h="420624" w="24384000">
                  <a:moveTo>
                    <a:pt x="0" y="0"/>
                  </a:moveTo>
                  <a:lnTo>
                    <a:pt x="24384000" y="0"/>
                  </a:lnTo>
                  <a:lnTo>
                    <a:pt x="24384000" y="420624"/>
                  </a:lnTo>
                  <a:lnTo>
                    <a:pt x="0" y="420624"/>
                  </a:lnTo>
                  <a:close/>
                </a:path>
              </a:pathLst>
            </a:custGeom>
            <a:solidFill>
              <a:srgbClr val="0F3F6F"/>
            </a:solidFill>
          </p:spPr>
        </p:sp>
      </p:grpSp>
      <p:grpSp>
        <p:nvGrpSpPr>
          <p:cNvPr name="Group 36" id="36"/>
          <p:cNvGrpSpPr/>
          <p:nvPr/>
        </p:nvGrpSpPr>
        <p:grpSpPr>
          <a:xfrm rot="0">
            <a:off x="13098780" y="0"/>
            <a:ext cx="1453896" cy="1508760"/>
            <a:chOff x="0" y="0"/>
            <a:chExt cx="1938528" cy="2011680"/>
          </a:xfrm>
        </p:grpSpPr>
        <p:sp>
          <p:nvSpPr>
            <p:cNvPr name="Freeform 37" id="37"/>
            <p:cNvSpPr/>
            <p:nvPr/>
          </p:nvSpPr>
          <p:spPr>
            <a:xfrm flipH="false" flipV="false" rot="0">
              <a:off x="0" y="0"/>
              <a:ext cx="1938528" cy="2011680"/>
            </a:xfrm>
            <a:custGeom>
              <a:avLst/>
              <a:gdLst/>
              <a:ahLst/>
              <a:cxnLst/>
              <a:rect r="r" b="b" t="t" l="l"/>
              <a:pathLst>
                <a:path h="2011680" w="1938528">
                  <a:moveTo>
                    <a:pt x="0" y="2011680"/>
                  </a:moveTo>
                  <a:lnTo>
                    <a:pt x="484632" y="0"/>
                  </a:lnTo>
                  <a:lnTo>
                    <a:pt x="1938528" y="0"/>
                  </a:lnTo>
                  <a:lnTo>
                    <a:pt x="1453896" y="2011680"/>
                  </a:lnTo>
                  <a:close/>
                </a:path>
              </a:pathLst>
            </a:custGeom>
            <a:solidFill>
              <a:srgbClr val="85B518"/>
            </a:solidFill>
          </p:spPr>
        </p:sp>
      </p:grpSp>
      <p:grpSp>
        <p:nvGrpSpPr>
          <p:cNvPr name="Group 38" id="38"/>
          <p:cNvGrpSpPr/>
          <p:nvPr/>
        </p:nvGrpSpPr>
        <p:grpSpPr>
          <a:xfrm rot="0">
            <a:off x="14621256" y="0"/>
            <a:ext cx="1508760" cy="1508760"/>
            <a:chOff x="0" y="0"/>
            <a:chExt cx="2011680" cy="2011680"/>
          </a:xfrm>
        </p:grpSpPr>
        <p:sp>
          <p:nvSpPr>
            <p:cNvPr name="Freeform 39" id="39"/>
            <p:cNvSpPr/>
            <p:nvPr/>
          </p:nvSpPr>
          <p:spPr>
            <a:xfrm flipH="false" flipV="false" rot="0">
              <a:off x="0" y="0"/>
              <a:ext cx="2011680" cy="2011680"/>
            </a:xfrm>
            <a:custGeom>
              <a:avLst/>
              <a:gdLst/>
              <a:ahLst/>
              <a:cxnLst/>
              <a:rect r="r" b="b" t="t" l="l"/>
              <a:pathLst>
                <a:path h="2011680" w="2011680">
                  <a:moveTo>
                    <a:pt x="0" y="2011680"/>
                  </a:moveTo>
                  <a:lnTo>
                    <a:pt x="502920" y="0"/>
                  </a:lnTo>
                  <a:lnTo>
                    <a:pt x="2011680" y="0"/>
                  </a:lnTo>
                  <a:lnTo>
                    <a:pt x="1508760" y="2011680"/>
                  </a:lnTo>
                  <a:close/>
                </a:path>
              </a:pathLst>
            </a:custGeom>
            <a:solidFill>
              <a:srgbClr val="0F3F6F"/>
            </a:solidFill>
          </p:spPr>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97801" y="384353"/>
            <a:ext cx="851059" cy="851059"/>
            <a:chOff x="0" y="0"/>
            <a:chExt cx="1134745" cy="1134745"/>
          </a:xfrm>
        </p:grpSpPr>
        <p:sp>
          <p:nvSpPr>
            <p:cNvPr name="Freeform 3" id="3" descr="/home/claude/work/assets/logo.png"/>
            <p:cNvSpPr/>
            <p:nvPr/>
          </p:nvSpPr>
          <p:spPr>
            <a:xfrm flipH="false" flipV="false" rot="0">
              <a:off x="0" y="0"/>
              <a:ext cx="1134745" cy="1134745"/>
            </a:xfrm>
            <a:custGeom>
              <a:avLst/>
              <a:gdLst/>
              <a:ahLst/>
              <a:cxnLst/>
              <a:rect r="r" b="b" t="t" l="l"/>
              <a:pathLst>
                <a:path h="1134745" w="1134745">
                  <a:moveTo>
                    <a:pt x="0" y="0"/>
                  </a:moveTo>
                  <a:lnTo>
                    <a:pt x="1134745" y="0"/>
                  </a:lnTo>
                  <a:lnTo>
                    <a:pt x="1134745" y="1134745"/>
                  </a:lnTo>
                  <a:lnTo>
                    <a:pt x="0" y="1134745"/>
                  </a:lnTo>
                  <a:lnTo>
                    <a:pt x="0" y="0"/>
                  </a:lnTo>
                  <a:close/>
                </a:path>
              </a:pathLst>
            </a:custGeom>
            <a:blipFill>
              <a:blip r:embed="rId3"/>
              <a:stretch>
                <a:fillRect l="0" t="0" r="0" b="0"/>
              </a:stretch>
            </a:blipFill>
          </p:spPr>
        </p:sp>
      </p:grpSp>
      <p:grpSp>
        <p:nvGrpSpPr>
          <p:cNvPr name="Group 4" id="4"/>
          <p:cNvGrpSpPr/>
          <p:nvPr/>
        </p:nvGrpSpPr>
        <p:grpSpPr>
          <a:xfrm rot="0">
            <a:off x="686333" y="384353"/>
            <a:ext cx="10981382" cy="411804"/>
            <a:chOff x="0" y="0"/>
            <a:chExt cx="14641843" cy="549072"/>
          </a:xfrm>
        </p:grpSpPr>
        <p:sp>
          <p:nvSpPr>
            <p:cNvPr name="Freeform 5" id="5"/>
            <p:cNvSpPr/>
            <p:nvPr/>
          </p:nvSpPr>
          <p:spPr>
            <a:xfrm flipH="false" flipV="false" rot="0">
              <a:off x="0" y="0"/>
              <a:ext cx="14641840" cy="549069"/>
            </a:xfrm>
            <a:custGeom>
              <a:avLst/>
              <a:gdLst/>
              <a:ahLst/>
              <a:cxnLst/>
              <a:rect r="r" b="b" t="t" l="l"/>
              <a:pathLst>
                <a:path h="549069" w="14641840">
                  <a:moveTo>
                    <a:pt x="0" y="0"/>
                  </a:moveTo>
                  <a:lnTo>
                    <a:pt x="14641840" y="0"/>
                  </a:lnTo>
                  <a:lnTo>
                    <a:pt x="14641840" y="549069"/>
                  </a:lnTo>
                  <a:lnTo>
                    <a:pt x="0" y="549069"/>
                  </a:lnTo>
                  <a:close/>
                </a:path>
              </a:pathLst>
            </a:custGeom>
            <a:blipFill>
              <a:blip r:embed="rId4">
                <a:alphaModFix amt="0"/>
              </a:blip>
              <a:stretch>
                <a:fillRect l="0" t="-469600" r="0" b="-469601"/>
              </a:stretch>
            </a:blipFill>
          </p:spPr>
        </p:sp>
        <p:sp>
          <p:nvSpPr>
            <p:cNvPr name="TextBox 6" id="6"/>
            <p:cNvSpPr txBox="true"/>
            <p:nvPr/>
          </p:nvSpPr>
          <p:spPr>
            <a:xfrm>
              <a:off x="0" y="0"/>
              <a:ext cx="14641843" cy="549072"/>
            </a:xfrm>
            <a:prstGeom prst="rect">
              <a:avLst/>
            </a:prstGeom>
          </p:spPr>
          <p:txBody>
            <a:bodyPr anchor="ctr" rtlCol="false" tIns="0" lIns="0" bIns="0" rIns="0"/>
            <a:lstStyle/>
            <a:p>
              <a:pPr algn="l">
                <a:lnSpc>
                  <a:spcPts val="1981"/>
                </a:lnSpc>
              </a:pPr>
              <a:r>
                <a:rPr lang="en-US" sz="1651" i="true">
                  <a:solidFill>
                    <a:srgbClr val="4A4A4A"/>
                  </a:solidFill>
                  <a:latin typeface="Cabin Italics"/>
                  <a:ea typeface="Cabin Italics"/>
                  <a:cs typeface="Cabin Italics"/>
                  <a:sym typeface="Cabin Italics"/>
                </a:rPr>
                <a:t>5.12. Xử lý bằng PySpark · Bài 05 · Thực hành</a:t>
              </a:r>
            </a:p>
          </p:txBody>
        </p:sp>
      </p:grpSp>
      <p:grpSp>
        <p:nvGrpSpPr>
          <p:cNvPr name="Group 7" id="7"/>
          <p:cNvGrpSpPr/>
          <p:nvPr/>
        </p:nvGrpSpPr>
        <p:grpSpPr>
          <a:xfrm rot="0">
            <a:off x="686333" y="823608"/>
            <a:ext cx="82363" cy="754971"/>
            <a:chOff x="0" y="0"/>
            <a:chExt cx="109817" cy="1006627"/>
          </a:xfrm>
        </p:grpSpPr>
        <p:sp>
          <p:nvSpPr>
            <p:cNvPr name="Freeform 8" id="8"/>
            <p:cNvSpPr/>
            <p:nvPr/>
          </p:nvSpPr>
          <p:spPr>
            <a:xfrm flipH="false" flipV="false" rot="0">
              <a:off x="0" y="0"/>
              <a:ext cx="109855" cy="1006602"/>
            </a:xfrm>
            <a:custGeom>
              <a:avLst/>
              <a:gdLst/>
              <a:ahLst/>
              <a:cxnLst/>
              <a:rect r="r" b="b" t="t" l="l"/>
              <a:pathLst>
                <a:path h="1006602" w="109855">
                  <a:moveTo>
                    <a:pt x="0" y="0"/>
                  </a:moveTo>
                  <a:lnTo>
                    <a:pt x="109855" y="0"/>
                  </a:lnTo>
                  <a:lnTo>
                    <a:pt x="109855" y="1006602"/>
                  </a:lnTo>
                  <a:lnTo>
                    <a:pt x="0" y="1006602"/>
                  </a:lnTo>
                  <a:close/>
                </a:path>
              </a:pathLst>
            </a:custGeom>
            <a:solidFill>
              <a:srgbClr val="85B518"/>
            </a:solidFill>
          </p:spPr>
        </p:sp>
      </p:grpSp>
      <p:grpSp>
        <p:nvGrpSpPr>
          <p:cNvPr name="Group 9" id="9"/>
          <p:cNvGrpSpPr/>
          <p:nvPr/>
        </p:nvGrpSpPr>
        <p:grpSpPr>
          <a:xfrm rot="0">
            <a:off x="960872" y="796147"/>
            <a:ext cx="15831026" cy="823608"/>
            <a:chOff x="0" y="0"/>
            <a:chExt cx="21108035" cy="1098144"/>
          </a:xfrm>
        </p:grpSpPr>
        <p:sp>
          <p:nvSpPr>
            <p:cNvPr name="Freeform 10" id="10"/>
            <p:cNvSpPr/>
            <p:nvPr/>
          </p:nvSpPr>
          <p:spPr>
            <a:xfrm flipH="false" flipV="false" rot="0">
              <a:off x="0" y="0"/>
              <a:ext cx="21108040" cy="1098138"/>
            </a:xfrm>
            <a:custGeom>
              <a:avLst/>
              <a:gdLst/>
              <a:ahLst/>
              <a:cxnLst/>
              <a:rect r="r" b="b" t="t" l="l"/>
              <a:pathLst>
                <a:path h="1098138" w="21108040">
                  <a:moveTo>
                    <a:pt x="0" y="0"/>
                  </a:moveTo>
                  <a:lnTo>
                    <a:pt x="21108040" y="0"/>
                  </a:lnTo>
                  <a:lnTo>
                    <a:pt x="21108040" y="1098138"/>
                  </a:lnTo>
                  <a:lnTo>
                    <a:pt x="0" y="1098138"/>
                  </a:lnTo>
                  <a:close/>
                </a:path>
              </a:pathLst>
            </a:custGeom>
            <a:blipFill>
              <a:blip r:embed="rId4">
                <a:alphaModFix amt="0"/>
              </a:blip>
              <a:stretch>
                <a:fillRect l="0" t="-324534" r="0" b="-324535"/>
              </a:stretch>
            </a:blipFill>
          </p:spPr>
        </p:sp>
        <p:sp>
          <p:nvSpPr>
            <p:cNvPr name="TextBox 11" id="11"/>
            <p:cNvSpPr txBox="true"/>
            <p:nvPr/>
          </p:nvSpPr>
          <p:spPr>
            <a:xfrm>
              <a:off x="0" y="0"/>
              <a:ext cx="21108035" cy="1098144"/>
            </a:xfrm>
            <a:prstGeom prst="rect">
              <a:avLst/>
            </a:prstGeom>
          </p:spPr>
          <p:txBody>
            <a:bodyPr anchor="ctr" rtlCol="false" tIns="0" lIns="0" bIns="0" rIns="0"/>
            <a:lstStyle/>
            <a:p>
              <a:pPr algn="l">
                <a:lnSpc>
                  <a:spcPts val="3782"/>
                </a:lnSpc>
              </a:pPr>
              <a:r>
                <a:rPr lang="en-US" sz="3152" b="true">
                  <a:solidFill>
                    <a:srgbClr val="1F4E79"/>
                  </a:solidFill>
                  <a:latin typeface="Cabin Bold"/>
                  <a:ea typeface="Cabin Bold"/>
                  <a:cs typeface="Cabin Bold"/>
                  <a:sym typeface="Cabin Bold"/>
                </a:rPr>
                <a:t>Xử lý dữ liệu bằng PySpark</a:t>
              </a:r>
            </a:p>
          </p:txBody>
        </p:sp>
      </p:grpSp>
      <p:grpSp>
        <p:nvGrpSpPr>
          <p:cNvPr name="Group 12" id="12"/>
          <p:cNvGrpSpPr/>
          <p:nvPr/>
        </p:nvGrpSpPr>
        <p:grpSpPr>
          <a:xfrm rot="0">
            <a:off x="686333" y="2059010"/>
            <a:ext cx="2676716" cy="754971"/>
            <a:chOff x="0" y="0"/>
            <a:chExt cx="3568954" cy="1006627"/>
          </a:xfrm>
        </p:grpSpPr>
        <p:sp>
          <p:nvSpPr>
            <p:cNvPr name="Freeform 13" id="13"/>
            <p:cNvSpPr/>
            <p:nvPr/>
          </p:nvSpPr>
          <p:spPr>
            <a:xfrm flipH="false" flipV="false" rot="0">
              <a:off x="0" y="0"/>
              <a:ext cx="3568954" cy="1006602"/>
            </a:xfrm>
            <a:custGeom>
              <a:avLst/>
              <a:gdLst/>
              <a:ahLst/>
              <a:cxnLst/>
              <a:rect r="r" b="b" t="t" l="l"/>
              <a:pathLst>
                <a:path h="1006602" w="3568954">
                  <a:moveTo>
                    <a:pt x="0" y="503301"/>
                  </a:moveTo>
                  <a:cubicBezTo>
                    <a:pt x="0" y="225298"/>
                    <a:pt x="225298" y="0"/>
                    <a:pt x="503301" y="0"/>
                  </a:cubicBezTo>
                  <a:lnTo>
                    <a:pt x="3065653" y="0"/>
                  </a:lnTo>
                  <a:cubicBezTo>
                    <a:pt x="3343656" y="0"/>
                    <a:pt x="3568954" y="225298"/>
                    <a:pt x="3568954" y="503301"/>
                  </a:cubicBezTo>
                  <a:cubicBezTo>
                    <a:pt x="3568954" y="781304"/>
                    <a:pt x="3343656" y="1006602"/>
                    <a:pt x="3065653" y="1006602"/>
                  </a:cubicBezTo>
                  <a:lnTo>
                    <a:pt x="503301" y="1006602"/>
                  </a:lnTo>
                  <a:cubicBezTo>
                    <a:pt x="225298" y="1006602"/>
                    <a:pt x="0" y="781304"/>
                    <a:pt x="0" y="503301"/>
                  </a:cubicBezTo>
                  <a:close/>
                </a:path>
              </a:pathLst>
            </a:custGeom>
            <a:solidFill>
              <a:srgbClr val="1F4E79"/>
            </a:solidFill>
          </p:spPr>
        </p:sp>
      </p:grpSp>
      <p:grpSp>
        <p:nvGrpSpPr>
          <p:cNvPr name="Group 14" id="14"/>
          <p:cNvGrpSpPr/>
          <p:nvPr/>
        </p:nvGrpSpPr>
        <p:grpSpPr>
          <a:xfrm rot="0">
            <a:off x="686333" y="2059010"/>
            <a:ext cx="2676716" cy="754971"/>
            <a:chOff x="0" y="0"/>
            <a:chExt cx="3568954" cy="1006627"/>
          </a:xfrm>
        </p:grpSpPr>
        <p:sp>
          <p:nvSpPr>
            <p:cNvPr name="Freeform 15" id="15"/>
            <p:cNvSpPr/>
            <p:nvPr/>
          </p:nvSpPr>
          <p:spPr>
            <a:xfrm flipH="false" flipV="false" rot="0">
              <a:off x="0" y="0"/>
              <a:ext cx="3568948" cy="1006626"/>
            </a:xfrm>
            <a:custGeom>
              <a:avLst/>
              <a:gdLst/>
              <a:ahLst/>
              <a:cxnLst/>
              <a:rect r="r" b="b" t="t" l="l"/>
              <a:pathLst>
                <a:path h="1006626" w="3568948">
                  <a:moveTo>
                    <a:pt x="0" y="0"/>
                  </a:moveTo>
                  <a:lnTo>
                    <a:pt x="3568948" y="0"/>
                  </a:lnTo>
                  <a:lnTo>
                    <a:pt x="3568948" y="1006626"/>
                  </a:lnTo>
                  <a:lnTo>
                    <a:pt x="0" y="1006626"/>
                  </a:lnTo>
                  <a:close/>
                </a:path>
              </a:pathLst>
            </a:custGeom>
            <a:blipFill>
              <a:blip r:embed="rId4">
                <a:alphaModFix amt="0"/>
              </a:blip>
              <a:stretch>
                <a:fillRect l="0" t="-19083" r="0" b="-19083"/>
              </a:stretch>
            </a:blipFill>
          </p:spPr>
        </p:sp>
        <p:sp>
          <p:nvSpPr>
            <p:cNvPr name="TextBox 16" id="16"/>
            <p:cNvSpPr txBox="true"/>
            <p:nvPr/>
          </p:nvSpPr>
          <p:spPr>
            <a:xfrm>
              <a:off x="0" y="-28575"/>
              <a:ext cx="3568954" cy="1035202"/>
            </a:xfrm>
            <a:prstGeom prst="rect">
              <a:avLst/>
            </a:prstGeom>
          </p:spPr>
          <p:txBody>
            <a:bodyPr anchor="ctr" rtlCol="false" tIns="0" lIns="0" bIns="0" rIns="0"/>
            <a:lstStyle/>
            <a:p>
              <a:pPr algn="ctr">
                <a:lnSpc>
                  <a:spcPts val="1981"/>
                </a:lnSpc>
              </a:pPr>
              <a:r>
                <a:rPr lang="en-US" sz="1651" b="true">
                  <a:solidFill>
                    <a:srgbClr val="FFFFFF"/>
                  </a:solidFill>
                  <a:latin typeface="Consolas Bold"/>
                  <a:ea typeface="Consolas Bold"/>
                  <a:cs typeface="Consolas Bold"/>
                  <a:sym typeface="Consolas Bold"/>
                </a:rPr>
                <a:t>select()</a:t>
              </a:r>
            </a:p>
          </p:txBody>
        </p:sp>
      </p:grpSp>
      <p:grpSp>
        <p:nvGrpSpPr>
          <p:cNvPr name="Group 17" id="17"/>
          <p:cNvGrpSpPr/>
          <p:nvPr/>
        </p:nvGrpSpPr>
        <p:grpSpPr>
          <a:xfrm rot="0">
            <a:off x="3568951" y="2059010"/>
            <a:ext cx="2676716" cy="754971"/>
            <a:chOff x="0" y="0"/>
            <a:chExt cx="3568954" cy="1006627"/>
          </a:xfrm>
        </p:grpSpPr>
        <p:sp>
          <p:nvSpPr>
            <p:cNvPr name="Freeform 18" id="18"/>
            <p:cNvSpPr/>
            <p:nvPr/>
          </p:nvSpPr>
          <p:spPr>
            <a:xfrm flipH="false" flipV="false" rot="0">
              <a:off x="0" y="0"/>
              <a:ext cx="3568954" cy="1006602"/>
            </a:xfrm>
            <a:custGeom>
              <a:avLst/>
              <a:gdLst/>
              <a:ahLst/>
              <a:cxnLst/>
              <a:rect r="r" b="b" t="t" l="l"/>
              <a:pathLst>
                <a:path h="1006602" w="3568954">
                  <a:moveTo>
                    <a:pt x="0" y="503301"/>
                  </a:moveTo>
                  <a:cubicBezTo>
                    <a:pt x="0" y="225298"/>
                    <a:pt x="225298" y="0"/>
                    <a:pt x="503301" y="0"/>
                  </a:cubicBezTo>
                  <a:lnTo>
                    <a:pt x="3065653" y="0"/>
                  </a:lnTo>
                  <a:cubicBezTo>
                    <a:pt x="3343656" y="0"/>
                    <a:pt x="3568954" y="225298"/>
                    <a:pt x="3568954" y="503301"/>
                  </a:cubicBezTo>
                  <a:cubicBezTo>
                    <a:pt x="3568954" y="781304"/>
                    <a:pt x="3343656" y="1006602"/>
                    <a:pt x="3065653" y="1006602"/>
                  </a:cubicBezTo>
                  <a:lnTo>
                    <a:pt x="503301" y="1006602"/>
                  </a:lnTo>
                  <a:cubicBezTo>
                    <a:pt x="225298" y="1006602"/>
                    <a:pt x="0" y="781304"/>
                    <a:pt x="0" y="503301"/>
                  </a:cubicBezTo>
                  <a:close/>
                </a:path>
              </a:pathLst>
            </a:custGeom>
            <a:solidFill>
              <a:srgbClr val="1F4E79"/>
            </a:solidFill>
          </p:spPr>
        </p:sp>
      </p:grpSp>
      <p:grpSp>
        <p:nvGrpSpPr>
          <p:cNvPr name="Group 19" id="19"/>
          <p:cNvGrpSpPr/>
          <p:nvPr/>
        </p:nvGrpSpPr>
        <p:grpSpPr>
          <a:xfrm rot="0">
            <a:off x="3568951" y="2059010"/>
            <a:ext cx="2676716" cy="754971"/>
            <a:chOff x="0" y="0"/>
            <a:chExt cx="3568954" cy="1006627"/>
          </a:xfrm>
        </p:grpSpPr>
        <p:sp>
          <p:nvSpPr>
            <p:cNvPr name="Freeform 20" id="20"/>
            <p:cNvSpPr/>
            <p:nvPr/>
          </p:nvSpPr>
          <p:spPr>
            <a:xfrm flipH="false" flipV="false" rot="0">
              <a:off x="0" y="0"/>
              <a:ext cx="3568948" cy="1006626"/>
            </a:xfrm>
            <a:custGeom>
              <a:avLst/>
              <a:gdLst/>
              <a:ahLst/>
              <a:cxnLst/>
              <a:rect r="r" b="b" t="t" l="l"/>
              <a:pathLst>
                <a:path h="1006626" w="3568948">
                  <a:moveTo>
                    <a:pt x="0" y="0"/>
                  </a:moveTo>
                  <a:lnTo>
                    <a:pt x="3568948" y="0"/>
                  </a:lnTo>
                  <a:lnTo>
                    <a:pt x="3568948" y="1006626"/>
                  </a:lnTo>
                  <a:lnTo>
                    <a:pt x="0" y="1006626"/>
                  </a:lnTo>
                  <a:close/>
                </a:path>
              </a:pathLst>
            </a:custGeom>
            <a:blipFill>
              <a:blip r:embed="rId4">
                <a:alphaModFix amt="0"/>
              </a:blip>
              <a:stretch>
                <a:fillRect l="0" t="-19083" r="0" b="-19083"/>
              </a:stretch>
            </a:blipFill>
          </p:spPr>
        </p:sp>
        <p:sp>
          <p:nvSpPr>
            <p:cNvPr name="TextBox 21" id="21"/>
            <p:cNvSpPr txBox="true"/>
            <p:nvPr/>
          </p:nvSpPr>
          <p:spPr>
            <a:xfrm>
              <a:off x="0" y="-28575"/>
              <a:ext cx="3568954" cy="1035202"/>
            </a:xfrm>
            <a:prstGeom prst="rect">
              <a:avLst/>
            </a:prstGeom>
          </p:spPr>
          <p:txBody>
            <a:bodyPr anchor="ctr" rtlCol="false" tIns="0" lIns="0" bIns="0" rIns="0"/>
            <a:lstStyle/>
            <a:p>
              <a:pPr algn="ctr">
                <a:lnSpc>
                  <a:spcPts val="1981"/>
                </a:lnSpc>
              </a:pPr>
              <a:r>
                <a:rPr lang="en-US" sz="1651" b="true">
                  <a:solidFill>
                    <a:srgbClr val="FFFFFF"/>
                  </a:solidFill>
                  <a:latin typeface="Consolas Bold"/>
                  <a:ea typeface="Consolas Bold"/>
                  <a:cs typeface="Consolas Bold"/>
                  <a:sym typeface="Consolas Bold"/>
                </a:rPr>
                <a:t>filter()</a:t>
              </a:r>
            </a:p>
          </p:txBody>
        </p:sp>
      </p:grpSp>
      <p:grpSp>
        <p:nvGrpSpPr>
          <p:cNvPr name="Group 22" id="22"/>
          <p:cNvGrpSpPr/>
          <p:nvPr/>
        </p:nvGrpSpPr>
        <p:grpSpPr>
          <a:xfrm rot="0">
            <a:off x="6451559" y="2059010"/>
            <a:ext cx="2676716" cy="754971"/>
            <a:chOff x="0" y="0"/>
            <a:chExt cx="3568954" cy="1006627"/>
          </a:xfrm>
        </p:grpSpPr>
        <p:sp>
          <p:nvSpPr>
            <p:cNvPr name="Freeform 23" id="23"/>
            <p:cNvSpPr/>
            <p:nvPr/>
          </p:nvSpPr>
          <p:spPr>
            <a:xfrm flipH="false" flipV="false" rot="0">
              <a:off x="0" y="0"/>
              <a:ext cx="3568954" cy="1006602"/>
            </a:xfrm>
            <a:custGeom>
              <a:avLst/>
              <a:gdLst/>
              <a:ahLst/>
              <a:cxnLst/>
              <a:rect r="r" b="b" t="t" l="l"/>
              <a:pathLst>
                <a:path h="1006602" w="3568954">
                  <a:moveTo>
                    <a:pt x="0" y="503301"/>
                  </a:moveTo>
                  <a:cubicBezTo>
                    <a:pt x="0" y="225298"/>
                    <a:pt x="225298" y="0"/>
                    <a:pt x="503301" y="0"/>
                  </a:cubicBezTo>
                  <a:lnTo>
                    <a:pt x="3065653" y="0"/>
                  </a:lnTo>
                  <a:cubicBezTo>
                    <a:pt x="3343656" y="0"/>
                    <a:pt x="3568954" y="225298"/>
                    <a:pt x="3568954" y="503301"/>
                  </a:cubicBezTo>
                  <a:cubicBezTo>
                    <a:pt x="3568954" y="781304"/>
                    <a:pt x="3343656" y="1006602"/>
                    <a:pt x="3065653" y="1006602"/>
                  </a:cubicBezTo>
                  <a:lnTo>
                    <a:pt x="503301" y="1006602"/>
                  </a:lnTo>
                  <a:cubicBezTo>
                    <a:pt x="225298" y="1006602"/>
                    <a:pt x="0" y="781304"/>
                    <a:pt x="0" y="503301"/>
                  </a:cubicBezTo>
                  <a:close/>
                </a:path>
              </a:pathLst>
            </a:custGeom>
            <a:solidFill>
              <a:srgbClr val="1F4E79"/>
            </a:solidFill>
          </p:spPr>
        </p:sp>
      </p:grpSp>
      <p:grpSp>
        <p:nvGrpSpPr>
          <p:cNvPr name="Group 24" id="24"/>
          <p:cNvGrpSpPr/>
          <p:nvPr/>
        </p:nvGrpSpPr>
        <p:grpSpPr>
          <a:xfrm rot="0">
            <a:off x="6451559" y="2059010"/>
            <a:ext cx="2676716" cy="754971"/>
            <a:chOff x="0" y="0"/>
            <a:chExt cx="3568954" cy="1006627"/>
          </a:xfrm>
        </p:grpSpPr>
        <p:sp>
          <p:nvSpPr>
            <p:cNvPr name="Freeform 25" id="25"/>
            <p:cNvSpPr/>
            <p:nvPr/>
          </p:nvSpPr>
          <p:spPr>
            <a:xfrm flipH="false" flipV="false" rot="0">
              <a:off x="0" y="0"/>
              <a:ext cx="3568948" cy="1006626"/>
            </a:xfrm>
            <a:custGeom>
              <a:avLst/>
              <a:gdLst/>
              <a:ahLst/>
              <a:cxnLst/>
              <a:rect r="r" b="b" t="t" l="l"/>
              <a:pathLst>
                <a:path h="1006626" w="3568948">
                  <a:moveTo>
                    <a:pt x="0" y="0"/>
                  </a:moveTo>
                  <a:lnTo>
                    <a:pt x="3568948" y="0"/>
                  </a:lnTo>
                  <a:lnTo>
                    <a:pt x="3568948" y="1006626"/>
                  </a:lnTo>
                  <a:lnTo>
                    <a:pt x="0" y="1006626"/>
                  </a:lnTo>
                  <a:close/>
                </a:path>
              </a:pathLst>
            </a:custGeom>
            <a:blipFill>
              <a:blip r:embed="rId4">
                <a:alphaModFix amt="0"/>
              </a:blip>
              <a:stretch>
                <a:fillRect l="0" t="-19083" r="0" b="-19083"/>
              </a:stretch>
            </a:blipFill>
          </p:spPr>
        </p:sp>
        <p:sp>
          <p:nvSpPr>
            <p:cNvPr name="TextBox 26" id="26"/>
            <p:cNvSpPr txBox="true"/>
            <p:nvPr/>
          </p:nvSpPr>
          <p:spPr>
            <a:xfrm>
              <a:off x="0" y="-28575"/>
              <a:ext cx="3568954" cy="1035202"/>
            </a:xfrm>
            <a:prstGeom prst="rect">
              <a:avLst/>
            </a:prstGeom>
          </p:spPr>
          <p:txBody>
            <a:bodyPr anchor="ctr" rtlCol="false" tIns="0" lIns="0" bIns="0" rIns="0"/>
            <a:lstStyle/>
            <a:p>
              <a:pPr algn="ctr">
                <a:lnSpc>
                  <a:spcPts val="1981"/>
                </a:lnSpc>
              </a:pPr>
              <a:r>
                <a:rPr lang="en-US" sz="1651" b="true">
                  <a:solidFill>
                    <a:srgbClr val="FFFFFF"/>
                  </a:solidFill>
                  <a:latin typeface="Consolas Bold"/>
                  <a:ea typeface="Consolas Bold"/>
                  <a:cs typeface="Consolas Bold"/>
                  <a:sym typeface="Consolas Bold"/>
                </a:rPr>
                <a:t>groupBy()</a:t>
              </a:r>
            </a:p>
          </p:txBody>
        </p:sp>
      </p:grpSp>
      <p:grpSp>
        <p:nvGrpSpPr>
          <p:cNvPr name="Group 27" id="27"/>
          <p:cNvGrpSpPr/>
          <p:nvPr/>
        </p:nvGrpSpPr>
        <p:grpSpPr>
          <a:xfrm rot="0">
            <a:off x="9334176" y="2059010"/>
            <a:ext cx="2676716" cy="754971"/>
            <a:chOff x="0" y="0"/>
            <a:chExt cx="3568954" cy="1006627"/>
          </a:xfrm>
        </p:grpSpPr>
        <p:sp>
          <p:nvSpPr>
            <p:cNvPr name="Freeform 28" id="28"/>
            <p:cNvSpPr/>
            <p:nvPr/>
          </p:nvSpPr>
          <p:spPr>
            <a:xfrm flipH="false" flipV="false" rot="0">
              <a:off x="0" y="0"/>
              <a:ext cx="3568954" cy="1006602"/>
            </a:xfrm>
            <a:custGeom>
              <a:avLst/>
              <a:gdLst/>
              <a:ahLst/>
              <a:cxnLst/>
              <a:rect r="r" b="b" t="t" l="l"/>
              <a:pathLst>
                <a:path h="1006602" w="3568954">
                  <a:moveTo>
                    <a:pt x="0" y="503301"/>
                  </a:moveTo>
                  <a:cubicBezTo>
                    <a:pt x="0" y="225298"/>
                    <a:pt x="225298" y="0"/>
                    <a:pt x="503301" y="0"/>
                  </a:cubicBezTo>
                  <a:lnTo>
                    <a:pt x="3065653" y="0"/>
                  </a:lnTo>
                  <a:cubicBezTo>
                    <a:pt x="3343656" y="0"/>
                    <a:pt x="3568954" y="225298"/>
                    <a:pt x="3568954" y="503301"/>
                  </a:cubicBezTo>
                  <a:cubicBezTo>
                    <a:pt x="3568954" y="781304"/>
                    <a:pt x="3343656" y="1006602"/>
                    <a:pt x="3065653" y="1006602"/>
                  </a:cubicBezTo>
                  <a:lnTo>
                    <a:pt x="503301" y="1006602"/>
                  </a:lnTo>
                  <a:cubicBezTo>
                    <a:pt x="225298" y="1006602"/>
                    <a:pt x="0" y="781304"/>
                    <a:pt x="0" y="503301"/>
                  </a:cubicBezTo>
                  <a:close/>
                </a:path>
              </a:pathLst>
            </a:custGeom>
            <a:solidFill>
              <a:srgbClr val="1F4E79"/>
            </a:solidFill>
          </p:spPr>
        </p:sp>
      </p:grpSp>
      <p:grpSp>
        <p:nvGrpSpPr>
          <p:cNvPr name="Group 29" id="29"/>
          <p:cNvGrpSpPr/>
          <p:nvPr/>
        </p:nvGrpSpPr>
        <p:grpSpPr>
          <a:xfrm rot="0">
            <a:off x="9334176" y="2059010"/>
            <a:ext cx="2676716" cy="754971"/>
            <a:chOff x="0" y="0"/>
            <a:chExt cx="3568954" cy="1006627"/>
          </a:xfrm>
        </p:grpSpPr>
        <p:sp>
          <p:nvSpPr>
            <p:cNvPr name="Freeform 30" id="30"/>
            <p:cNvSpPr/>
            <p:nvPr/>
          </p:nvSpPr>
          <p:spPr>
            <a:xfrm flipH="false" flipV="false" rot="0">
              <a:off x="0" y="0"/>
              <a:ext cx="3568948" cy="1006626"/>
            </a:xfrm>
            <a:custGeom>
              <a:avLst/>
              <a:gdLst/>
              <a:ahLst/>
              <a:cxnLst/>
              <a:rect r="r" b="b" t="t" l="l"/>
              <a:pathLst>
                <a:path h="1006626" w="3568948">
                  <a:moveTo>
                    <a:pt x="0" y="0"/>
                  </a:moveTo>
                  <a:lnTo>
                    <a:pt x="3568948" y="0"/>
                  </a:lnTo>
                  <a:lnTo>
                    <a:pt x="3568948" y="1006626"/>
                  </a:lnTo>
                  <a:lnTo>
                    <a:pt x="0" y="1006626"/>
                  </a:lnTo>
                  <a:close/>
                </a:path>
              </a:pathLst>
            </a:custGeom>
            <a:blipFill>
              <a:blip r:embed="rId4">
                <a:alphaModFix amt="0"/>
              </a:blip>
              <a:stretch>
                <a:fillRect l="0" t="-19083" r="0" b="-19083"/>
              </a:stretch>
            </a:blipFill>
          </p:spPr>
        </p:sp>
        <p:sp>
          <p:nvSpPr>
            <p:cNvPr name="TextBox 31" id="31"/>
            <p:cNvSpPr txBox="true"/>
            <p:nvPr/>
          </p:nvSpPr>
          <p:spPr>
            <a:xfrm>
              <a:off x="0" y="-28575"/>
              <a:ext cx="3568954" cy="1035202"/>
            </a:xfrm>
            <a:prstGeom prst="rect">
              <a:avLst/>
            </a:prstGeom>
          </p:spPr>
          <p:txBody>
            <a:bodyPr anchor="ctr" rtlCol="false" tIns="0" lIns="0" bIns="0" rIns="0"/>
            <a:lstStyle/>
            <a:p>
              <a:pPr algn="ctr">
                <a:lnSpc>
                  <a:spcPts val="1981"/>
                </a:lnSpc>
              </a:pPr>
              <a:r>
                <a:rPr lang="en-US" sz="1651" b="true">
                  <a:solidFill>
                    <a:srgbClr val="FFFFFF"/>
                  </a:solidFill>
                  <a:latin typeface="Consolas Bold"/>
                  <a:ea typeface="Consolas Bold"/>
                  <a:cs typeface="Consolas Bold"/>
                  <a:sym typeface="Consolas Bold"/>
                </a:rPr>
                <a:t>agg()</a:t>
              </a:r>
            </a:p>
          </p:txBody>
        </p:sp>
      </p:grpSp>
      <p:grpSp>
        <p:nvGrpSpPr>
          <p:cNvPr name="Group 32" id="32"/>
          <p:cNvGrpSpPr/>
          <p:nvPr/>
        </p:nvGrpSpPr>
        <p:grpSpPr>
          <a:xfrm rot="0">
            <a:off x="12216784" y="2059010"/>
            <a:ext cx="2676716" cy="754971"/>
            <a:chOff x="0" y="0"/>
            <a:chExt cx="3568954" cy="1006627"/>
          </a:xfrm>
        </p:grpSpPr>
        <p:sp>
          <p:nvSpPr>
            <p:cNvPr name="Freeform 33" id="33"/>
            <p:cNvSpPr/>
            <p:nvPr/>
          </p:nvSpPr>
          <p:spPr>
            <a:xfrm flipH="false" flipV="false" rot="0">
              <a:off x="0" y="0"/>
              <a:ext cx="3568954" cy="1006602"/>
            </a:xfrm>
            <a:custGeom>
              <a:avLst/>
              <a:gdLst/>
              <a:ahLst/>
              <a:cxnLst/>
              <a:rect r="r" b="b" t="t" l="l"/>
              <a:pathLst>
                <a:path h="1006602" w="3568954">
                  <a:moveTo>
                    <a:pt x="0" y="503301"/>
                  </a:moveTo>
                  <a:cubicBezTo>
                    <a:pt x="0" y="225298"/>
                    <a:pt x="225298" y="0"/>
                    <a:pt x="503301" y="0"/>
                  </a:cubicBezTo>
                  <a:lnTo>
                    <a:pt x="3065653" y="0"/>
                  </a:lnTo>
                  <a:cubicBezTo>
                    <a:pt x="3343656" y="0"/>
                    <a:pt x="3568954" y="225298"/>
                    <a:pt x="3568954" y="503301"/>
                  </a:cubicBezTo>
                  <a:cubicBezTo>
                    <a:pt x="3568954" y="781304"/>
                    <a:pt x="3343656" y="1006602"/>
                    <a:pt x="3065653" y="1006602"/>
                  </a:cubicBezTo>
                  <a:lnTo>
                    <a:pt x="503301" y="1006602"/>
                  </a:lnTo>
                  <a:cubicBezTo>
                    <a:pt x="225298" y="1006602"/>
                    <a:pt x="0" y="781304"/>
                    <a:pt x="0" y="503301"/>
                  </a:cubicBezTo>
                  <a:close/>
                </a:path>
              </a:pathLst>
            </a:custGeom>
            <a:solidFill>
              <a:srgbClr val="1F4E79"/>
            </a:solidFill>
          </p:spPr>
        </p:sp>
      </p:grpSp>
      <p:grpSp>
        <p:nvGrpSpPr>
          <p:cNvPr name="Group 34" id="34"/>
          <p:cNvGrpSpPr/>
          <p:nvPr/>
        </p:nvGrpSpPr>
        <p:grpSpPr>
          <a:xfrm rot="0">
            <a:off x="12216784" y="2059010"/>
            <a:ext cx="2676716" cy="754971"/>
            <a:chOff x="0" y="0"/>
            <a:chExt cx="3568954" cy="1006627"/>
          </a:xfrm>
        </p:grpSpPr>
        <p:sp>
          <p:nvSpPr>
            <p:cNvPr name="Freeform 35" id="35"/>
            <p:cNvSpPr/>
            <p:nvPr/>
          </p:nvSpPr>
          <p:spPr>
            <a:xfrm flipH="false" flipV="false" rot="0">
              <a:off x="0" y="0"/>
              <a:ext cx="3568948" cy="1006626"/>
            </a:xfrm>
            <a:custGeom>
              <a:avLst/>
              <a:gdLst/>
              <a:ahLst/>
              <a:cxnLst/>
              <a:rect r="r" b="b" t="t" l="l"/>
              <a:pathLst>
                <a:path h="1006626" w="3568948">
                  <a:moveTo>
                    <a:pt x="0" y="0"/>
                  </a:moveTo>
                  <a:lnTo>
                    <a:pt x="3568948" y="0"/>
                  </a:lnTo>
                  <a:lnTo>
                    <a:pt x="3568948" y="1006626"/>
                  </a:lnTo>
                  <a:lnTo>
                    <a:pt x="0" y="1006626"/>
                  </a:lnTo>
                  <a:close/>
                </a:path>
              </a:pathLst>
            </a:custGeom>
            <a:blipFill>
              <a:blip r:embed="rId4">
                <a:alphaModFix amt="0"/>
              </a:blip>
              <a:stretch>
                <a:fillRect l="0" t="-19083" r="0" b="-19083"/>
              </a:stretch>
            </a:blipFill>
          </p:spPr>
        </p:sp>
        <p:sp>
          <p:nvSpPr>
            <p:cNvPr name="TextBox 36" id="36"/>
            <p:cNvSpPr txBox="true"/>
            <p:nvPr/>
          </p:nvSpPr>
          <p:spPr>
            <a:xfrm>
              <a:off x="0" y="-28575"/>
              <a:ext cx="3568954" cy="1035202"/>
            </a:xfrm>
            <a:prstGeom prst="rect">
              <a:avLst/>
            </a:prstGeom>
          </p:spPr>
          <p:txBody>
            <a:bodyPr anchor="ctr" rtlCol="false" tIns="0" lIns="0" bIns="0" rIns="0"/>
            <a:lstStyle/>
            <a:p>
              <a:pPr algn="ctr">
                <a:lnSpc>
                  <a:spcPts val="1981"/>
                </a:lnSpc>
              </a:pPr>
              <a:r>
                <a:rPr lang="en-US" sz="1651" b="true">
                  <a:solidFill>
                    <a:srgbClr val="FFFFFF"/>
                  </a:solidFill>
                  <a:latin typeface="Consolas Bold"/>
                  <a:ea typeface="Consolas Bold"/>
                  <a:cs typeface="Consolas Bold"/>
                  <a:sym typeface="Consolas Bold"/>
                </a:rPr>
                <a:t>orderBy()</a:t>
              </a:r>
            </a:p>
          </p:txBody>
        </p:sp>
      </p:grpSp>
      <p:grpSp>
        <p:nvGrpSpPr>
          <p:cNvPr name="Group 37" id="37"/>
          <p:cNvGrpSpPr/>
          <p:nvPr/>
        </p:nvGrpSpPr>
        <p:grpSpPr>
          <a:xfrm rot="0">
            <a:off x="15099392" y="2059010"/>
            <a:ext cx="2676716" cy="754971"/>
            <a:chOff x="0" y="0"/>
            <a:chExt cx="3568954" cy="1006627"/>
          </a:xfrm>
        </p:grpSpPr>
        <p:sp>
          <p:nvSpPr>
            <p:cNvPr name="Freeform 38" id="38"/>
            <p:cNvSpPr/>
            <p:nvPr/>
          </p:nvSpPr>
          <p:spPr>
            <a:xfrm flipH="false" flipV="false" rot="0">
              <a:off x="0" y="0"/>
              <a:ext cx="3568954" cy="1006602"/>
            </a:xfrm>
            <a:custGeom>
              <a:avLst/>
              <a:gdLst/>
              <a:ahLst/>
              <a:cxnLst/>
              <a:rect r="r" b="b" t="t" l="l"/>
              <a:pathLst>
                <a:path h="1006602" w="3568954">
                  <a:moveTo>
                    <a:pt x="0" y="503301"/>
                  </a:moveTo>
                  <a:cubicBezTo>
                    <a:pt x="0" y="225298"/>
                    <a:pt x="225298" y="0"/>
                    <a:pt x="503301" y="0"/>
                  </a:cubicBezTo>
                  <a:lnTo>
                    <a:pt x="3065653" y="0"/>
                  </a:lnTo>
                  <a:cubicBezTo>
                    <a:pt x="3343656" y="0"/>
                    <a:pt x="3568954" y="225298"/>
                    <a:pt x="3568954" y="503301"/>
                  </a:cubicBezTo>
                  <a:cubicBezTo>
                    <a:pt x="3568954" y="781304"/>
                    <a:pt x="3343656" y="1006602"/>
                    <a:pt x="3065653" y="1006602"/>
                  </a:cubicBezTo>
                  <a:lnTo>
                    <a:pt x="503301" y="1006602"/>
                  </a:lnTo>
                  <a:cubicBezTo>
                    <a:pt x="225298" y="1006602"/>
                    <a:pt x="0" y="781304"/>
                    <a:pt x="0" y="503301"/>
                  </a:cubicBezTo>
                  <a:close/>
                </a:path>
              </a:pathLst>
            </a:custGeom>
            <a:solidFill>
              <a:srgbClr val="1F4E79"/>
            </a:solidFill>
          </p:spPr>
        </p:sp>
      </p:grpSp>
      <p:grpSp>
        <p:nvGrpSpPr>
          <p:cNvPr name="Group 39" id="39"/>
          <p:cNvGrpSpPr/>
          <p:nvPr/>
        </p:nvGrpSpPr>
        <p:grpSpPr>
          <a:xfrm rot="0">
            <a:off x="15099392" y="2059010"/>
            <a:ext cx="2676716" cy="754971"/>
            <a:chOff x="0" y="0"/>
            <a:chExt cx="3568954" cy="1006627"/>
          </a:xfrm>
        </p:grpSpPr>
        <p:sp>
          <p:nvSpPr>
            <p:cNvPr name="Freeform 40" id="40"/>
            <p:cNvSpPr/>
            <p:nvPr/>
          </p:nvSpPr>
          <p:spPr>
            <a:xfrm flipH="false" flipV="false" rot="0">
              <a:off x="0" y="0"/>
              <a:ext cx="3568948" cy="1006626"/>
            </a:xfrm>
            <a:custGeom>
              <a:avLst/>
              <a:gdLst/>
              <a:ahLst/>
              <a:cxnLst/>
              <a:rect r="r" b="b" t="t" l="l"/>
              <a:pathLst>
                <a:path h="1006626" w="3568948">
                  <a:moveTo>
                    <a:pt x="0" y="0"/>
                  </a:moveTo>
                  <a:lnTo>
                    <a:pt x="3568948" y="0"/>
                  </a:lnTo>
                  <a:lnTo>
                    <a:pt x="3568948" y="1006626"/>
                  </a:lnTo>
                  <a:lnTo>
                    <a:pt x="0" y="1006626"/>
                  </a:lnTo>
                  <a:close/>
                </a:path>
              </a:pathLst>
            </a:custGeom>
            <a:blipFill>
              <a:blip r:embed="rId4">
                <a:alphaModFix amt="0"/>
              </a:blip>
              <a:stretch>
                <a:fillRect l="0" t="-19083" r="0" b="-19083"/>
              </a:stretch>
            </a:blipFill>
          </p:spPr>
        </p:sp>
        <p:sp>
          <p:nvSpPr>
            <p:cNvPr name="TextBox 41" id="41"/>
            <p:cNvSpPr txBox="true"/>
            <p:nvPr/>
          </p:nvSpPr>
          <p:spPr>
            <a:xfrm>
              <a:off x="0" y="-28575"/>
              <a:ext cx="3568954" cy="1035202"/>
            </a:xfrm>
            <a:prstGeom prst="rect">
              <a:avLst/>
            </a:prstGeom>
          </p:spPr>
          <p:txBody>
            <a:bodyPr anchor="ctr" rtlCol="false" tIns="0" lIns="0" bIns="0" rIns="0"/>
            <a:lstStyle/>
            <a:p>
              <a:pPr algn="ctr">
                <a:lnSpc>
                  <a:spcPts val="1981"/>
                </a:lnSpc>
              </a:pPr>
              <a:r>
                <a:rPr lang="en-US" sz="1651" b="true">
                  <a:solidFill>
                    <a:srgbClr val="FFFFFF"/>
                  </a:solidFill>
                  <a:latin typeface="Consolas Bold"/>
                  <a:ea typeface="Consolas Bold"/>
                  <a:cs typeface="Consolas Bold"/>
                  <a:sym typeface="Consolas Bold"/>
                </a:rPr>
                <a:t>join()</a:t>
              </a:r>
            </a:p>
          </p:txBody>
        </p:sp>
      </p:grpSp>
      <p:grpSp>
        <p:nvGrpSpPr>
          <p:cNvPr name="Group 42" id="42"/>
          <p:cNvGrpSpPr/>
          <p:nvPr/>
        </p:nvGrpSpPr>
        <p:grpSpPr>
          <a:xfrm rot="0">
            <a:off x="686333" y="3225784"/>
            <a:ext cx="10981382" cy="480431"/>
            <a:chOff x="0" y="0"/>
            <a:chExt cx="14641843" cy="640575"/>
          </a:xfrm>
        </p:grpSpPr>
        <p:sp>
          <p:nvSpPr>
            <p:cNvPr name="Freeform 43" id="43"/>
            <p:cNvSpPr/>
            <p:nvPr/>
          </p:nvSpPr>
          <p:spPr>
            <a:xfrm flipH="false" flipV="false" rot="0">
              <a:off x="0" y="0"/>
              <a:ext cx="14641840" cy="640580"/>
            </a:xfrm>
            <a:custGeom>
              <a:avLst/>
              <a:gdLst/>
              <a:ahLst/>
              <a:cxnLst/>
              <a:rect r="r" b="b" t="t" l="l"/>
              <a:pathLst>
                <a:path h="640580" w="14641840">
                  <a:moveTo>
                    <a:pt x="0" y="0"/>
                  </a:moveTo>
                  <a:lnTo>
                    <a:pt x="14641840" y="0"/>
                  </a:lnTo>
                  <a:lnTo>
                    <a:pt x="14641840" y="640580"/>
                  </a:lnTo>
                  <a:lnTo>
                    <a:pt x="0" y="640580"/>
                  </a:lnTo>
                  <a:close/>
                </a:path>
              </a:pathLst>
            </a:custGeom>
            <a:blipFill>
              <a:blip r:embed="rId4">
                <a:alphaModFix amt="0"/>
              </a:blip>
              <a:stretch>
                <a:fillRect l="0" t="-395372" r="0" b="-395372"/>
              </a:stretch>
            </a:blipFill>
          </p:spPr>
        </p:sp>
        <p:sp>
          <p:nvSpPr>
            <p:cNvPr name="TextBox 44" id="44"/>
            <p:cNvSpPr txBox="true"/>
            <p:nvPr/>
          </p:nvSpPr>
          <p:spPr>
            <a:xfrm>
              <a:off x="0" y="0"/>
              <a:ext cx="14641843" cy="640575"/>
            </a:xfrm>
            <a:prstGeom prst="rect">
              <a:avLst/>
            </a:prstGeom>
          </p:spPr>
          <p:txBody>
            <a:bodyPr anchor="ctr" rtlCol="false" tIns="0" lIns="0" bIns="0" rIns="0"/>
            <a:lstStyle/>
            <a:p>
              <a:pPr algn="l">
                <a:lnSpc>
                  <a:spcPts val="2251"/>
                </a:lnSpc>
              </a:pPr>
              <a:r>
                <a:rPr lang="en-US" sz="1876" b="true">
                  <a:solidFill>
                    <a:srgbClr val="1F4E79"/>
                  </a:solidFill>
                  <a:latin typeface="Cabin Bold"/>
                  <a:ea typeface="Cabin Bold"/>
                  <a:cs typeface="Cabin Bold"/>
                  <a:sym typeface="Cabin Bold"/>
                </a:rPr>
                <a:t>Ví dụ: tổng doanh số theo category</a:t>
              </a:r>
            </a:p>
          </p:txBody>
        </p:sp>
      </p:grpSp>
      <p:grpSp>
        <p:nvGrpSpPr>
          <p:cNvPr name="Group 45" id="45"/>
          <p:cNvGrpSpPr/>
          <p:nvPr/>
        </p:nvGrpSpPr>
        <p:grpSpPr>
          <a:xfrm rot="0">
            <a:off x="686333" y="3774853"/>
            <a:ext cx="16952500" cy="1578569"/>
            <a:chOff x="0" y="0"/>
            <a:chExt cx="22603333" cy="2104758"/>
          </a:xfrm>
        </p:grpSpPr>
        <p:sp>
          <p:nvSpPr>
            <p:cNvPr name="Freeform 46" id="46"/>
            <p:cNvSpPr/>
            <p:nvPr/>
          </p:nvSpPr>
          <p:spPr>
            <a:xfrm flipH="false" flipV="false" rot="0">
              <a:off x="0" y="0"/>
              <a:ext cx="22603461" cy="2104771"/>
            </a:xfrm>
            <a:custGeom>
              <a:avLst/>
              <a:gdLst/>
              <a:ahLst/>
              <a:cxnLst/>
              <a:rect r="r" b="b" t="t" l="l"/>
              <a:pathLst>
                <a:path h="2104771" w="22603461">
                  <a:moveTo>
                    <a:pt x="0" y="109855"/>
                  </a:moveTo>
                  <a:cubicBezTo>
                    <a:pt x="0" y="49149"/>
                    <a:pt x="49149" y="0"/>
                    <a:pt x="109855" y="0"/>
                  </a:cubicBezTo>
                  <a:lnTo>
                    <a:pt x="22493605" y="0"/>
                  </a:lnTo>
                  <a:cubicBezTo>
                    <a:pt x="22554312" y="0"/>
                    <a:pt x="22603461" y="49149"/>
                    <a:pt x="22603461" y="109855"/>
                  </a:cubicBezTo>
                  <a:lnTo>
                    <a:pt x="22603461" y="1994916"/>
                  </a:lnTo>
                  <a:cubicBezTo>
                    <a:pt x="22603461" y="2055622"/>
                    <a:pt x="22554312" y="2104771"/>
                    <a:pt x="22493605" y="2104771"/>
                  </a:cubicBezTo>
                  <a:lnTo>
                    <a:pt x="109855" y="2104771"/>
                  </a:lnTo>
                  <a:cubicBezTo>
                    <a:pt x="49149" y="2104771"/>
                    <a:pt x="0" y="2055622"/>
                    <a:pt x="0" y="1994916"/>
                  </a:cubicBezTo>
                  <a:close/>
                </a:path>
              </a:pathLst>
            </a:custGeom>
            <a:solidFill>
              <a:srgbClr val="1B2A3C"/>
            </a:solidFill>
          </p:spPr>
        </p:sp>
      </p:grpSp>
      <p:sp>
        <p:nvSpPr>
          <p:cNvPr name="TextBox 47" id="47"/>
          <p:cNvSpPr txBox="true"/>
          <p:nvPr/>
        </p:nvSpPr>
        <p:spPr>
          <a:xfrm rot="0">
            <a:off x="1079764" y="3936540"/>
            <a:ext cx="16165649" cy="1178985"/>
          </a:xfrm>
          <a:prstGeom prst="rect">
            <a:avLst/>
          </a:prstGeom>
        </p:spPr>
        <p:txBody>
          <a:bodyPr anchor="t" rtlCol="false" tIns="0" lIns="0" bIns="0" rIns="0">
            <a:spAutoFit/>
          </a:bodyPr>
          <a:lstStyle/>
          <a:p>
            <a:pPr algn="l">
              <a:lnSpc>
                <a:spcPts val="2476"/>
              </a:lnSpc>
            </a:pPr>
            <a:r>
              <a:rPr lang="en-US" sz="1651">
                <a:solidFill>
                  <a:srgbClr val="E8EEF5"/>
                </a:solidFill>
                <a:latin typeface="Consolas"/>
                <a:ea typeface="Consolas"/>
                <a:cs typeface="Consolas"/>
                <a:sym typeface="Consolas"/>
              </a:rPr>
              <a:t>df.groupBy("category") \</a:t>
            </a:r>
          </a:p>
          <a:p>
            <a:pPr algn="l">
              <a:lnSpc>
                <a:spcPts val="2476"/>
              </a:lnSpc>
            </a:pPr>
            <a:r>
              <a:rPr lang="en-US" sz="1651">
                <a:solidFill>
                  <a:srgbClr val="E8EEF5"/>
                </a:solidFill>
                <a:latin typeface="Consolas"/>
                <a:ea typeface="Consolas"/>
                <a:cs typeface="Consolas"/>
                <a:sym typeface="Consolas"/>
              </a:rPr>
              <a:t>  .sum("amount") \</a:t>
            </a:r>
          </a:p>
          <a:p>
            <a:pPr algn="l">
              <a:lnSpc>
                <a:spcPts val="2476"/>
              </a:lnSpc>
            </a:pPr>
            <a:r>
              <a:rPr lang="en-US" sz="1651">
                <a:solidFill>
                  <a:srgbClr val="E8EEF5"/>
                </a:solidFill>
                <a:latin typeface="Consolas"/>
                <a:ea typeface="Consolas"/>
                <a:cs typeface="Consolas"/>
                <a:sym typeface="Consolas"/>
              </a:rPr>
              <a:t>  .show()</a:t>
            </a:r>
          </a:p>
        </p:txBody>
      </p:sp>
      <p:grpSp>
        <p:nvGrpSpPr>
          <p:cNvPr name="Group 48" id="48"/>
          <p:cNvGrpSpPr/>
          <p:nvPr/>
        </p:nvGrpSpPr>
        <p:grpSpPr>
          <a:xfrm rot="0">
            <a:off x="679190" y="5689444"/>
            <a:ext cx="16966806" cy="2416473"/>
            <a:chOff x="0" y="0"/>
            <a:chExt cx="22622408" cy="3221965"/>
          </a:xfrm>
        </p:grpSpPr>
        <p:sp>
          <p:nvSpPr>
            <p:cNvPr name="Freeform 49" id="49"/>
            <p:cNvSpPr/>
            <p:nvPr/>
          </p:nvSpPr>
          <p:spPr>
            <a:xfrm flipH="false" flipV="false" rot="0">
              <a:off x="0" y="0"/>
              <a:ext cx="22622382" cy="3221990"/>
            </a:xfrm>
            <a:custGeom>
              <a:avLst/>
              <a:gdLst/>
              <a:ahLst/>
              <a:cxnLst/>
              <a:rect r="r" b="b" t="t" l="l"/>
              <a:pathLst>
                <a:path h="3221990" w="22622382">
                  <a:moveTo>
                    <a:pt x="0" y="110490"/>
                  </a:moveTo>
                  <a:cubicBezTo>
                    <a:pt x="0" y="49403"/>
                    <a:pt x="49403" y="0"/>
                    <a:pt x="110490" y="0"/>
                  </a:cubicBezTo>
                  <a:lnTo>
                    <a:pt x="22511893" y="0"/>
                  </a:lnTo>
                  <a:cubicBezTo>
                    <a:pt x="22572853" y="0"/>
                    <a:pt x="22622382" y="49403"/>
                    <a:pt x="22622382" y="110490"/>
                  </a:cubicBezTo>
                  <a:lnTo>
                    <a:pt x="22622382" y="3111500"/>
                  </a:lnTo>
                  <a:cubicBezTo>
                    <a:pt x="22622382" y="3172460"/>
                    <a:pt x="22572980" y="3221990"/>
                    <a:pt x="22511893" y="3221990"/>
                  </a:cubicBezTo>
                  <a:lnTo>
                    <a:pt x="110490" y="3221990"/>
                  </a:lnTo>
                  <a:cubicBezTo>
                    <a:pt x="49530" y="3221990"/>
                    <a:pt x="0" y="3172587"/>
                    <a:pt x="0" y="3111500"/>
                  </a:cubicBezTo>
                  <a:close/>
                </a:path>
              </a:pathLst>
            </a:custGeom>
            <a:solidFill>
              <a:srgbClr val="F2F5F8"/>
            </a:solidFill>
            <a:ln w="14299" cap="sq">
              <a:solidFill>
                <a:srgbClr val="D9D9D9"/>
              </a:solidFill>
              <a:prstDash val="solid"/>
              <a:miter/>
            </a:ln>
          </p:spPr>
        </p:sp>
      </p:grpSp>
      <p:grpSp>
        <p:nvGrpSpPr>
          <p:cNvPr name="Group 50" id="50"/>
          <p:cNvGrpSpPr/>
          <p:nvPr/>
        </p:nvGrpSpPr>
        <p:grpSpPr>
          <a:xfrm rot="0">
            <a:off x="1029500" y="5902490"/>
            <a:ext cx="10981382" cy="480431"/>
            <a:chOff x="0" y="0"/>
            <a:chExt cx="14641843" cy="640575"/>
          </a:xfrm>
        </p:grpSpPr>
        <p:sp>
          <p:nvSpPr>
            <p:cNvPr name="Freeform 51" id="51"/>
            <p:cNvSpPr/>
            <p:nvPr/>
          </p:nvSpPr>
          <p:spPr>
            <a:xfrm flipH="false" flipV="false" rot="0">
              <a:off x="0" y="0"/>
              <a:ext cx="14641840" cy="640580"/>
            </a:xfrm>
            <a:custGeom>
              <a:avLst/>
              <a:gdLst/>
              <a:ahLst/>
              <a:cxnLst/>
              <a:rect r="r" b="b" t="t" l="l"/>
              <a:pathLst>
                <a:path h="640580" w="14641840">
                  <a:moveTo>
                    <a:pt x="0" y="0"/>
                  </a:moveTo>
                  <a:lnTo>
                    <a:pt x="14641840" y="0"/>
                  </a:lnTo>
                  <a:lnTo>
                    <a:pt x="14641840" y="640580"/>
                  </a:lnTo>
                  <a:lnTo>
                    <a:pt x="0" y="640580"/>
                  </a:lnTo>
                  <a:close/>
                </a:path>
              </a:pathLst>
            </a:custGeom>
            <a:blipFill>
              <a:blip r:embed="rId4">
                <a:alphaModFix amt="0"/>
              </a:blip>
              <a:stretch>
                <a:fillRect l="0" t="-395372" r="0" b="-395372"/>
              </a:stretch>
            </a:blipFill>
          </p:spPr>
        </p:sp>
        <p:sp>
          <p:nvSpPr>
            <p:cNvPr name="TextBox 52" id="52"/>
            <p:cNvSpPr txBox="true"/>
            <p:nvPr/>
          </p:nvSpPr>
          <p:spPr>
            <a:xfrm>
              <a:off x="0" y="0"/>
              <a:ext cx="14641843" cy="640575"/>
            </a:xfrm>
            <a:prstGeom prst="rect">
              <a:avLst/>
            </a:prstGeom>
          </p:spPr>
          <p:txBody>
            <a:bodyPr anchor="ctr" rtlCol="false" tIns="0" lIns="0" bIns="0" rIns="0"/>
            <a:lstStyle/>
            <a:p>
              <a:pPr algn="l">
                <a:lnSpc>
                  <a:spcPts val="2161"/>
                </a:lnSpc>
              </a:pPr>
              <a:r>
                <a:rPr lang="en-US" sz="1801" b="true">
                  <a:solidFill>
                    <a:srgbClr val="1F4E79"/>
                  </a:solidFill>
                  <a:latin typeface="Cabin Bold"/>
                  <a:ea typeface="Cabin Bold"/>
                  <a:cs typeface="Cabin Bold"/>
                  <a:sym typeface="Cabin Bold"/>
                </a:rPr>
                <a:t>Học viên thực hiện</a:t>
              </a:r>
            </a:p>
          </p:txBody>
        </p:sp>
      </p:grpSp>
      <p:sp>
        <p:nvSpPr>
          <p:cNvPr name="TextBox 53" id="53"/>
          <p:cNvSpPr txBox="true"/>
          <p:nvPr/>
        </p:nvSpPr>
        <p:spPr>
          <a:xfrm rot="0">
            <a:off x="1120940" y="6469828"/>
            <a:ext cx="16083286" cy="1418501"/>
          </a:xfrm>
          <a:prstGeom prst="rect">
            <a:avLst/>
          </a:prstGeom>
        </p:spPr>
        <p:txBody>
          <a:bodyPr anchor="t" rtlCol="false" tIns="0" lIns="0" bIns="0" rIns="0">
            <a:spAutoFit/>
          </a:bodyPr>
          <a:lstStyle/>
          <a:p>
            <a:pPr algn="l">
              <a:lnSpc>
                <a:spcPts val="1981"/>
              </a:lnSpc>
            </a:pPr>
            <a:r>
              <a:rPr lang="en-US" sz="1651">
                <a:solidFill>
                  <a:srgbClr val="000000"/>
                </a:solidFill>
                <a:latin typeface="Cabin"/>
                <a:ea typeface="Cabin"/>
                <a:cs typeface="Cabin"/>
                <a:sym typeface="Cabin"/>
              </a:rPr>
              <a:t>Lần lượt áp dụng select, filter, groupBy, agg, orderBy, join trên dataset giao dịch để làm quen cú pháp DataFrame API — tương tự Pandas nhưng chạy phân tán.</a:t>
            </a:r>
          </a:p>
        </p:txBody>
      </p:sp>
      <p:grpSp>
        <p:nvGrpSpPr>
          <p:cNvPr name="Group 54" id="54"/>
          <p:cNvGrpSpPr/>
          <p:nvPr/>
        </p:nvGrpSpPr>
        <p:grpSpPr>
          <a:xfrm rot="0">
            <a:off x="0" y="9677343"/>
            <a:ext cx="18301840" cy="617706"/>
            <a:chOff x="0" y="0"/>
            <a:chExt cx="24402453" cy="823608"/>
          </a:xfrm>
        </p:grpSpPr>
        <p:sp>
          <p:nvSpPr>
            <p:cNvPr name="Freeform 55" id="55"/>
            <p:cNvSpPr/>
            <p:nvPr/>
          </p:nvSpPr>
          <p:spPr>
            <a:xfrm flipH="false" flipV="false" rot="0">
              <a:off x="0" y="0"/>
              <a:ext cx="24402414" cy="823595"/>
            </a:xfrm>
            <a:custGeom>
              <a:avLst/>
              <a:gdLst/>
              <a:ahLst/>
              <a:cxnLst/>
              <a:rect r="r" b="b" t="t" l="l"/>
              <a:pathLst>
                <a:path h="823595" w="24402414">
                  <a:moveTo>
                    <a:pt x="0" y="0"/>
                  </a:moveTo>
                  <a:lnTo>
                    <a:pt x="24402414" y="0"/>
                  </a:lnTo>
                  <a:lnTo>
                    <a:pt x="24402414" y="823595"/>
                  </a:lnTo>
                  <a:lnTo>
                    <a:pt x="0" y="823595"/>
                  </a:lnTo>
                  <a:close/>
                </a:path>
              </a:pathLst>
            </a:custGeom>
            <a:solidFill>
              <a:srgbClr val="1F4E79"/>
            </a:solidFill>
          </p:spPr>
        </p:sp>
      </p:grpSp>
      <p:grpSp>
        <p:nvGrpSpPr>
          <p:cNvPr name="Group 56" id="56"/>
          <p:cNvGrpSpPr/>
          <p:nvPr/>
        </p:nvGrpSpPr>
        <p:grpSpPr>
          <a:xfrm rot="0">
            <a:off x="480431" y="9677343"/>
            <a:ext cx="10981382" cy="617706"/>
            <a:chOff x="0" y="0"/>
            <a:chExt cx="14641843" cy="823608"/>
          </a:xfrm>
        </p:grpSpPr>
        <p:sp>
          <p:nvSpPr>
            <p:cNvPr name="Freeform 57" id="57"/>
            <p:cNvSpPr/>
            <p:nvPr/>
          </p:nvSpPr>
          <p:spPr>
            <a:xfrm flipH="false" flipV="false" rot="0">
              <a:off x="0" y="0"/>
              <a:ext cx="14641840" cy="823603"/>
            </a:xfrm>
            <a:custGeom>
              <a:avLst/>
              <a:gdLst/>
              <a:ahLst/>
              <a:cxnLst/>
              <a:rect r="r" b="b" t="t" l="l"/>
              <a:pathLst>
                <a:path h="823603" w="14641840">
                  <a:moveTo>
                    <a:pt x="0" y="0"/>
                  </a:moveTo>
                  <a:lnTo>
                    <a:pt x="14641840" y="0"/>
                  </a:lnTo>
                  <a:lnTo>
                    <a:pt x="14641840" y="823603"/>
                  </a:lnTo>
                  <a:lnTo>
                    <a:pt x="0" y="823603"/>
                  </a:lnTo>
                  <a:close/>
                </a:path>
              </a:pathLst>
            </a:custGeom>
            <a:blipFill>
              <a:blip r:embed="rId4">
                <a:alphaModFix amt="0"/>
              </a:blip>
              <a:stretch>
                <a:fillRect l="0" t="-296400" r="0" b="-296401"/>
              </a:stretch>
            </a:blipFill>
          </p:spPr>
        </p:sp>
        <p:sp>
          <p:nvSpPr>
            <p:cNvPr name="TextBox 58" id="58"/>
            <p:cNvSpPr txBox="true"/>
            <p:nvPr/>
          </p:nvSpPr>
          <p:spPr>
            <a:xfrm>
              <a:off x="0" y="0"/>
              <a:ext cx="14641843" cy="823608"/>
            </a:xfrm>
            <a:prstGeom prst="rect">
              <a:avLst/>
            </a:prstGeom>
          </p:spPr>
          <p:txBody>
            <a:bodyPr anchor="ctr" rtlCol="false" tIns="0" lIns="0" bIns="0" rIns="0"/>
            <a:lstStyle/>
            <a:p>
              <a:pPr algn="l">
                <a:lnSpc>
                  <a:spcPts val="1621"/>
                </a:lnSpc>
              </a:pPr>
              <a:r>
                <a:rPr lang="en-US" sz="1351">
                  <a:solidFill>
                    <a:srgbClr val="FFFFFF"/>
                  </a:solidFill>
                  <a:latin typeface="Cabin"/>
                  <a:ea typeface="Cabin"/>
                  <a:cs typeface="Cabin"/>
                  <a:sym typeface="Cabin"/>
                </a:rPr>
                <a:t>VNU UET – Institute for Artificial Intelligence</a:t>
              </a:r>
            </a:p>
          </p:txBody>
        </p:sp>
      </p:grpSp>
      <p:grpSp>
        <p:nvGrpSpPr>
          <p:cNvPr name="Group 59" id="59"/>
          <p:cNvGrpSpPr/>
          <p:nvPr/>
        </p:nvGrpSpPr>
        <p:grpSpPr>
          <a:xfrm rot="0">
            <a:off x="17066438" y="9677343"/>
            <a:ext cx="823608" cy="617706"/>
            <a:chOff x="0" y="0"/>
            <a:chExt cx="1098144" cy="823608"/>
          </a:xfrm>
        </p:grpSpPr>
        <p:sp>
          <p:nvSpPr>
            <p:cNvPr name="Freeform 60" id="60"/>
            <p:cNvSpPr/>
            <p:nvPr/>
          </p:nvSpPr>
          <p:spPr>
            <a:xfrm flipH="false" flipV="false" rot="0">
              <a:off x="0" y="0"/>
              <a:ext cx="1098138" cy="823603"/>
            </a:xfrm>
            <a:custGeom>
              <a:avLst/>
              <a:gdLst/>
              <a:ahLst/>
              <a:cxnLst/>
              <a:rect r="r" b="b" t="t" l="l"/>
              <a:pathLst>
                <a:path h="823603" w="1098138">
                  <a:moveTo>
                    <a:pt x="0" y="0"/>
                  </a:moveTo>
                  <a:lnTo>
                    <a:pt x="1098138" y="0"/>
                  </a:lnTo>
                  <a:lnTo>
                    <a:pt x="1098138" y="823603"/>
                  </a:lnTo>
                  <a:lnTo>
                    <a:pt x="0" y="823603"/>
                  </a:lnTo>
                  <a:close/>
                </a:path>
              </a:pathLst>
            </a:custGeom>
            <a:blipFill>
              <a:blip r:embed="rId4">
                <a:alphaModFix amt="0"/>
              </a:blip>
              <a:stretch>
                <a:fillRect l="-46227" t="0" r="-46228" b="0"/>
              </a:stretch>
            </a:blipFill>
          </p:spPr>
        </p:sp>
        <p:sp>
          <p:nvSpPr>
            <p:cNvPr name="TextBox 61" id="61"/>
            <p:cNvSpPr txBox="true"/>
            <p:nvPr/>
          </p:nvSpPr>
          <p:spPr>
            <a:xfrm>
              <a:off x="0" y="0"/>
              <a:ext cx="1098144" cy="823608"/>
            </a:xfrm>
            <a:prstGeom prst="rect">
              <a:avLst/>
            </a:prstGeom>
          </p:spPr>
          <p:txBody>
            <a:bodyPr anchor="ctr" rtlCol="false" tIns="0" lIns="0" bIns="0" rIns="0"/>
            <a:lstStyle/>
            <a:p>
              <a:pPr algn="r">
                <a:lnSpc>
                  <a:spcPts val="1621"/>
                </a:lnSpc>
              </a:pPr>
              <a:r>
                <a:rPr lang="en-US" sz="1351">
                  <a:solidFill>
                    <a:srgbClr val="FFFFFF"/>
                  </a:solidFill>
                  <a:latin typeface="Cabin"/>
                  <a:ea typeface="Cabin"/>
                  <a:cs typeface="Cabin"/>
                  <a:sym typeface="Cabin"/>
                </a:rPr>
                <a:t>28</a:t>
              </a:r>
            </a:p>
          </p:txBody>
        </p:sp>
      </p:grpSp>
      <p:grpSp>
        <p:nvGrpSpPr>
          <p:cNvPr name="Group 62" id="62"/>
          <p:cNvGrpSpPr/>
          <p:nvPr/>
        </p:nvGrpSpPr>
        <p:grpSpPr>
          <a:xfrm rot="0">
            <a:off x="0" y="0"/>
            <a:ext cx="18288000" cy="315468"/>
            <a:chOff x="0" y="0"/>
            <a:chExt cx="24384000" cy="420624"/>
          </a:xfrm>
        </p:grpSpPr>
        <p:sp>
          <p:nvSpPr>
            <p:cNvPr name="Freeform 63" id="63"/>
            <p:cNvSpPr/>
            <p:nvPr/>
          </p:nvSpPr>
          <p:spPr>
            <a:xfrm flipH="false" flipV="false" rot="0">
              <a:off x="0" y="0"/>
              <a:ext cx="24384000" cy="420624"/>
            </a:xfrm>
            <a:custGeom>
              <a:avLst/>
              <a:gdLst/>
              <a:ahLst/>
              <a:cxnLst/>
              <a:rect r="r" b="b" t="t" l="l"/>
              <a:pathLst>
                <a:path h="420624" w="24384000">
                  <a:moveTo>
                    <a:pt x="0" y="0"/>
                  </a:moveTo>
                  <a:lnTo>
                    <a:pt x="24384000" y="0"/>
                  </a:lnTo>
                  <a:lnTo>
                    <a:pt x="24384000" y="420624"/>
                  </a:lnTo>
                  <a:lnTo>
                    <a:pt x="0" y="420624"/>
                  </a:lnTo>
                  <a:close/>
                </a:path>
              </a:pathLst>
            </a:custGeom>
            <a:solidFill>
              <a:srgbClr val="0F3F6F"/>
            </a:solidFill>
          </p:spPr>
        </p:sp>
      </p:grpSp>
      <p:grpSp>
        <p:nvGrpSpPr>
          <p:cNvPr name="Group 64" id="64"/>
          <p:cNvGrpSpPr/>
          <p:nvPr/>
        </p:nvGrpSpPr>
        <p:grpSpPr>
          <a:xfrm rot="0">
            <a:off x="13098780" y="0"/>
            <a:ext cx="1453896" cy="1508760"/>
            <a:chOff x="0" y="0"/>
            <a:chExt cx="1938528" cy="2011680"/>
          </a:xfrm>
        </p:grpSpPr>
        <p:sp>
          <p:nvSpPr>
            <p:cNvPr name="Freeform 65" id="65"/>
            <p:cNvSpPr/>
            <p:nvPr/>
          </p:nvSpPr>
          <p:spPr>
            <a:xfrm flipH="false" flipV="false" rot="0">
              <a:off x="0" y="0"/>
              <a:ext cx="1938528" cy="2011680"/>
            </a:xfrm>
            <a:custGeom>
              <a:avLst/>
              <a:gdLst/>
              <a:ahLst/>
              <a:cxnLst/>
              <a:rect r="r" b="b" t="t" l="l"/>
              <a:pathLst>
                <a:path h="2011680" w="1938528">
                  <a:moveTo>
                    <a:pt x="0" y="2011680"/>
                  </a:moveTo>
                  <a:lnTo>
                    <a:pt x="484632" y="0"/>
                  </a:lnTo>
                  <a:lnTo>
                    <a:pt x="1938528" y="0"/>
                  </a:lnTo>
                  <a:lnTo>
                    <a:pt x="1453896" y="2011680"/>
                  </a:lnTo>
                  <a:close/>
                </a:path>
              </a:pathLst>
            </a:custGeom>
            <a:solidFill>
              <a:srgbClr val="85B518"/>
            </a:solidFill>
          </p:spPr>
        </p:sp>
      </p:grpSp>
      <p:grpSp>
        <p:nvGrpSpPr>
          <p:cNvPr name="Group 66" id="66"/>
          <p:cNvGrpSpPr/>
          <p:nvPr/>
        </p:nvGrpSpPr>
        <p:grpSpPr>
          <a:xfrm rot="0">
            <a:off x="14621256" y="0"/>
            <a:ext cx="1508760" cy="1508760"/>
            <a:chOff x="0" y="0"/>
            <a:chExt cx="2011680" cy="2011680"/>
          </a:xfrm>
        </p:grpSpPr>
        <p:sp>
          <p:nvSpPr>
            <p:cNvPr name="Freeform 67" id="67"/>
            <p:cNvSpPr/>
            <p:nvPr/>
          </p:nvSpPr>
          <p:spPr>
            <a:xfrm flipH="false" flipV="false" rot="0">
              <a:off x="0" y="0"/>
              <a:ext cx="2011680" cy="2011680"/>
            </a:xfrm>
            <a:custGeom>
              <a:avLst/>
              <a:gdLst/>
              <a:ahLst/>
              <a:cxnLst/>
              <a:rect r="r" b="b" t="t" l="l"/>
              <a:pathLst>
                <a:path h="2011680" w="2011680">
                  <a:moveTo>
                    <a:pt x="0" y="2011680"/>
                  </a:moveTo>
                  <a:lnTo>
                    <a:pt x="502920" y="0"/>
                  </a:lnTo>
                  <a:lnTo>
                    <a:pt x="2011680" y="0"/>
                  </a:lnTo>
                  <a:lnTo>
                    <a:pt x="1508760" y="2011680"/>
                  </a:lnTo>
                  <a:close/>
                </a:path>
              </a:pathLst>
            </a:custGeom>
            <a:solidFill>
              <a:srgbClr val="0F3F6F"/>
            </a:solidFill>
          </p:spPr>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97801" y="384353"/>
            <a:ext cx="851059" cy="851059"/>
            <a:chOff x="0" y="0"/>
            <a:chExt cx="1134745" cy="1134745"/>
          </a:xfrm>
        </p:grpSpPr>
        <p:sp>
          <p:nvSpPr>
            <p:cNvPr name="Freeform 3" id="3" descr="/home/claude/work/assets/logo.png"/>
            <p:cNvSpPr/>
            <p:nvPr/>
          </p:nvSpPr>
          <p:spPr>
            <a:xfrm flipH="false" flipV="false" rot="0">
              <a:off x="0" y="0"/>
              <a:ext cx="1134745" cy="1134745"/>
            </a:xfrm>
            <a:custGeom>
              <a:avLst/>
              <a:gdLst/>
              <a:ahLst/>
              <a:cxnLst/>
              <a:rect r="r" b="b" t="t" l="l"/>
              <a:pathLst>
                <a:path h="1134745" w="1134745">
                  <a:moveTo>
                    <a:pt x="0" y="0"/>
                  </a:moveTo>
                  <a:lnTo>
                    <a:pt x="1134745" y="0"/>
                  </a:lnTo>
                  <a:lnTo>
                    <a:pt x="1134745" y="1134745"/>
                  </a:lnTo>
                  <a:lnTo>
                    <a:pt x="0" y="1134745"/>
                  </a:lnTo>
                  <a:lnTo>
                    <a:pt x="0" y="0"/>
                  </a:lnTo>
                  <a:close/>
                </a:path>
              </a:pathLst>
            </a:custGeom>
            <a:blipFill>
              <a:blip r:embed="rId3"/>
              <a:stretch>
                <a:fillRect l="0" t="0" r="0" b="0"/>
              </a:stretch>
            </a:blipFill>
          </p:spPr>
        </p:sp>
      </p:grpSp>
      <p:grpSp>
        <p:nvGrpSpPr>
          <p:cNvPr name="Group 4" id="4"/>
          <p:cNvGrpSpPr/>
          <p:nvPr/>
        </p:nvGrpSpPr>
        <p:grpSpPr>
          <a:xfrm rot="0">
            <a:off x="686333" y="384353"/>
            <a:ext cx="10981382" cy="411804"/>
            <a:chOff x="0" y="0"/>
            <a:chExt cx="14641843" cy="549072"/>
          </a:xfrm>
        </p:grpSpPr>
        <p:sp>
          <p:nvSpPr>
            <p:cNvPr name="Freeform 5" id="5"/>
            <p:cNvSpPr/>
            <p:nvPr/>
          </p:nvSpPr>
          <p:spPr>
            <a:xfrm flipH="false" flipV="false" rot="0">
              <a:off x="0" y="0"/>
              <a:ext cx="14641840" cy="549069"/>
            </a:xfrm>
            <a:custGeom>
              <a:avLst/>
              <a:gdLst/>
              <a:ahLst/>
              <a:cxnLst/>
              <a:rect r="r" b="b" t="t" l="l"/>
              <a:pathLst>
                <a:path h="549069" w="14641840">
                  <a:moveTo>
                    <a:pt x="0" y="0"/>
                  </a:moveTo>
                  <a:lnTo>
                    <a:pt x="14641840" y="0"/>
                  </a:lnTo>
                  <a:lnTo>
                    <a:pt x="14641840" y="549069"/>
                  </a:lnTo>
                  <a:lnTo>
                    <a:pt x="0" y="549069"/>
                  </a:lnTo>
                  <a:close/>
                </a:path>
              </a:pathLst>
            </a:custGeom>
            <a:blipFill>
              <a:blip r:embed="rId4">
                <a:alphaModFix amt="0"/>
              </a:blip>
              <a:stretch>
                <a:fillRect l="0" t="-469600" r="0" b="-469601"/>
              </a:stretch>
            </a:blipFill>
          </p:spPr>
        </p:sp>
        <p:sp>
          <p:nvSpPr>
            <p:cNvPr name="TextBox 6" id="6"/>
            <p:cNvSpPr txBox="true"/>
            <p:nvPr/>
          </p:nvSpPr>
          <p:spPr>
            <a:xfrm>
              <a:off x="0" y="0"/>
              <a:ext cx="14641843" cy="549072"/>
            </a:xfrm>
            <a:prstGeom prst="rect">
              <a:avLst/>
            </a:prstGeom>
          </p:spPr>
          <p:txBody>
            <a:bodyPr anchor="ctr" rtlCol="false" tIns="0" lIns="0" bIns="0" rIns="0"/>
            <a:lstStyle/>
            <a:p>
              <a:pPr algn="l">
                <a:lnSpc>
                  <a:spcPts val="1981"/>
                </a:lnSpc>
              </a:pPr>
              <a:r>
                <a:rPr lang="en-US" sz="1651" i="true">
                  <a:solidFill>
                    <a:srgbClr val="4A4A4A"/>
                  </a:solidFill>
                  <a:latin typeface="Cabin Italics"/>
                  <a:ea typeface="Cabin Italics"/>
                  <a:cs typeface="Cabin Italics"/>
                  <a:sym typeface="Cabin Italics"/>
                </a:rPr>
                <a:t>5.13. Spark SQL · Bài 05 · Thực hành</a:t>
              </a:r>
            </a:p>
          </p:txBody>
        </p:sp>
      </p:grpSp>
      <p:grpSp>
        <p:nvGrpSpPr>
          <p:cNvPr name="Group 7" id="7"/>
          <p:cNvGrpSpPr/>
          <p:nvPr/>
        </p:nvGrpSpPr>
        <p:grpSpPr>
          <a:xfrm rot="0">
            <a:off x="686333" y="823608"/>
            <a:ext cx="82363" cy="754971"/>
            <a:chOff x="0" y="0"/>
            <a:chExt cx="109817" cy="1006627"/>
          </a:xfrm>
        </p:grpSpPr>
        <p:sp>
          <p:nvSpPr>
            <p:cNvPr name="Freeform 8" id="8"/>
            <p:cNvSpPr/>
            <p:nvPr/>
          </p:nvSpPr>
          <p:spPr>
            <a:xfrm flipH="false" flipV="false" rot="0">
              <a:off x="0" y="0"/>
              <a:ext cx="109855" cy="1006602"/>
            </a:xfrm>
            <a:custGeom>
              <a:avLst/>
              <a:gdLst/>
              <a:ahLst/>
              <a:cxnLst/>
              <a:rect r="r" b="b" t="t" l="l"/>
              <a:pathLst>
                <a:path h="1006602" w="109855">
                  <a:moveTo>
                    <a:pt x="0" y="0"/>
                  </a:moveTo>
                  <a:lnTo>
                    <a:pt x="109855" y="0"/>
                  </a:lnTo>
                  <a:lnTo>
                    <a:pt x="109855" y="1006602"/>
                  </a:lnTo>
                  <a:lnTo>
                    <a:pt x="0" y="1006602"/>
                  </a:lnTo>
                  <a:close/>
                </a:path>
              </a:pathLst>
            </a:custGeom>
            <a:solidFill>
              <a:srgbClr val="85B518"/>
            </a:solidFill>
          </p:spPr>
        </p:sp>
      </p:grpSp>
      <p:grpSp>
        <p:nvGrpSpPr>
          <p:cNvPr name="Group 9" id="9"/>
          <p:cNvGrpSpPr/>
          <p:nvPr/>
        </p:nvGrpSpPr>
        <p:grpSpPr>
          <a:xfrm rot="0">
            <a:off x="960872" y="796147"/>
            <a:ext cx="15831026" cy="823608"/>
            <a:chOff x="0" y="0"/>
            <a:chExt cx="21108035" cy="1098144"/>
          </a:xfrm>
        </p:grpSpPr>
        <p:sp>
          <p:nvSpPr>
            <p:cNvPr name="Freeform 10" id="10"/>
            <p:cNvSpPr/>
            <p:nvPr/>
          </p:nvSpPr>
          <p:spPr>
            <a:xfrm flipH="false" flipV="false" rot="0">
              <a:off x="0" y="0"/>
              <a:ext cx="21108040" cy="1098138"/>
            </a:xfrm>
            <a:custGeom>
              <a:avLst/>
              <a:gdLst/>
              <a:ahLst/>
              <a:cxnLst/>
              <a:rect r="r" b="b" t="t" l="l"/>
              <a:pathLst>
                <a:path h="1098138" w="21108040">
                  <a:moveTo>
                    <a:pt x="0" y="0"/>
                  </a:moveTo>
                  <a:lnTo>
                    <a:pt x="21108040" y="0"/>
                  </a:lnTo>
                  <a:lnTo>
                    <a:pt x="21108040" y="1098138"/>
                  </a:lnTo>
                  <a:lnTo>
                    <a:pt x="0" y="1098138"/>
                  </a:lnTo>
                  <a:close/>
                </a:path>
              </a:pathLst>
            </a:custGeom>
            <a:blipFill>
              <a:blip r:embed="rId4">
                <a:alphaModFix amt="0"/>
              </a:blip>
              <a:stretch>
                <a:fillRect l="0" t="-324534" r="0" b="-324535"/>
              </a:stretch>
            </a:blipFill>
          </p:spPr>
        </p:sp>
        <p:sp>
          <p:nvSpPr>
            <p:cNvPr name="TextBox 11" id="11"/>
            <p:cNvSpPr txBox="true"/>
            <p:nvPr/>
          </p:nvSpPr>
          <p:spPr>
            <a:xfrm>
              <a:off x="0" y="0"/>
              <a:ext cx="21108035" cy="1098144"/>
            </a:xfrm>
            <a:prstGeom prst="rect">
              <a:avLst/>
            </a:prstGeom>
          </p:spPr>
          <p:txBody>
            <a:bodyPr anchor="ctr" rtlCol="false" tIns="0" lIns="0" bIns="0" rIns="0"/>
            <a:lstStyle/>
            <a:p>
              <a:pPr algn="l">
                <a:lnSpc>
                  <a:spcPts val="3782"/>
                </a:lnSpc>
              </a:pPr>
              <a:r>
                <a:rPr lang="en-US" sz="3152" b="true">
                  <a:solidFill>
                    <a:srgbClr val="1F4E79"/>
                  </a:solidFill>
                  <a:latin typeface="Cabin Bold"/>
                  <a:ea typeface="Cabin Bold"/>
                  <a:cs typeface="Cabin Bold"/>
                  <a:sym typeface="Cabin Bold"/>
                </a:rPr>
                <a:t>Spark SQL — nối lại với phần SQL của Bài 3</a:t>
              </a:r>
            </a:p>
          </p:txBody>
        </p:sp>
      </p:grpSp>
      <p:grpSp>
        <p:nvGrpSpPr>
          <p:cNvPr name="Group 12" id="12"/>
          <p:cNvGrpSpPr/>
          <p:nvPr/>
        </p:nvGrpSpPr>
        <p:grpSpPr>
          <a:xfrm rot="0">
            <a:off x="686333" y="2059010"/>
            <a:ext cx="13726725" cy="480431"/>
            <a:chOff x="0" y="0"/>
            <a:chExt cx="18302300" cy="640575"/>
          </a:xfrm>
        </p:grpSpPr>
        <p:sp>
          <p:nvSpPr>
            <p:cNvPr name="Freeform 13" id="13"/>
            <p:cNvSpPr/>
            <p:nvPr/>
          </p:nvSpPr>
          <p:spPr>
            <a:xfrm flipH="false" flipV="false" rot="0">
              <a:off x="0" y="0"/>
              <a:ext cx="18302298" cy="640580"/>
            </a:xfrm>
            <a:custGeom>
              <a:avLst/>
              <a:gdLst/>
              <a:ahLst/>
              <a:cxnLst/>
              <a:rect r="r" b="b" t="t" l="l"/>
              <a:pathLst>
                <a:path h="640580" w="18302298">
                  <a:moveTo>
                    <a:pt x="0" y="0"/>
                  </a:moveTo>
                  <a:lnTo>
                    <a:pt x="18302298" y="0"/>
                  </a:lnTo>
                  <a:lnTo>
                    <a:pt x="18302298" y="640580"/>
                  </a:lnTo>
                  <a:lnTo>
                    <a:pt x="0" y="640580"/>
                  </a:lnTo>
                  <a:close/>
                </a:path>
              </a:pathLst>
            </a:custGeom>
            <a:blipFill>
              <a:blip r:embed="rId4">
                <a:alphaModFix amt="0"/>
              </a:blip>
              <a:stretch>
                <a:fillRect l="0" t="-506715" r="0" b="-506715"/>
              </a:stretch>
            </a:blipFill>
          </p:spPr>
        </p:sp>
        <p:sp>
          <p:nvSpPr>
            <p:cNvPr name="TextBox 14" id="14"/>
            <p:cNvSpPr txBox="true"/>
            <p:nvPr/>
          </p:nvSpPr>
          <p:spPr>
            <a:xfrm>
              <a:off x="0" y="0"/>
              <a:ext cx="18302300" cy="640575"/>
            </a:xfrm>
            <a:prstGeom prst="rect">
              <a:avLst/>
            </a:prstGeom>
          </p:spPr>
          <p:txBody>
            <a:bodyPr anchor="ctr" rtlCol="false" tIns="0" lIns="0" bIns="0" rIns="0"/>
            <a:lstStyle/>
            <a:p>
              <a:pPr algn="l">
                <a:lnSpc>
                  <a:spcPts val="2251"/>
                </a:lnSpc>
              </a:pPr>
              <a:r>
                <a:rPr lang="en-US" sz="1876" b="true">
                  <a:solidFill>
                    <a:srgbClr val="1F4E79"/>
                  </a:solidFill>
                  <a:latin typeface="Cabin Bold"/>
                  <a:ea typeface="Cabin Bold"/>
                  <a:cs typeface="Cabin Bold"/>
                  <a:sym typeface="Cabin Bold"/>
                </a:rPr>
                <a:t>Bước 1 — Tạo temporary view</a:t>
              </a:r>
            </a:p>
          </p:txBody>
        </p:sp>
      </p:grpSp>
      <p:grpSp>
        <p:nvGrpSpPr>
          <p:cNvPr name="Group 15" id="15"/>
          <p:cNvGrpSpPr/>
          <p:nvPr/>
        </p:nvGrpSpPr>
        <p:grpSpPr>
          <a:xfrm rot="0">
            <a:off x="686333" y="2608078"/>
            <a:ext cx="16952500" cy="892235"/>
            <a:chOff x="0" y="0"/>
            <a:chExt cx="22603333" cy="1189647"/>
          </a:xfrm>
        </p:grpSpPr>
        <p:sp>
          <p:nvSpPr>
            <p:cNvPr name="Freeform 16" id="16"/>
            <p:cNvSpPr/>
            <p:nvPr/>
          </p:nvSpPr>
          <p:spPr>
            <a:xfrm flipH="false" flipV="false" rot="0">
              <a:off x="0" y="0"/>
              <a:ext cx="22603461" cy="1189736"/>
            </a:xfrm>
            <a:custGeom>
              <a:avLst/>
              <a:gdLst/>
              <a:ahLst/>
              <a:cxnLst/>
              <a:rect r="r" b="b" t="t" l="l"/>
              <a:pathLst>
                <a:path h="1189736" w="22603461">
                  <a:moveTo>
                    <a:pt x="0" y="109855"/>
                  </a:moveTo>
                  <a:cubicBezTo>
                    <a:pt x="0" y="49149"/>
                    <a:pt x="49149" y="0"/>
                    <a:pt x="109855" y="0"/>
                  </a:cubicBezTo>
                  <a:lnTo>
                    <a:pt x="22493605" y="0"/>
                  </a:lnTo>
                  <a:cubicBezTo>
                    <a:pt x="22554312" y="0"/>
                    <a:pt x="22603461" y="49149"/>
                    <a:pt x="22603461" y="109855"/>
                  </a:cubicBezTo>
                  <a:lnTo>
                    <a:pt x="22603461" y="1079881"/>
                  </a:lnTo>
                  <a:cubicBezTo>
                    <a:pt x="22603461" y="1140587"/>
                    <a:pt x="22554312" y="1189736"/>
                    <a:pt x="22493605" y="1189736"/>
                  </a:cubicBezTo>
                  <a:lnTo>
                    <a:pt x="109855" y="1189736"/>
                  </a:lnTo>
                  <a:cubicBezTo>
                    <a:pt x="49149" y="1189609"/>
                    <a:pt x="0" y="1140460"/>
                    <a:pt x="0" y="1079881"/>
                  </a:cubicBezTo>
                  <a:close/>
                </a:path>
              </a:pathLst>
            </a:custGeom>
            <a:solidFill>
              <a:srgbClr val="1B2A3C"/>
            </a:solidFill>
          </p:spPr>
        </p:sp>
      </p:grpSp>
      <p:sp>
        <p:nvSpPr>
          <p:cNvPr name="TextBox 17" id="17"/>
          <p:cNvSpPr txBox="true"/>
          <p:nvPr/>
        </p:nvSpPr>
        <p:spPr>
          <a:xfrm rot="0">
            <a:off x="1079764" y="2769775"/>
            <a:ext cx="16165649" cy="492652"/>
          </a:xfrm>
          <a:prstGeom prst="rect">
            <a:avLst/>
          </a:prstGeom>
        </p:spPr>
        <p:txBody>
          <a:bodyPr anchor="t" rtlCol="false" tIns="0" lIns="0" bIns="0" rIns="0">
            <a:spAutoFit/>
          </a:bodyPr>
          <a:lstStyle/>
          <a:p>
            <a:pPr algn="l">
              <a:lnSpc>
                <a:spcPts val="2476"/>
              </a:lnSpc>
            </a:pPr>
            <a:r>
              <a:rPr lang="en-US" sz="1651">
                <a:solidFill>
                  <a:srgbClr val="E8EEF5"/>
                </a:solidFill>
                <a:latin typeface="Consolas"/>
                <a:ea typeface="Consolas"/>
                <a:cs typeface="Consolas"/>
                <a:sym typeface="Consolas"/>
              </a:rPr>
              <a:t>df.createOrReplaceTempView("transactions")</a:t>
            </a:r>
          </a:p>
        </p:txBody>
      </p:sp>
      <p:grpSp>
        <p:nvGrpSpPr>
          <p:cNvPr name="Group 18" id="18"/>
          <p:cNvGrpSpPr/>
          <p:nvPr/>
        </p:nvGrpSpPr>
        <p:grpSpPr>
          <a:xfrm rot="0">
            <a:off x="686333" y="3774853"/>
            <a:ext cx="13726725" cy="480431"/>
            <a:chOff x="0" y="0"/>
            <a:chExt cx="18302300" cy="640575"/>
          </a:xfrm>
        </p:grpSpPr>
        <p:sp>
          <p:nvSpPr>
            <p:cNvPr name="Freeform 19" id="19"/>
            <p:cNvSpPr/>
            <p:nvPr/>
          </p:nvSpPr>
          <p:spPr>
            <a:xfrm flipH="false" flipV="false" rot="0">
              <a:off x="0" y="0"/>
              <a:ext cx="18302298" cy="640580"/>
            </a:xfrm>
            <a:custGeom>
              <a:avLst/>
              <a:gdLst/>
              <a:ahLst/>
              <a:cxnLst/>
              <a:rect r="r" b="b" t="t" l="l"/>
              <a:pathLst>
                <a:path h="640580" w="18302298">
                  <a:moveTo>
                    <a:pt x="0" y="0"/>
                  </a:moveTo>
                  <a:lnTo>
                    <a:pt x="18302298" y="0"/>
                  </a:lnTo>
                  <a:lnTo>
                    <a:pt x="18302298" y="640580"/>
                  </a:lnTo>
                  <a:lnTo>
                    <a:pt x="0" y="640580"/>
                  </a:lnTo>
                  <a:close/>
                </a:path>
              </a:pathLst>
            </a:custGeom>
            <a:blipFill>
              <a:blip r:embed="rId4">
                <a:alphaModFix amt="0"/>
              </a:blip>
              <a:stretch>
                <a:fillRect l="0" t="-506715" r="0" b="-506715"/>
              </a:stretch>
            </a:blipFill>
          </p:spPr>
        </p:sp>
        <p:sp>
          <p:nvSpPr>
            <p:cNvPr name="TextBox 20" id="20"/>
            <p:cNvSpPr txBox="true"/>
            <p:nvPr/>
          </p:nvSpPr>
          <p:spPr>
            <a:xfrm>
              <a:off x="0" y="0"/>
              <a:ext cx="18302300" cy="640575"/>
            </a:xfrm>
            <a:prstGeom prst="rect">
              <a:avLst/>
            </a:prstGeom>
          </p:spPr>
          <p:txBody>
            <a:bodyPr anchor="ctr" rtlCol="false" tIns="0" lIns="0" bIns="0" rIns="0"/>
            <a:lstStyle/>
            <a:p>
              <a:pPr algn="l">
                <a:lnSpc>
                  <a:spcPts val="2251"/>
                </a:lnSpc>
              </a:pPr>
              <a:r>
                <a:rPr lang="en-US" sz="1876" b="true">
                  <a:solidFill>
                    <a:srgbClr val="1F4E79"/>
                  </a:solidFill>
                  <a:latin typeface="Cabin Bold"/>
                  <a:ea typeface="Cabin Bold"/>
                  <a:cs typeface="Cabin Bold"/>
                  <a:sym typeface="Cabin Bold"/>
                </a:rPr>
                <a:t>Bước 2 — Truy vấn bằng SQL</a:t>
              </a:r>
            </a:p>
          </p:txBody>
        </p:sp>
      </p:grpSp>
      <p:grpSp>
        <p:nvGrpSpPr>
          <p:cNvPr name="Group 21" id="21"/>
          <p:cNvGrpSpPr/>
          <p:nvPr/>
        </p:nvGrpSpPr>
        <p:grpSpPr>
          <a:xfrm rot="0">
            <a:off x="686333" y="4323921"/>
            <a:ext cx="16952500" cy="2402176"/>
            <a:chOff x="0" y="0"/>
            <a:chExt cx="22603333" cy="3202902"/>
          </a:xfrm>
        </p:grpSpPr>
        <p:sp>
          <p:nvSpPr>
            <p:cNvPr name="Freeform 22" id="22"/>
            <p:cNvSpPr/>
            <p:nvPr/>
          </p:nvSpPr>
          <p:spPr>
            <a:xfrm flipH="false" flipV="false" rot="0">
              <a:off x="0" y="0"/>
              <a:ext cx="22603333" cy="3202940"/>
            </a:xfrm>
            <a:custGeom>
              <a:avLst/>
              <a:gdLst/>
              <a:ahLst/>
              <a:cxnLst/>
              <a:rect r="r" b="b" t="t" l="l"/>
              <a:pathLst>
                <a:path h="3202940" w="22603333">
                  <a:moveTo>
                    <a:pt x="0" y="109855"/>
                  </a:moveTo>
                  <a:cubicBezTo>
                    <a:pt x="0" y="49149"/>
                    <a:pt x="49149" y="0"/>
                    <a:pt x="109855" y="0"/>
                  </a:cubicBezTo>
                  <a:lnTo>
                    <a:pt x="22493478" y="0"/>
                  </a:lnTo>
                  <a:cubicBezTo>
                    <a:pt x="22554185" y="0"/>
                    <a:pt x="22603333" y="49149"/>
                    <a:pt x="22603333" y="109855"/>
                  </a:cubicBezTo>
                  <a:lnTo>
                    <a:pt x="22603333" y="3093085"/>
                  </a:lnTo>
                  <a:cubicBezTo>
                    <a:pt x="22603333" y="3153791"/>
                    <a:pt x="22554185" y="3202940"/>
                    <a:pt x="22493478" y="3202940"/>
                  </a:cubicBezTo>
                  <a:lnTo>
                    <a:pt x="109855" y="3202940"/>
                  </a:lnTo>
                  <a:cubicBezTo>
                    <a:pt x="49149" y="3202940"/>
                    <a:pt x="0" y="3153791"/>
                    <a:pt x="0" y="3093085"/>
                  </a:cubicBezTo>
                  <a:close/>
                </a:path>
              </a:pathLst>
            </a:custGeom>
            <a:solidFill>
              <a:srgbClr val="1B2A3C"/>
            </a:solidFill>
          </p:spPr>
        </p:sp>
      </p:grpSp>
      <p:sp>
        <p:nvSpPr>
          <p:cNvPr name="TextBox 23" id="23"/>
          <p:cNvSpPr txBox="true"/>
          <p:nvPr/>
        </p:nvSpPr>
        <p:spPr>
          <a:xfrm rot="0">
            <a:off x="1079764" y="4485608"/>
            <a:ext cx="16165649" cy="2002593"/>
          </a:xfrm>
          <a:prstGeom prst="rect">
            <a:avLst/>
          </a:prstGeom>
        </p:spPr>
        <p:txBody>
          <a:bodyPr anchor="t" rtlCol="false" tIns="0" lIns="0" bIns="0" rIns="0">
            <a:spAutoFit/>
          </a:bodyPr>
          <a:lstStyle/>
          <a:p>
            <a:pPr algn="l">
              <a:lnSpc>
                <a:spcPts val="2476"/>
              </a:lnSpc>
            </a:pPr>
            <a:r>
              <a:rPr lang="en-US" sz="1651">
                <a:solidFill>
                  <a:srgbClr val="E8EEF5"/>
                </a:solidFill>
                <a:latin typeface="Consolas"/>
                <a:ea typeface="Consolas"/>
                <a:cs typeface="Consolas"/>
                <a:sym typeface="Consolas"/>
              </a:rPr>
              <a:t>spark.sql("""</a:t>
            </a:r>
          </a:p>
          <a:p>
            <a:pPr algn="l">
              <a:lnSpc>
                <a:spcPts val="2476"/>
              </a:lnSpc>
            </a:pPr>
            <a:r>
              <a:rPr lang="en-US" sz="1651">
                <a:solidFill>
                  <a:srgbClr val="E8EEF5"/>
                </a:solidFill>
                <a:latin typeface="Consolas"/>
                <a:ea typeface="Consolas"/>
                <a:cs typeface="Consolas"/>
                <a:sym typeface="Consolas"/>
              </a:rPr>
              <a:t>    SELECT category, SUM(amount) AS total_amount</a:t>
            </a:r>
          </a:p>
          <a:p>
            <a:pPr algn="l">
              <a:lnSpc>
                <a:spcPts val="2476"/>
              </a:lnSpc>
            </a:pPr>
            <a:r>
              <a:rPr lang="en-US" sz="1651">
                <a:solidFill>
                  <a:srgbClr val="E8EEF5"/>
                </a:solidFill>
                <a:latin typeface="Consolas"/>
                <a:ea typeface="Consolas"/>
                <a:cs typeface="Consolas"/>
                <a:sym typeface="Consolas"/>
              </a:rPr>
              <a:t>    FROM transactions</a:t>
            </a:r>
          </a:p>
          <a:p>
            <a:pPr algn="l">
              <a:lnSpc>
                <a:spcPts val="2476"/>
              </a:lnSpc>
            </a:pPr>
            <a:r>
              <a:rPr lang="en-US" sz="1651">
                <a:solidFill>
                  <a:srgbClr val="E8EEF5"/>
                </a:solidFill>
                <a:latin typeface="Consolas"/>
                <a:ea typeface="Consolas"/>
                <a:cs typeface="Consolas"/>
                <a:sym typeface="Consolas"/>
              </a:rPr>
              <a:t>    GROUP BY category</a:t>
            </a:r>
          </a:p>
          <a:p>
            <a:pPr algn="l">
              <a:lnSpc>
                <a:spcPts val="2476"/>
              </a:lnSpc>
            </a:pPr>
            <a:r>
              <a:rPr lang="en-US" sz="1651">
                <a:solidFill>
                  <a:srgbClr val="E8EEF5"/>
                </a:solidFill>
                <a:latin typeface="Consolas"/>
                <a:ea typeface="Consolas"/>
                <a:cs typeface="Consolas"/>
                <a:sym typeface="Consolas"/>
              </a:rPr>
              <a:t>""").show()</a:t>
            </a:r>
          </a:p>
        </p:txBody>
      </p:sp>
      <p:grpSp>
        <p:nvGrpSpPr>
          <p:cNvPr name="Group 24" id="24"/>
          <p:cNvGrpSpPr/>
          <p:nvPr/>
        </p:nvGrpSpPr>
        <p:grpSpPr>
          <a:xfrm rot="0">
            <a:off x="686333" y="7069264"/>
            <a:ext cx="16952500" cy="1509941"/>
            <a:chOff x="0" y="0"/>
            <a:chExt cx="22603333" cy="2013255"/>
          </a:xfrm>
        </p:grpSpPr>
        <p:sp>
          <p:nvSpPr>
            <p:cNvPr name="Freeform 25" id="25"/>
            <p:cNvSpPr/>
            <p:nvPr/>
          </p:nvSpPr>
          <p:spPr>
            <a:xfrm flipH="false" flipV="false" rot="0">
              <a:off x="0" y="0"/>
              <a:ext cx="22603461" cy="2013331"/>
            </a:xfrm>
            <a:custGeom>
              <a:avLst/>
              <a:gdLst/>
              <a:ahLst/>
              <a:cxnLst/>
              <a:rect r="r" b="b" t="t" l="l"/>
              <a:pathLst>
                <a:path h="2013331" w="22603461">
                  <a:moveTo>
                    <a:pt x="0" y="109855"/>
                  </a:moveTo>
                  <a:cubicBezTo>
                    <a:pt x="0" y="49149"/>
                    <a:pt x="49149" y="0"/>
                    <a:pt x="109855" y="0"/>
                  </a:cubicBezTo>
                  <a:lnTo>
                    <a:pt x="22493605" y="0"/>
                  </a:lnTo>
                  <a:cubicBezTo>
                    <a:pt x="22554312" y="0"/>
                    <a:pt x="22603461" y="49149"/>
                    <a:pt x="22603461" y="109855"/>
                  </a:cubicBezTo>
                  <a:lnTo>
                    <a:pt x="22603461" y="1903476"/>
                  </a:lnTo>
                  <a:cubicBezTo>
                    <a:pt x="22603461" y="1964182"/>
                    <a:pt x="22554312" y="2013331"/>
                    <a:pt x="22493605" y="2013331"/>
                  </a:cubicBezTo>
                  <a:lnTo>
                    <a:pt x="109855" y="2013331"/>
                  </a:lnTo>
                  <a:cubicBezTo>
                    <a:pt x="49149" y="2013331"/>
                    <a:pt x="0" y="1964182"/>
                    <a:pt x="0" y="1903476"/>
                  </a:cubicBezTo>
                  <a:close/>
                </a:path>
              </a:pathLst>
            </a:custGeom>
            <a:solidFill>
              <a:srgbClr val="1F4E79"/>
            </a:solidFill>
          </p:spPr>
        </p:sp>
      </p:grpSp>
      <p:grpSp>
        <p:nvGrpSpPr>
          <p:cNvPr name="Group 26" id="26"/>
          <p:cNvGrpSpPr/>
          <p:nvPr/>
        </p:nvGrpSpPr>
        <p:grpSpPr>
          <a:xfrm rot="0">
            <a:off x="1029500" y="7069264"/>
            <a:ext cx="16266166" cy="1509941"/>
            <a:chOff x="0" y="0"/>
            <a:chExt cx="21688222" cy="2013255"/>
          </a:xfrm>
        </p:grpSpPr>
        <p:sp>
          <p:nvSpPr>
            <p:cNvPr name="Freeform 27" id="27"/>
            <p:cNvSpPr/>
            <p:nvPr/>
          </p:nvSpPr>
          <p:spPr>
            <a:xfrm flipH="false" flipV="false" rot="0">
              <a:off x="0" y="0"/>
              <a:ext cx="21688223" cy="2013253"/>
            </a:xfrm>
            <a:custGeom>
              <a:avLst/>
              <a:gdLst/>
              <a:ahLst/>
              <a:cxnLst/>
              <a:rect r="r" b="b" t="t" l="l"/>
              <a:pathLst>
                <a:path h="2013253" w="21688223">
                  <a:moveTo>
                    <a:pt x="0" y="0"/>
                  </a:moveTo>
                  <a:lnTo>
                    <a:pt x="21688223" y="0"/>
                  </a:lnTo>
                  <a:lnTo>
                    <a:pt x="21688223" y="2013253"/>
                  </a:lnTo>
                  <a:lnTo>
                    <a:pt x="0" y="2013253"/>
                  </a:lnTo>
                  <a:close/>
                </a:path>
              </a:pathLst>
            </a:custGeom>
            <a:blipFill>
              <a:blip r:embed="rId4">
                <a:alphaModFix amt="0"/>
              </a:blip>
              <a:stretch>
                <a:fillRect l="0" t="-159906" r="0" b="-159907"/>
              </a:stretch>
            </a:blipFill>
          </p:spPr>
        </p:sp>
        <p:sp>
          <p:nvSpPr>
            <p:cNvPr name="TextBox 28" id="28"/>
            <p:cNvSpPr txBox="true"/>
            <p:nvPr/>
          </p:nvSpPr>
          <p:spPr>
            <a:xfrm>
              <a:off x="0" y="0"/>
              <a:ext cx="21688222" cy="2013255"/>
            </a:xfrm>
            <a:prstGeom prst="rect">
              <a:avLst/>
            </a:prstGeom>
          </p:spPr>
          <p:txBody>
            <a:bodyPr anchor="ctr" rtlCol="false" tIns="0" lIns="0" bIns="0" rIns="0"/>
            <a:lstStyle/>
            <a:p>
              <a:pPr algn="l">
                <a:lnSpc>
                  <a:spcPts val="2071"/>
                </a:lnSpc>
              </a:pPr>
              <a:r>
                <a:rPr lang="en-US" sz="1726" i="true">
                  <a:solidFill>
                    <a:srgbClr val="FFFFFF"/>
                  </a:solidFill>
                  <a:latin typeface="Cabin Italics"/>
                  <a:ea typeface="Cabin Italics"/>
                  <a:cs typeface="Cabin Italics"/>
                  <a:sym typeface="Cabin Italics"/>
                </a:rPr>
                <a:t>Đây là cách nối rất đẹp với phần SQL của Bài 3: cùng cú pháp SELECT/GROUP BY quen thuộc, nhưng nay chạy trên engine phân tán của Spark.</a:t>
              </a:r>
            </a:p>
          </p:txBody>
        </p:sp>
      </p:grpSp>
      <p:grpSp>
        <p:nvGrpSpPr>
          <p:cNvPr name="Group 29" id="29"/>
          <p:cNvGrpSpPr/>
          <p:nvPr/>
        </p:nvGrpSpPr>
        <p:grpSpPr>
          <a:xfrm rot="0">
            <a:off x="0" y="9677343"/>
            <a:ext cx="18301840" cy="617706"/>
            <a:chOff x="0" y="0"/>
            <a:chExt cx="24402453" cy="823608"/>
          </a:xfrm>
        </p:grpSpPr>
        <p:sp>
          <p:nvSpPr>
            <p:cNvPr name="Freeform 30" id="30"/>
            <p:cNvSpPr/>
            <p:nvPr/>
          </p:nvSpPr>
          <p:spPr>
            <a:xfrm flipH="false" flipV="false" rot="0">
              <a:off x="0" y="0"/>
              <a:ext cx="24402414" cy="823595"/>
            </a:xfrm>
            <a:custGeom>
              <a:avLst/>
              <a:gdLst/>
              <a:ahLst/>
              <a:cxnLst/>
              <a:rect r="r" b="b" t="t" l="l"/>
              <a:pathLst>
                <a:path h="823595" w="24402414">
                  <a:moveTo>
                    <a:pt x="0" y="0"/>
                  </a:moveTo>
                  <a:lnTo>
                    <a:pt x="24402414" y="0"/>
                  </a:lnTo>
                  <a:lnTo>
                    <a:pt x="24402414" y="823595"/>
                  </a:lnTo>
                  <a:lnTo>
                    <a:pt x="0" y="823595"/>
                  </a:lnTo>
                  <a:close/>
                </a:path>
              </a:pathLst>
            </a:custGeom>
            <a:solidFill>
              <a:srgbClr val="1F4E79"/>
            </a:solidFill>
          </p:spPr>
        </p:sp>
      </p:grpSp>
      <p:grpSp>
        <p:nvGrpSpPr>
          <p:cNvPr name="Group 31" id="31"/>
          <p:cNvGrpSpPr/>
          <p:nvPr/>
        </p:nvGrpSpPr>
        <p:grpSpPr>
          <a:xfrm rot="0">
            <a:off x="480431" y="9677343"/>
            <a:ext cx="10981382" cy="617706"/>
            <a:chOff x="0" y="0"/>
            <a:chExt cx="14641843" cy="823608"/>
          </a:xfrm>
        </p:grpSpPr>
        <p:sp>
          <p:nvSpPr>
            <p:cNvPr name="Freeform 32" id="32"/>
            <p:cNvSpPr/>
            <p:nvPr/>
          </p:nvSpPr>
          <p:spPr>
            <a:xfrm flipH="false" flipV="false" rot="0">
              <a:off x="0" y="0"/>
              <a:ext cx="14641840" cy="823603"/>
            </a:xfrm>
            <a:custGeom>
              <a:avLst/>
              <a:gdLst/>
              <a:ahLst/>
              <a:cxnLst/>
              <a:rect r="r" b="b" t="t" l="l"/>
              <a:pathLst>
                <a:path h="823603" w="14641840">
                  <a:moveTo>
                    <a:pt x="0" y="0"/>
                  </a:moveTo>
                  <a:lnTo>
                    <a:pt x="14641840" y="0"/>
                  </a:lnTo>
                  <a:lnTo>
                    <a:pt x="14641840" y="823603"/>
                  </a:lnTo>
                  <a:lnTo>
                    <a:pt x="0" y="823603"/>
                  </a:lnTo>
                  <a:close/>
                </a:path>
              </a:pathLst>
            </a:custGeom>
            <a:blipFill>
              <a:blip r:embed="rId4">
                <a:alphaModFix amt="0"/>
              </a:blip>
              <a:stretch>
                <a:fillRect l="0" t="-296400" r="0" b="-296401"/>
              </a:stretch>
            </a:blipFill>
          </p:spPr>
        </p:sp>
        <p:sp>
          <p:nvSpPr>
            <p:cNvPr name="TextBox 33" id="33"/>
            <p:cNvSpPr txBox="true"/>
            <p:nvPr/>
          </p:nvSpPr>
          <p:spPr>
            <a:xfrm>
              <a:off x="0" y="0"/>
              <a:ext cx="14641843" cy="823608"/>
            </a:xfrm>
            <a:prstGeom prst="rect">
              <a:avLst/>
            </a:prstGeom>
          </p:spPr>
          <p:txBody>
            <a:bodyPr anchor="ctr" rtlCol="false" tIns="0" lIns="0" bIns="0" rIns="0"/>
            <a:lstStyle/>
            <a:p>
              <a:pPr algn="l">
                <a:lnSpc>
                  <a:spcPts val="1621"/>
                </a:lnSpc>
              </a:pPr>
              <a:r>
                <a:rPr lang="en-US" sz="1351">
                  <a:solidFill>
                    <a:srgbClr val="FFFFFF"/>
                  </a:solidFill>
                  <a:latin typeface="Cabin"/>
                  <a:ea typeface="Cabin"/>
                  <a:cs typeface="Cabin"/>
                  <a:sym typeface="Cabin"/>
                </a:rPr>
                <a:t>VNU UET – Institute for Artificial Intelligence</a:t>
              </a:r>
            </a:p>
          </p:txBody>
        </p:sp>
      </p:grpSp>
      <p:grpSp>
        <p:nvGrpSpPr>
          <p:cNvPr name="Group 34" id="34"/>
          <p:cNvGrpSpPr/>
          <p:nvPr/>
        </p:nvGrpSpPr>
        <p:grpSpPr>
          <a:xfrm rot="0">
            <a:off x="17066438" y="9677343"/>
            <a:ext cx="823608" cy="617706"/>
            <a:chOff x="0" y="0"/>
            <a:chExt cx="1098144" cy="823608"/>
          </a:xfrm>
        </p:grpSpPr>
        <p:sp>
          <p:nvSpPr>
            <p:cNvPr name="Freeform 35" id="35"/>
            <p:cNvSpPr/>
            <p:nvPr/>
          </p:nvSpPr>
          <p:spPr>
            <a:xfrm flipH="false" flipV="false" rot="0">
              <a:off x="0" y="0"/>
              <a:ext cx="1098138" cy="823603"/>
            </a:xfrm>
            <a:custGeom>
              <a:avLst/>
              <a:gdLst/>
              <a:ahLst/>
              <a:cxnLst/>
              <a:rect r="r" b="b" t="t" l="l"/>
              <a:pathLst>
                <a:path h="823603" w="1098138">
                  <a:moveTo>
                    <a:pt x="0" y="0"/>
                  </a:moveTo>
                  <a:lnTo>
                    <a:pt x="1098138" y="0"/>
                  </a:lnTo>
                  <a:lnTo>
                    <a:pt x="1098138" y="823603"/>
                  </a:lnTo>
                  <a:lnTo>
                    <a:pt x="0" y="823603"/>
                  </a:lnTo>
                  <a:close/>
                </a:path>
              </a:pathLst>
            </a:custGeom>
            <a:blipFill>
              <a:blip r:embed="rId4">
                <a:alphaModFix amt="0"/>
              </a:blip>
              <a:stretch>
                <a:fillRect l="-46227" t="0" r="-46228" b="0"/>
              </a:stretch>
            </a:blipFill>
          </p:spPr>
        </p:sp>
        <p:sp>
          <p:nvSpPr>
            <p:cNvPr name="TextBox 36" id="36"/>
            <p:cNvSpPr txBox="true"/>
            <p:nvPr/>
          </p:nvSpPr>
          <p:spPr>
            <a:xfrm>
              <a:off x="0" y="0"/>
              <a:ext cx="1098144" cy="823608"/>
            </a:xfrm>
            <a:prstGeom prst="rect">
              <a:avLst/>
            </a:prstGeom>
          </p:spPr>
          <p:txBody>
            <a:bodyPr anchor="ctr" rtlCol="false" tIns="0" lIns="0" bIns="0" rIns="0"/>
            <a:lstStyle/>
            <a:p>
              <a:pPr algn="r">
                <a:lnSpc>
                  <a:spcPts val="1621"/>
                </a:lnSpc>
              </a:pPr>
              <a:r>
                <a:rPr lang="en-US" sz="1351">
                  <a:solidFill>
                    <a:srgbClr val="FFFFFF"/>
                  </a:solidFill>
                  <a:latin typeface="Cabin"/>
                  <a:ea typeface="Cabin"/>
                  <a:cs typeface="Cabin"/>
                  <a:sym typeface="Cabin"/>
                </a:rPr>
                <a:t>29</a:t>
              </a:r>
            </a:p>
          </p:txBody>
        </p:sp>
      </p:grpSp>
      <p:grpSp>
        <p:nvGrpSpPr>
          <p:cNvPr name="Group 37" id="37"/>
          <p:cNvGrpSpPr/>
          <p:nvPr/>
        </p:nvGrpSpPr>
        <p:grpSpPr>
          <a:xfrm rot="0">
            <a:off x="0" y="0"/>
            <a:ext cx="18288000" cy="315468"/>
            <a:chOff x="0" y="0"/>
            <a:chExt cx="24384000" cy="420624"/>
          </a:xfrm>
        </p:grpSpPr>
        <p:sp>
          <p:nvSpPr>
            <p:cNvPr name="Freeform 38" id="38"/>
            <p:cNvSpPr/>
            <p:nvPr/>
          </p:nvSpPr>
          <p:spPr>
            <a:xfrm flipH="false" flipV="false" rot="0">
              <a:off x="0" y="0"/>
              <a:ext cx="24384000" cy="420624"/>
            </a:xfrm>
            <a:custGeom>
              <a:avLst/>
              <a:gdLst/>
              <a:ahLst/>
              <a:cxnLst/>
              <a:rect r="r" b="b" t="t" l="l"/>
              <a:pathLst>
                <a:path h="420624" w="24384000">
                  <a:moveTo>
                    <a:pt x="0" y="0"/>
                  </a:moveTo>
                  <a:lnTo>
                    <a:pt x="24384000" y="0"/>
                  </a:lnTo>
                  <a:lnTo>
                    <a:pt x="24384000" y="420624"/>
                  </a:lnTo>
                  <a:lnTo>
                    <a:pt x="0" y="420624"/>
                  </a:lnTo>
                  <a:close/>
                </a:path>
              </a:pathLst>
            </a:custGeom>
            <a:solidFill>
              <a:srgbClr val="0F3F6F"/>
            </a:solidFill>
          </p:spPr>
        </p:sp>
      </p:grpSp>
      <p:grpSp>
        <p:nvGrpSpPr>
          <p:cNvPr name="Group 39" id="39"/>
          <p:cNvGrpSpPr/>
          <p:nvPr/>
        </p:nvGrpSpPr>
        <p:grpSpPr>
          <a:xfrm rot="0">
            <a:off x="13098780" y="0"/>
            <a:ext cx="1453896" cy="1508760"/>
            <a:chOff x="0" y="0"/>
            <a:chExt cx="1938528" cy="2011680"/>
          </a:xfrm>
        </p:grpSpPr>
        <p:sp>
          <p:nvSpPr>
            <p:cNvPr name="Freeform 40" id="40"/>
            <p:cNvSpPr/>
            <p:nvPr/>
          </p:nvSpPr>
          <p:spPr>
            <a:xfrm flipH="false" flipV="false" rot="0">
              <a:off x="0" y="0"/>
              <a:ext cx="1938528" cy="2011680"/>
            </a:xfrm>
            <a:custGeom>
              <a:avLst/>
              <a:gdLst/>
              <a:ahLst/>
              <a:cxnLst/>
              <a:rect r="r" b="b" t="t" l="l"/>
              <a:pathLst>
                <a:path h="2011680" w="1938528">
                  <a:moveTo>
                    <a:pt x="0" y="2011680"/>
                  </a:moveTo>
                  <a:lnTo>
                    <a:pt x="484632" y="0"/>
                  </a:lnTo>
                  <a:lnTo>
                    <a:pt x="1938528" y="0"/>
                  </a:lnTo>
                  <a:lnTo>
                    <a:pt x="1453896" y="2011680"/>
                  </a:lnTo>
                  <a:close/>
                </a:path>
              </a:pathLst>
            </a:custGeom>
            <a:solidFill>
              <a:srgbClr val="85B518"/>
            </a:solidFill>
          </p:spPr>
        </p:sp>
      </p:grpSp>
      <p:grpSp>
        <p:nvGrpSpPr>
          <p:cNvPr name="Group 41" id="41"/>
          <p:cNvGrpSpPr/>
          <p:nvPr/>
        </p:nvGrpSpPr>
        <p:grpSpPr>
          <a:xfrm rot="0">
            <a:off x="14621256" y="0"/>
            <a:ext cx="1508760" cy="1508760"/>
            <a:chOff x="0" y="0"/>
            <a:chExt cx="2011680" cy="2011680"/>
          </a:xfrm>
        </p:grpSpPr>
        <p:sp>
          <p:nvSpPr>
            <p:cNvPr name="Freeform 42" id="42"/>
            <p:cNvSpPr/>
            <p:nvPr/>
          </p:nvSpPr>
          <p:spPr>
            <a:xfrm flipH="false" flipV="false" rot="0">
              <a:off x="0" y="0"/>
              <a:ext cx="2011680" cy="2011680"/>
            </a:xfrm>
            <a:custGeom>
              <a:avLst/>
              <a:gdLst/>
              <a:ahLst/>
              <a:cxnLst/>
              <a:rect r="r" b="b" t="t" l="l"/>
              <a:pathLst>
                <a:path h="2011680" w="2011680">
                  <a:moveTo>
                    <a:pt x="0" y="2011680"/>
                  </a:moveTo>
                  <a:lnTo>
                    <a:pt x="502920" y="0"/>
                  </a:lnTo>
                  <a:lnTo>
                    <a:pt x="2011680" y="0"/>
                  </a:lnTo>
                  <a:lnTo>
                    <a:pt x="1508760" y="2011680"/>
                  </a:lnTo>
                  <a:close/>
                </a:path>
              </a:pathLst>
            </a:custGeom>
            <a:solidFill>
              <a:srgbClr val="0F3F6F"/>
            </a:solidFill>
          </p:spPr>
        </p:sp>
      </p:gr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97801" y="384353"/>
            <a:ext cx="851059" cy="851059"/>
            <a:chOff x="0" y="0"/>
            <a:chExt cx="1134745" cy="1134745"/>
          </a:xfrm>
        </p:grpSpPr>
        <p:sp>
          <p:nvSpPr>
            <p:cNvPr name="Freeform 3" id="3" descr="/home/claude/work/assets/logo.png"/>
            <p:cNvSpPr/>
            <p:nvPr/>
          </p:nvSpPr>
          <p:spPr>
            <a:xfrm flipH="false" flipV="false" rot="0">
              <a:off x="0" y="0"/>
              <a:ext cx="1134745" cy="1134745"/>
            </a:xfrm>
            <a:custGeom>
              <a:avLst/>
              <a:gdLst/>
              <a:ahLst/>
              <a:cxnLst/>
              <a:rect r="r" b="b" t="t" l="l"/>
              <a:pathLst>
                <a:path h="1134745" w="1134745">
                  <a:moveTo>
                    <a:pt x="0" y="0"/>
                  </a:moveTo>
                  <a:lnTo>
                    <a:pt x="1134745" y="0"/>
                  </a:lnTo>
                  <a:lnTo>
                    <a:pt x="1134745" y="1134745"/>
                  </a:lnTo>
                  <a:lnTo>
                    <a:pt x="0" y="1134745"/>
                  </a:lnTo>
                  <a:lnTo>
                    <a:pt x="0" y="0"/>
                  </a:lnTo>
                  <a:close/>
                </a:path>
              </a:pathLst>
            </a:custGeom>
            <a:blipFill>
              <a:blip r:embed="rId3"/>
              <a:stretch>
                <a:fillRect l="0" t="0" r="0" b="0"/>
              </a:stretch>
            </a:blipFill>
          </p:spPr>
        </p:sp>
      </p:grpSp>
      <p:grpSp>
        <p:nvGrpSpPr>
          <p:cNvPr name="Group 4" id="4"/>
          <p:cNvGrpSpPr/>
          <p:nvPr/>
        </p:nvGrpSpPr>
        <p:grpSpPr>
          <a:xfrm rot="0">
            <a:off x="686333" y="384353"/>
            <a:ext cx="10981382" cy="411804"/>
            <a:chOff x="0" y="0"/>
            <a:chExt cx="14641843" cy="549072"/>
          </a:xfrm>
        </p:grpSpPr>
        <p:sp>
          <p:nvSpPr>
            <p:cNvPr name="Freeform 5" id="5"/>
            <p:cNvSpPr/>
            <p:nvPr/>
          </p:nvSpPr>
          <p:spPr>
            <a:xfrm flipH="false" flipV="false" rot="0">
              <a:off x="0" y="0"/>
              <a:ext cx="14641840" cy="549069"/>
            </a:xfrm>
            <a:custGeom>
              <a:avLst/>
              <a:gdLst/>
              <a:ahLst/>
              <a:cxnLst/>
              <a:rect r="r" b="b" t="t" l="l"/>
              <a:pathLst>
                <a:path h="549069" w="14641840">
                  <a:moveTo>
                    <a:pt x="0" y="0"/>
                  </a:moveTo>
                  <a:lnTo>
                    <a:pt x="14641840" y="0"/>
                  </a:lnTo>
                  <a:lnTo>
                    <a:pt x="14641840" y="549069"/>
                  </a:lnTo>
                  <a:lnTo>
                    <a:pt x="0" y="549069"/>
                  </a:lnTo>
                  <a:close/>
                </a:path>
              </a:pathLst>
            </a:custGeom>
            <a:blipFill>
              <a:blip r:embed="rId4">
                <a:alphaModFix amt="0"/>
              </a:blip>
              <a:stretch>
                <a:fillRect l="0" t="-469600" r="0" b="-469601"/>
              </a:stretch>
            </a:blipFill>
          </p:spPr>
        </p:sp>
        <p:sp>
          <p:nvSpPr>
            <p:cNvPr name="TextBox 6" id="6"/>
            <p:cNvSpPr txBox="true"/>
            <p:nvPr/>
          </p:nvSpPr>
          <p:spPr>
            <a:xfrm>
              <a:off x="0" y="0"/>
              <a:ext cx="14641843" cy="549072"/>
            </a:xfrm>
            <a:prstGeom prst="rect">
              <a:avLst/>
            </a:prstGeom>
          </p:spPr>
          <p:txBody>
            <a:bodyPr anchor="ctr" rtlCol="false" tIns="0" lIns="0" bIns="0" rIns="0"/>
            <a:lstStyle/>
            <a:p>
              <a:pPr algn="l">
                <a:lnSpc>
                  <a:spcPts val="1981"/>
                </a:lnSpc>
              </a:pPr>
              <a:r>
                <a:rPr lang="en-US" sz="1651" i="true">
                  <a:solidFill>
                    <a:srgbClr val="4A4A4A"/>
                  </a:solidFill>
                  <a:latin typeface="Cabin Italics"/>
                  <a:ea typeface="Cabin Italics"/>
                  <a:cs typeface="Cabin Italics"/>
                  <a:sym typeface="Cabin Italics"/>
                </a:rPr>
                <a:t>5.14. So sánh Hadoop MapReduce và Spark · Bài 05 · Thực hành</a:t>
              </a:r>
            </a:p>
          </p:txBody>
        </p:sp>
      </p:grpSp>
      <p:grpSp>
        <p:nvGrpSpPr>
          <p:cNvPr name="Group 7" id="7"/>
          <p:cNvGrpSpPr/>
          <p:nvPr/>
        </p:nvGrpSpPr>
        <p:grpSpPr>
          <a:xfrm rot="0">
            <a:off x="686333" y="823608"/>
            <a:ext cx="82363" cy="754971"/>
            <a:chOff x="0" y="0"/>
            <a:chExt cx="109817" cy="1006627"/>
          </a:xfrm>
        </p:grpSpPr>
        <p:sp>
          <p:nvSpPr>
            <p:cNvPr name="Freeform 8" id="8"/>
            <p:cNvSpPr/>
            <p:nvPr/>
          </p:nvSpPr>
          <p:spPr>
            <a:xfrm flipH="false" flipV="false" rot="0">
              <a:off x="0" y="0"/>
              <a:ext cx="109855" cy="1006602"/>
            </a:xfrm>
            <a:custGeom>
              <a:avLst/>
              <a:gdLst/>
              <a:ahLst/>
              <a:cxnLst/>
              <a:rect r="r" b="b" t="t" l="l"/>
              <a:pathLst>
                <a:path h="1006602" w="109855">
                  <a:moveTo>
                    <a:pt x="0" y="0"/>
                  </a:moveTo>
                  <a:lnTo>
                    <a:pt x="109855" y="0"/>
                  </a:lnTo>
                  <a:lnTo>
                    <a:pt x="109855" y="1006602"/>
                  </a:lnTo>
                  <a:lnTo>
                    <a:pt x="0" y="1006602"/>
                  </a:lnTo>
                  <a:close/>
                </a:path>
              </a:pathLst>
            </a:custGeom>
            <a:solidFill>
              <a:srgbClr val="85B518"/>
            </a:solidFill>
          </p:spPr>
        </p:sp>
      </p:grpSp>
      <p:grpSp>
        <p:nvGrpSpPr>
          <p:cNvPr name="Group 9" id="9"/>
          <p:cNvGrpSpPr/>
          <p:nvPr/>
        </p:nvGrpSpPr>
        <p:grpSpPr>
          <a:xfrm rot="0">
            <a:off x="960872" y="796147"/>
            <a:ext cx="15831026" cy="823608"/>
            <a:chOff x="0" y="0"/>
            <a:chExt cx="21108035" cy="1098144"/>
          </a:xfrm>
        </p:grpSpPr>
        <p:sp>
          <p:nvSpPr>
            <p:cNvPr name="Freeform 10" id="10"/>
            <p:cNvSpPr/>
            <p:nvPr/>
          </p:nvSpPr>
          <p:spPr>
            <a:xfrm flipH="false" flipV="false" rot="0">
              <a:off x="0" y="0"/>
              <a:ext cx="21108040" cy="1098138"/>
            </a:xfrm>
            <a:custGeom>
              <a:avLst/>
              <a:gdLst/>
              <a:ahLst/>
              <a:cxnLst/>
              <a:rect r="r" b="b" t="t" l="l"/>
              <a:pathLst>
                <a:path h="1098138" w="21108040">
                  <a:moveTo>
                    <a:pt x="0" y="0"/>
                  </a:moveTo>
                  <a:lnTo>
                    <a:pt x="21108040" y="0"/>
                  </a:lnTo>
                  <a:lnTo>
                    <a:pt x="21108040" y="1098138"/>
                  </a:lnTo>
                  <a:lnTo>
                    <a:pt x="0" y="1098138"/>
                  </a:lnTo>
                  <a:close/>
                </a:path>
              </a:pathLst>
            </a:custGeom>
            <a:blipFill>
              <a:blip r:embed="rId4">
                <a:alphaModFix amt="0"/>
              </a:blip>
              <a:stretch>
                <a:fillRect l="0" t="-324534" r="0" b="-324535"/>
              </a:stretch>
            </a:blipFill>
          </p:spPr>
        </p:sp>
        <p:sp>
          <p:nvSpPr>
            <p:cNvPr name="TextBox 11" id="11"/>
            <p:cNvSpPr txBox="true"/>
            <p:nvPr/>
          </p:nvSpPr>
          <p:spPr>
            <a:xfrm>
              <a:off x="0" y="0"/>
              <a:ext cx="21108035" cy="1098144"/>
            </a:xfrm>
            <a:prstGeom prst="rect">
              <a:avLst/>
            </a:prstGeom>
          </p:spPr>
          <p:txBody>
            <a:bodyPr anchor="ctr" rtlCol="false" tIns="0" lIns="0" bIns="0" rIns="0"/>
            <a:lstStyle/>
            <a:p>
              <a:pPr algn="l">
                <a:lnSpc>
                  <a:spcPts val="3782"/>
                </a:lnSpc>
              </a:pPr>
              <a:r>
                <a:rPr lang="en-US" sz="3152" b="true">
                  <a:solidFill>
                    <a:srgbClr val="1F4E79"/>
                  </a:solidFill>
                  <a:latin typeface="Cabin Bold"/>
                  <a:ea typeface="Cabin Bold"/>
                  <a:cs typeface="Cabin Bold"/>
                  <a:sym typeface="Cabin Bold"/>
                </a:rPr>
                <a:t>Bài thực hành cuối: cùng bài toán, ba cách thực hiện</a:t>
              </a:r>
            </a:p>
          </p:txBody>
        </p:sp>
      </p:grpSp>
      <p:grpSp>
        <p:nvGrpSpPr>
          <p:cNvPr name="Group 12" id="12"/>
          <p:cNvGrpSpPr/>
          <p:nvPr/>
        </p:nvGrpSpPr>
        <p:grpSpPr>
          <a:xfrm rot="0">
            <a:off x="686333" y="1990373"/>
            <a:ext cx="16883872" cy="480431"/>
            <a:chOff x="0" y="0"/>
            <a:chExt cx="22511830" cy="640575"/>
          </a:xfrm>
        </p:grpSpPr>
        <p:sp>
          <p:nvSpPr>
            <p:cNvPr name="Freeform 13" id="13"/>
            <p:cNvSpPr/>
            <p:nvPr/>
          </p:nvSpPr>
          <p:spPr>
            <a:xfrm flipH="false" flipV="false" rot="0">
              <a:off x="0" y="0"/>
              <a:ext cx="22511827" cy="640580"/>
            </a:xfrm>
            <a:custGeom>
              <a:avLst/>
              <a:gdLst/>
              <a:ahLst/>
              <a:cxnLst/>
              <a:rect r="r" b="b" t="t" l="l"/>
              <a:pathLst>
                <a:path h="640580" w="22511827">
                  <a:moveTo>
                    <a:pt x="0" y="0"/>
                  </a:moveTo>
                  <a:lnTo>
                    <a:pt x="22511827" y="0"/>
                  </a:lnTo>
                  <a:lnTo>
                    <a:pt x="22511827" y="640580"/>
                  </a:lnTo>
                  <a:lnTo>
                    <a:pt x="0" y="640580"/>
                  </a:lnTo>
                  <a:close/>
                </a:path>
              </a:pathLst>
            </a:custGeom>
            <a:blipFill>
              <a:blip r:embed="rId4">
                <a:alphaModFix amt="0"/>
              </a:blip>
              <a:stretch>
                <a:fillRect l="0" t="-634760" r="0" b="-634759"/>
              </a:stretch>
            </a:blipFill>
          </p:spPr>
        </p:sp>
        <p:sp>
          <p:nvSpPr>
            <p:cNvPr name="TextBox 14" id="14"/>
            <p:cNvSpPr txBox="true"/>
            <p:nvPr/>
          </p:nvSpPr>
          <p:spPr>
            <a:xfrm>
              <a:off x="0" y="0"/>
              <a:ext cx="22511830" cy="640575"/>
            </a:xfrm>
            <a:prstGeom prst="rect">
              <a:avLst/>
            </a:prstGeom>
          </p:spPr>
          <p:txBody>
            <a:bodyPr anchor="ctr" rtlCol="false" tIns="0" lIns="0" bIns="0" rIns="0"/>
            <a:lstStyle/>
            <a:p>
              <a:pPr algn="l">
                <a:lnSpc>
                  <a:spcPts val="1981"/>
                </a:lnSpc>
              </a:pPr>
              <a:r>
                <a:rPr lang="en-US" sz="1651" i="true">
                  <a:solidFill>
                    <a:srgbClr val="4A4A4A"/>
                  </a:solidFill>
                  <a:latin typeface="Cabin Italics"/>
                  <a:ea typeface="Cabin Italics"/>
                  <a:cs typeface="Cabin Italics"/>
                  <a:sym typeface="Cabin Italics"/>
                </a:rPr>
                <a:t>Bài thực hành tổng hợp của cả Bài 4 và Bài 5, trên cùng dataset transactions.csv.</a:t>
              </a:r>
            </a:p>
          </p:txBody>
        </p:sp>
      </p:grpSp>
      <p:grpSp>
        <p:nvGrpSpPr>
          <p:cNvPr name="Group 15" id="15"/>
          <p:cNvGrpSpPr/>
          <p:nvPr/>
        </p:nvGrpSpPr>
        <p:grpSpPr>
          <a:xfrm rot="0">
            <a:off x="679190" y="2532297"/>
            <a:ext cx="16966806" cy="700630"/>
            <a:chOff x="0" y="0"/>
            <a:chExt cx="22622408" cy="934174"/>
          </a:xfrm>
        </p:grpSpPr>
        <p:sp>
          <p:nvSpPr>
            <p:cNvPr name="Freeform 16" id="16"/>
            <p:cNvSpPr/>
            <p:nvPr/>
          </p:nvSpPr>
          <p:spPr>
            <a:xfrm flipH="false" flipV="false" rot="0">
              <a:off x="0" y="0"/>
              <a:ext cx="22622382" cy="934212"/>
            </a:xfrm>
            <a:custGeom>
              <a:avLst/>
              <a:gdLst/>
              <a:ahLst/>
              <a:cxnLst/>
              <a:rect r="r" b="b" t="t" l="l"/>
              <a:pathLst>
                <a:path h="934212" w="22622382">
                  <a:moveTo>
                    <a:pt x="0" y="112141"/>
                  </a:moveTo>
                  <a:cubicBezTo>
                    <a:pt x="0" y="50165"/>
                    <a:pt x="50165" y="0"/>
                    <a:pt x="112141" y="0"/>
                  </a:cubicBezTo>
                  <a:lnTo>
                    <a:pt x="22510242" y="0"/>
                  </a:lnTo>
                  <a:cubicBezTo>
                    <a:pt x="22572090" y="0"/>
                    <a:pt x="22622382" y="50165"/>
                    <a:pt x="22622382" y="112141"/>
                  </a:cubicBezTo>
                  <a:lnTo>
                    <a:pt x="22622382" y="822071"/>
                  </a:lnTo>
                  <a:cubicBezTo>
                    <a:pt x="22622382" y="883920"/>
                    <a:pt x="22572218" y="934212"/>
                    <a:pt x="22510242" y="934212"/>
                  </a:cubicBezTo>
                  <a:lnTo>
                    <a:pt x="112141" y="934212"/>
                  </a:lnTo>
                  <a:cubicBezTo>
                    <a:pt x="50165" y="934212"/>
                    <a:pt x="0" y="884047"/>
                    <a:pt x="0" y="822071"/>
                  </a:cubicBezTo>
                  <a:close/>
                </a:path>
              </a:pathLst>
            </a:custGeom>
            <a:solidFill>
              <a:srgbClr val="DCEBFA"/>
            </a:solidFill>
            <a:ln w="14299" cap="sq">
              <a:solidFill>
                <a:srgbClr val="1F4E79"/>
              </a:solidFill>
              <a:prstDash val="solid"/>
              <a:miter/>
            </a:ln>
          </p:spPr>
        </p:sp>
      </p:grpSp>
      <p:grpSp>
        <p:nvGrpSpPr>
          <p:cNvPr name="Group 17" id="17"/>
          <p:cNvGrpSpPr/>
          <p:nvPr/>
        </p:nvGrpSpPr>
        <p:grpSpPr>
          <a:xfrm rot="0">
            <a:off x="960872" y="2539441"/>
            <a:ext cx="16472068" cy="686333"/>
            <a:chOff x="0" y="0"/>
            <a:chExt cx="21962758" cy="915111"/>
          </a:xfrm>
        </p:grpSpPr>
        <p:sp>
          <p:nvSpPr>
            <p:cNvPr name="Freeform 18" id="18"/>
            <p:cNvSpPr/>
            <p:nvPr/>
          </p:nvSpPr>
          <p:spPr>
            <a:xfrm flipH="false" flipV="false" rot="0">
              <a:off x="0" y="0"/>
              <a:ext cx="21962759" cy="915115"/>
            </a:xfrm>
            <a:custGeom>
              <a:avLst/>
              <a:gdLst/>
              <a:ahLst/>
              <a:cxnLst/>
              <a:rect r="r" b="b" t="t" l="l"/>
              <a:pathLst>
                <a:path h="915115" w="21962759">
                  <a:moveTo>
                    <a:pt x="0" y="0"/>
                  </a:moveTo>
                  <a:lnTo>
                    <a:pt x="21962759" y="0"/>
                  </a:lnTo>
                  <a:lnTo>
                    <a:pt x="21962759" y="915115"/>
                  </a:lnTo>
                  <a:lnTo>
                    <a:pt x="0" y="915115"/>
                  </a:lnTo>
                  <a:close/>
                </a:path>
              </a:pathLst>
            </a:custGeom>
            <a:blipFill>
              <a:blip r:embed="rId4">
                <a:alphaModFix amt="0"/>
              </a:blip>
              <a:stretch>
                <a:fillRect l="0" t="-417641" r="0" b="-417640"/>
              </a:stretch>
            </a:blipFill>
          </p:spPr>
        </p:sp>
        <p:sp>
          <p:nvSpPr>
            <p:cNvPr name="TextBox 19" id="19"/>
            <p:cNvSpPr txBox="true"/>
            <p:nvPr/>
          </p:nvSpPr>
          <p:spPr>
            <a:xfrm>
              <a:off x="0" y="0"/>
              <a:ext cx="21962758" cy="915111"/>
            </a:xfrm>
            <a:prstGeom prst="rect">
              <a:avLst/>
            </a:prstGeom>
          </p:spPr>
          <p:txBody>
            <a:bodyPr anchor="ctr" rtlCol="false" tIns="0" lIns="0" bIns="0" rIns="0"/>
            <a:lstStyle/>
            <a:p>
              <a:pPr algn="l">
                <a:lnSpc>
                  <a:spcPts val="2071"/>
                </a:lnSpc>
              </a:pPr>
              <a:r>
                <a:rPr lang="en-US" sz="1726" b="true">
                  <a:solidFill>
                    <a:srgbClr val="1F4E79"/>
                  </a:solidFill>
                  <a:latin typeface="Cabin Bold"/>
                  <a:ea typeface="Cabin Bold"/>
                  <a:cs typeface="Cabin Bold"/>
                  <a:sym typeface="Cabin Bold"/>
                </a:rPr>
                <a:t>Yêu cầu: Tính tổng doanh số theo từng loại giao dịch (category).</a:t>
              </a:r>
            </a:p>
          </p:txBody>
        </p:sp>
      </p:grpSp>
      <p:grpSp>
        <p:nvGrpSpPr>
          <p:cNvPr name="Group 20" id="20"/>
          <p:cNvGrpSpPr/>
          <p:nvPr/>
        </p:nvGrpSpPr>
        <p:grpSpPr>
          <a:xfrm rot="0">
            <a:off x="679190" y="3561798"/>
            <a:ext cx="5436356" cy="3445983"/>
            <a:chOff x="0" y="0"/>
            <a:chExt cx="7248474" cy="4594644"/>
          </a:xfrm>
        </p:grpSpPr>
        <p:sp>
          <p:nvSpPr>
            <p:cNvPr name="Freeform 21" id="21"/>
            <p:cNvSpPr/>
            <p:nvPr/>
          </p:nvSpPr>
          <p:spPr>
            <a:xfrm flipH="false" flipV="false" rot="0">
              <a:off x="0" y="0"/>
              <a:ext cx="7248525" cy="4594733"/>
            </a:xfrm>
            <a:custGeom>
              <a:avLst/>
              <a:gdLst/>
              <a:ahLst/>
              <a:cxnLst/>
              <a:rect r="r" b="b" t="t" l="l"/>
              <a:pathLst>
                <a:path h="4594733" w="7248525">
                  <a:moveTo>
                    <a:pt x="0" y="147066"/>
                  </a:moveTo>
                  <a:cubicBezTo>
                    <a:pt x="0" y="65786"/>
                    <a:pt x="65786" y="0"/>
                    <a:pt x="147066" y="0"/>
                  </a:cubicBezTo>
                  <a:lnTo>
                    <a:pt x="7101459" y="0"/>
                  </a:lnTo>
                  <a:cubicBezTo>
                    <a:pt x="7182612" y="0"/>
                    <a:pt x="7248525" y="65786"/>
                    <a:pt x="7248525" y="147066"/>
                  </a:cubicBezTo>
                  <a:lnTo>
                    <a:pt x="7248525" y="4447667"/>
                  </a:lnTo>
                  <a:cubicBezTo>
                    <a:pt x="7248525" y="4528820"/>
                    <a:pt x="7182739" y="4594733"/>
                    <a:pt x="7101459" y="4594733"/>
                  </a:cubicBezTo>
                  <a:lnTo>
                    <a:pt x="147066" y="4594733"/>
                  </a:lnTo>
                  <a:cubicBezTo>
                    <a:pt x="65786" y="4594606"/>
                    <a:pt x="0" y="4528820"/>
                    <a:pt x="0" y="4447667"/>
                  </a:cubicBezTo>
                  <a:close/>
                </a:path>
              </a:pathLst>
            </a:custGeom>
            <a:solidFill>
              <a:srgbClr val="F2F5F8"/>
            </a:solidFill>
            <a:ln w="14299" cap="sq">
              <a:solidFill>
                <a:srgbClr val="D9D9D9"/>
              </a:solidFill>
              <a:prstDash val="solid"/>
              <a:miter/>
            </a:ln>
          </p:spPr>
        </p:sp>
      </p:grpSp>
      <p:grpSp>
        <p:nvGrpSpPr>
          <p:cNvPr name="Group 22" id="22"/>
          <p:cNvGrpSpPr/>
          <p:nvPr/>
        </p:nvGrpSpPr>
        <p:grpSpPr>
          <a:xfrm rot="0">
            <a:off x="686333" y="3568951"/>
            <a:ext cx="5422059" cy="549069"/>
            <a:chOff x="0" y="0"/>
            <a:chExt cx="7229412" cy="732092"/>
          </a:xfrm>
        </p:grpSpPr>
        <p:sp>
          <p:nvSpPr>
            <p:cNvPr name="Freeform 23" id="23"/>
            <p:cNvSpPr/>
            <p:nvPr/>
          </p:nvSpPr>
          <p:spPr>
            <a:xfrm flipH="false" flipV="false" rot="0">
              <a:off x="0" y="0"/>
              <a:ext cx="7229348" cy="732155"/>
            </a:xfrm>
            <a:custGeom>
              <a:avLst/>
              <a:gdLst/>
              <a:ahLst/>
              <a:cxnLst/>
              <a:rect r="r" b="b" t="t" l="l"/>
              <a:pathLst>
                <a:path h="732155" w="7229348">
                  <a:moveTo>
                    <a:pt x="0" y="0"/>
                  </a:moveTo>
                  <a:lnTo>
                    <a:pt x="7229348" y="0"/>
                  </a:lnTo>
                  <a:lnTo>
                    <a:pt x="7229348" y="732155"/>
                  </a:lnTo>
                  <a:lnTo>
                    <a:pt x="0" y="732155"/>
                  </a:lnTo>
                  <a:close/>
                </a:path>
              </a:pathLst>
            </a:custGeom>
            <a:solidFill>
              <a:srgbClr val="1F4E79"/>
            </a:solidFill>
          </p:spPr>
        </p:sp>
      </p:grpSp>
      <p:grpSp>
        <p:nvGrpSpPr>
          <p:cNvPr name="Group 24" id="24"/>
          <p:cNvGrpSpPr/>
          <p:nvPr/>
        </p:nvGrpSpPr>
        <p:grpSpPr>
          <a:xfrm rot="0">
            <a:off x="686333" y="3568951"/>
            <a:ext cx="5422059" cy="549069"/>
            <a:chOff x="0" y="0"/>
            <a:chExt cx="7229412" cy="732092"/>
          </a:xfrm>
        </p:grpSpPr>
        <p:sp>
          <p:nvSpPr>
            <p:cNvPr name="Freeform 25" id="25"/>
            <p:cNvSpPr/>
            <p:nvPr/>
          </p:nvSpPr>
          <p:spPr>
            <a:xfrm flipH="false" flipV="false" rot="0">
              <a:off x="0" y="0"/>
              <a:ext cx="7229408" cy="732092"/>
            </a:xfrm>
            <a:custGeom>
              <a:avLst/>
              <a:gdLst/>
              <a:ahLst/>
              <a:cxnLst/>
              <a:rect r="r" b="b" t="t" l="l"/>
              <a:pathLst>
                <a:path h="732092" w="7229408">
                  <a:moveTo>
                    <a:pt x="0" y="0"/>
                  </a:moveTo>
                  <a:lnTo>
                    <a:pt x="7229408" y="0"/>
                  </a:lnTo>
                  <a:lnTo>
                    <a:pt x="7229408" y="732092"/>
                  </a:lnTo>
                  <a:lnTo>
                    <a:pt x="0" y="732092"/>
                  </a:lnTo>
                  <a:close/>
                </a:path>
              </a:pathLst>
            </a:custGeom>
            <a:blipFill>
              <a:blip r:embed="rId4">
                <a:alphaModFix amt="0"/>
              </a:blip>
              <a:stretch>
                <a:fillRect l="0" t="-142414" r="0" b="-142414"/>
              </a:stretch>
            </a:blipFill>
          </p:spPr>
        </p:sp>
        <p:sp>
          <p:nvSpPr>
            <p:cNvPr name="TextBox 26" id="26"/>
            <p:cNvSpPr txBox="true"/>
            <p:nvPr/>
          </p:nvSpPr>
          <p:spPr>
            <a:xfrm>
              <a:off x="0" y="0"/>
              <a:ext cx="7229412" cy="732092"/>
            </a:xfrm>
            <a:prstGeom prst="rect">
              <a:avLst/>
            </a:prstGeom>
          </p:spPr>
          <p:txBody>
            <a:bodyPr anchor="ctr" rtlCol="false" tIns="0" lIns="0" bIns="0" rIns="0"/>
            <a:lstStyle/>
            <a:p>
              <a:pPr algn="ctr">
                <a:lnSpc>
                  <a:spcPts val="1981"/>
                </a:lnSpc>
              </a:pPr>
              <a:r>
                <a:rPr lang="en-US" sz="1651" b="true">
                  <a:solidFill>
                    <a:srgbClr val="FFFFFF"/>
                  </a:solidFill>
                  <a:latin typeface="Cabin Bold"/>
                  <a:ea typeface="Cabin Bold"/>
                  <a:cs typeface="Cabin Bold"/>
                  <a:sym typeface="Cabin Bold"/>
                </a:rPr>
                <a:t>Cách 1</a:t>
              </a:r>
            </a:p>
          </p:txBody>
        </p:sp>
      </p:grpSp>
      <p:grpSp>
        <p:nvGrpSpPr>
          <p:cNvPr name="Group 27" id="27"/>
          <p:cNvGrpSpPr/>
          <p:nvPr/>
        </p:nvGrpSpPr>
        <p:grpSpPr>
          <a:xfrm rot="0">
            <a:off x="892235" y="4255284"/>
            <a:ext cx="5010255" cy="549069"/>
            <a:chOff x="0" y="0"/>
            <a:chExt cx="6680340" cy="732092"/>
          </a:xfrm>
        </p:grpSpPr>
        <p:sp>
          <p:nvSpPr>
            <p:cNvPr name="Freeform 28" id="28"/>
            <p:cNvSpPr/>
            <p:nvPr/>
          </p:nvSpPr>
          <p:spPr>
            <a:xfrm flipH="false" flipV="false" rot="0">
              <a:off x="0" y="0"/>
              <a:ext cx="6680339" cy="732092"/>
            </a:xfrm>
            <a:custGeom>
              <a:avLst/>
              <a:gdLst/>
              <a:ahLst/>
              <a:cxnLst/>
              <a:rect r="r" b="b" t="t" l="l"/>
              <a:pathLst>
                <a:path h="732092" w="6680339">
                  <a:moveTo>
                    <a:pt x="0" y="0"/>
                  </a:moveTo>
                  <a:lnTo>
                    <a:pt x="6680339" y="0"/>
                  </a:lnTo>
                  <a:lnTo>
                    <a:pt x="6680339" y="732092"/>
                  </a:lnTo>
                  <a:lnTo>
                    <a:pt x="0" y="732092"/>
                  </a:lnTo>
                  <a:close/>
                </a:path>
              </a:pathLst>
            </a:custGeom>
            <a:blipFill>
              <a:blip r:embed="rId4">
                <a:alphaModFix amt="0"/>
              </a:blip>
              <a:stretch>
                <a:fillRect l="0" t="-127801" r="0" b="-127800"/>
              </a:stretch>
            </a:blipFill>
          </p:spPr>
        </p:sp>
        <p:sp>
          <p:nvSpPr>
            <p:cNvPr name="TextBox 29" id="29"/>
            <p:cNvSpPr txBox="true"/>
            <p:nvPr/>
          </p:nvSpPr>
          <p:spPr>
            <a:xfrm>
              <a:off x="0" y="0"/>
              <a:ext cx="6680340" cy="732092"/>
            </a:xfrm>
            <a:prstGeom prst="rect">
              <a:avLst/>
            </a:prstGeom>
          </p:spPr>
          <p:txBody>
            <a:bodyPr anchor="ctr" rtlCol="false" tIns="0" lIns="0" bIns="0" rIns="0"/>
            <a:lstStyle/>
            <a:p>
              <a:pPr algn="l">
                <a:lnSpc>
                  <a:spcPts val="2161"/>
                </a:lnSpc>
              </a:pPr>
              <a:r>
                <a:rPr lang="en-US" sz="1801" b="true">
                  <a:solidFill>
                    <a:srgbClr val="1F4E79"/>
                  </a:solidFill>
                  <a:latin typeface="Cabin Bold"/>
                  <a:ea typeface="Cabin Bold"/>
                  <a:cs typeface="Cabin Bold"/>
                  <a:sym typeface="Cabin Bold"/>
                </a:rPr>
                <a:t>Hadoop MapReduce</a:t>
              </a:r>
            </a:p>
          </p:txBody>
        </p:sp>
      </p:grpSp>
      <p:grpSp>
        <p:nvGrpSpPr>
          <p:cNvPr name="Group 30" id="30"/>
          <p:cNvGrpSpPr/>
          <p:nvPr/>
        </p:nvGrpSpPr>
        <p:grpSpPr>
          <a:xfrm rot="0">
            <a:off x="892235" y="4872990"/>
            <a:ext cx="5010255" cy="1921745"/>
            <a:chOff x="0" y="0"/>
            <a:chExt cx="6680340" cy="2562327"/>
          </a:xfrm>
        </p:grpSpPr>
        <p:sp>
          <p:nvSpPr>
            <p:cNvPr name="Freeform 31" id="31"/>
            <p:cNvSpPr/>
            <p:nvPr/>
          </p:nvSpPr>
          <p:spPr>
            <a:xfrm flipH="false" flipV="false" rot="0">
              <a:off x="0" y="0"/>
              <a:ext cx="6680327" cy="2562352"/>
            </a:xfrm>
            <a:custGeom>
              <a:avLst/>
              <a:gdLst/>
              <a:ahLst/>
              <a:cxnLst/>
              <a:rect r="r" b="b" t="t" l="l"/>
              <a:pathLst>
                <a:path h="2562352" w="6680327">
                  <a:moveTo>
                    <a:pt x="0" y="0"/>
                  </a:moveTo>
                  <a:lnTo>
                    <a:pt x="6680327" y="0"/>
                  </a:lnTo>
                  <a:lnTo>
                    <a:pt x="6680327" y="2562352"/>
                  </a:lnTo>
                  <a:lnTo>
                    <a:pt x="0" y="2562352"/>
                  </a:lnTo>
                  <a:close/>
                </a:path>
              </a:pathLst>
            </a:custGeom>
            <a:solidFill>
              <a:srgbClr val="1B2A3C"/>
            </a:solidFill>
          </p:spPr>
        </p:sp>
      </p:grpSp>
      <p:sp>
        <p:nvSpPr>
          <p:cNvPr name="TextBox 32" id="32"/>
          <p:cNvSpPr txBox="true"/>
          <p:nvPr/>
        </p:nvSpPr>
        <p:spPr>
          <a:xfrm rot="0">
            <a:off x="1162126" y="4948123"/>
            <a:ext cx="4484208" cy="1759706"/>
          </a:xfrm>
          <a:prstGeom prst="rect">
            <a:avLst/>
          </a:prstGeom>
        </p:spPr>
        <p:txBody>
          <a:bodyPr anchor="t" rtlCol="false" tIns="0" lIns="0" bIns="0" rIns="0">
            <a:spAutoFit/>
          </a:bodyPr>
          <a:lstStyle/>
          <a:p>
            <a:pPr algn="l">
              <a:lnSpc>
                <a:spcPts val="2161"/>
              </a:lnSpc>
            </a:pPr>
            <a:r>
              <a:rPr lang="en-US" sz="1501">
                <a:solidFill>
                  <a:srgbClr val="E8EEF5"/>
                </a:solidFill>
                <a:latin typeface="Consolas"/>
                <a:ea typeface="Consolas"/>
                <a:cs typeface="Consolas"/>
                <a:sym typeface="Consolas"/>
              </a:rPr>
              <a:t>Viết Mapper/Reducer,</a:t>
            </a:r>
          </a:p>
          <a:p>
            <a:pPr algn="l">
              <a:lnSpc>
                <a:spcPts val="2161"/>
              </a:lnSpc>
            </a:pPr>
            <a:r>
              <a:rPr lang="en-US" sz="1501">
                <a:solidFill>
                  <a:srgbClr val="E8EEF5"/>
                </a:solidFill>
                <a:latin typeface="Consolas"/>
                <a:ea typeface="Consolas"/>
                <a:cs typeface="Consolas"/>
                <a:sym typeface="Consolas"/>
              </a:rPr>
              <a:t>biên dịch, chạy job</a:t>
            </a:r>
          </a:p>
          <a:p>
            <a:pPr algn="l">
              <a:lnSpc>
                <a:spcPts val="2161"/>
              </a:lnSpc>
            </a:pPr>
            <a:r>
              <a:rPr lang="en-US" sz="1501">
                <a:solidFill>
                  <a:srgbClr val="E8EEF5"/>
                </a:solidFill>
                <a:latin typeface="Consolas"/>
                <a:ea typeface="Consolas"/>
                <a:cs typeface="Consolas"/>
                <a:sym typeface="Consolas"/>
              </a:rPr>
              <a:t>trên HDFS</a:t>
            </a:r>
          </a:p>
        </p:txBody>
      </p:sp>
      <p:grpSp>
        <p:nvGrpSpPr>
          <p:cNvPr name="Group 33" id="33"/>
          <p:cNvGrpSpPr/>
          <p:nvPr/>
        </p:nvGrpSpPr>
        <p:grpSpPr>
          <a:xfrm rot="0">
            <a:off x="6444415" y="3561798"/>
            <a:ext cx="5436356" cy="3445983"/>
            <a:chOff x="0" y="0"/>
            <a:chExt cx="7248474" cy="4594644"/>
          </a:xfrm>
        </p:grpSpPr>
        <p:sp>
          <p:nvSpPr>
            <p:cNvPr name="Freeform 34" id="34"/>
            <p:cNvSpPr/>
            <p:nvPr/>
          </p:nvSpPr>
          <p:spPr>
            <a:xfrm flipH="false" flipV="false" rot="0">
              <a:off x="0" y="0"/>
              <a:ext cx="7248525" cy="4594733"/>
            </a:xfrm>
            <a:custGeom>
              <a:avLst/>
              <a:gdLst/>
              <a:ahLst/>
              <a:cxnLst/>
              <a:rect r="r" b="b" t="t" l="l"/>
              <a:pathLst>
                <a:path h="4594733" w="7248525">
                  <a:moveTo>
                    <a:pt x="0" y="147066"/>
                  </a:moveTo>
                  <a:cubicBezTo>
                    <a:pt x="0" y="65786"/>
                    <a:pt x="65786" y="0"/>
                    <a:pt x="147066" y="0"/>
                  </a:cubicBezTo>
                  <a:lnTo>
                    <a:pt x="7101459" y="0"/>
                  </a:lnTo>
                  <a:cubicBezTo>
                    <a:pt x="7182612" y="0"/>
                    <a:pt x="7248525" y="65786"/>
                    <a:pt x="7248525" y="147066"/>
                  </a:cubicBezTo>
                  <a:lnTo>
                    <a:pt x="7248525" y="4447667"/>
                  </a:lnTo>
                  <a:cubicBezTo>
                    <a:pt x="7248525" y="4528820"/>
                    <a:pt x="7182739" y="4594733"/>
                    <a:pt x="7101459" y="4594733"/>
                  </a:cubicBezTo>
                  <a:lnTo>
                    <a:pt x="147066" y="4594733"/>
                  </a:lnTo>
                  <a:cubicBezTo>
                    <a:pt x="65786" y="4594606"/>
                    <a:pt x="0" y="4528820"/>
                    <a:pt x="0" y="4447667"/>
                  </a:cubicBezTo>
                  <a:close/>
                </a:path>
              </a:pathLst>
            </a:custGeom>
            <a:solidFill>
              <a:srgbClr val="F2F5F8"/>
            </a:solidFill>
            <a:ln w="14299" cap="sq">
              <a:solidFill>
                <a:srgbClr val="D9D9D9"/>
              </a:solidFill>
              <a:prstDash val="solid"/>
              <a:miter/>
            </a:ln>
          </p:spPr>
        </p:sp>
      </p:grpSp>
      <p:grpSp>
        <p:nvGrpSpPr>
          <p:cNvPr name="Group 35" id="35"/>
          <p:cNvGrpSpPr/>
          <p:nvPr/>
        </p:nvGrpSpPr>
        <p:grpSpPr>
          <a:xfrm rot="0">
            <a:off x="6451559" y="3568951"/>
            <a:ext cx="5422059" cy="549069"/>
            <a:chOff x="0" y="0"/>
            <a:chExt cx="7229412" cy="732092"/>
          </a:xfrm>
        </p:grpSpPr>
        <p:sp>
          <p:nvSpPr>
            <p:cNvPr name="Freeform 36" id="36"/>
            <p:cNvSpPr/>
            <p:nvPr/>
          </p:nvSpPr>
          <p:spPr>
            <a:xfrm flipH="false" flipV="false" rot="0">
              <a:off x="0" y="0"/>
              <a:ext cx="7229348" cy="732155"/>
            </a:xfrm>
            <a:custGeom>
              <a:avLst/>
              <a:gdLst/>
              <a:ahLst/>
              <a:cxnLst/>
              <a:rect r="r" b="b" t="t" l="l"/>
              <a:pathLst>
                <a:path h="732155" w="7229348">
                  <a:moveTo>
                    <a:pt x="0" y="0"/>
                  </a:moveTo>
                  <a:lnTo>
                    <a:pt x="7229348" y="0"/>
                  </a:lnTo>
                  <a:lnTo>
                    <a:pt x="7229348" y="732155"/>
                  </a:lnTo>
                  <a:lnTo>
                    <a:pt x="0" y="732155"/>
                  </a:lnTo>
                  <a:close/>
                </a:path>
              </a:pathLst>
            </a:custGeom>
            <a:solidFill>
              <a:srgbClr val="1F4E79"/>
            </a:solidFill>
          </p:spPr>
        </p:sp>
      </p:grpSp>
      <p:grpSp>
        <p:nvGrpSpPr>
          <p:cNvPr name="Group 37" id="37"/>
          <p:cNvGrpSpPr/>
          <p:nvPr/>
        </p:nvGrpSpPr>
        <p:grpSpPr>
          <a:xfrm rot="0">
            <a:off x="6451559" y="3568951"/>
            <a:ext cx="5422059" cy="549069"/>
            <a:chOff x="0" y="0"/>
            <a:chExt cx="7229412" cy="732092"/>
          </a:xfrm>
        </p:grpSpPr>
        <p:sp>
          <p:nvSpPr>
            <p:cNvPr name="Freeform 38" id="38"/>
            <p:cNvSpPr/>
            <p:nvPr/>
          </p:nvSpPr>
          <p:spPr>
            <a:xfrm flipH="false" flipV="false" rot="0">
              <a:off x="0" y="0"/>
              <a:ext cx="7229408" cy="732092"/>
            </a:xfrm>
            <a:custGeom>
              <a:avLst/>
              <a:gdLst/>
              <a:ahLst/>
              <a:cxnLst/>
              <a:rect r="r" b="b" t="t" l="l"/>
              <a:pathLst>
                <a:path h="732092" w="7229408">
                  <a:moveTo>
                    <a:pt x="0" y="0"/>
                  </a:moveTo>
                  <a:lnTo>
                    <a:pt x="7229408" y="0"/>
                  </a:lnTo>
                  <a:lnTo>
                    <a:pt x="7229408" y="732092"/>
                  </a:lnTo>
                  <a:lnTo>
                    <a:pt x="0" y="732092"/>
                  </a:lnTo>
                  <a:close/>
                </a:path>
              </a:pathLst>
            </a:custGeom>
            <a:blipFill>
              <a:blip r:embed="rId4">
                <a:alphaModFix amt="0"/>
              </a:blip>
              <a:stretch>
                <a:fillRect l="0" t="-142414" r="0" b="-142414"/>
              </a:stretch>
            </a:blipFill>
          </p:spPr>
        </p:sp>
        <p:sp>
          <p:nvSpPr>
            <p:cNvPr name="TextBox 39" id="39"/>
            <p:cNvSpPr txBox="true"/>
            <p:nvPr/>
          </p:nvSpPr>
          <p:spPr>
            <a:xfrm>
              <a:off x="0" y="0"/>
              <a:ext cx="7229412" cy="732092"/>
            </a:xfrm>
            <a:prstGeom prst="rect">
              <a:avLst/>
            </a:prstGeom>
          </p:spPr>
          <p:txBody>
            <a:bodyPr anchor="ctr" rtlCol="false" tIns="0" lIns="0" bIns="0" rIns="0"/>
            <a:lstStyle/>
            <a:p>
              <a:pPr algn="ctr">
                <a:lnSpc>
                  <a:spcPts val="1981"/>
                </a:lnSpc>
              </a:pPr>
              <a:r>
                <a:rPr lang="en-US" sz="1651" b="true">
                  <a:solidFill>
                    <a:srgbClr val="FFFFFF"/>
                  </a:solidFill>
                  <a:latin typeface="Cabin Bold"/>
                  <a:ea typeface="Cabin Bold"/>
                  <a:cs typeface="Cabin Bold"/>
                  <a:sym typeface="Cabin Bold"/>
                </a:rPr>
                <a:t>Cách 2</a:t>
              </a:r>
            </a:p>
          </p:txBody>
        </p:sp>
      </p:grpSp>
      <p:grpSp>
        <p:nvGrpSpPr>
          <p:cNvPr name="Group 40" id="40"/>
          <p:cNvGrpSpPr/>
          <p:nvPr/>
        </p:nvGrpSpPr>
        <p:grpSpPr>
          <a:xfrm rot="0">
            <a:off x="6657461" y="4255284"/>
            <a:ext cx="5010255" cy="549069"/>
            <a:chOff x="0" y="0"/>
            <a:chExt cx="6680340" cy="732092"/>
          </a:xfrm>
        </p:grpSpPr>
        <p:sp>
          <p:nvSpPr>
            <p:cNvPr name="Freeform 41" id="41"/>
            <p:cNvSpPr/>
            <p:nvPr/>
          </p:nvSpPr>
          <p:spPr>
            <a:xfrm flipH="false" flipV="false" rot="0">
              <a:off x="0" y="0"/>
              <a:ext cx="6680339" cy="732092"/>
            </a:xfrm>
            <a:custGeom>
              <a:avLst/>
              <a:gdLst/>
              <a:ahLst/>
              <a:cxnLst/>
              <a:rect r="r" b="b" t="t" l="l"/>
              <a:pathLst>
                <a:path h="732092" w="6680339">
                  <a:moveTo>
                    <a:pt x="0" y="0"/>
                  </a:moveTo>
                  <a:lnTo>
                    <a:pt x="6680339" y="0"/>
                  </a:lnTo>
                  <a:lnTo>
                    <a:pt x="6680339" y="732092"/>
                  </a:lnTo>
                  <a:lnTo>
                    <a:pt x="0" y="732092"/>
                  </a:lnTo>
                  <a:close/>
                </a:path>
              </a:pathLst>
            </a:custGeom>
            <a:blipFill>
              <a:blip r:embed="rId4">
                <a:alphaModFix amt="0"/>
              </a:blip>
              <a:stretch>
                <a:fillRect l="0" t="-127801" r="0" b="-127800"/>
              </a:stretch>
            </a:blipFill>
          </p:spPr>
        </p:sp>
        <p:sp>
          <p:nvSpPr>
            <p:cNvPr name="TextBox 42" id="42"/>
            <p:cNvSpPr txBox="true"/>
            <p:nvPr/>
          </p:nvSpPr>
          <p:spPr>
            <a:xfrm>
              <a:off x="0" y="0"/>
              <a:ext cx="6680340" cy="732092"/>
            </a:xfrm>
            <a:prstGeom prst="rect">
              <a:avLst/>
            </a:prstGeom>
          </p:spPr>
          <p:txBody>
            <a:bodyPr anchor="ctr" rtlCol="false" tIns="0" lIns="0" bIns="0" rIns="0"/>
            <a:lstStyle/>
            <a:p>
              <a:pPr algn="l">
                <a:lnSpc>
                  <a:spcPts val="2161"/>
                </a:lnSpc>
              </a:pPr>
              <a:r>
                <a:rPr lang="en-US" sz="1801" b="true">
                  <a:solidFill>
                    <a:srgbClr val="1F4E79"/>
                  </a:solidFill>
                  <a:latin typeface="Cabin Bold"/>
                  <a:ea typeface="Cabin Bold"/>
                  <a:cs typeface="Cabin Bold"/>
                  <a:sym typeface="Cabin Bold"/>
                </a:rPr>
                <a:t>PySpark DataFrame</a:t>
              </a:r>
            </a:p>
          </p:txBody>
        </p:sp>
      </p:grpSp>
      <p:grpSp>
        <p:nvGrpSpPr>
          <p:cNvPr name="Group 43" id="43"/>
          <p:cNvGrpSpPr/>
          <p:nvPr/>
        </p:nvGrpSpPr>
        <p:grpSpPr>
          <a:xfrm rot="0">
            <a:off x="6657461" y="4872990"/>
            <a:ext cx="5010255" cy="1921745"/>
            <a:chOff x="0" y="0"/>
            <a:chExt cx="6680340" cy="2562327"/>
          </a:xfrm>
        </p:grpSpPr>
        <p:sp>
          <p:nvSpPr>
            <p:cNvPr name="Freeform 44" id="44"/>
            <p:cNvSpPr/>
            <p:nvPr/>
          </p:nvSpPr>
          <p:spPr>
            <a:xfrm flipH="false" flipV="false" rot="0">
              <a:off x="0" y="0"/>
              <a:ext cx="6680327" cy="2562352"/>
            </a:xfrm>
            <a:custGeom>
              <a:avLst/>
              <a:gdLst/>
              <a:ahLst/>
              <a:cxnLst/>
              <a:rect r="r" b="b" t="t" l="l"/>
              <a:pathLst>
                <a:path h="2562352" w="6680327">
                  <a:moveTo>
                    <a:pt x="0" y="0"/>
                  </a:moveTo>
                  <a:lnTo>
                    <a:pt x="6680327" y="0"/>
                  </a:lnTo>
                  <a:lnTo>
                    <a:pt x="6680327" y="2562352"/>
                  </a:lnTo>
                  <a:lnTo>
                    <a:pt x="0" y="2562352"/>
                  </a:lnTo>
                  <a:close/>
                </a:path>
              </a:pathLst>
            </a:custGeom>
            <a:solidFill>
              <a:srgbClr val="1B2A3C"/>
            </a:solidFill>
          </p:spPr>
        </p:sp>
      </p:grpSp>
      <p:sp>
        <p:nvSpPr>
          <p:cNvPr name="TextBox 45" id="45"/>
          <p:cNvSpPr txBox="true"/>
          <p:nvPr/>
        </p:nvSpPr>
        <p:spPr>
          <a:xfrm rot="0">
            <a:off x="6927352" y="4948123"/>
            <a:ext cx="4484208" cy="1759706"/>
          </a:xfrm>
          <a:prstGeom prst="rect">
            <a:avLst/>
          </a:prstGeom>
        </p:spPr>
        <p:txBody>
          <a:bodyPr anchor="t" rtlCol="false" tIns="0" lIns="0" bIns="0" rIns="0">
            <a:spAutoFit/>
          </a:bodyPr>
          <a:lstStyle/>
          <a:p>
            <a:pPr algn="l">
              <a:lnSpc>
                <a:spcPts val="2161"/>
              </a:lnSpc>
            </a:pPr>
            <a:r>
              <a:rPr lang="en-US" sz="1501">
                <a:solidFill>
                  <a:srgbClr val="E8EEF5"/>
                </a:solidFill>
                <a:latin typeface="Consolas"/>
                <a:ea typeface="Consolas"/>
                <a:cs typeface="Consolas"/>
                <a:sym typeface="Consolas"/>
              </a:rPr>
              <a:t>df.groupBy("category")</a:t>
            </a:r>
          </a:p>
          <a:p>
            <a:pPr algn="l">
              <a:lnSpc>
                <a:spcPts val="2161"/>
              </a:lnSpc>
            </a:pPr>
            <a:r>
              <a:rPr lang="en-US" sz="1501">
                <a:solidFill>
                  <a:srgbClr val="E8EEF5"/>
                </a:solidFill>
                <a:latin typeface="Consolas"/>
                <a:ea typeface="Consolas"/>
                <a:cs typeface="Consolas"/>
                <a:sym typeface="Consolas"/>
              </a:rPr>
              <a:t>  .sum("amount")</a:t>
            </a:r>
          </a:p>
        </p:txBody>
      </p:sp>
      <p:grpSp>
        <p:nvGrpSpPr>
          <p:cNvPr name="Group 46" id="46"/>
          <p:cNvGrpSpPr/>
          <p:nvPr/>
        </p:nvGrpSpPr>
        <p:grpSpPr>
          <a:xfrm rot="0">
            <a:off x="12209631" y="3561798"/>
            <a:ext cx="5436356" cy="3445983"/>
            <a:chOff x="0" y="0"/>
            <a:chExt cx="7248474" cy="4594644"/>
          </a:xfrm>
        </p:grpSpPr>
        <p:sp>
          <p:nvSpPr>
            <p:cNvPr name="Freeform 47" id="47"/>
            <p:cNvSpPr/>
            <p:nvPr/>
          </p:nvSpPr>
          <p:spPr>
            <a:xfrm flipH="false" flipV="false" rot="0">
              <a:off x="0" y="0"/>
              <a:ext cx="7248525" cy="4594733"/>
            </a:xfrm>
            <a:custGeom>
              <a:avLst/>
              <a:gdLst/>
              <a:ahLst/>
              <a:cxnLst/>
              <a:rect r="r" b="b" t="t" l="l"/>
              <a:pathLst>
                <a:path h="4594733" w="7248525">
                  <a:moveTo>
                    <a:pt x="0" y="147066"/>
                  </a:moveTo>
                  <a:cubicBezTo>
                    <a:pt x="0" y="65786"/>
                    <a:pt x="65786" y="0"/>
                    <a:pt x="147066" y="0"/>
                  </a:cubicBezTo>
                  <a:lnTo>
                    <a:pt x="7101459" y="0"/>
                  </a:lnTo>
                  <a:cubicBezTo>
                    <a:pt x="7182612" y="0"/>
                    <a:pt x="7248525" y="65786"/>
                    <a:pt x="7248525" y="147066"/>
                  </a:cubicBezTo>
                  <a:lnTo>
                    <a:pt x="7248525" y="4447667"/>
                  </a:lnTo>
                  <a:cubicBezTo>
                    <a:pt x="7248525" y="4528820"/>
                    <a:pt x="7182739" y="4594733"/>
                    <a:pt x="7101459" y="4594733"/>
                  </a:cubicBezTo>
                  <a:lnTo>
                    <a:pt x="147066" y="4594733"/>
                  </a:lnTo>
                  <a:cubicBezTo>
                    <a:pt x="65786" y="4594606"/>
                    <a:pt x="0" y="4528820"/>
                    <a:pt x="0" y="4447667"/>
                  </a:cubicBezTo>
                  <a:close/>
                </a:path>
              </a:pathLst>
            </a:custGeom>
            <a:solidFill>
              <a:srgbClr val="F2F5F8"/>
            </a:solidFill>
            <a:ln w="14299" cap="sq">
              <a:solidFill>
                <a:srgbClr val="D9D9D9"/>
              </a:solidFill>
              <a:prstDash val="solid"/>
              <a:miter/>
            </a:ln>
          </p:spPr>
        </p:sp>
      </p:grpSp>
      <p:grpSp>
        <p:nvGrpSpPr>
          <p:cNvPr name="Group 48" id="48"/>
          <p:cNvGrpSpPr/>
          <p:nvPr/>
        </p:nvGrpSpPr>
        <p:grpSpPr>
          <a:xfrm rot="0">
            <a:off x="12216784" y="3568951"/>
            <a:ext cx="5422059" cy="549069"/>
            <a:chOff x="0" y="0"/>
            <a:chExt cx="7229412" cy="732092"/>
          </a:xfrm>
        </p:grpSpPr>
        <p:sp>
          <p:nvSpPr>
            <p:cNvPr name="Freeform 49" id="49"/>
            <p:cNvSpPr/>
            <p:nvPr/>
          </p:nvSpPr>
          <p:spPr>
            <a:xfrm flipH="false" flipV="false" rot="0">
              <a:off x="0" y="0"/>
              <a:ext cx="7229348" cy="732155"/>
            </a:xfrm>
            <a:custGeom>
              <a:avLst/>
              <a:gdLst/>
              <a:ahLst/>
              <a:cxnLst/>
              <a:rect r="r" b="b" t="t" l="l"/>
              <a:pathLst>
                <a:path h="732155" w="7229348">
                  <a:moveTo>
                    <a:pt x="0" y="0"/>
                  </a:moveTo>
                  <a:lnTo>
                    <a:pt x="7229348" y="0"/>
                  </a:lnTo>
                  <a:lnTo>
                    <a:pt x="7229348" y="732155"/>
                  </a:lnTo>
                  <a:lnTo>
                    <a:pt x="0" y="732155"/>
                  </a:lnTo>
                  <a:close/>
                </a:path>
              </a:pathLst>
            </a:custGeom>
            <a:solidFill>
              <a:srgbClr val="1F4E79"/>
            </a:solidFill>
          </p:spPr>
        </p:sp>
      </p:grpSp>
      <p:grpSp>
        <p:nvGrpSpPr>
          <p:cNvPr name="Group 50" id="50"/>
          <p:cNvGrpSpPr/>
          <p:nvPr/>
        </p:nvGrpSpPr>
        <p:grpSpPr>
          <a:xfrm rot="0">
            <a:off x="12216784" y="3568951"/>
            <a:ext cx="5422059" cy="549069"/>
            <a:chOff x="0" y="0"/>
            <a:chExt cx="7229412" cy="732092"/>
          </a:xfrm>
        </p:grpSpPr>
        <p:sp>
          <p:nvSpPr>
            <p:cNvPr name="Freeform 51" id="51"/>
            <p:cNvSpPr/>
            <p:nvPr/>
          </p:nvSpPr>
          <p:spPr>
            <a:xfrm flipH="false" flipV="false" rot="0">
              <a:off x="0" y="0"/>
              <a:ext cx="7229408" cy="732092"/>
            </a:xfrm>
            <a:custGeom>
              <a:avLst/>
              <a:gdLst/>
              <a:ahLst/>
              <a:cxnLst/>
              <a:rect r="r" b="b" t="t" l="l"/>
              <a:pathLst>
                <a:path h="732092" w="7229408">
                  <a:moveTo>
                    <a:pt x="0" y="0"/>
                  </a:moveTo>
                  <a:lnTo>
                    <a:pt x="7229408" y="0"/>
                  </a:lnTo>
                  <a:lnTo>
                    <a:pt x="7229408" y="732092"/>
                  </a:lnTo>
                  <a:lnTo>
                    <a:pt x="0" y="732092"/>
                  </a:lnTo>
                  <a:close/>
                </a:path>
              </a:pathLst>
            </a:custGeom>
            <a:blipFill>
              <a:blip r:embed="rId4">
                <a:alphaModFix amt="0"/>
              </a:blip>
              <a:stretch>
                <a:fillRect l="0" t="-142414" r="0" b="-142414"/>
              </a:stretch>
            </a:blipFill>
          </p:spPr>
        </p:sp>
        <p:sp>
          <p:nvSpPr>
            <p:cNvPr name="TextBox 52" id="52"/>
            <p:cNvSpPr txBox="true"/>
            <p:nvPr/>
          </p:nvSpPr>
          <p:spPr>
            <a:xfrm>
              <a:off x="0" y="0"/>
              <a:ext cx="7229412" cy="732092"/>
            </a:xfrm>
            <a:prstGeom prst="rect">
              <a:avLst/>
            </a:prstGeom>
          </p:spPr>
          <p:txBody>
            <a:bodyPr anchor="ctr" rtlCol="false" tIns="0" lIns="0" bIns="0" rIns="0"/>
            <a:lstStyle/>
            <a:p>
              <a:pPr algn="ctr">
                <a:lnSpc>
                  <a:spcPts val="1981"/>
                </a:lnSpc>
              </a:pPr>
              <a:r>
                <a:rPr lang="en-US" sz="1651" b="true">
                  <a:solidFill>
                    <a:srgbClr val="FFFFFF"/>
                  </a:solidFill>
                  <a:latin typeface="Cabin Bold"/>
                  <a:ea typeface="Cabin Bold"/>
                  <a:cs typeface="Cabin Bold"/>
                  <a:sym typeface="Cabin Bold"/>
                </a:rPr>
                <a:t>Cách 3</a:t>
              </a:r>
            </a:p>
          </p:txBody>
        </p:sp>
      </p:grpSp>
      <p:grpSp>
        <p:nvGrpSpPr>
          <p:cNvPr name="Group 53" id="53"/>
          <p:cNvGrpSpPr/>
          <p:nvPr/>
        </p:nvGrpSpPr>
        <p:grpSpPr>
          <a:xfrm rot="0">
            <a:off x="12422686" y="4255284"/>
            <a:ext cx="5010255" cy="549069"/>
            <a:chOff x="0" y="0"/>
            <a:chExt cx="6680340" cy="732092"/>
          </a:xfrm>
        </p:grpSpPr>
        <p:sp>
          <p:nvSpPr>
            <p:cNvPr name="Freeform 54" id="54"/>
            <p:cNvSpPr/>
            <p:nvPr/>
          </p:nvSpPr>
          <p:spPr>
            <a:xfrm flipH="false" flipV="false" rot="0">
              <a:off x="0" y="0"/>
              <a:ext cx="6680339" cy="732092"/>
            </a:xfrm>
            <a:custGeom>
              <a:avLst/>
              <a:gdLst/>
              <a:ahLst/>
              <a:cxnLst/>
              <a:rect r="r" b="b" t="t" l="l"/>
              <a:pathLst>
                <a:path h="732092" w="6680339">
                  <a:moveTo>
                    <a:pt x="0" y="0"/>
                  </a:moveTo>
                  <a:lnTo>
                    <a:pt x="6680339" y="0"/>
                  </a:lnTo>
                  <a:lnTo>
                    <a:pt x="6680339" y="732092"/>
                  </a:lnTo>
                  <a:lnTo>
                    <a:pt x="0" y="732092"/>
                  </a:lnTo>
                  <a:close/>
                </a:path>
              </a:pathLst>
            </a:custGeom>
            <a:blipFill>
              <a:blip r:embed="rId4">
                <a:alphaModFix amt="0"/>
              </a:blip>
              <a:stretch>
                <a:fillRect l="0" t="-127801" r="0" b="-127800"/>
              </a:stretch>
            </a:blipFill>
          </p:spPr>
        </p:sp>
        <p:sp>
          <p:nvSpPr>
            <p:cNvPr name="TextBox 55" id="55"/>
            <p:cNvSpPr txBox="true"/>
            <p:nvPr/>
          </p:nvSpPr>
          <p:spPr>
            <a:xfrm>
              <a:off x="0" y="0"/>
              <a:ext cx="6680340" cy="732092"/>
            </a:xfrm>
            <a:prstGeom prst="rect">
              <a:avLst/>
            </a:prstGeom>
          </p:spPr>
          <p:txBody>
            <a:bodyPr anchor="ctr" rtlCol="false" tIns="0" lIns="0" bIns="0" rIns="0"/>
            <a:lstStyle/>
            <a:p>
              <a:pPr algn="l">
                <a:lnSpc>
                  <a:spcPts val="2161"/>
                </a:lnSpc>
              </a:pPr>
              <a:r>
                <a:rPr lang="en-US" sz="1801" b="true">
                  <a:solidFill>
                    <a:srgbClr val="1F4E79"/>
                  </a:solidFill>
                  <a:latin typeface="Cabin Bold"/>
                  <a:ea typeface="Cabin Bold"/>
                  <a:cs typeface="Cabin Bold"/>
                  <a:sym typeface="Cabin Bold"/>
                </a:rPr>
                <a:t>Spark SQL</a:t>
              </a:r>
            </a:p>
          </p:txBody>
        </p:sp>
      </p:grpSp>
      <p:grpSp>
        <p:nvGrpSpPr>
          <p:cNvPr name="Group 56" id="56"/>
          <p:cNvGrpSpPr/>
          <p:nvPr/>
        </p:nvGrpSpPr>
        <p:grpSpPr>
          <a:xfrm rot="0">
            <a:off x="12422686" y="4872990"/>
            <a:ext cx="5010255" cy="1921745"/>
            <a:chOff x="0" y="0"/>
            <a:chExt cx="6680340" cy="2562327"/>
          </a:xfrm>
        </p:grpSpPr>
        <p:sp>
          <p:nvSpPr>
            <p:cNvPr name="Freeform 57" id="57"/>
            <p:cNvSpPr/>
            <p:nvPr/>
          </p:nvSpPr>
          <p:spPr>
            <a:xfrm flipH="false" flipV="false" rot="0">
              <a:off x="0" y="0"/>
              <a:ext cx="6680327" cy="2562352"/>
            </a:xfrm>
            <a:custGeom>
              <a:avLst/>
              <a:gdLst/>
              <a:ahLst/>
              <a:cxnLst/>
              <a:rect r="r" b="b" t="t" l="l"/>
              <a:pathLst>
                <a:path h="2562352" w="6680327">
                  <a:moveTo>
                    <a:pt x="0" y="0"/>
                  </a:moveTo>
                  <a:lnTo>
                    <a:pt x="6680327" y="0"/>
                  </a:lnTo>
                  <a:lnTo>
                    <a:pt x="6680327" y="2562352"/>
                  </a:lnTo>
                  <a:lnTo>
                    <a:pt x="0" y="2562352"/>
                  </a:lnTo>
                  <a:close/>
                </a:path>
              </a:pathLst>
            </a:custGeom>
            <a:solidFill>
              <a:srgbClr val="1B2A3C"/>
            </a:solidFill>
          </p:spPr>
        </p:sp>
      </p:grpSp>
      <p:sp>
        <p:nvSpPr>
          <p:cNvPr name="TextBox 58" id="58"/>
          <p:cNvSpPr txBox="true"/>
          <p:nvPr/>
        </p:nvSpPr>
        <p:spPr>
          <a:xfrm rot="0">
            <a:off x="12692577" y="4948123"/>
            <a:ext cx="4484208" cy="1759706"/>
          </a:xfrm>
          <a:prstGeom prst="rect">
            <a:avLst/>
          </a:prstGeom>
        </p:spPr>
        <p:txBody>
          <a:bodyPr anchor="t" rtlCol="false" tIns="0" lIns="0" bIns="0" rIns="0">
            <a:spAutoFit/>
          </a:bodyPr>
          <a:lstStyle/>
          <a:p>
            <a:pPr algn="l">
              <a:lnSpc>
                <a:spcPts val="2161"/>
              </a:lnSpc>
            </a:pPr>
            <a:r>
              <a:rPr lang="en-US" sz="1501">
                <a:solidFill>
                  <a:srgbClr val="E8EEF5"/>
                </a:solidFill>
                <a:latin typeface="Consolas"/>
                <a:ea typeface="Consolas"/>
                <a:cs typeface="Consolas"/>
                <a:sym typeface="Consolas"/>
              </a:rPr>
              <a:t>SELECT category,</a:t>
            </a:r>
          </a:p>
          <a:p>
            <a:pPr algn="l">
              <a:lnSpc>
                <a:spcPts val="2161"/>
              </a:lnSpc>
            </a:pPr>
            <a:r>
              <a:rPr lang="en-US" sz="1501">
                <a:solidFill>
                  <a:srgbClr val="E8EEF5"/>
                </a:solidFill>
                <a:latin typeface="Consolas"/>
                <a:ea typeface="Consolas"/>
                <a:cs typeface="Consolas"/>
                <a:sym typeface="Consolas"/>
              </a:rPr>
              <a:t>SUM(amount)</a:t>
            </a:r>
          </a:p>
          <a:p>
            <a:pPr algn="l">
              <a:lnSpc>
                <a:spcPts val="2161"/>
              </a:lnSpc>
            </a:pPr>
            <a:r>
              <a:rPr lang="en-US" sz="1501">
                <a:solidFill>
                  <a:srgbClr val="E8EEF5"/>
                </a:solidFill>
                <a:latin typeface="Consolas"/>
                <a:ea typeface="Consolas"/>
                <a:cs typeface="Consolas"/>
                <a:sym typeface="Consolas"/>
              </a:rPr>
              <a:t>FROM transactions</a:t>
            </a:r>
          </a:p>
          <a:p>
            <a:pPr algn="l">
              <a:lnSpc>
                <a:spcPts val="2161"/>
              </a:lnSpc>
            </a:pPr>
            <a:r>
              <a:rPr lang="en-US" sz="1501">
                <a:solidFill>
                  <a:srgbClr val="E8EEF5"/>
                </a:solidFill>
                <a:latin typeface="Consolas"/>
                <a:ea typeface="Consolas"/>
                <a:cs typeface="Consolas"/>
                <a:sym typeface="Consolas"/>
              </a:rPr>
              <a:t>GROUP BY category</a:t>
            </a:r>
          </a:p>
        </p:txBody>
      </p:sp>
      <p:grpSp>
        <p:nvGrpSpPr>
          <p:cNvPr name="Group 59" id="59"/>
          <p:cNvGrpSpPr/>
          <p:nvPr/>
        </p:nvGrpSpPr>
        <p:grpSpPr>
          <a:xfrm rot="0">
            <a:off x="686333" y="7343794"/>
            <a:ext cx="16952500" cy="686333"/>
            <a:chOff x="0" y="0"/>
            <a:chExt cx="22603333" cy="915111"/>
          </a:xfrm>
        </p:grpSpPr>
        <p:sp>
          <p:nvSpPr>
            <p:cNvPr name="Freeform 60" id="60"/>
            <p:cNvSpPr/>
            <p:nvPr/>
          </p:nvSpPr>
          <p:spPr>
            <a:xfrm flipH="false" flipV="false" rot="0">
              <a:off x="0" y="0"/>
              <a:ext cx="22603340" cy="915115"/>
            </a:xfrm>
            <a:custGeom>
              <a:avLst/>
              <a:gdLst/>
              <a:ahLst/>
              <a:cxnLst/>
              <a:rect r="r" b="b" t="t" l="l"/>
              <a:pathLst>
                <a:path h="915115" w="22603340">
                  <a:moveTo>
                    <a:pt x="0" y="0"/>
                  </a:moveTo>
                  <a:lnTo>
                    <a:pt x="22603340" y="0"/>
                  </a:lnTo>
                  <a:lnTo>
                    <a:pt x="22603340" y="915115"/>
                  </a:lnTo>
                  <a:lnTo>
                    <a:pt x="0" y="915115"/>
                  </a:lnTo>
                  <a:close/>
                </a:path>
              </a:pathLst>
            </a:custGeom>
            <a:blipFill>
              <a:blip r:embed="rId4">
                <a:alphaModFix amt="0"/>
              </a:blip>
              <a:stretch>
                <a:fillRect l="0" t="-431280" r="0" b="-431280"/>
              </a:stretch>
            </a:blipFill>
          </p:spPr>
        </p:sp>
        <p:sp>
          <p:nvSpPr>
            <p:cNvPr name="TextBox 61" id="61"/>
            <p:cNvSpPr txBox="true"/>
            <p:nvPr/>
          </p:nvSpPr>
          <p:spPr>
            <a:xfrm>
              <a:off x="0" y="0"/>
              <a:ext cx="22603333" cy="915111"/>
            </a:xfrm>
            <a:prstGeom prst="rect">
              <a:avLst/>
            </a:prstGeom>
          </p:spPr>
          <p:txBody>
            <a:bodyPr anchor="ctr" rtlCol="false" tIns="0" lIns="0" bIns="0" rIns="0"/>
            <a:lstStyle/>
            <a:p>
              <a:pPr algn="ctr">
                <a:lnSpc>
                  <a:spcPts val="1891"/>
                </a:lnSpc>
              </a:pPr>
              <a:r>
                <a:rPr lang="en-US" sz="1576" i="true">
                  <a:solidFill>
                    <a:srgbClr val="4A4A4A"/>
                  </a:solidFill>
                  <a:latin typeface="Cabin Italics"/>
                  <a:ea typeface="Cabin Italics"/>
                  <a:cs typeface="Cabin Italics"/>
                  <a:sym typeface="Cabin Italics"/>
                </a:rPr>
                <a:t>Kết quả cuối cùng của cả 3 cách phải giống nhau — điểm cần lý giải là cách hệ thống thực thi phía sau khác nhau như thế nào.</a:t>
              </a:r>
            </a:p>
          </p:txBody>
        </p:sp>
      </p:grpSp>
      <p:grpSp>
        <p:nvGrpSpPr>
          <p:cNvPr name="Group 62" id="62"/>
          <p:cNvGrpSpPr/>
          <p:nvPr/>
        </p:nvGrpSpPr>
        <p:grpSpPr>
          <a:xfrm rot="0">
            <a:off x="0" y="9677343"/>
            <a:ext cx="18301840" cy="617706"/>
            <a:chOff x="0" y="0"/>
            <a:chExt cx="24402453" cy="823608"/>
          </a:xfrm>
        </p:grpSpPr>
        <p:sp>
          <p:nvSpPr>
            <p:cNvPr name="Freeform 63" id="63"/>
            <p:cNvSpPr/>
            <p:nvPr/>
          </p:nvSpPr>
          <p:spPr>
            <a:xfrm flipH="false" flipV="false" rot="0">
              <a:off x="0" y="0"/>
              <a:ext cx="24402414" cy="823595"/>
            </a:xfrm>
            <a:custGeom>
              <a:avLst/>
              <a:gdLst/>
              <a:ahLst/>
              <a:cxnLst/>
              <a:rect r="r" b="b" t="t" l="l"/>
              <a:pathLst>
                <a:path h="823595" w="24402414">
                  <a:moveTo>
                    <a:pt x="0" y="0"/>
                  </a:moveTo>
                  <a:lnTo>
                    <a:pt x="24402414" y="0"/>
                  </a:lnTo>
                  <a:lnTo>
                    <a:pt x="24402414" y="823595"/>
                  </a:lnTo>
                  <a:lnTo>
                    <a:pt x="0" y="823595"/>
                  </a:lnTo>
                  <a:close/>
                </a:path>
              </a:pathLst>
            </a:custGeom>
            <a:solidFill>
              <a:srgbClr val="1F4E79"/>
            </a:solidFill>
          </p:spPr>
        </p:sp>
      </p:grpSp>
      <p:grpSp>
        <p:nvGrpSpPr>
          <p:cNvPr name="Group 64" id="64"/>
          <p:cNvGrpSpPr/>
          <p:nvPr/>
        </p:nvGrpSpPr>
        <p:grpSpPr>
          <a:xfrm rot="0">
            <a:off x="480431" y="9677343"/>
            <a:ext cx="10981382" cy="617706"/>
            <a:chOff x="0" y="0"/>
            <a:chExt cx="14641843" cy="823608"/>
          </a:xfrm>
        </p:grpSpPr>
        <p:sp>
          <p:nvSpPr>
            <p:cNvPr name="Freeform 65" id="65"/>
            <p:cNvSpPr/>
            <p:nvPr/>
          </p:nvSpPr>
          <p:spPr>
            <a:xfrm flipH="false" flipV="false" rot="0">
              <a:off x="0" y="0"/>
              <a:ext cx="14641840" cy="823603"/>
            </a:xfrm>
            <a:custGeom>
              <a:avLst/>
              <a:gdLst/>
              <a:ahLst/>
              <a:cxnLst/>
              <a:rect r="r" b="b" t="t" l="l"/>
              <a:pathLst>
                <a:path h="823603" w="14641840">
                  <a:moveTo>
                    <a:pt x="0" y="0"/>
                  </a:moveTo>
                  <a:lnTo>
                    <a:pt x="14641840" y="0"/>
                  </a:lnTo>
                  <a:lnTo>
                    <a:pt x="14641840" y="823603"/>
                  </a:lnTo>
                  <a:lnTo>
                    <a:pt x="0" y="823603"/>
                  </a:lnTo>
                  <a:close/>
                </a:path>
              </a:pathLst>
            </a:custGeom>
            <a:blipFill>
              <a:blip r:embed="rId4">
                <a:alphaModFix amt="0"/>
              </a:blip>
              <a:stretch>
                <a:fillRect l="0" t="-296400" r="0" b="-296401"/>
              </a:stretch>
            </a:blipFill>
          </p:spPr>
        </p:sp>
        <p:sp>
          <p:nvSpPr>
            <p:cNvPr name="TextBox 66" id="66"/>
            <p:cNvSpPr txBox="true"/>
            <p:nvPr/>
          </p:nvSpPr>
          <p:spPr>
            <a:xfrm>
              <a:off x="0" y="0"/>
              <a:ext cx="14641843" cy="823608"/>
            </a:xfrm>
            <a:prstGeom prst="rect">
              <a:avLst/>
            </a:prstGeom>
          </p:spPr>
          <p:txBody>
            <a:bodyPr anchor="ctr" rtlCol="false" tIns="0" lIns="0" bIns="0" rIns="0"/>
            <a:lstStyle/>
            <a:p>
              <a:pPr algn="l">
                <a:lnSpc>
                  <a:spcPts val="1621"/>
                </a:lnSpc>
              </a:pPr>
              <a:r>
                <a:rPr lang="en-US" sz="1351">
                  <a:solidFill>
                    <a:srgbClr val="FFFFFF"/>
                  </a:solidFill>
                  <a:latin typeface="Cabin"/>
                  <a:ea typeface="Cabin"/>
                  <a:cs typeface="Cabin"/>
                  <a:sym typeface="Cabin"/>
                </a:rPr>
                <a:t>VNU UET – Institute for Artificial Intelligence</a:t>
              </a:r>
            </a:p>
          </p:txBody>
        </p:sp>
      </p:grpSp>
      <p:grpSp>
        <p:nvGrpSpPr>
          <p:cNvPr name="Group 67" id="67"/>
          <p:cNvGrpSpPr/>
          <p:nvPr/>
        </p:nvGrpSpPr>
        <p:grpSpPr>
          <a:xfrm rot="0">
            <a:off x="17066438" y="9677343"/>
            <a:ext cx="823608" cy="617706"/>
            <a:chOff x="0" y="0"/>
            <a:chExt cx="1098144" cy="823608"/>
          </a:xfrm>
        </p:grpSpPr>
        <p:sp>
          <p:nvSpPr>
            <p:cNvPr name="Freeform 68" id="68"/>
            <p:cNvSpPr/>
            <p:nvPr/>
          </p:nvSpPr>
          <p:spPr>
            <a:xfrm flipH="false" flipV="false" rot="0">
              <a:off x="0" y="0"/>
              <a:ext cx="1098138" cy="823603"/>
            </a:xfrm>
            <a:custGeom>
              <a:avLst/>
              <a:gdLst/>
              <a:ahLst/>
              <a:cxnLst/>
              <a:rect r="r" b="b" t="t" l="l"/>
              <a:pathLst>
                <a:path h="823603" w="1098138">
                  <a:moveTo>
                    <a:pt x="0" y="0"/>
                  </a:moveTo>
                  <a:lnTo>
                    <a:pt x="1098138" y="0"/>
                  </a:lnTo>
                  <a:lnTo>
                    <a:pt x="1098138" y="823603"/>
                  </a:lnTo>
                  <a:lnTo>
                    <a:pt x="0" y="823603"/>
                  </a:lnTo>
                  <a:close/>
                </a:path>
              </a:pathLst>
            </a:custGeom>
            <a:blipFill>
              <a:blip r:embed="rId4">
                <a:alphaModFix amt="0"/>
              </a:blip>
              <a:stretch>
                <a:fillRect l="-46227" t="0" r="-46228" b="0"/>
              </a:stretch>
            </a:blipFill>
          </p:spPr>
        </p:sp>
        <p:sp>
          <p:nvSpPr>
            <p:cNvPr name="TextBox 69" id="69"/>
            <p:cNvSpPr txBox="true"/>
            <p:nvPr/>
          </p:nvSpPr>
          <p:spPr>
            <a:xfrm>
              <a:off x="0" y="0"/>
              <a:ext cx="1098144" cy="823608"/>
            </a:xfrm>
            <a:prstGeom prst="rect">
              <a:avLst/>
            </a:prstGeom>
          </p:spPr>
          <p:txBody>
            <a:bodyPr anchor="ctr" rtlCol="false" tIns="0" lIns="0" bIns="0" rIns="0"/>
            <a:lstStyle/>
            <a:p>
              <a:pPr algn="r">
                <a:lnSpc>
                  <a:spcPts val="1621"/>
                </a:lnSpc>
              </a:pPr>
              <a:r>
                <a:rPr lang="en-US" sz="1351">
                  <a:solidFill>
                    <a:srgbClr val="FFFFFF"/>
                  </a:solidFill>
                  <a:latin typeface="Cabin"/>
                  <a:ea typeface="Cabin"/>
                  <a:cs typeface="Cabin"/>
                  <a:sym typeface="Cabin"/>
                </a:rPr>
                <a:t>30</a:t>
              </a:r>
            </a:p>
          </p:txBody>
        </p:sp>
      </p:grpSp>
      <p:grpSp>
        <p:nvGrpSpPr>
          <p:cNvPr name="Group 70" id="70"/>
          <p:cNvGrpSpPr/>
          <p:nvPr/>
        </p:nvGrpSpPr>
        <p:grpSpPr>
          <a:xfrm rot="0">
            <a:off x="0" y="0"/>
            <a:ext cx="18288000" cy="315468"/>
            <a:chOff x="0" y="0"/>
            <a:chExt cx="24384000" cy="420624"/>
          </a:xfrm>
        </p:grpSpPr>
        <p:sp>
          <p:nvSpPr>
            <p:cNvPr name="Freeform 71" id="71"/>
            <p:cNvSpPr/>
            <p:nvPr/>
          </p:nvSpPr>
          <p:spPr>
            <a:xfrm flipH="false" flipV="false" rot="0">
              <a:off x="0" y="0"/>
              <a:ext cx="24384000" cy="420624"/>
            </a:xfrm>
            <a:custGeom>
              <a:avLst/>
              <a:gdLst/>
              <a:ahLst/>
              <a:cxnLst/>
              <a:rect r="r" b="b" t="t" l="l"/>
              <a:pathLst>
                <a:path h="420624" w="24384000">
                  <a:moveTo>
                    <a:pt x="0" y="0"/>
                  </a:moveTo>
                  <a:lnTo>
                    <a:pt x="24384000" y="0"/>
                  </a:lnTo>
                  <a:lnTo>
                    <a:pt x="24384000" y="420624"/>
                  </a:lnTo>
                  <a:lnTo>
                    <a:pt x="0" y="420624"/>
                  </a:lnTo>
                  <a:close/>
                </a:path>
              </a:pathLst>
            </a:custGeom>
            <a:solidFill>
              <a:srgbClr val="0F3F6F"/>
            </a:solidFill>
          </p:spPr>
        </p:sp>
      </p:grpSp>
      <p:grpSp>
        <p:nvGrpSpPr>
          <p:cNvPr name="Group 72" id="72"/>
          <p:cNvGrpSpPr/>
          <p:nvPr/>
        </p:nvGrpSpPr>
        <p:grpSpPr>
          <a:xfrm rot="0">
            <a:off x="13098780" y="0"/>
            <a:ext cx="1453896" cy="1508760"/>
            <a:chOff x="0" y="0"/>
            <a:chExt cx="1938528" cy="2011680"/>
          </a:xfrm>
        </p:grpSpPr>
        <p:sp>
          <p:nvSpPr>
            <p:cNvPr name="Freeform 73" id="73"/>
            <p:cNvSpPr/>
            <p:nvPr/>
          </p:nvSpPr>
          <p:spPr>
            <a:xfrm flipH="false" flipV="false" rot="0">
              <a:off x="0" y="0"/>
              <a:ext cx="1938528" cy="2011680"/>
            </a:xfrm>
            <a:custGeom>
              <a:avLst/>
              <a:gdLst/>
              <a:ahLst/>
              <a:cxnLst/>
              <a:rect r="r" b="b" t="t" l="l"/>
              <a:pathLst>
                <a:path h="2011680" w="1938528">
                  <a:moveTo>
                    <a:pt x="0" y="2011680"/>
                  </a:moveTo>
                  <a:lnTo>
                    <a:pt x="484632" y="0"/>
                  </a:lnTo>
                  <a:lnTo>
                    <a:pt x="1938528" y="0"/>
                  </a:lnTo>
                  <a:lnTo>
                    <a:pt x="1453896" y="2011680"/>
                  </a:lnTo>
                  <a:close/>
                </a:path>
              </a:pathLst>
            </a:custGeom>
            <a:solidFill>
              <a:srgbClr val="85B518"/>
            </a:solidFill>
          </p:spPr>
        </p:sp>
      </p:grpSp>
      <p:grpSp>
        <p:nvGrpSpPr>
          <p:cNvPr name="Group 74" id="74"/>
          <p:cNvGrpSpPr/>
          <p:nvPr/>
        </p:nvGrpSpPr>
        <p:grpSpPr>
          <a:xfrm rot="0">
            <a:off x="14621256" y="0"/>
            <a:ext cx="1508760" cy="1508760"/>
            <a:chOff x="0" y="0"/>
            <a:chExt cx="2011680" cy="2011680"/>
          </a:xfrm>
        </p:grpSpPr>
        <p:sp>
          <p:nvSpPr>
            <p:cNvPr name="Freeform 75" id="75"/>
            <p:cNvSpPr/>
            <p:nvPr/>
          </p:nvSpPr>
          <p:spPr>
            <a:xfrm flipH="false" flipV="false" rot="0">
              <a:off x="0" y="0"/>
              <a:ext cx="2011680" cy="2011680"/>
            </a:xfrm>
            <a:custGeom>
              <a:avLst/>
              <a:gdLst/>
              <a:ahLst/>
              <a:cxnLst/>
              <a:rect r="r" b="b" t="t" l="l"/>
              <a:pathLst>
                <a:path h="2011680" w="2011680">
                  <a:moveTo>
                    <a:pt x="0" y="2011680"/>
                  </a:moveTo>
                  <a:lnTo>
                    <a:pt x="502920" y="0"/>
                  </a:lnTo>
                  <a:lnTo>
                    <a:pt x="2011680" y="0"/>
                  </a:lnTo>
                  <a:lnTo>
                    <a:pt x="1508760" y="2011680"/>
                  </a:lnTo>
                  <a:close/>
                </a:path>
              </a:pathLst>
            </a:custGeom>
            <a:solidFill>
              <a:srgbClr val="0F3F6F"/>
            </a:solidFill>
          </p:spPr>
        </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97801" y="384353"/>
            <a:ext cx="851059" cy="851059"/>
            <a:chOff x="0" y="0"/>
            <a:chExt cx="1134745" cy="1134745"/>
          </a:xfrm>
        </p:grpSpPr>
        <p:sp>
          <p:nvSpPr>
            <p:cNvPr name="Freeform 3" id="3" descr="/home/claude/work/assets/logo.png"/>
            <p:cNvSpPr/>
            <p:nvPr/>
          </p:nvSpPr>
          <p:spPr>
            <a:xfrm flipH="false" flipV="false" rot="0">
              <a:off x="0" y="0"/>
              <a:ext cx="1134745" cy="1134745"/>
            </a:xfrm>
            <a:custGeom>
              <a:avLst/>
              <a:gdLst/>
              <a:ahLst/>
              <a:cxnLst/>
              <a:rect r="r" b="b" t="t" l="l"/>
              <a:pathLst>
                <a:path h="1134745" w="1134745">
                  <a:moveTo>
                    <a:pt x="0" y="0"/>
                  </a:moveTo>
                  <a:lnTo>
                    <a:pt x="1134745" y="0"/>
                  </a:lnTo>
                  <a:lnTo>
                    <a:pt x="1134745" y="1134745"/>
                  </a:lnTo>
                  <a:lnTo>
                    <a:pt x="0" y="1134745"/>
                  </a:lnTo>
                  <a:lnTo>
                    <a:pt x="0" y="0"/>
                  </a:lnTo>
                  <a:close/>
                </a:path>
              </a:pathLst>
            </a:custGeom>
            <a:blipFill>
              <a:blip r:embed="rId3"/>
              <a:stretch>
                <a:fillRect l="0" t="0" r="0" b="0"/>
              </a:stretch>
            </a:blipFill>
          </p:spPr>
        </p:sp>
      </p:grpSp>
      <p:grpSp>
        <p:nvGrpSpPr>
          <p:cNvPr name="Group 4" id="4"/>
          <p:cNvGrpSpPr/>
          <p:nvPr/>
        </p:nvGrpSpPr>
        <p:grpSpPr>
          <a:xfrm rot="0">
            <a:off x="686333" y="384353"/>
            <a:ext cx="10981382" cy="411804"/>
            <a:chOff x="0" y="0"/>
            <a:chExt cx="14641843" cy="549072"/>
          </a:xfrm>
        </p:grpSpPr>
        <p:sp>
          <p:nvSpPr>
            <p:cNvPr name="Freeform 5" id="5"/>
            <p:cNvSpPr/>
            <p:nvPr/>
          </p:nvSpPr>
          <p:spPr>
            <a:xfrm flipH="false" flipV="false" rot="0">
              <a:off x="0" y="0"/>
              <a:ext cx="14641840" cy="549069"/>
            </a:xfrm>
            <a:custGeom>
              <a:avLst/>
              <a:gdLst/>
              <a:ahLst/>
              <a:cxnLst/>
              <a:rect r="r" b="b" t="t" l="l"/>
              <a:pathLst>
                <a:path h="549069" w="14641840">
                  <a:moveTo>
                    <a:pt x="0" y="0"/>
                  </a:moveTo>
                  <a:lnTo>
                    <a:pt x="14641840" y="0"/>
                  </a:lnTo>
                  <a:lnTo>
                    <a:pt x="14641840" y="549069"/>
                  </a:lnTo>
                  <a:lnTo>
                    <a:pt x="0" y="549069"/>
                  </a:lnTo>
                  <a:close/>
                </a:path>
              </a:pathLst>
            </a:custGeom>
            <a:blipFill>
              <a:blip r:embed="rId4">
                <a:alphaModFix amt="0"/>
              </a:blip>
              <a:stretch>
                <a:fillRect l="0" t="-469600" r="0" b="-469601"/>
              </a:stretch>
            </a:blipFill>
          </p:spPr>
        </p:sp>
        <p:sp>
          <p:nvSpPr>
            <p:cNvPr name="TextBox 6" id="6"/>
            <p:cNvSpPr txBox="true"/>
            <p:nvPr/>
          </p:nvSpPr>
          <p:spPr>
            <a:xfrm>
              <a:off x="0" y="0"/>
              <a:ext cx="14641843" cy="549072"/>
            </a:xfrm>
            <a:prstGeom prst="rect">
              <a:avLst/>
            </a:prstGeom>
          </p:spPr>
          <p:txBody>
            <a:bodyPr anchor="ctr" rtlCol="false" tIns="0" lIns="0" bIns="0" rIns="0"/>
            <a:lstStyle/>
            <a:p>
              <a:pPr algn="l">
                <a:lnSpc>
                  <a:spcPts val="1981"/>
                </a:lnSpc>
              </a:pPr>
              <a:r>
                <a:rPr lang="en-US" sz="1651" i="true">
                  <a:solidFill>
                    <a:srgbClr val="4A4A4A"/>
                  </a:solidFill>
                  <a:latin typeface="Cabin Italics"/>
                  <a:ea typeface="Cabin Italics"/>
                  <a:cs typeface="Cabin Italics"/>
                  <a:sym typeface="Cabin Italics"/>
                </a:rPr>
                <a:t>5.14. So sánh Hadoop MapReduce và Spark · Bài 05 · Thực hành</a:t>
              </a:r>
            </a:p>
          </p:txBody>
        </p:sp>
      </p:grpSp>
      <p:grpSp>
        <p:nvGrpSpPr>
          <p:cNvPr name="Group 7" id="7"/>
          <p:cNvGrpSpPr/>
          <p:nvPr/>
        </p:nvGrpSpPr>
        <p:grpSpPr>
          <a:xfrm rot="0">
            <a:off x="686333" y="823608"/>
            <a:ext cx="82363" cy="754971"/>
            <a:chOff x="0" y="0"/>
            <a:chExt cx="109817" cy="1006627"/>
          </a:xfrm>
        </p:grpSpPr>
        <p:sp>
          <p:nvSpPr>
            <p:cNvPr name="Freeform 8" id="8"/>
            <p:cNvSpPr/>
            <p:nvPr/>
          </p:nvSpPr>
          <p:spPr>
            <a:xfrm flipH="false" flipV="false" rot="0">
              <a:off x="0" y="0"/>
              <a:ext cx="109855" cy="1006602"/>
            </a:xfrm>
            <a:custGeom>
              <a:avLst/>
              <a:gdLst/>
              <a:ahLst/>
              <a:cxnLst/>
              <a:rect r="r" b="b" t="t" l="l"/>
              <a:pathLst>
                <a:path h="1006602" w="109855">
                  <a:moveTo>
                    <a:pt x="0" y="0"/>
                  </a:moveTo>
                  <a:lnTo>
                    <a:pt x="109855" y="0"/>
                  </a:lnTo>
                  <a:lnTo>
                    <a:pt x="109855" y="1006602"/>
                  </a:lnTo>
                  <a:lnTo>
                    <a:pt x="0" y="1006602"/>
                  </a:lnTo>
                  <a:close/>
                </a:path>
              </a:pathLst>
            </a:custGeom>
            <a:solidFill>
              <a:srgbClr val="85B518"/>
            </a:solidFill>
          </p:spPr>
        </p:sp>
      </p:grpSp>
      <p:grpSp>
        <p:nvGrpSpPr>
          <p:cNvPr name="Group 9" id="9"/>
          <p:cNvGrpSpPr/>
          <p:nvPr/>
        </p:nvGrpSpPr>
        <p:grpSpPr>
          <a:xfrm rot="0">
            <a:off x="960872" y="796147"/>
            <a:ext cx="15831026" cy="823608"/>
            <a:chOff x="0" y="0"/>
            <a:chExt cx="21108035" cy="1098144"/>
          </a:xfrm>
        </p:grpSpPr>
        <p:sp>
          <p:nvSpPr>
            <p:cNvPr name="Freeform 10" id="10"/>
            <p:cNvSpPr/>
            <p:nvPr/>
          </p:nvSpPr>
          <p:spPr>
            <a:xfrm flipH="false" flipV="false" rot="0">
              <a:off x="0" y="0"/>
              <a:ext cx="21108040" cy="1098138"/>
            </a:xfrm>
            <a:custGeom>
              <a:avLst/>
              <a:gdLst/>
              <a:ahLst/>
              <a:cxnLst/>
              <a:rect r="r" b="b" t="t" l="l"/>
              <a:pathLst>
                <a:path h="1098138" w="21108040">
                  <a:moveTo>
                    <a:pt x="0" y="0"/>
                  </a:moveTo>
                  <a:lnTo>
                    <a:pt x="21108040" y="0"/>
                  </a:lnTo>
                  <a:lnTo>
                    <a:pt x="21108040" y="1098138"/>
                  </a:lnTo>
                  <a:lnTo>
                    <a:pt x="0" y="1098138"/>
                  </a:lnTo>
                  <a:close/>
                </a:path>
              </a:pathLst>
            </a:custGeom>
            <a:blipFill>
              <a:blip r:embed="rId4">
                <a:alphaModFix amt="0"/>
              </a:blip>
              <a:stretch>
                <a:fillRect l="0" t="-324534" r="0" b="-324535"/>
              </a:stretch>
            </a:blipFill>
          </p:spPr>
        </p:sp>
        <p:sp>
          <p:nvSpPr>
            <p:cNvPr name="TextBox 11" id="11"/>
            <p:cNvSpPr txBox="true"/>
            <p:nvPr/>
          </p:nvSpPr>
          <p:spPr>
            <a:xfrm>
              <a:off x="0" y="0"/>
              <a:ext cx="21108035" cy="1098144"/>
            </a:xfrm>
            <a:prstGeom prst="rect">
              <a:avLst/>
            </a:prstGeom>
          </p:spPr>
          <p:txBody>
            <a:bodyPr anchor="ctr" rtlCol="false" tIns="0" lIns="0" bIns="0" rIns="0"/>
            <a:lstStyle/>
            <a:p>
              <a:pPr algn="l">
                <a:lnSpc>
                  <a:spcPts val="3782"/>
                </a:lnSpc>
              </a:pPr>
              <a:r>
                <a:rPr lang="en-US" sz="3152" b="true">
                  <a:solidFill>
                    <a:srgbClr val="1F4E79"/>
                  </a:solidFill>
                  <a:latin typeface="Cabin Bold"/>
                  <a:ea typeface="Cabin Bold"/>
                  <a:cs typeface="Cabin Bold"/>
                  <a:sym typeface="Cabin Bold"/>
                </a:rPr>
                <a:t>Bảng so sánh: học viên tự đánh giá sau khi chạy</a:t>
              </a:r>
            </a:p>
          </p:txBody>
        </p:sp>
      </p:grpSp>
      <p:graphicFrame>
        <p:nvGraphicFramePr>
          <p:cNvPr name="Table 12" id="12"/>
          <p:cNvGraphicFramePr>
            <a:graphicFrameLocks noGrp="true"/>
          </p:cNvGraphicFramePr>
          <p:nvPr/>
        </p:nvGraphicFramePr>
        <p:xfrm>
          <a:off x="686336" y="2059009"/>
          <a:ext cx="16948691" cy="5738533"/>
        </p:xfrm>
        <a:graphic>
          <a:graphicData uri="http://schemas.openxmlformats.org/drawingml/2006/table">
            <a:tbl>
              <a:tblPr/>
              <a:tblGrid>
                <a:gridCol w="4944079"/>
                <a:gridCol w="6002306"/>
                <a:gridCol w="6002306"/>
              </a:tblGrid>
              <a:tr h="819790">
                <a:tc>
                  <a:txBody>
                    <a:bodyPr anchor="t" rtlCol="false"/>
                    <a:lstStyle/>
                    <a:p>
                      <a:pPr algn="l">
                        <a:lnSpc>
                          <a:spcPts val="2071"/>
                        </a:lnSpc>
                        <a:defRPr/>
                      </a:pPr>
                      <a:r>
                        <a:rPr lang="en-US" sz="1726" b="true">
                          <a:solidFill>
                            <a:srgbClr val="FFFFFF"/>
                          </a:solidFill>
                          <a:latin typeface="Cabin Bold"/>
                          <a:ea typeface="Cabin Bold"/>
                          <a:cs typeface="Cabin Bold"/>
                          <a:sym typeface="Cabin Bold"/>
                        </a:rPr>
                        <a:t>Tiêu chí</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1F4E79"/>
                    </a:solidFill>
                  </a:tcPr>
                </a:tc>
                <a:tc>
                  <a:txBody>
                    <a:bodyPr anchor="t" rtlCol="false"/>
                    <a:lstStyle/>
                    <a:p>
                      <a:pPr algn="l">
                        <a:lnSpc>
                          <a:spcPts val="2071"/>
                        </a:lnSpc>
                        <a:defRPr/>
                      </a:pPr>
                      <a:r>
                        <a:rPr lang="en-US" sz="1726" b="true">
                          <a:solidFill>
                            <a:srgbClr val="FFFFFF"/>
                          </a:solidFill>
                          <a:latin typeface="Cabin Bold"/>
                          <a:ea typeface="Cabin Bold"/>
                          <a:cs typeface="Cabin Bold"/>
                          <a:sym typeface="Cabin Bold"/>
                        </a:rPr>
                        <a:t>MapReduce</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1F4E79"/>
                    </a:solidFill>
                  </a:tcPr>
                </a:tc>
                <a:tc>
                  <a:txBody>
                    <a:bodyPr anchor="t" rtlCol="false"/>
                    <a:lstStyle/>
                    <a:p>
                      <a:pPr algn="l">
                        <a:lnSpc>
                          <a:spcPts val="2071"/>
                        </a:lnSpc>
                        <a:defRPr/>
                      </a:pPr>
                      <a:r>
                        <a:rPr lang="en-US" sz="1726" b="true">
                          <a:solidFill>
                            <a:srgbClr val="FFFFFF"/>
                          </a:solidFill>
                          <a:latin typeface="Cabin Bold"/>
                          <a:ea typeface="Cabin Bold"/>
                          <a:cs typeface="Cabin Bold"/>
                          <a:sym typeface="Cabin Bold"/>
                        </a:rPr>
                        <a:t>PySpark</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1F4E79"/>
                    </a:solidFill>
                  </a:tcPr>
                </a:tc>
              </a:tr>
              <a:tr h="819790">
                <a:tc>
                  <a:txBody>
                    <a:bodyPr anchor="t" rtlCol="false"/>
                    <a:lstStyle/>
                    <a:p>
                      <a:pPr algn="l">
                        <a:lnSpc>
                          <a:spcPts val="2071"/>
                        </a:lnSpc>
                        <a:defRPr/>
                      </a:pPr>
                      <a:r>
                        <a:rPr lang="en-US" sz="1726" b="true">
                          <a:solidFill>
                            <a:srgbClr val="1F4E79"/>
                          </a:solidFill>
                          <a:latin typeface="Cabin Bold"/>
                          <a:ea typeface="Cabin Bold"/>
                          <a:cs typeface="Cabin Bold"/>
                          <a:sym typeface="Cabin Bold"/>
                        </a:rPr>
                        <a:t>Số dòng code</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r>
              <a:tr h="819790">
                <a:tc>
                  <a:txBody>
                    <a:bodyPr anchor="t" rtlCol="false"/>
                    <a:lstStyle/>
                    <a:p>
                      <a:pPr algn="l">
                        <a:lnSpc>
                          <a:spcPts val="2071"/>
                        </a:lnSpc>
                        <a:defRPr/>
                      </a:pPr>
                      <a:r>
                        <a:rPr lang="en-US" sz="1726" b="true">
                          <a:solidFill>
                            <a:srgbClr val="1F4E79"/>
                          </a:solidFill>
                          <a:latin typeface="Cabin Bold"/>
                          <a:ea typeface="Cabin Bold"/>
                          <a:cs typeface="Cabin Bold"/>
                          <a:sym typeface="Cabin Bold"/>
                        </a:rPr>
                        <a:t>Cách biểu diễn</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2F5F8"/>
                    </a:solidFill>
                  </a:tcPr>
                </a:tc>
                <a:tc>
                  <a:txBody>
                    <a:bodyPr anchor="t" rtlCol="false"/>
                    <a:lstStyle/>
                    <a:p>
                      <a:pPr algn="l">
                        <a:lnSpc>
                          <a:spcPts val="1679"/>
                        </a:lnSpc>
                        <a:defRPr/>
                      </a:pP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2F5F8"/>
                    </a:solidFill>
                  </a:tcPr>
                </a:tc>
                <a:tc>
                  <a:txBody>
                    <a:bodyPr anchor="t" rtlCol="false"/>
                    <a:lstStyle/>
                    <a:p>
                      <a:pPr algn="l">
                        <a:lnSpc>
                          <a:spcPts val="1679"/>
                        </a:lnSpc>
                        <a:defRPr/>
                      </a:pP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2F5F8"/>
                    </a:solidFill>
                  </a:tcPr>
                </a:tc>
              </a:tr>
              <a:tr h="819790">
                <a:tc>
                  <a:txBody>
                    <a:bodyPr anchor="t" rtlCol="false"/>
                    <a:lstStyle/>
                    <a:p>
                      <a:pPr algn="l">
                        <a:lnSpc>
                          <a:spcPts val="2071"/>
                        </a:lnSpc>
                        <a:defRPr/>
                      </a:pPr>
                      <a:r>
                        <a:rPr lang="en-US" sz="1726" b="true">
                          <a:solidFill>
                            <a:srgbClr val="1F4E79"/>
                          </a:solidFill>
                          <a:latin typeface="Cabin Bold"/>
                          <a:ea typeface="Cabin Bold"/>
                          <a:cs typeface="Cabin Bold"/>
                          <a:sym typeface="Cabin Bold"/>
                        </a:rPr>
                        <a:t>Đọc/ghi trung gian</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r>
              <a:tr h="819790">
                <a:tc>
                  <a:txBody>
                    <a:bodyPr anchor="t" rtlCol="false"/>
                    <a:lstStyle/>
                    <a:p>
                      <a:pPr algn="l">
                        <a:lnSpc>
                          <a:spcPts val="2071"/>
                        </a:lnSpc>
                        <a:defRPr/>
                      </a:pPr>
                      <a:r>
                        <a:rPr lang="en-US" sz="1726" b="true">
                          <a:solidFill>
                            <a:srgbClr val="1F4E79"/>
                          </a:solidFill>
                          <a:latin typeface="Cabin Bold"/>
                          <a:ea typeface="Cabin Bold"/>
                          <a:cs typeface="Cabin Bold"/>
                          <a:sym typeface="Cabin Bold"/>
                        </a:rPr>
                        <a:t>Độ dễ hiểu</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2F5F8"/>
                    </a:solidFill>
                  </a:tcPr>
                </a:tc>
                <a:tc>
                  <a:txBody>
                    <a:bodyPr anchor="t" rtlCol="false"/>
                    <a:lstStyle/>
                    <a:p>
                      <a:pPr algn="l">
                        <a:lnSpc>
                          <a:spcPts val="1679"/>
                        </a:lnSpc>
                        <a:defRPr/>
                      </a:pP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2F5F8"/>
                    </a:solidFill>
                  </a:tcPr>
                </a:tc>
                <a:tc>
                  <a:txBody>
                    <a:bodyPr anchor="t" rtlCol="false"/>
                    <a:lstStyle/>
                    <a:p>
                      <a:pPr algn="l">
                        <a:lnSpc>
                          <a:spcPts val="1679"/>
                        </a:lnSpc>
                        <a:defRPr/>
                      </a:pP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2F5F8"/>
                    </a:solidFill>
                  </a:tcPr>
                </a:tc>
              </a:tr>
              <a:tr h="819790">
                <a:tc>
                  <a:txBody>
                    <a:bodyPr anchor="t" rtlCol="false"/>
                    <a:lstStyle/>
                    <a:p>
                      <a:pPr algn="l">
                        <a:lnSpc>
                          <a:spcPts val="2071"/>
                        </a:lnSpc>
                        <a:defRPr/>
                      </a:pPr>
                      <a:r>
                        <a:rPr lang="en-US" sz="1726" b="true">
                          <a:solidFill>
                            <a:srgbClr val="1F4E79"/>
                          </a:solidFill>
                          <a:latin typeface="Cabin Bold"/>
                          <a:ea typeface="Cabin Bold"/>
                          <a:cs typeface="Cabin Bold"/>
                          <a:sym typeface="Cabin Bold"/>
                        </a:rPr>
                        <a:t>Thời gian thực thi</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FFFFF"/>
                    </a:solidFill>
                  </a:tcPr>
                </a:tc>
              </a:tr>
              <a:tr h="819790">
                <a:tc>
                  <a:txBody>
                    <a:bodyPr anchor="t" rtlCol="false"/>
                    <a:lstStyle/>
                    <a:p>
                      <a:pPr algn="l">
                        <a:lnSpc>
                          <a:spcPts val="2071"/>
                        </a:lnSpc>
                        <a:defRPr/>
                      </a:pPr>
                      <a:r>
                        <a:rPr lang="en-US" sz="1726" b="true">
                          <a:solidFill>
                            <a:srgbClr val="1F4E79"/>
                          </a:solidFill>
                          <a:latin typeface="Cabin Bold"/>
                          <a:ea typeface="Cabin Bold"/>
                          <a:cs typeface="Cabin Bold"/>
                          <a:sym typeface="Cabin Bold"/>
                        </a:rPr>
                        <a:t>Khả năng mở rộng</a:t>
                      </a: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2F5F8"/>
                    </a:solidFill>
                  </a:tcPr>
                </a:tc>
                <a:tc>
                  <a:txBody>
                    <a:bodyPr anchor="t" rtlCol="false"/>
                    <a:lstStyle/>
                    <a:p>
                      <a:pPr algn="l">
                        <a:lnSpc>
                          <a:spcPts val="1679"/>
                        </a:lnSpc>
                        <a:defRPr/>
                      </a:pP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2F5F8"/>
                    </a:solidFill>
                  </a:tcPr>
                </a:tc>
                <a:tc>
                  <a:txBody>
                    <a:bodyPr anchor="t" rtlCol="false"/>
                    <a:lstStyle/>
                    <a:p>
                      <a:pPr algn="l">
                        <a:lnSpc>
                          <a:spcPts val="1679"/>
                        </a:lnSpc>
                        <a:defRPr/>
                      </a:pPr>
                      <a:endParaRPr lang="en-US" sz="1100"/>
                    </a:p>
                  </a:txBody>
                  <a:tcPr marL="91440" marR="91440" marT="91440" marB="9144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solidFill>
                      <a:srgbClr val="F2F5F8"/>
                    </a:solidFill>
                  </a:tcPr>
                </a:tc>
              </a:tr>
            </a:tbl>
          </a:graphicData>
        </a:graphic>
      </p:graphicFrame>
      <p:grpSp>
        <p:nvGrpSpPr>
          <p:cNvPr name="Group 13" id="13"/>
          <p:cNvGrpSpPr/>
          <p:nvPr/>
        </p:nvGrpSpPr>
        <p:grpSpPr>
          <a:xfrm rot="0">
            <a:off x="679190" y="8160248"/>
            <a:ext cx="16966806" cy="1043807"/>
            <a:chOff x="0" y="0"/>
            <a:chExt cx="22622408" cy="1391742"/>
          </a:xfrm>
        </p:grpSpPr>
        <p:sp>
          <p:nvSpPr>
            <p:cNvPr name="Freeform 14" id="14"/>
            <p:cNvSpPr/>
            <p:nvPr/>
          </p:nvSpPr>
          <p:spPr>
            <a:xfrm flipH="false" flipV="false" rot="0">
              <a:off x="0" y="0"/>
              <a:ext cx="22622383" cy="1391793"/>
            </a:xfrm>
            <a:custGeom>
              <a:avLst/>
              <a:gdLst/>
              <a:ahLst/>
              <a:cxnLst/>
              <a:rect r="r" b="b" t="t" l="l"/>
              <a:pathLst>
                <a:path h="1391793" w="22622383">
                  <a:moveTo>
                    <a:pt x="0" y="111379"/>
                  </a:moveTo>
                  <a:cubicBezTo>
                    <a:pt x="0" y="49911"/>
                    <a:pt x="49911" y="0"/>
                    <a:pt x="111379" y="0"/>
                  </a:cubicBezTo>
                  <a:lnTo>
                    <a:pt x="22511004" y="0"/>
                  </a:lnTo>
                  <a:cubicBezTo>
                    <a:pt x="22572472" y="0"/>
                    <a:pt x="22622383" y="49911"/>
                    <a:pt x="22622383" y="111379"/>
                  </a:cubicBezTo>
                  <a:lnTo>
                    <a:pt x="22622383" y="1280414"/>
                  </a:lnTo>
                  <a:cubicBezTo>
                    <a:pt x="22622383" y="1341882"/>
                    <a:pt x="22572472" y="1391793"/>
                    <a:pt x="22511004" y="1391793"/>
                  </a:cubicBezTo>
                  <a:lnTo>
                    <a:pt x="111379" y="1391793"/>
                  </a:lnTo>
                  <a:cubicBezTo>
                    <a:pt x="49911" y="1391793"/>
                    <a:pt x="0" y="1341882"/>
                    <a:pt x="0" y="1280414"/>
                  </a:cubicBezTo>
                  <a:close/>
                </a:path>
              </a:pathLst>
            </a:custGeom>
            <a:solidFill>
              <a:srgbClr val="FDF2E9"/>
            </a:solidFill>
            <a:ln w="14299" cap="sq">
              <a:solidFill>
                <a:srgbClr val="E67E22"/>
              </a:solidFill>
              <a:prstDash val="solid"/>
              <a:miter/>
            </a:ln>
          </p:spPr>
        </p:sp>
      </p:grpSp>
      <p:grpSp>
        <p:nvGrpSpPr>
          <p:cNvPr name="Group 15" id="15"/>
          <p:cNvGrpSpPr/>
          <p:nvPr/>
        </p:nvGrpSpPr>
        <p:grpSpPr>
          <a:xfrm rot="0">
            <a:off x="960872" y="8167402"/>
            <a:ext cx="16472068" cy="1029500"/>
            <a:chOff x="0" y="0"/>
            <a:chExt cx="21962758" cy="1372667"/>
          </a:xfrm>
        </p:grpSpPr>
        <p:sp>
          <p:nvSpPr>
            <p:cNvPr name="Freeform 16" id="16"/>
            <p:cNvSpPr/>
            <p:nvPr/>
          </p:nvSpPr>
          <p:spPr>
            <a:xfrm flipH="false" flipV="false" rot="0">
              <a:off x="0" y="0"/>
              <a:ext cx="21962759" cy="1372672"/>
            </a:xfrm>
            <a:custGeom>
              <a:avLst/>
              <a:gdLst/>
              <a:ahLst/>
              <a:cxnLst/>
              <a:rect r="r" b="b" t="t" l="l"/>
              <a:pathLst>
                <a:path h="1372672" w="21962759">
                  <a:moveTo>
                    <a:pt x="0" y="0"/>
                  </a:moveTo>
                  <a:lnTo>
                    <a:pt x="21962759" y="0"/>
                  </a:lnTo>
                  <a:lnTo>
                    <a:pt x="21962759" y="1372672"/>
                  </a:lnTo>
                  <a:lnTo>
                    <a:pt x="0" y="1372672"/>
                  </a:lnTo>
                  <a:close/>
                </a:path>
              </a:pathLst>
            </a:custGeom>
            <a:blipFill>
              <a:blip r:embed="rId4">
                <a:alphaModFix amt="0"/>
              </a:blip>
              <a:stretch>
                <a:fillRect l="0" t="-261760" r="0" b="-261760"/>
              </a:stretch>
            </a:blipFill>
          </p:spPr>
        </p:sp>
        <p:sp>
          <p:nvSpPr>
            <p:cNvPr name="TextBox 17" id="17"/>
            <p:cNvSpPr txBox="true"/>
            <p:nvPr/>
          </p:nvSpPr>
          <p:spPr>
            <a:xfrm>
              <a:off x="0" y="0"/>
              <a:ext cx="21962758" cy="1372667"/>
            </a:xfrm>
            <a:prstGeom prst="rect">
              <a:avLst/>
            </a:prstGeom>
          </p:spPr>
          <p:txBody>
            <a:bodyPr anchor="ctr" rtlCol="false" tIns="0" lIns="0" bIns="0" rIns="0"/>
            <a:lstStyle/>
            <a:p>
              <a:pPr algn="l">
                <a:lnSpc>
                  <a:spcPts val="1891"/>
                </a:lnSpc>
              </a:pPr>
              <a:r>
                <a:rPr lang="en-US" sz="1576" i="true">
                  <a:solidFill>
                    <a:srgbClr val="A04000"/>
                  </a:solidFill>
                  <a:latin typeface="Cabin Italics"/>
                  <a:ea typeface="Cabin Italics"/>
                  <a:cs typeface="Cabin Italics"/>
                  <a:sym typeface="Cabin Italics"/>
                </a:rPr>
                <a:t>Bảng để trống có chủ đích — học viên điền vào trong buổi thực hành sau khi tự chạy và quan sát cả hai cách.</a:t>
              </a:r>
            </a:p>
          </p:txBody>
        </p:sp>
      </p:grpSp>
      <p:grpSp>
        <p:nvGrpSpPr>
          <p:cNvPr name="Group 18" id="18"/>
          <p:cNvGrpSpPr/>
          <p:nvPr/>
        </p:nvGrpSpPr>
        <p:grpSpPr>
          <a:xfrm rot="0">
            <a:off x="0" y="9677343"/>
            <a:ext cx="18301840" cy="617706"/>
            <a:chOff x="0" y="0"/>
            <a:chExt cx="24402453" cy="823608"/>
          </a:xfrm>
        </p:grpSpPr>
        <p:sp>
          <p:nvSpPr>
            <p:cNvPr name="Freeform 19" id="19"/>
            <p:cNvSpPr/>
            <p:nvPr/>
          </p:nvSpPr>
          <p:spPr>
            <a:xfrm flipH="false" flipV="false" rot="0">
              <a:off x="0" y="0"/>
              <a:ext cx="24402414" cy="823595"/>
            </a:xfrm>
            <a:custGeom>
              <a:avLst/>
              <a:gdLst/>
              <a:ahLst/>
              <a:cxnLst/>
              <a:rect r="r" b="b" t="t" l="l"/>
              <a:pathLst>
                <a:path h="823595" w="24402414">
                  <a:moveTo>
                    <a:pt x="0" y="0"/>
                  </a:moveTo>
                  <a:lnTo>
                    <a:pt x="24402414" y="0"/>
                  </a:lnTo>
                  <a:lnTo>
                    <a:pt x="24402414" y="823595"/>
                  </a:lnTo>
                  <a:lnTo>
                    <a:pt x="0" y="823595"/>
                  </a:lnTo>
                  <a:close/>
                </a:path>
              </a:pathLst>
            </a:custGeom>
            <a:solidFill>
              <a:srgbClr val="1F4E79"/>
            </a:solidFill>
          </p:spPr>
        </p:sp>
      </p:grpSp>
      <p:grpSp>
        <p:nvGrpSpPr>
          <p:cNvPr name="Group 20" id="20"/>
          <p:cNvGrpSpPr/>
          <p:nvPr/>
        </p:nvGrpSpPr>
        <p:grpSpPr>
          <a:xfrm rot="0">
            <a:off x="480431" y="9677343"/>
            <a:ext cx="10981382" cy="617706"/>
            <a:chOff x="0" y="0"/>
            <a:chExt cx="14641843" cy="823608"/>
          </a:xfrm>
        </p:grpSpPr>
        <p:sp>
          <p:nvSpPr>
            <p:cNvPr name="Freeform 21" id="21"/>
            <p:cNvSpPr/>
            <p:nvPr/>
          </p:nvSpPr>
          <p:spPr>
            <a:xfrm flipH="false" flipV="false" rot="0">
              <a:off x="0" y="0"/>
              <a:ext cx="14641840" cy="823603"/>
            </a:xfrm>
            <a:custGeom>
              <a:avLst/>
              <a:gdLst/>
              <a:ahLst/>
              <a:cxnLst/>
              <a:rect r="r" b="b" t="t" l="l"/>
              <a:pathLst>
                <a:path h="823603" w="14641840">
                  <a:moveTo>
                    <a:pt x="0" y="0"/>
                  </a:moveTo>
                  <a:lnTo>
                    <a:pt x="14641840" y="0"/>
                  </a:lnTo>
                  <a:lnTo>
                    <a:pt x="14641840" y="823603"/>
                  </a:lnTo>
                  <a:lnTo>
                    <a:pt x="0" y="823603"/>
                  </a:lnTo>
                  <a:close/>
                </a:path>
              </a:pathLst>
            </a:custGeom>
            <a:blipFill>
              <a:blip r:embed="rId4">
                <a:alphaModFix amt="0"/>
              </a:blip>
              <a:stretch>
                <a:fillRect l="0" t="-296400" r="0" b="-296401"/>
              </a:stretch>
            </a:blipFill>
          </p:spPr>
        </p:sp>
        <p:sp>
          <p:nvSpPr>
            <p:cNvPr name="TextBox 22" id="22"/>
            <p:cNvSpPr txBox="true"/>
            <p:nvPr/>
          </p:nvSpPr>
          <p:spPr>
            <a:xfrm>
              <a:off x="0" y="0"/>
              <a:ext cx="14641843" cy="823608"/>
            </a:xfrm>
            <a:prstGeom prst="rect">
              <a:avLst/>
            </a:prstGeom>
          </p:spPr>
          <p:txBody>
            <a:bodyPr anchor="ctr" rtlCol="false" tIns="0" lIns="0" bIns="0" rIns="0"/>
            <a:lstStyle/>
            <a:p>
              <a:pPr algn="l">
                <a:lnSpc>
                  <a:spcPts val="1621"/>
                </a:lnSpc>
              </a:pPr>
              <a:r>
                <a:rPr lang="en-US" sz="1351">
                  <a:solidFill>
                    <a:srgbClr val="FFFFFF"/>
                  </a:solidFill>
                  <a:latin typeface="Cabin"/>
                  <a:ea typeface="Cabin"/>
                  <a:cs typeface="Cabin"/>
                  <a:sym typeface="Cabin"/>
                </a:rPr>
                <a:t>VNU UET – Institute for Artificial Intelligence</a:t>
              </a:r>
            </a:p>
          </p:txBody>
        </p:sp>
      </p:grpSp>
      <p:grpSp>
        <p:nvGrpSpPr>
          <p:cNvPr name="Group 23" id="23"/>
          <p:cNvGrpSpPr/>
          <p:nvPr/>
        </p:nvGrpSpPr>
        <p:grpSpPr>
          <a:xfrm rot="0">
            <a:off x="17066438" y="9677343"/>
            <a:ext cx="823608" cy="617706"/>
            <a:chOff x="0" y="0"/>
            <a:chExt cx="1098144" cy="823608"/>
          </a:xfrm>
        </p:grpSpPr>
        <p:sp>
          <p:nvSpPr>
            <p:cNvPr name="Freeform 24" id="24"/>
            <p:cNvSpPr/>
            <p:nvPr/>
          </p:nvSpPr>
          <p:spPr>
            <a:xfrm flipH="false" flipV="false" rot="0">
              <a:off x="0" y="0"/>
              <a:ext cx="1098138" cy="823603"/>
            </a:xfrm>
            <a:custGeom>
              <a:avLst/>
              <a:gdLst/>
              <a:ahLst/>
              <a:cxnLst/>
              <a:rect r="r" b="b" t="t" l="l"/>
              <a:pathLst>
                <a:path h="823603" w="1098138">
                  <a:moveTo>
                    <a:pt x="0" y="0"/>
                  </a:moveTo>
                  <a:lnTo>
                    <a:pt x="1098138" y="0"/>
                  </a:lnTo>
                  <a:lnTo>
                    <a:pt x="1098138" y="823603"/>
                  </a:lnTo>
                  <a:lnTo>
                    <a:pt x="0" y="823603"/>
                  </a:lnTo>
                  <a:close/>
                </a:path>
              </a:pathLst>
            </a:custGeom>
            <a:blipFill>
              <a:blip r:embed="rId4">
                <a:alphaModFix amt="0"/>
              </a:blip>
              <a:stretch>
                <a:fillRect l="-46227" t="0" r="-46228" b="0"/>
              </a:stretch>
            </a:blipFill>
          </p:spPr>
        </p:sp>
        <p:sp>
          <p:nvSpPr>
            <p:cNvPr name="TextBox 25" id="25"/>
            <p:cNvSpPr txBox="true"/>
            <p:nvPr/>
          </p:nvSpPr>
          <p:spPr>
            <a:xfrm>
              <a:off x="0" y="0"/>
              <a:ext cx="1098144" cy="823608"/>
            </a:xfrm>
            <a:prstGeom prst="rect">
              <a:avLst/>
            </a:prstGeom>
          </p:spPr>
          <p:txBody>
            <a:bodyPr anchor="ctr" rtlCol="false" tIns="0" lIns="0" bIns="0" rIns="0"/>
            <a:lstStyle/>
            <a:p>
              <a:pPr algn="r">
                <a:lnSpc>
                  <a:spcPts val="1621"/>
                </a:lnSpc>
              </a:pPr>
              <a:r>
                <a:rPr lang="en-US" sz="1351">
                  <a:solidFill>
                    <a:srgbClr val="FFFFFF"/>
                  </a:solidFill>
                  <a:latin typeface="Cabin"/>
                  <a:ea typeface="Cabin"/>
                  <a:cs typeface="Cabin"/>
                  <a:sym typeface="Cabin"/>
                </a:rPr>
                <a:t>31</a:t>
              </a:r>
            </a:p>
          </p:txBody>
        </p:sp>
      </p:grpSp>
      <p:grpSp>
        <p:nvGrpSpPr>
          <p:cNvPr name="Group 26" id="26"/>
          <p:cNvGrpSpPr/>
          <p:nvPr/>
        </p:nvGrpSpPr>
        <p:grpSpPr>
          <a:xfrm rot="0">
            <a:off x="0" y="0"/>
            <a:ext cx="18288000" cy="315468"/>
            <a:chOff x="0" y="0"/>
            <a:chExt cx="24384000" cy="420624"/>
          </a:xfrm>
        </p:grpSpPr>
        <p:sp>
          <p:nvSpPr>
            <p:cNvPr name="Freeform 27" id="27"/>
            <p:cNvSpPr/>
            <p:nvPr/>
          </p:nvSpPr>
          <p:spPr>
            <a:xfrm flipH="false" flipV="false" rot="0">
              <a:off x="0" y="0"/>
              <a:ext cx="24384000" cy="420624"/>
            </a:xfrm>
            <a:custGeom>
              <a:avLst/>
              <a:gdLst/>
              <a:ahLst/>
              <a:cxnLst/>
              <a:rect r="r" b="b" t="t" l="l"/>
              <a:pathLst>
                <a:path h="420624" w="24384000">
                  <a:moveTo>
                    <a:pt x="0" y="0"/>
                  </a:moveTo>
                  <a:lnTo>
                    <a:pt x="24384000" y="0"/>
                  </a:lnTo>
                  <a:lnTo>
                    <a:pt x="24384000" y="420624"/>
                  </a:lnTo>
                  <a:lnTo>
                    <a:pt x="0" y="420624"/>
                  </a:lnTo>
                  <a:close/>
                </a:path>
              </a:pathLst>
            </a:custGeom>
            <a:solidFill>
              <a:srgbClr val="0F3F6F"/>
            </a:solidFill>
          </p:spPr>
        </p:sp>
      </p:grpSp>
      <p:grpSp>
        <p:nvGrpSpPr>
          <p:cNvPr name="Group 28" id="28"/>
          <p:cNvGrpSpPr/>
          <p:nvPr/>
        </p:nvGrpSpPr>
        <p:grpSpPr>
          <a:xfrm rot="0">
            <a:off x="13098780" y="0"/>
            <a:ext cx="1453896" cy="1508760"/>
            <a:chOff x="0" y="0"/>
            <a:chExt cx="1938528" cy="2011680"/>
          </a:xfrm>
        </p:grpSpPr>
        <p:sp>
          <p:nvSpPr>
            <p:cNvPr name="Freeform 29" id="29"/>
            <p:cNvSpPr/>
            <p:nvPr/>
          </p:nvSpPr>
          <p:spPr>
            <a:xfrm flipH="false" flipV="false" rot="0">
              <a:off x="0" y="0"/>
              <a:ext cx="1938528" cy="2011680"/>
            </a:xfrm>
            <a:custGeom>
              <a:avLst/>
              <a:gdLst/>
              <a:ahLst/>
              <a:cxnLst/>
              <a:rect r="r" b="b" t="t" l="l"/>
              <a:pathLst>
                <a:path h="2011680" w="1938528">
                  <a:moveTo>
                    <a:pt x="0" y="2011680"/>
                  </a:moveTo>
                  <a:lnTo>
                    <a:pt x="484632" y="0"/>
                  </a:lnTo>
                  <a:lnTo>
                    <a:pt x="1938528" y="0"/>
                  </a:lnTo>
                  <a:lnTo>
                    <a:pt x="1453896" y="2011680"/>
                  </a:lnTo>
                  <a:close/>
                </a:path>
              </a:pathLst>
            </a:custGeom>
            <a:solidFill>
              <a:srgbClr val="85B518"/>
            </a:solidFill>
          </p:spPr>
        </p:sp>
      </p:grpSp>
      <p:grpSp>
        <p:nvGrpSpPr>
          <p:cNvPr name="Group 30" id="30"/>
          <p:cNvGrpSpPr/>
          <p:nvPr/>
        </p:nvGrpSpPr>
        <p:grpSpPr>
          <a:xfrm rot="0">
            <a:off x="14621256" y="0"/>
            <a:ext cx="1508760" cy="1508760"/>
            <a:chOff x="0" y="0"/>
            <a:chExt cx="2011680" cy="2011680"/>
          </a:xfrm>
        </p:grpSpPr>
        <p:sp>
          <p:nvSpPr>
            <p:cNvPr name="Freeform 31" id="31"/>
            <p:cNvSpPr/>
            <p:nvPr/>
          </p:nvSpPr>
          <p:spPr>
            <a:xfrm flipH="false" flipV="false" rot="0">
              <a:off x="0" y="0"/>
              <a:ext cx="2011680" cy="2011680"/>
            </a:xfrm>
            <a:custGeom>
              <a:avLst/>
              <a:gdLst/>
              <a:ahLst/>
              <a:cxnLst/>
              <a:rect r="r" b="b" t="t" l="l"/>
              <a:pathLst>
                <a:path h="2011680" w="2011680">
                  <a:moveTo>
                    <a:pt x="0" y="2011680"/>
                  </a:moveTo>
                  <a:lnTo>
                    <a:pt x="502920" y="0"/>
                  </a:lnTo>
                  <a:lnTo>
                    <a:pt x="2011680" y="0"/>
                  </a:lnTo>
                  <a:lnTo>
                    <a:pt x="1508760" y="2011680"/>
                  </a:lnTo>
                  <a:close/>
                </a:path>
              </a:pathLst>
            </a:custGeom>
            <a:solidFill>
              <a:srgbClr val="0F3F6F"/>
            </a:solidFill>
          </p:spPr>
        </p:sp>
      </p:gr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97801" y="384353"/>
            <a:ext cx="851059" cy="851059"/>
            <a:chOff x="0" y="0"/>
            <a:chExt cx="1134745" cy="1134745"/>
          </a:xfrm>
        </p:grpSpPr>
        <p:sp>
          <p:nvSpPr>
            <p:cNvPr name="Freeform 3" id="3" descr="/home/claude/work/assets/logo.png"/>
            <p:cNvSpPr/>
            <p:nvPr/>
          </p:nvSpPr>
          <p:spPr>
            <a:xfrm flipH="false" flipV="false" rot="0">
              <a:off x="0" y="0"/>
              <a:ext cx="1134745" cy="1134745"/>
            </a:xfrm>
            <a:custGeom>
              <a:avLst/>
              <a:gdLst/>
              <a:ahLst/>
              <a:cxnLst/>
              <a:rect r="r" b="b" t="t" l="l"/>
              <a:pathLst>
                <a:path h="1134745" w="1134745">
                  <a:moveTo>
                    <a:pt x="0" y="0"/>
                  </a:moveTo>
                  <a:lnTo>
                    <a:pt x="1134745" y="0"/>
                  </a:lnTo>
                  <a:lnTo>
                    <a:pt x="1134745" y="1134745"/>
                  </a:lnTo>
                  <a:lnTo>
                    <a:pt x="0" y="1134745"/>
                  </a:lnTo>
                  <a:lnTo>
                    <a:pt x="0" y="0"/>
                  </a:lnTo>
                  <a:close/>
                </a:path>
              </a:pathLst>
            </a:custGeom>
            <a:blipFill>
              <a:blip r:embed="rId3"/>
              <a:stretch>
                <a:fillRect l="0" t="0" r="0" b="0"/>
              </a:stretch>
            </a:blipFill>
          </p:spPr>
        </p:sp>
      </p:grpSp>
      <p:grpSp>
        <p:nvGrpSpPr>
          <p:cNvPr name="Group 4" id="4"/>
          <p:cNvGrpSpPr/>
          <p:nvPr/>
        </p:nvGrpSpPr>
        <p:grpSpPr>
          <a:xfrm rot="0">
            <a:off x="686333" y="384353"/>
            <a:ext cx="10981382" cy="411804"/>
            <a:chOff x="0" y="0"/>
            <a:chExt cx="14641843" cy="549072"/>
          </a:xfrm>
        </p:grpSpPr>
        <p:sp>
          <p:nvSpPr>
            <p:cNvPr name="Freeform 5" id="5"/>
            <p:cNvSpPr/>
            <p:nvPr/>
          </p:nvSpPr>
          <p:spPr>
            <a:xfrm flipH="false" flipV="false" rot="0">
              <a:off x="0" y="0"/>
              <a:ext cx="14641840" cy="549069"/>
            </a:xfrm>
            <a:custGeom>
              <a:avLst/>
              <a:gdLst/>
              <a:ahLst/>
              <a:cxnLst/>
              <a:rect r="r" b="b" t="t" l="l"/>
              <a:pathLst>
                <a:path h="549069" w="14641840">
                  <a:moveTo>
                    <a:pt x="0" y="0"/>
                  </a:moveTo>
                  <a:lnTo>
                    <a:pt x="14641840" y="0"/>
                  </a:lnTo>
                  <a:lnTo>
                    <a:pt x="14641840" y="549069"/>
                  </a:lnTo>
                  <a:lnTo>
                    <a:pt x="0" y="549069"/>
                  </a:lnTo>
                  <a:close/>
                </a:path>
              </a:pathLst>
            </a:custGeom>
            <a:blipFill>
              <a:blip r:embed="rId4">
                <a:alphaModFix amt="0"/>
              </a:blip>
              <a:stretch>
                <a:fillRect l="0" t="-469600" r="0" b="-469601"/>
              </a:stretch>
            </a:blipFill>
          </p:spPr>
        </p:sp>
        <p:sp>
          <p:nvSpPr>
            <p:cNvPr name="TextBox 6" id="6"/>
            <p:cNvSpPr txBox="true"/>
            <p:nvPr/>
          </p:nvSpPr>
          <p:spPr>
            <a:xfrm>
              <a:off x="0" y="0"/>
              <a:ext cx="14641843" cy="549072"/>
            </a:xfrm>
            <a:prstGeom prst="rect">
              <a:avLst/>
            </a:prstGeom>
          </p:spPr>
          <p:txBody>
            <a:bodyPr anchor="ctr" rtlCol="false" tIns="0" lIns="0" bIns="0" rIns="0"/>
            <a:lstStyle/>
            <a:p>
              <a:pPr algn="l">
                <a:lnSpc>
                  <a:spcPts val="1981"/>
                </a:lnSpc>
              </a:pPr>
              <a:r>
                <a:rPr lang="en-US" sz="1651" i="true">
                  <a:solidFill>
                    <a:srgbClr val="4A4A4A"/>
                  </a:solidFill>
                  <a:latin typeface="Cabin Italics"/>
                  <a:ea typeface="Cabin Italics"/>
                  <a:cs typeface="Cabin Italics"/>
                  <a:sym typeface="Cabin Italics"/>
                </a:rPr>
                <a:t>Tóm tắt · Bài 05</a:t>
              </a:r>
            </a:p>
          </p:txBody>
        </p:sp>
      </p:grpSp>
      <p:grpSp>
        <p:nvGrpSpPr>
          <p:cNvPr name="Group 7" id="7"/>
          <p:cNvGrpSpPr/>
          <p:nvPr/>
        </p:nvGrpSpPr>
        <p:grpSpPr>
          <a:xfrm rot="0">
            <a:off x="686333" y="823608"/>
            <a:ext cx="82363" cy="754971"/>
            <a:chOff x="0" y="0"/>
            <a:chExt cx="109817" cy="1006627"/>
          </a:xfrm>
        </p:grpSpPr>
        <p:sp>
          <p:nvSpPr>
            <p:cNvPr name="Freeform 8" id="8"/>
            <p:cNvSpPr/>
            <p:nvPr/>
          </p:nvSpPr>
          <p:spPr>
            <a:xfrm flipH="false" flipV="false" rot="0">
              <a:off x="0" y="0"/>
              <a:ext cx="109855" cy="1006602"/>
            </a:xfrm>
            <a:custGeom>
              <a:avLst/>
              <a:gdLst/>
              <a:ahLst/>
              <a:cxnLst/>
              <a:rect r="r" b="b" t="t" l="l"/>
              <a:pathLst>
                <a:path h="1006602" w="109855">
                  <a:moveTo>
                    <a:pt x="0" y="0"/>
                  </a:moveTo>
                  <a:lnTo>
                    <a:pt x="109855" y="0"/>
                  </a:lnTo>
                  <a:lnTo>
                    <a:pt x="109855" y="1006602"/>
                  </a:lnTo>
                  <a:lnTo>
                    <a:pt x="0" y="1006602"/>
                  </a:lnTo>
                  <a:close/>
                </a:path>
              </a:pathLst>
            </a:custGeom>
            <a:solidFill>
              <a:srgbClr val="85B518"/>
            </a:solidFill>
          </p:spPr>
        </p:sp>
      </p:grpSp>
      <p:grpSp>
        <p:nvGrpSpPr>
          <p:cNvPr name="Group 9" id="9"/>
          <p:cNvGrpSpPr/>
          <p:nvPr/>
        </p:nvGrpSpPr>
        <p:grpSpPr>
          <a:xfrm rot="0">
            <a:off x="960872" y="796147"/>
            <a:ext cx="15831026" cy="823608"/>
            <a:chOff x="0" y="0"/>
            <a:chExt cx="21108035" cy="1098144"/>
          </a:xfrm>
        </p:grpSpPr>
        <p:sp>
          <p:nvSpPr>
            <p:cNvPr name="Freeform 10" id="10"/>
            <p:cNvSpPr/>
            <p:nvPr/>
          </p:nvSpPr>
          <p:spPr>
            <a:xfrm flipH="false" flipV="false" rot="0">
              <a:off x="0" y="0"/>
              <a:ext cx="21108040" cy="1098138"/>
            </a:xfrm>
            <a:custGeom>
              <a:avLst/>
              <a:gdLst/>
              <a:ahLst/>
              <a:cxnLst/>
              <a:rect r="r" b="b" t="t" l="l"/>
              <a:pathLst>
                <a:path h="1098138" w="21108040">
                  <a:moveTo>
                    <a:pt x="0" y="0"/>
                  </a:moveTo>
                  <a:lnTo>
                    <a:pt x="21108040" y="0"/>
                  </a:lnTo>
                  <a:lnTo>
                    <a:pt x="21108040" y="1098138"/>
                  </a:lnTo>
                  <a:lnTo>
                    <a:pt x="0" y="1098138"/>
                  </a:lnTo>
                  <a:close/>
                </a:path>
              </a:pathLst>
            </a:custGeom>
            <a:blipFill>
              <a:blip r:embed="rId4">
                <a:alphaModFix amt="0"/>
              </a:blip>
              <a:stretch>
                <a:fillRect l="0" t="-324534" r="0" b="-324535"/>
              </a:stretch>
            </a:blipFill>
          </p:spPr>
        </p:sp>
        <p:sp>
          <p:nvSpPr>
            <p:cNvPr name="TextBox 11" id="11"/>
            <p:cNvSpPr txBox="true"/>
            <p:nvPr/>
          </p:nvSpPr>
          <p:spPr>
            <a:xfrm>
              <a:off x="0" y="0"/>
              <a:ext cx="21108035" cy="1098144"/>
            </a:xfrm>
            <a:prstGeom prst="rect">
              <a:avLst/>
            </a:prstGeom>
          </p:spPr>
          <p:txBody>
            <a:bodyPr anchor="ctr" rtlCol="false" tIns="0" lIns="0" bIns="0" rIns="0"/>
            <a:lstStyle/>
            <a:p>
              <a:pPr algn="l">
                <a:lnSpc>
                  <a:spcPts val="3782"/>
                </a:lnSpc>
              </a:pPr>
              <a:r>
                <a:rPr lang="en-US" sz="3152" b="true">
                  <a:solidFill>
                    <a:srgbClr val="1F4E79"/>
                  </a:solidFill>
                  <a:latin typeface="Cabin Bold"/>
                  <a:ea typeface="Cabin Bold"/>
                  <a:cs typeface="Cabin Bold"/>
                  <a:sym typeface="Cabin Bold"/>
                </a:rPr>
                <a:t>Tóm tắt bài học</a:t>
              </a:r>
            </a:p>
          </p:txBody>
        </p:sp>
      </p:grpSp>
      <p:grpSp>
        <p:nvGrpSpPr>
          <p:cNvPr name="Group 12" id="12"/>
          <p:cNvGrpSpPr/>
          <p:nvPr/>
        </p:nvGrpSpPr>
        <p:grpSpPr>
          <a:xfrm rot="0">
            <a:off x="686333" y="2196274"/>
            <a:ext cx="192176" cy="192176"/>
            <a:chOff x="0" y="0"/>
            <a:chExt cx="256235" cy="256235"/>
          </a:xfrm>
        </p:grpSpPr>
        <p:sp>
          <p:nvSpPr>
            <p:cNvPr name="Freeform 13" id="13"/>
            <p:cNvSpPr/>
            <p:nvPr/>
          </p:nvSpPr>
          <p:spPr>
            <a:xfrm flipH="false" flipV="false" rot="0">
              <a:off x="0" y="0"/>
              <a:ext cx="256286" cy="256286"/>
            </a:xfrm>
            <a:custGeom>
              <a:avLst/>
              <a:gdLst/>
              <a:ahLst/>
              <a:cxnLst/>
              <a:rect r="r" b="b" t="t" l="l"/>
              <a:pathLst>
                <a:path h="256286" w="256286">
                  <a:moveTo>
                    <a:pt x="0" y="128143"/>
                  </a:moveTo>
                  <a:cubicBezTo>
                    <a:pt x="0" y="57404"/>
                    <a:pt x="57404" y="0"/>
                    <a:pt x="128143" y="0"/>
                  </a:cubicBezTo>
                  <a:cubicBezTo>
                    <a:pt x="198882" y="0"/>
                    <a:pt x="256286" y="57404"/>
                    <a:pt x="256286" y="128143"/>
                  </a:cubicBezTo>
                  <a:cubicBezTo>
                    <a:pt x="256286" y="198882"/>
                    <a:pt x="198882" y="256286"/>
                    <a:pt x="128143" y="256286"/>
                  </a:cubicBezTo>
                  <a:cubicBezTo>
                    <a:pt x="57404" y="256286"/>
                    <a:pt x="0" y="198882"/>
                    <a:pt x="0" y="128143"/>
                  </a:cubicBezTo>
                  <a:close/>
                </a:path>
              </a:pathLst>
            </a:custGeom>
            <a:solidFill>
              <a:srgbClr val="85B518"/>
            </a:solidFill>
          </p:spPr>
        </p:sp>
      </p:grpSp>
      <p:sp>
        <p:nvSpPr>
          <p:cNvPr name="TextBox 14" id="14"/>
          <p:cNvSpPr txBox="true"/>
          <p:nvPr/>
        </p:nvSpPr>
        <p:spPr>
          <a:xfrm rot="0">
            <a:off x="1258214" y="2163842"/>
            <a:ext cx="16151924" cy="878957"/>
          </a:xfrm>
          <a:prstGeom prst="rect">
            <a:avLst/>
          </a:prstGeom>
        </p:spPr>
        <p:txBody>
          <a:bodyPr anchor="t" rtlCol="false" tIns="0" lIns="0" bIns="0" rIns="0">
            <a:spAutoFit/>
          </a:bodyPr>
          <a:lstStyle/>
          <a:p>
            <a:pPr algn="l">
              <a:lnSpc>
                <a:spcPts val="2341"/>
              </a:lnSpc>
            </a:pPr>
            <a:r>
              <a:rPr lang="en-US" sz="1951">
                <a:solidFill>
                  <a:srgbClr val="000000"/>
                </a:solidFill>
                <a:latin typeface="Cabin"/>
                <a:ea typeface="Cabin"/>
                <a:cs typeface="Cabin"/>
                <a:sym typeface="Cabin"/>
              </a:rPr>
              <a:t>Spark ra đời để khắc phục hạn chế ghi/đọc đĩa nhiều lần của MapReduce, bằng cách xử lý in-memory</a:t>
            </a:r>
          </a:p>
        </p:txBody>
      </p:sp>
      <p:grpSp>
        <p:nvGrpSpPr>
          <p:cNvPr name="Group 15" id="15"/>
          <p:cNvGrpSpPr/>
          <p:nvPr/>
        </p:nvGrpSpPr>
        <p:grpSpPr>
          <a:xfrm rot="0">
            <a:off x="686333" y="3198324"/>
            <a:ext cx="192176" cy="192176"/>
            <a:chOff x="0" y="0"/>
            <a:chExt cx="256235" cy="256235"/>
          </a:xfrm>
        </p:grpSpPr>
        <p:sp>
          <p:nvSpPr>
            <p:cNvPr name="Freeform 16" id="16"/>
            <p:cNvSpPr/>
            <p:nvPr/>
          </p:nvSpPr>
          <p:spPr>
            <a:xfrm flipH="false" flipV="false" rot="0">
              <a:off x="0" y="0"/>
              <a:ext cx="256286" cy="256286"/>
            </a:xfrm>
            <a:custGeom>
              <a:avLst/>
              <a:gdLst/>
              <a:ahLst/>
              <a:cxnLst/>
              <a:rect r="r" b="b" t="t" l="l"/>
              <a:pathLst>
                <a:path h="256286" w="256286">
                  <a:moveTo>
                    <a:pt x="0" y="128143"/>
                  </a:moveTo>
                  <a:cubicBezTo>
                    <a:pt x="0" y="57404"/>
                    <a:pt x="57404" y="0"/>
                    <a:pt x="128143" y="0"/>
                  </a:cubicBezTo>
                  <a:cubicBezTo>
                    <a:pt x="198882" y="0"/>
                    <a:pt x="256286" y="57404"/>
                    <a:pt x="256286" y="128143"/>
                  </a:cubicBezTo>
                  <a:cubicBezTo>
                    <a:pt x="256286" y="198882"/>
                    <a:pt x="198882" y="256286"/>
                    <a:pt x="128143" y="256286"/>
                  </a:cubicBezTo>
                  <a:cubicBezTo>
                    <a:pt x="57404" y="256286"/>
                    <a:pt x="0" y="198882"/>
                    <a:pt x="0" y="128143"/>
                  </a:cubicBezTo>
                  <a:close/>
                </a:path>
              </a:pathLst>
            </a:custGeom>
            <a:solidFill>
              <a:srgbClr val="85B518"/>
            </a:solidFill>
          </p:spPr>
        </p:sp>
      </p:grpSp>
      <p:sp>
        <p:nvSpPr>
          <p:cNvPr name="TextBox 17" id="17"/>
          <p:cNvSpPr txBox="true"/>
          <p:nvPr/>
        </p:nvSpPr>
        <p:spPr>
          <a:xfrm rot="0">
            <a:off x="1258214" y="3165891"/>
            <a:ext cx="16151924" cy="878957"/>
          </a:xfrm>
          <a:prstGeom prst="rect">
            <a:avLst/>
          </a:prstGeom>
        </p:spPr>
        <p:txBody>
          <a:bodyPr anchor="t" rtlCol="false" tIns="0" lIns="0" bIns="0" rIns="0">
            <a:spAutoFit/>
          </a:bodyPr>
          <a:lstStyle/>
          <a:p>
            <a:pPr algn="l">
              <a:lnSpc>
                <a:spcPts val="2341"/>
              </a:lnSpc>
            </a:pPr>
            <a:r>
              <a:rPr lang="en-US" sz="1951">
                <a:solidFill>
                  <a:srgbClr val="000000"/>
                </a:solidFill>
                <a:latin typeface="Cabin"/>
                <a:ea typeface="Cabin"/>
                <a:cs typeface="Cabin"/>
                <a:sym typeface="Cabin"/>
              </a:rPr>
              <a:t>Kiến trúc Spark gồm Driver, Cluster Manager, Worker Node, Executor và Task</a:t>
            </a:r>
          </a:p>
        </p:txBody>
      </p:sp>
      <p:grpSp>
        <p:nvGrpSpPr>
          <p:cNvPr name="Group 18" id="18"/>
          <p:cNvGrpSpPr/>
          <p:nvPr/>
        </p:nvGrpSpPr>
        <p:grpSpPr>
          <a:xfrm rot="0">
            <a:off x="686333" y="4200382"/>
            <a:ext cx="192176" cy="192176"/>
            <a:chOff x="0" y="0"/>
            <a:chExt cx="256235" cy="256235"/>
          </a:xfrm>
        </p:grpSpPr>
        <p:sp>
          <p:nvSpPr>
            <p:cNvPr name="Freeform 19" id="19"/>
            <p:cNvSpPr/>
            <p:nvPr/>
          </p:nvSpPr>
          <p:spPr>
            <a:xfrm flipH="false" flipV="false" rot="0">
              <a:off x="0" y="0"/>
              <a:ext cx="256286" cy="256286"/>
            </a:xfrm>
            <a:custGeom>
              <a:avLst/>
              <a:gdLst/>
              <a:ahLst/>
              <a:cxnLst/>
              <a:rect r="r" b="b" t="t" l="l"/>
              <a:pathLst>
                <a:path h="256286" w="256286">
                  <a:moveTo>
                    <a:pt x="0" y="128143"/>
                  </a:moveTo>
                  <a:cubicBezTo>
                    <a:pt x="0" y="57404"/>
                    <a:pt x="57404" y="0"/>
                    <a:pt x="128143" y="0"/>
                  </a:cubicBezTo>
                  <a:cubicBezTo>
                    <a:pt x="198882" y="0"/>
                    <a:pt x="256286" y="57404"/>
                    <a:pt x="256286" y="128143"/>
                  </a:cubicBezTo>
                  <a:cubicBezTo>
                    <a:pt x="256286" y="198882"/>
                    <a:pt x="198882" y="256286"/>
                    <a:pt x="128143" y="256286"/>
                  </a:cubicBezTo>
                  <a:cubicBezTo>
                    <a:pt x="57404" y="256286"/>
                    <a:pt x="0" y="198882"/>
                    <a:pt x="0" y="128143"/>
                  </a:cubicBezTo>
                  <a:close/>
                </a:path>
              </a:pathLst>
            </a:custGeom>
            <a:solidFill>
              <a:srgbClr val="85B518"/>
            </a:solidFill>
          </p:spPr>
        </p:sp>
      </p:grpSp>
      <p:sp>
        <p:nvSpPr>
          <p:cNvPr name="TextBox 20" id="20"/>
          <p:cNvSpPr txBox="true"/>
          <p:nvPr/>
        </p:nvSpPr>
        <p:spPr>
          <a:xfrm rot="0">
            <a:off x="1258214" y="4167940"/>
            <a:ext cx="16151924" cy="878957"/>
          </a:xfrm>
          <a:prstGeom prst="rect">
            <a:avLst/>
          </a:prstGeom>
        </p:spPr>
        <p:txBody>
          <a:bodyPr anchor="t" rtlCol="false" tIns="0" lIns="0" bIns="0" rIns="0">
            <a:spAutoFit/>
          </a:bodyPr>
          <a:lstStyle/>
          <a:p>
            <a:pPr algn="l">
              <a:lnSpc>
                <a:spcPts val="2341"/>
              </a:lnSpc>
            </a:pPr>
            <a:r>
              <a:rPr lang="en-US" sz="1951">
                <a:solidFill>
                  <a:srgbClr val="000000"/>
                </a:solidFill>
                <a:latin typeface="Cabin"/>
                <a:ea typeface="Cabin"/>
                <a:cs typeface="Cabin"/>
                <a:sym typeface="Cabin"/>
              </a:rPr>
              <a:t>Cơ chế thực thi: Application → Job → DAG → Stage → Task → Executor</a:t>
            </a:r>
          </a:p>
        </p:txBody>
      </p:sp>
      <p:grpSp>
        <p:nvGrpSpPr>
          <p:cNvPr name="Group 21" id="21"/>
          <p:cNvGrpSpPr/>
          <p:nvPr/>
        </p:nvGrpSpPr>
        <p:grpSpPr>
          <a:xfrm rot="0">
            <a:off x="686333" y="5202431"/>
            <a:ext cx="192176" cy="192176"/>
            <a:chOff x="0" y="0"/>
            <a:chExt cx="256235" cy="256235"/>
          </a:xfrm>
        </p:grpSpPr>
        <p:sp>
          <p:nvSpPr>
            <p:cNvPr name="Freeform 22" id="22"/>
            <p:cNvSpPr/>
            <p:nvPr/>
          </p:nvSpPr>
          <p:spPr>
            <a:xfrm flipH="false" flipV="false" rot="0">
              <a:off x="0" y="0"/>
              <a:ext cx="256286" cy="256286"/>
            </a:xfrm>
            <a:custGeom>
              <a:avLst/>
              <a:gdLst/>
              <a:ahLst/>
              <a:cxnLst/>
              <a:rect r="r" b="b" t="t" l="l"/>
              <a:pathLst>
                <a:path h="256286" w="256286">
                  <a:moveTo>
                    <a:pt x="0" y="128143"/>
                  </a:moveTo>
                  <a:cubicBezTo>
                    <a:pt x="0" y="57404"/>
                    <a:pt x="57404" y="0"/>
                    <a:pt x="128143" y="0"/>
                  </a:cubicBezTo>
                  <a:cubicBezTo>
                    <a:pt x="198882" y="0"/>
                    <a:pt x="256286" y="57404"/>
                    <a:pt x="256286" y="128143"/>
                  </a:cubicBezTo>
                  <a:cubicBezTo>
                    <a:pt x="256286" y="198882"/>
                    <a:pt x="198882" y="256286"/>
                    <a:pt x="128143" y="256286"/>
                  </a:cubicBezTo>
                  <a:cubicBezTo>
                    <a:pt x="57404" y="256286"/>
                    <a:pt x="0" y="198882"/>
                    <a:pt x="0" y="128143"/>
                  </a:cubicBezTo>
                  <a:close/>
                </a:path>
              </a:pathLst>
            </a:custGeom>
            <a:solidFill>
              <a:srgbClr val="85B518"/>
            </a:solidFill>
          </p:spPr>
        </p:sp>
      </p:grpSp>
      <p:sp>
        <p:nvSpPr>
          <p:cNvPr name="TextBox 23" id="23"/>
          <p:cNvSpPr txBox="true"/>
          <p:nvPr/>
        </p:nvSpPr>
        <p:spPr>
          <a:xfrm rot="0">
            <a:off x="1258214" y="5169989"/>
            <a:ext cx="16151924" cy="878957"/>
          </a:xfrm>
          <a:prstGeom prst="rect">
            <a:avLst/>
          </a:prstGeom>
        </p:spPr>
        <p:txBody>
          <a:bodyPr anchor="t" rtlCol="false" tIns="0" lIns="0" bIns="0" rIns="0">
            <a:spAutoFit/>
          </a:bodyPr>
          <a:lstStyle/>
          <a:p>
            <a:pPr algn="l">
              <a:lnSpc>
                <a:spcPts val="2341"/>
              </a:lnSpc>
            </a:pPr>
            <a:r>
              <a:rPr lang="en-US" sz="1951">
                <a:solidFill>
                  <a:srgbClr val="000000"/>
                </a:solidFill>
                <a:latin typeface="Cabin"/>
                <a:ea typeface="Cabin"/>
                <a:cs typeface="Cabin"/>
                <a:sym typeface="Cabin"/>
              </a:rPr>
              <a:t>Transformation xây dựng kế hoạch (Lazy), Action mới thực sự kích hoạt tính toán</a:t>
            </a:r>
          </a:p>
        </p:txBody>
      </p:sp>
      <p:grpSp>
        <p:nvGrpSpPr>
          <p:cNvPr name="Group 24" id="24"/>
          <p:cNvGrpSpPr/>
          <p:nvPr/>
        </p:nvGrpSpPr>
        <p:grpSpPr>
          <a:xfrm rot="0">
            <a:off x="686333" y="6204480"/>
            <a:ext cx="192176" cy="192176"/>
            <a:chOff x="0" y="0"/>
            <a:chExt cx="256235" cy="256235"/>
          </a:xfrm>
        </p:grpSpPr>
        <p:sp>
          <p:nvSpPr>
            <p:cNvPr name="Freeform 25" id="25"/>
            <p:cNvSpPr/>
            <p:nvPr/>
          </p:nvSpPr>
          <p:spPr>
            <a:xfrm flipH="false" flipV="false" rot="0">
              <a:off x="0" y="0"/>
              <a:ext cx="256286" cy="256286"/>
            </a:xfrm>
            <a:custGeom>
              <a:avLst/>
              <a:gdLst/>
              <a:ahLst/>
              <a:cxnLst/>
              <a:rect r="r" b="b" t="t" l="l"/>
              <a:pathLst>
                <a:path h="256286" w="256286">
                  <a:moveTo>
                    <a:pt x="0" y="128143"/>
                  </a:moveTo>
                  <a:cubicBezTo>
                    <a:pt x="0" y="57404"/>
                    <a:pt x="57404" y="0"/>
                    <a:pt x="128143" y="0"/>
                  </a:cubicBezTo>
                  <a:cubicBezTo>
                    <a:pt x="198882" y="0"/>
                    <a:pt x="256286" y="57404"/>
                    <a:pt x="256286" y="128143"/>
                  </a:cubicBezTo>
                  <a:cubicBezTo>
                    <a:pt x="256286" y="198882"/>
                    <a:pt x="198882" y="256286"/>
                    <a:pt x="128143" y="256286"/>
                  </a:cubicBezTo>
                  <a:cubicBezTo>
                    <a:pt x="57404" y="256286"/>
                    <a:pt x="0" y="198882"/>
                    <a:pt x="0" y="128143"/>
                  </a:cubicBezTo>
                  <a:close/>
                </a:path>
              </a:pathLst>
            </a:custGeom>
            <a:solidFill>
              <a:srgbClr val="85B518"/>
            </a:solidFill>
          </p:spPr>
        </p:sp>
      </p:grpSp>
      <p:sp>
        <p:nvSpPr>
          <p:cNvPr name="TextBox 26" id="26"/>
          <p:cNvSpPr txBox="true"/>
          <p:nvPr/>
        </p:nvSpPr>
        <p:spPr>
          <a:xfrm rot="0">
            <a:off x="1258214" y="6172038"/>
            <a:ext cx="16151924" cy="878957"/>
          </a:xfrm>
          <a:prstGeom prst="rect">
            <a:avLst/>
          </a:prstGeom>
        </p:spPr>
        <p:txBody>
          <a:bodyPr anchor="t" rtlCol="false" tIns="0" lIns="0" bIns="0" rIns="0">
            <a:spAutoFit/>
          </a:bodyPr>
          <a:lstStyle/>
          <a:p>
            <a:pPr algn="l">
              <a:lnSpc>
                <a:spcPts val="2341"/>
              </a:lnSpc>
            </a:pPr>
            <a:r>
              <a:rPr lang="en-US" sz="1951">
                <a:solidFill>
                  <a:srgbClr val="000000"/>
                </a:solidFill>
                <a:latin typeface="Cabin"/>
                <a:ea typeface="Cabin"/>
                <a:cs typeface="Cabin"/>
                <a:sym typeface="Cabin"/>
              </a:rPr>
              <a:t>Data Partitioning là nền tảng để Spark xử lý song song trên nhiều Task</a:t>
            </a:r>
          </a:p>
        </p:txBody>
      </p:sp>
      <p:grpSp>
        <p:nvGrpSpPr>
          <p:cNvPr name="Group 27" id="27"/>
          <p:cNvGrpSpPr/>
          <p:nvPr/>
        </p:nvGrpSpPr>
        <p:grpSpPr>
          <a:xfrm rot="0">
            <a:off x="686333" y="7206529"/>
            <a:ext cx="192176" cy="192176"/>
            <a:chOff x="0" y="0"/>
            <a:chExt cx="256235" cy="256235"/>
          </a:xfrm>
        </p:grpSpPr>
        <p:sp>
          <p:nvSpPr>
            <p:cNvPr name="Freeform 28" id="28"/>
            <p:cNvSpPr/>
            <p:nvPr/>
          </p:nvSpPr>
          <p:spPr>
            <a:xfrm flipH="false" flipV="false" rot="0">
              <a:off x="0" y="0"/>
              <a:ext cx="256286" cy="256286"/>
            </a:xfrm>
            <a:custGeom>
              <a:avLst/>
              <a:gdLst/>
              <a:ahLst/>
              <a:cxnLst/>
              <a:rect r="r" b="b" t="t" l="l"/>
              <a:pathLst>
                <a:path h="256286" w="256286">
                  <a:moveTo>
                    <a:pt x="0" y="128143"/>
                  </a:moveTo>
                  <a:cubicBezTo>
                    <a:pt x="0" y="57404"/>
                    <a:pt x="57404" y="0"/>
                    <a:pt x="128143" y="0"/>
                  </a:cubicBezTo>
                  <a:cubicBezTo>
                    <a:pt x="198882" y="0"/>
                    <a:pt x="256286" y="57404"/>
                    <a:pt x="256286" y="128143"/>
                  </a:cubicBezTo>
                  <a:cubicBezTo>
                    <a:pt x="256286" y="198882"/>
                    <a:pt x="198882" y="256286"/>
                    <a:pt x="128143" y="256286"/>
                  </a:cubicBezTo>
                  <a:cubicBezTo>
                    <a:pt x="57404" y="256286"/>
                    <a:pt x="0" y="198882"/>
                    <a:pt x="0" y="128143"/>
                  </a:cubicBezTo>
                  <a:close/>
                </a:path>
              </a:pathLst>
            </a:custGeom>
            <a:solidFill>
              <a:srgbClr val="85B518"/>
            </a:solidFill>
          </p:spPr>
        </p:sp>
      </p:grpSp>
      <p:sp>
        <p:nvSpPr>
          <p:cNvPr name="TextBox 29" id="29"/>
          <p:cNvSpPr txBox="true"/>
          <p:nvPr/>
        </p:nvSpPr>
        <p:spPr>
          <a:xfrm rot="0">
            <a:off x="1258214" y="7174087"/>
            <a:ext cx="16151924" cy="878957"/>
          </a:xfrm>
          <a:prstGeom prst="rect">
            <a:avLst/>
          </a:prstGeom>
        </p:spPr>
        <p:txBody>
          <a:bodyPr anchor="t" rtlCol="false" tIns="0" lIns="0" bIns="0" rIns="0">
            <a:spAutoFit/>
          </a:bodyPr>
          <a:lstStyle/>
          <a:p>
            <a:pPr algn="l">
              <a:lnSpc>
                <a:spcPts val="2341"/>
              </a:lnSpc>
            </a:pPr>
            <a:r>
              <a:rPr lang="en-US" sz="1951">
                <a:solidFill>
                  <a:srgbClr val="000000"/>
                </a:solidFill>
                <a:latin typeface="Cabin"/>
                <a:ea typeface="Cabin"/>
                <a:cs typeface="Cabin"/>
                <a:sym typeface="Cabin"/>
              </a:rPr>
              <a:t>DataFrame là lựa chọn chính trong thực hành, có schema rõ và được Spark SQL tối ưu</a:t>
            </a:r>
          </a:p>
        </p:txBody>
      </p:sp>
      <p:grpSp>
        <p:nvGrpSpPr>
          <p:cNvPr name="Group 30" id="30"/>
          <p:cNvGrpSpPr/>
          <p:nvPr/>
        </p:nvGrpSpPr>
        <p:grpSpPr>
          <a:xfrm rot="0">
            <a:off x="686333" y="8208578"/>
            <a:ext cx="192176" cy="192176"/>
            <a:chOff x="0" y="0"/>
            <a:chExt cx="256235" cy="256235"/>
          </a:xfrm>
        </p:grpSpPr>
        <p:sp>
          <p:nvSpPr>
            <p:cNvPr name="Freeform 31" id="31"/>
            <p:cNvSpPr/>
            <p:nvPr/>
          </p:nvSpPr>
          <p:spPr>
            <a:xfrm flipH="false" flipV="false" rot="0">
              <a:off x="0" y="0"/>
              <a:ext cx="256286" cy="256286"/>
            </a:xfrm>
            <a:custGeom>
              <a:avLst/>
              <a:gdLst/>
              <a:ahLst/>
              <a:cxnLst/>
              <a:rect r="r" b="b" t="t" l="l"/>
              <a:pathLst>
                <a:path h="256286" w="256286">
                  <a:moveTo>
                    <a:pt x="0" y="128143"/>
                  </a:moveTo>
                  <a:cubicBezTo>
                    <a:pt x="0" y="57404"/>
                    <a:pt x="57404" y="0"/>
                    <a:pt x="128143" y="0"/>
                  </a:cubicBezTo>
                  <a:cubicBezTo>
                    <a:pt x="198882" y="0"/>
                    <a:pt x="256286" y="57404"/>
                    <a:pt x="256286" y="128143"/>
                  </a:cubicBezTo>
                  <a:cubicBezTo>
                    <a:pt x="256286" y="198882"/>
                    <a:pt x="198882" y="256286"/>
                    <a:pt x="128143" y="256286"/>
                  </a:cubicBezTo>
                  <a:cubicBezTo>
                    <a:pt x="57404" y="256286"/>
                    <a:pt x="0" y="198882"/>
                    <a:pt x="0" y="128143"/>
                  </a:cubicBezTo>
                  <a:close/>
                </a:path>
              </a:pathLst>
            </a:custGeom>
            <a:solidFill>
              <a:srgbClr val="85B518"/>
            </a:solidFill>
          </p:spPr>
        </p:sp>
      </p:grpSp>
      <p:sp>
        <p:nvSpPr>
          <p:cNvPr name="TextBox 32" id="32"/>
          <p:cNvSpPr txBox="true"/>
          <p:nvPr/>
        </p:nvSpPr>
        <p:spPr>
          <a:xfrm rot="0">
            <a:off x="1258214" y="8176146"/>
            <a:ext cx="16151924" cy="878957"/>
          </a:xfrm>
          <a:prstGeom prst="rect">
            <a:avLst/>
          </a:prstGeom>
        </p:spPr>
        <p:txBody>
          <a:bodyPr anchor="t" rtlCol="false" tIns="0" lIns="0" bIns="0" rIns="0">
            <a:spAutoFit/>
          </a:bodyPr>
          <a:lstStyle/>
          <a:p>
            <a:pPr algn="l">
              <a:lnSpc>
                <a:spcPts val="2341"/>
              </a:lnSpc>
            </a:pPr>
            <a:r>
              <a:rPr lang="en-US" sz="1951">
                <a:solidFill>
                  <a:srgbClr val="000000"/>
                </a:solidFill>
                <a:latin typeface="Cabin"/>
                <a:ea typeface="Cabin"/>
                <a:cs typeface="Cabin"/>
                <a:sym typeface="Cabin"/>
              </a:rPr>
              <a:t>PySpark và Spark SQL cho phép biểu diễn cùng bài toán bằng cú pháp Python hoặc SQL quen thuộc</a:t>
            </a:r>
          </a:p>
        </p:txBody>
      </p:sp>
      <p:grpSp>
        <p:nvGrpSpPr>
          <p:cNvPr name="Group 33" id="33"/>
          <p:cNvGrpSpPr/>
          <p:nvPr/>
        </p:nvGrpSpPr>
        <p:grpSpPr>
          <a:xfrm rot="0">
            <a:off x="0" y="9677343"/>
            <a:ext cx="18301840" cy="617706"/>
            <a:chOff x="0" y="0"/>
            <a:chExt cx="24402453" cy="823608"/>
          </a:xfrm>
        </p:grpSpPr>
        <p:sp>
          <p:nvSpPr>
            <p:cNvPr name="Freeform 34" id="34"/>
            <p:cNvSpPr/>
            <p:nvPr/>
          </p:nvSpPr>
          <p:spPr>
            <a:xfrm flipH="false" flipV="false" rot="0">
              <a:off x="0" y="0"/>
              <a:ext cx="24402414" cy="823595"/>
            </a:xfrm>
            <a:custGeom>
              <a:avLst/>
              <a:gdLst/>
              <a:ahLst/>
              <a:cxnLst/>
              <a:rect r="r" b="b" t="t" l="l"/>
              <a:pathLst>
                <a:path h="823595" w="24402414">
                  <a:moveTo>
                    <a:pt x="0" y="0"/>
                  </a:moveTo>
                  <a:lnTo>
                    <a:pt x="24402414" y="0"/>
                  </a:lnTo>
                  <a:lnTo>
                    <a:pt x="24402414" y="823595"/>
                  </a:lnTo>
                  <a:lnTo>
                    <a:pt x="0" y="823595"/>
                  </a:lnTo>
                  <a:close/>
                </a:path>
              </a:pathLst>
            </a:custGeom>
            <a:solidFill>
              <a:srgbClr val="1F4E79"/>
            </a:solidFill>
          </p:spPr>
        </p:sp>
      </p:grpSp>
      <p:grpSp>
        <p:nvGrpSpPr>
          <p:cNvPr name="Group 35" id="35"/>
          <p:cNvGrpSpPr/>
          <p:nvPr/>
        </p:nvGrpSpPr>
        <p:grpSpPr>
          <a:xfrm rot="0">
            <a:off x="480431" y="9677343"/>
            <a:ext cx="10981382" cy="617706"/>
            <a:chOff x="0" y="0"/>
            <a:chExt cx="14641843" cy="823608"/>
          </a:xfrm>
        </p:grpSpPr>
        <p:sp>
          <p:nvSpPr>
            <p:cNvPr name="Freeform 36" id="36"/>
            <p:cNvSpPr/>
            <p:nvPr/>
          </p:nvSpPr>
          <p:spPr>
            <a:xfrm flipH="false" flipV="false" rot="0">
              <a:off x="0" y="0"/>
              <a:ext cx="14641840" cy="823603"/>
            </a:xfrm>
            <a:custGeom>
              <a:avLst/>
              <a:gdLst/>
              <a:ahLst/>
              <a:cxnLst/>
              <a:rect r="r" b="b" t="t" l="l"/>
              <a:pathLst>
                <a:path h="823603" w="14641840">
                  <a:moveTo>
                    <a:pt x="0" y="0"/>
                  </a:moveTo>
                  <a:lnTo>
                    <a:pt x="14641840" y="0"/>
                  </a:lnTo>
                  <a:lnTo>
                    <a:pt x="14641840" y="823603"/>
                  </a:lnTo>
                  <a:lnTo>
                    <a:pt x="0" y="823603"/>
                  </a:lnTo>
                  <a:close/>
                </a:path>
              </a:pathLst>
            </a:custGeom>
            <a:blipFill>
              <a:blip r:embed="rId4">
                <a:alphaModFix amt="0"/>
              </a:blip>
              <a:stretch>
                <a:fillRect l="0" t="-296400" r="0" b="-296401"/>
              </a:stretch>
            </a:blipFill>
          </p:spPr>
        </p:sp>
        <p:sp>
          <p:nvSpPr>
            <p:cNvPr name="TextBox 37" id="37"/>
            <p:cNvSpPr txBox="true"/>
            <p:nvPr/>
          </p:nvSpPr>
          <p:spPr>
            <a:xfrm>
              <a:off x="0" y="0"/>
              <a:ext cx="14641843" cy="823608"/>
            </a:xfrm>
            <a:prstGeom prst="rect">
              <a:avLst/>
            </a:prstGeom>
          </p:spPr>
          <p:txBody>
            <a:bodyPr anchor="ctr" rtlCol="false" tIns="0" lIns="0" bIns="0" rIns="0"/>
            <a:lstStyle/>
            <a:p>
              <a:pPr algn="l">
                <a:lnSpc>
                  <a:spcPts val="1621"/>
                </a:lnSpc>
              </a:pPr>
              <a:r>
                <a:rPr lang="en-US" sz="1351">
                  <a:solidFill>
                    <a:srgbClr val="FFFFFF"/>
                  </a:solidFill>
                  <a:latin typeface="Cabin"/>
                  <a:ea typeface="Cabin"/>
                  <a:cs typeface="Cabin"/>
                  <a:sym typeface="Cabin"/>
                </a:rPr>
                <a:t>VNU UET – Institute for Artificial Intelligence</a:t>
              </a:r>
            </a:p>
          </p:txBody>
        </p:sp>
      </p:grpSp>
      <p:grpSp>
        <p:nvGrpSpPr>
          <p:cNvPr name="Group 38" id="38"/>
          <p:cNvGrpSpPr/>
          <p:nvPr/>
        </p:nvGrpSpPr>
        <p:grpSpPr>
          <a:xfrm rot="0">
            <a:off x="17066438" y="9677343"/>
            <a:ext cx="823608" cy="617706"/>
            <a:chOff x="0" y="0"/>
            <a:chExt cx="1098144" cy="823608"/>
          </a:xfrm>
        </p:grpSpPr>
        <p:sp>
          <p:nvSpPr>
            <p:cNvPr name="Freeform 39" id="39"/>
            <p:cNvSpPr/>
            <p:nvPr/>
          </p:nvSpPr>
          <p:spPr>
            <a:xfrm flipH="false" flipV="false" rot="0">
              <a:off x="0" y="0"/>
              <a:ext cx="1098138" cy="823603"/>
            </a:xfrm>
            <a:custGeom>
              <a:avLst/>
              <a:gdLst/>
              <a:ahLst/>
              <a:cxnLst/>
              <a:rect r="r" b="b" t="t" l="l"/>
              <a:pathLst>
                <a:path h="823603" w="1098138">
                  <a:moveTo>
                    <a:pt x="0" y="0"/>
                  </a:moveTo>
                  <a:lnTo>
                    <a:pt x="1098138" y="0"/>
                  </a:lnTo>
                  <a:lnTo>
                    <a:pt x="1098138" y="823603"/>
                  </a:lnTo>
                  <a:lnTo>
                    <a:pt x="0" y="823603"/>
                  </a:lnTo>
                  <a:close/>
                </a:path>
              </a:pathLst>
            </a:custGeom>
            <a:blipFill>
              <a:blip r:embed="rId4">
                <a:alphaModFix amt="0"/>
              </a:blip>
              <a:stretch>
                <a:fillRect l="-46227" t="0" r="-46228" b="0"/>
              </a:stretch>
            </a:blipFill>
          </p:spPr>
        </p:sp>
        <p:sp>
          <p:nvSpPr>
            <p:cNvPr name="TextBox 40" id="40"/>
            <p:cNvSpPr txBox="true"/>
            <p:nvPr/>
          </p:nvSpPr>
          <p:spPr>
            <a:xfrm>
              <a:off x="0" y="0"/>
              <a:ext cx="1098144" cy="823608"/>
            </a:xfrm>
            <a:prstGeom prst="rect">
              <a:avLst/>
            </a:prstGeom>
          </p:spPr>
          <p:txBody>
            <a:bodyPr anchor="ctr" rtlCol="false" tIns="0" lIns="0" bIns="0" rIns="0"/>
            <a:lstStyle/>
            <a:p>
              <a:pPr algn="r">
                <a:lnSpc>
                  <a:spcPts val="1621"/>
                </a:lnSpc>
              </a:pPr>
              <a:r>
                <a:rPr lang="en-US" sz="1351">
                  <a:solidFill>
                    <a:srgbClr val="FFFFFF"/>
                  </a:solidFill>
                  <a:latin typeface="Cabin"/>
                  <a:ea typeface="Cabin"/>
                  <a:cs typeface="Cabin"/>
                  <a:sym typeface="Cabin"/>
                </a:rPr>
                <a:t>32</a:t>
              </a:r>
            </a:p>
          </p:txBody>
        </p:sp>
      </p:grpSp>
      <p:grpSp>
        <p:nvGrpSpPr>
          <p:cNvPr name="Group 41" id="41"/>
          <p:cNvGrpSpPr/>
          <p:nvPr/>
        </p:nvGrpSpPr>
        <p:grpSpPr>
          <a:xfrm rot="0">
            <a:off x="0" y="0"/>
            <a:ext cx="18288000" cy="315468"/>
            <a:chOff x="0" y="0"/>
            <a:chExt cx="24384000" cy="420624"/>
          </a:xfrm>
        </p:grpSpPr>
        <p:sp>
          <p:nvSpPr>
            <p:cNvPr name="Freeform 42" id="42"/>
            <p:cNvSpPr/>
            <p:nvPr/>
          </p:nvSpPr>
          <p:spPr>
            <a:xfrm flipH="false" flipV="false" rot="0">
              <a:off x="0" y="0"/>
              <a:ext cx="24384000" cy="420624"/>
            </a:xfrm>
            <a:custGeom>
              <a:avLst/>
              <a:gdLst/>
              <a:ahLst/>
              <a:cxnLst/>
              <a:rect r="r" b="b" t="t" l="l"/>
              <a:pathLst>
                <a:path h="420624" w="24384000">
                  <a:moveTo>
                    <a:pt x="0" y="0"/>
                  </a:moveTo>
                  <a:lnTo>
                    <a:pt x="24384000" y="0"/>
                  </a:lnTo>
                  <a:lnTo>
                    <a:pt x="24384000" y="420624"/>
                  </a:lnTo>
                  <a:lnTo>
                    <a:pt x="0" y="420624"/>
                  </a:lnTo>
                  <a:close/>
                </a:path>
              </a:pathLst>
            </a:custGeom>
            <a:solidFill>
              <a:srgbClr val="0F3F6F"/>
            </a:solidFill>
          </p:spPr>
        </p:sp>
      </p:grpSp>
      <p:grpSp>
        <p:nvGrpSpPr>
          <p:cNvPr name="Group 43" id="43"/>
          <p:cNvGrpSpPr/>
          <p:nvPr/>
        </p:nvGrpSpPr>
        <p:grpSpPr>
          <a:xfrm rot="0">
            <a:off x="13098780" y="0"/>
            <a:ext cx="1453896" cy="1508760"/>
            <a:chOff x="0" y="0"/>
            <a:chExt cx="1938528" cy="2011680"/>
          </a:xfrm>
        </p:grpSpPr>
        <p:sp>
          <p:nvSpPr>
            <p:cNvPr name="Freeform 44" id="44"/>
            <p:cNvSpPr/>
            <p:nvPr/>
          </p:nvSpPr>
          <p:spPr>
            <a:xfrm flipH="false" flipV="false" rot="0">
              <a:off x="0" y="0"/>
              <a:ext cx="1938528" cy="2011680"/>
            </a:xfrm>
            <a:custGeom>
              <a:avLst/>
              <a:gdLst/>
              <a:ahLst/>
              <a:cxnLst/>
              <a:rect r="r" b="b" t="t" l="l"/>
              <a:pathLst>
                <a:path h="2011680" w="1938528">
                  <a:moveTo>
                    <a:pt x="0" y="2011680"/>
                  </a:moveTo>
                  <a:lnTo>
                    <a:pt x="484632" y="0"/>
                  </a:lnTo>
                  <a:lnTo>
                    <a:pt x="1938528" y="0"/>
                  </a:lnTo>
                  <a:lnTo>
                    <a:pt x="1453896" y="2011680"/>
                  </a:lnTo>
                  <a:close/>
                </a:path>
              </a:pathLst>
            </a:custGeom>
            <a:solidFill>
              <a:srgbClr val="85B518"/>
            </a:solidFill>
          </p:spPr>
        </p:sp>
      </p:grpSp>
      <p:grpSp>
        <p:nvGrpSpPr>
          <p:cNvPr name="Group 45" id="45"/>
          <p:cNvGrpSpPr/>
          <p:nvPr/>
        </p:nvGrpSpPr>
        <p:grpSpPr>
          <a:xfrm rot="0">
            <a:off x="14621256" y="0"/>
            <a:ext cx="1508760" cy="1508760"/>
            <a:chOff x="0" y="0"/>
            <a:chExt cx="2011680" cy="2011680"/>
          </a:xfrm>
        </p:grpSpPr>
        <p:sp>
          <p:nvSpPr>
            <p:cNvPr name="Freeform 46" id="46"/>
            <p:cNvSpPr/>
            <p:nvPr/>
          </p:nvSpPr>
          <p:spPr>
            <a:xfrm flipH="false" flipV="false" rot="0">
              <a:off x="0" y="0"/>
              <a:ext cx="2011680" cy="2011680"/>
            </a:xfrm>
            <a:custGeom>
              <a:avLst/>
              <a:gdLst/>
              <a:ahLst/>
              <a:cxnLst/>
              <a:rect r="r" b="b" t="t" l="l"/>
              <a:pathLst>
                <a:path h="2011680" w="2011680">
                  <a:moveTo>
                    <a:pt x="0" y="2011680"/>
                  </a:moveTo>
                  <a:lnTo>
                    <a:pt x="502920" y="0"/>
                  </a:lnTo>
                  <a:lnTo>
                    <a:pt x="2011680" y="0"/>
                  </a:lnTo>
                  <a:lnTo>
                    <a:pt x="1508760" y="2011680"/>
                  </a:lnTo>
                  <a:close/>
                </a:path>
              </a:pathLst>
            </a:custGeom>
            <a:solidFill>
              <a:srgbClr val="0F3F6F"/>
            </a:solidFill>
          </p:spPr>
        </p:sp>
      </p:gr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97801" y="384353"/>
            <a:ext cx="851059" cy="851059"/>
            <a:chOff x="0" y="0"/>
            <a:chExt cx="1134745" cy="1134745"/>
          </a:xfrm>
        </p:grpSpPr>
        <p:sp>
          <p:nvSpPr>
            <p:cNvPr name="Freeform 3" id="3" descr="/home/claude/work/assets/logo.png"/>
            <p:cNvSpPr/>
            <p:nvPr/>
          </p:nvSpPr>
          <p:spPr>
            <a:xfrm flipH="false" flipV="false" rot="0">
              <a:off x="0" y="0"/>
              <a:ext cx="1134745" cy="1134745"/>
            </a:xfrm>
            <a:custGeom>
              <a:avLst/>
              <a:gdLst/>
              <a:ahLst/>
              <a:cxnLst/>
              <a:rect r="r" b="b" t="t" l="l"/>
              <a:pathLst>
                <a:path h="1134745" w="1134745">
                  <a:moveTo>
                    <a:pt x="0" y="0"/>
                  </a:moveTo>
                  <a:lnTo>
                    <a:pt x="1134745" y="0"/>
                  </a:lnTo>
                  <a:lnTo>
                    <a:pt x="1134745" y="1134745"/>
                  </a:lnTo>
                  <a:lnTo>
                    <a:pt x="0" y="1134745"/>
                  </a:lnTo>
                  <a:lnTo>
                    <a:pt x="0" y="0"/>
                  </a:lnTo>
                  <a:close/>
                </a:path>
              </a:pathLst>
            </a:custGeom>
            <a:blipFill>
              <a:blip r:embed="rId3"/>
              <a:stretch>
                <a:fillRect l="0" t="0" r="0" b="0"/>
              </a:stretch>
            </a:blipFill>
          </p:spPr>
        </p:sp>
      </p:grpSp>
      <p:grpSp>
        <p:nvGrpSpPr>
          <p:cNvPr name="Group 4" id="4"/>
          <p:cNvGrpSpPr/>
          <p:nvPr/>
        </p:nvGrpSpPr>
        <p:grpSpPr>
          <a:xfrm rot="0">
            <a:off x="686333" y="384353"/>
            <a:ext cx="10981382" cy="411804"/>
            <a:chOff x="0" y="0"/>
            <a:chExt cx="14641843" cy="549072"/>
          </a:xfrm>
        </p:grpSpPr>
        <p:sp>
          <p:nvSpPr>
            <p:cNvPr name="Freeform 5" id="5"/>
            <p:cNvSpPr/>
            <p:nvPr/>
          </p:nvSpPr>
          <p:spPr>
            <a:xfrm flipH="false" flipV="false" rot="0">
              <a:off x="0" y="0"/>
              <a:ext cx="14641840" cy="549069"/>
            </a:xfrm>
            <a:custGeom>
              <a:avLst/>
              <a:gdLst/>
              <a:ahLst/>
              <a:cxnLst/>
              <a:rect r="r" b="b" t="t" l="l"/>
              <a:pathLst>
                <a:path h="549069" w="14641840">
                  <a:moveTo>
                    <a:pt x="0" y="0"/>
                  </a:moveTo>
                  <a:lnTo>
                    <a:pt x="14641840" y="0"/>
                  </a:lnTo>
                  <a:lnTo>
                    <a:pt x="14641840" y="549069"/>
                  </a:lnTo>
                  <a:lnTo>
                    <a:pt x="0" y="549069"/>
                  </a:lnTo>
                  <a:close/>
                </a:path>
              </a:pathLst>
            </a:custGeom>
            <a:blipFill>
              <a:blip r:embed="rId4">
                <a:alphaModFix amt="0"/>
              </a:blip>
              <a:stretch>
                <a:fillRect l="0" t="-469600" r="0" b="-469601"/>
              </a:stretch>
            </a:blipFill>
          </p:spPr>
        </p:sp>
        <p:sp>
          <p:nvSpPr>
            <p:cNvPr name="TextBox 6" id="6"/>
            <p:cNvSpPr txBox="true"/>
            <p:nvPr/>
          </p:nvSpPr>
          <p:spPr>
            <a:xfrm>
              <a:off x="0" y="0"/>
              <a:ext cx="14641843" cy="549072"/>
            </a:xfrm>
            <a:prstGeom prst="rect">
              <a:avLst/>
            </a:prstGeom>
          </p:spPr>
          <p:txBody>
            <a:bodyPr anchor="ctr" rtlCol="false" tIns="0" lIns="0" bIns="0" rIns="0"/>
            <a:lstStyle/>
            <a:p>
              <a:pPr algn="l">
                <a:lnSpc>
                  <a:spcPts val="1981"/>
                </a:lnSpc>
              </a:pPr>
              <a:r>
                <a:rPr lang="en-US" sz="1651" i="true">
                  <a:solidFill>
                    <a:srgbClr val="4A4A4A"/>
                  </a:solidFill>
                  <a:latin typeface="Cabin Italics"/>
                  <a:ea typeface="Cabin Italics"/>
                  <a:cs typeface="Cabin Italics"/>
                  <a:sym typeface="Cabin Italics"/>
                </a:rPr>
                <a:t>Đánh giá nhanh · Bài 05</a:t>
              </a:r>
            </a:p>
          </p:txBody>
        </p:sp>
      </p:grpSp>
      <p:grpSp>
        <p:nvGrpSpPr>
          <p:cNvPr name="Group 7" id="7"/>
          <p:cNvGrpSpPr/>
          <p:nvPr/>
        </p:nvGrpSpPr>
        <p:grpSpPr>
          <a:xfrm rot="0">
            <a:off x="686333" y="823608"/>
            <a:ext cx="82363" cy="754971"/>
            <a:chOff x="0" y="0"/>
            <a:chExt cx="109817" cy="1006627"/>
          </a:xfrm>
        </p:grpSpPr>
        <p:sp>
          <p:nvSpPr>
            <p:cNvPr name="Freeform 8" id="8"/>
            <p:cNvSpPr/>
            <p:nvPr/>
          </p:nvSpPr>
          <p:spPr>
            <a:xfrm flipH="false" flipV="false" rot="0">
              <a:off x="0" y="0"/>
              <a:ext cx="109855" cy="1006602"/>
            </a:xfrm>
            <a:custGeom>
              <a:avLst/>
              <a:gdLst/>
              <a:ahLst/>
              <a:cxnLst/>
              <a:rect r="r" b="b" t="t" l="l"/>
              <a:pathLst>
                <a:path h="1006602" w="109855">
                  <a:moveTo>
                    <a:pt x="0" y="0"/>
                  </a:moveTo>
                  <a:lnTo>
                    <a:pt x="109855" y="0"/>
                  </a:lnTo>
                  <a:lnTo>
                    <a:pt x="109855" y="1006602"/>
                  </a:lnTo>
                  <a:lnTo>
                    <a:pt x="0" y="1006602"/>
                  </a:lnTo>
                  <a:close/>
                </a:path>
              </a:pathLst>
            </a:custGeom>
            <a:solidFill>
              <a:srgbClr val="85B518"/>
            </a:solidFill>
          </p:spPr>
        </p:sp>
      </p:grpSp>
      <p:grpSp>
        <p:nvGrpSpPr>
          <p:cNvPr name="Group 9" id="9"/>
          <p:cNvGrpSpPr/>
          <p:nvPr/>
        </p:nvGrpSpPr>
        <p:grpSpPr>
          <a:xfrm rot="0">
            <a:off x="960872" y="796147"/>
            <a:ext cx="15831026" cy="823608"/>
            <a:chOff x="0" y="0"/>
            <a:chExt cx="21108035" cy="1098144"/>
          </a:xfrm>
        </p:grpSpPr>
        <p:sp>
          <p:nvSpPr>
            <p:cNvPr name="Freeform 10" id="10"/>
            <p:cNvSpPr/>
            <p:nvPr/>
          </p:nvSpPr>
          <p:spPr>
            <a:xfrm flipH="false" flipV="false" rot="0">
              <a:off x="0" y="0"/>
              <a:ext cx="21108040" cy="1098138"/>
            </a:xfrm>
            <a:custGeom>
              <a:avLst/>
              <a:gdLst/>
              <a:ahLst/>
              <a:cxnLst/>
              <a:rect r="r" b="b" t="t" l="l"/>
              <a:pathLst>
                <a:path h="1098138" w="21108040">
                  <a:moveTo>
                    <a:pt x="0" y="0"/>
                  </a:moveTo>
                  <a:lnTo>
                    <a:pt x="21108040" y="0"/>
                  </a:lnTo>
                  <a:lnTo>
                    <a:pt x="21108040" y="1098138"/>
                  </a:lnTo>
                  <a:lnTo>
                    <a:pt x="0" y="1098138"/>
                  </a:lnTo>
                  <a:close/>
                </a:path>
              </a:pathLst>
            </a:custGeom>
            <a:blipFill>
              <a:blip r:embed="rId4">
                <a:alphaModFix amt="0"/>
              </a:blip>
              <a:stretch>
                <a:fillRect l="0" t="-324534" r="0" b="-324535"/>
              </a:stretch>
            </a:blipFill>
          </p:spPr>
        </p:sp>
        <p:sp>
          <p:nvSpPr>
            <p:cNvPr name="TextBox 11" id="11"/>
            <p:cNvSpPr txBox="true"/>
            <p:nvPr/>
          </p:nvSpPr>
          <p:spPr>
            <a:xfrm>
              <a:off x="0" y="0"/>
              <a:ext cx="21108035" cy="1098144"/>
            </a:xfrm>
            <a:prstGeom prst="rect">
              <a:avLst/>
            </a:prstGeom>
          </p:spPr>
          <p:txBody>
            <a:bodyPr anchor="ctr" rtlCol="false" tIns="0" lIns="0" bIns="0" rIns="0"/>
            <a:lstStyle/>
            <a:p>
              <a:pPr algn="l">
                <a:lnSpc>
                  <a:spcPts val="3782"/>
                </a:lnSpc>
              </a:pPr>
              <a:r>
                <a:rPr lang="en-US" sz="3152" b="true">
                  <a:solidFill>
                    <a:srgbClr val="1F4E79"/>
                  </a:solidFill>
                  <a:latin typeface="Cabin Bold"/>
                  <a:ea typeface="Cabin Bold"/>
                  <a:cs typeface="Cabin Bold"/>
                  <a:sym typeface="Cabin Bold"/>
                </a:rPr>
                <a:t>Câu hỏi kiểm tra nhanh</a:t>
              </a:r>
            </a:p>
          </p:txBody>
        </p:sp>
      </p:grpSp>
      <p:grpSp>
        <p:nvGrpSpPr>
          <p:cNvPr name="Group 12" id="12"/>
          <p:cNvGrpSpPr/>
          <p:nvPr/>
        </p:nvGrpSpPr>
        <p:grpSpPr>
          <a:xfrm rot="0">
            <a:off x="679190" y="2189131"/>
            <a:ext cx="16966806" cy="2141944"/>
            <a:chOff x="0" y="0"/>
            <a:chExt cx="22622408" cy="2855925"/>
          </a:xfrm>
        </p:grpSpPr>
        <p:sp>
          <p:nvSpPr>
            <p:cNvPr name="Freeform 13" id="13"/>
            <p:cNvSpPr/>
            <p:nvPr/>
          </p:nvSpPr>
          <p:spPr>
            <a:xfrm flipH="false" flipV="false" rot="0">
              <a:off x="0" y="0"/>
              <a:ext cx="22622509" cy="2855976"/>
            </a:xfrm>
            <a:custGeom>
              <a:avLst/>
              <a:gdLst/>
              <a:ahLst/>
              <a:cxnLst/>
              <a:rect r="r" b="b" t="t" l="l"/>
              <a:pathLst>
                <a:path h="2855976" w="22622509">
                  <a:moveTo>
                    <a:pt x="0" y="147447"/>
                  </a:moveTo>
                  <a:cubicBezTo>
                    <a:pt x="0" y="66040"/>
                    <a:pt x="66040" y="0"/>
                    <a:pt x="147447" y="0"/>
                  </a:cubicBezTo>
                  <a:lnTo>
                    <a:pt x="22475062" y="0"/>
                  </a:lnTo>
                  <a:cubicBezTo>
                    <a:pt x="22556470" y="0"/>
                    <a:pt x="22622509" y="66040"/>
                    <a:pt x="22622509" y="147447"/>
                  </a:cubicBezTo>
                  <a:lnTo>
                    <a:pt x="22622509" y="2708529"/>
                  </a:lnTo>
                  <a:cubicBezTo>
                    <a:pt x="22622509" y="2789936"/>
                    <a:pt x="22556470" y="2855976"/>
                    <a:pt x="22475062" y="2855976"/>
                  </a:cubicBezTo>
                  <a:lnTo>
                    <a:pt x="147447" y="2855976"/>
                  </a:lnTo>
                  <a:cubicBezTo>
                    <a:pt x="66040" y="2855976"/>
                    <a:pt x="0" y="2789936"/>
                    <a:pt x="0" y="2708529"/>
                  </a:cubicBezTo>
                  <a:close/>
                </a:path>
              </a:pathLst>
            </a:custGeom>
            <a:solidFill>
              <a:srgbClr val="F2F5F8"/>
            </a:solidFill>
            <a:ln w="14299" cap="sq">
              <a:solidFill>
                <a:srgbClr val="D9D9D9"/>
              </a:solidFill>
              <a:prstDash val="solid"/>
              <a:miter/>
            </a:ln>
          </p:spPr>
        </p:sp>
      </p:grpSp>
      <p:sp>
        <p:nvSpPr>
          <p:cNvPr name="TextBox 14" id="14"/>
          <p:cNvSpPr txBox="true"/>
          <p:nvPr/>
        </p:nvSpPr>
        <p:spPr>
          <a:xfrm rot="0">
            <a:off x="1120940" y="2447896"/>
            <a:ext cx="16083286" cy="869432"/>
          </a:xfrm>
          <a:prstGeom prst="rect">
            <a:avLst/>
          </a:prstGeom>
        </p:spPr>
        <p:txBody>
          <a:bodyPr anchor="t" rtlCol="false" tIns="0" lIns="0" bIns="0" rIns="0">
            <a:spAutoFit/>
          </a:bodyPr>
          <a:lstStyle/>
          <a:p>
            <a:pPr algn="l">
              <a:lnSpc>
                <a:spcPts val="2251"/>
              </a:lnSpc>
            </a:pPr>
            <a:r>
              <a:rPr lang="en-US" sz="1876" b="true">
                <a:solidFill>
                  <a:srgbClr val="000000"/>
                </a:solidFill>
                <a:latin typeface="Cabin Bold"/>
                <a:ea typeface="Cabin Bold"/>
                <a:cs typeface="Cabin Bold"/>
                <a:sym typeface="Cabin Bold"/>
              </a:rPr>
              <a:t>1. Trong Spark, thao tác nào chỉ xây dựng kế hoạch mà chưa thực sự tính toán ngay?</a:t>
            </a:r>
          </a:p>
        </p:txBody>
      </p:sp>
      <p:sp>
        <p:nvSpPr>
          <p:cNvPr name="TextBox 15" id="15"/>
          <p:cNvSpPr txBox="true"/>
          <p:nvPr/>
        </p:nvSpPr>
        <p:spPr>
          <a:xfrm rot="0">
            <a:off x="1120940" y="3477397"/>
            <a:ext cx="16083286" cy="594893"/>
          </a:xfrm>
          <a:prstGeom prst="rect">
            <a:avLst/>
          </a:prstGeom>
        </p:spPr>
        <p:txBody>
          <a:bodyPr anchor="t" rtlCol="false" tIns="0" lIns="0" bIns="0" rIns="0">
            <a:spAutoFit/>
          </a:bodyPr>
          <a:lstStyle/>
          <a:p>
            <a:pPr algn="l">
              <a:lnSpc>
                <a:spcPts val="2161"/>
              </a:lnSpc>
            </a:pPr>
            <a:r>
              <a:rPr lang="en-US" sz="1801" b="true">
                <a:solidFill>
                  <a:srgbClr val="1F4E79"/>
                </a:solidFill>
                <a:latin typeface="Cabin Bold"/>
                <a:ea typeface="Cabin Bold"/>
                <a:cs typeface="Cabin Bold"/>
                <a:sym typeface="Cabin Bold"/>
              </a:rPr>
              <a:t>Đáp án: </a:t>
            </a:r>
            <a:r>
              <a:rPr lang="en-US" sz="1801">
                <a:solidFill>
                  <a:srgbClr val="1F4E79"/>
                </a:solidFill>
                <a:latin typeface="Cabin"/>
                <a:ea typeface="Cabin"/>
                <a:cs typeface="Cabin"/>
                <a:sym typeface="Cabin"/>
              </a:rPr>
              <a:t>Transformation (nhờ Lazy Evaluation)</a:t>
            </a:r>
          </a:p>
        </p:txBody>
      </p:sp>
      <p:grpSp>
        <p:nvGrpSpPr>
          <p:cNvPr name="Group 16" id="16"/>
          <p:cNvGrpSpPr/>
          <p:nvPr/>
        </p:nvGrpSpPr>
        <p:grpSpPr>
          <a:xfrm rot="0">
            <a:off x="679190" y="4591307"/>
            <a:ext cx="16966806" cy="2141944"/>
            <a:chOff x="0" y="0"/>
            <a:chExt cx="22622408" cy="2855925"/>
          </a:xfrm>
        </p:grpSpPr>
        <p:sp>
          <p:nvSpPr>
            <p:cNvPr name="Freeform 17" id="17"/>
            <p:cNvSpPr/>
            <p:nvPr/>
          </p:nvSpPr>
          <p:spPr>
            <a:xfrm flipH="false" flipV="false" rot="0">
              <a:off x="0" y="0"/>
              <a:ext cx="22622509" cy="2855976"/>
            </a:xfrm>
            <a:custGeom>
              <a:avLst/>
              <a:gdLst/>
              <a:ahLst/>
              <a:cxnLst/>
              <a:rect r="r" b="b" t="t" l="l"/>
              <a:pathLst>
                <a:path h="2855976" w="22622509">
                  <a:moveTo>
                    <a:pt x="0" y="147447"/>
                  </a:moveTo>
                  <a:cubicBezTo>
                    <a:pt x="0" y="66040"/>
                    <a:pt x="66040" y="0"/>
                    <a:pt x="147447" y="0"/>
                  </a:cubicBezTo>
                  <a:lnTo>
                    <a:pt x="22475062" y="0"/>
                  </a:lnTo>
                  <a:cubicBezTo>
                    <a:pt x="22556470" y="0"/>
                    <a:pt x="22622509" y="66040"/>
                    <a:pt x="22622509" y="147447"/>
                  </a:cubicBezTo>
                  <a:lnTo>
                    <a:pt x="22622509" y="2708529"/>
                  </a:lnTo>
                  <a:cubicBezTo>
                    <a:pt x="22622509" y="2789936"/>
                    <a:pt x="22556470" y="2855976"/>
                    <a:pt x="22475062" y="2855976"/>
                  </a:cubicBezTo>
                  <a:lnTo>
                    <a:pt x="147447" y="2855976"/>
                  </a:lnTo>
                  <a:cubicBezTo>
                    <a:pt x="66040" y="2855976"/>
                    <a:pt x="0" y="2789936"/>
                    <a:pt x="0" y="2708529"/>
                  </a:cubicBezTo>
                  <a:close/>
                </a:path>
              </a:pathLst>
            </a:custGeom>
            <a:solidFill>
              <a:srgbClr val="F2F5F8"/>
            </a:solidFill>
            <a:ln w="14299" cap="sq">
              <a:solidFill>
                <a:srgbClr val="D9D9D9"/>
              </a:solidFill>
              <a:prstDash val="solid"/>
              <a:miter/>
            </a:ln>
          </p:spPr>
        </p:sp>
      </p:grpSp>
      <p:sp>
        <p:nvSpPr>
          <p:cNvPr name="TextBox 18" id="18"/>
          <p:cNvSpPr txBox="true"/>
          <p:nvPr/>
        </p:nvSpPr>
        <p:spPr>
          <a:xfrm rot="0">
            <a:off x="1120940" y="4850073"/>
            <a:ext cx="16083286" cy="869432"/>
          </a:xfrm>
          <a:prstGeom prst="rect">
            <a:avLst/>
          </a:prstGeom>
        </p:spPr>
        <p:txBody>
          <a:bodyPr anchor="t" rtlCol="false" tIns="0" lIns="0" bIns="0" rIns="0">
            <a:spAutoFit/>
          </a:bodyPr>
          <a:lstStyle/>
          <a:p>
            <a:pPr algn="l">
              <a:lnSpc>
                <a:spcPts val="2251"/>
              </a:lnSpc>
            </a:pPr>
            <a:r>
              <a:rPr lang="en-US" sz="1876" b="true">
                <a:solidFill>
                  <a:srgbClr val="000000"/>
                </a:solidFill>
                <a:latin typeface="Cabin Bold"/>
                <a:ea typeface="Cabin Bold"/>
                <a:cs typeface="Cabin Bold"/>
                <a:sym typeface="Cabin Bold"/>
              </a:rPr>
              <a:t>2. Một Job trong Spark được chia thành nhiều Stage, ranh giới giữa các Stage là gì?</a:t>
            </a:r>
          </a:p>
        </p:txBody>
      </p:sp>
      <p:sp>
        <p:nvSpPr>
          <p:cNvPr name="TextBox 19" id="19"/>
          <p:cNvSpPr txBox="true"/>
          <p:nvPr/>
        </p:nvSpPr>
        <p:spPr>
          <a:xfrm rot="0">
            <a:off x="1120940" y="5879573"/>
            <a:ext cx="16083286" cy="594893"/>
          </a:xfrm>
          <a:prstGeom prst="rect">
            <a:avLst/>
          </a:prstGeom>
        </p:spPr>
        <p:txBody>
          <a:bodyPr anchor="t" rtlCol="false" tIns="0" lIns="0" bIns="0" rIns="0">
            <a:spAutoFit/>
          </a:bodyPr>
          <a:lstStyle/>
          <a:p>
            <a:pPr algn="l">
              <a:lnSpc>
                <a:spcPts val="2161"/>
              </a:lnSpc>
            </a:pPr>
            <a:r>
              <a:rPr lang="en-US" sz="1801" b="true">
                <a:solidFill>
                  <a:srgbClr val="1F4E79"/>
                </a:solidFill>
                <a:latin typeface="Cabin Bold"/>
                <a:ea typeface="Cabin Bold"/>
                <a:cs typeface="Cabin Bold"/>
                <a:sym typeface="Cabin Bold"/>
              </a:rPr>
              <a:t>Đáp án: </a:t>
            </a:r>
            <a:r>
              <a:rPr lang="en-US" sz="1801">
                <a:solidFill>
                  <a:srgbClr val="1F4E79"/>
                </a:solidFill>
                <a:latin typeface="Cabin"/>
                <a:ea typeface="Cabin"/>
                <a:cs typeface="Cabin"/>
                <a:sym typeface="Cabin"/>
              </a:rPr>
              <a:t>Các bước cần Shuffle dữ liệu</a:t>
            </a:r>
          </a:p>
        </p:txBody>
      </p:sp>
      <p:grpSp>
        <p:nvGrpSpPr>
          <p:cNvPr name="Group 20" id="20"/>
          <p:cNvGrpSpPr/>
          <p:nvPr/>
        </p:nvGrpSpPr>
        <p:grpSpPr>
          <a:xfrm rot="0">
            <a:off x="679190" y="6993484"/>
            <a:ext cx="16966806" cy="2141944"/>
            <a:chOff x="0" y="0"/>
            <a:chExt cx="22622408" cy="2855925"/>
          </a:xfrm>
        </p:grpSpPr>
        <p:sp>
          <p:nvSpPr>
            <p:cNvPr name="Freeform 21" id="21"/>
            <p:cNvSpPr/>
            <p:nvPr/>
          </p:nvSpPr>
          <p:spPr>
            <a:xfrm flipH="false" flipV="false" rot="0">
              <a:off x="0" y="0"/>
              <a:ext cx="22622509" cy="2855976"/>
            </a:xfrm>
            <a:custGeom>
              <a:avLst/>
              <a:gdLst/>
              <a:ahLst/>
              <a:cxnLst/>
              <a:rect r="r" b="b" t="t" l="l"/>
              <a:pathLst>
                <a:path h="2855976" w="22622509">
                  <a:moveTo>
                    <a:pt x="0" y="147447"/>
                  </a:moveTo>
                  <a:cubicBezTo>
                    <a:pt x="0" y="66040"/>
                    <a:pt x="66040" y="0"/>
                    <a:pt x="147447" y="0"/>
                  </a:cubicBezTo>
                  <a:lnTo>
                    <a:pt x="22475062" y="0"/>
                  </a:lnTo>
                  <a:cubicBezTo>
                    <a:pt x="22556470" y="0"/>
                    <a:pt x="22622509" y="66040"/>
                    <a:pt x="22622509" y="147447"/>
                  </a:cubicBezTo>
                  <a:lnTo>
                    <a:pt x="22622509" y="2708529"/>
                  </a:lnTo>
                  <a:cubicBezTo>
                    <a:pt x="22622509" y="2789936"/>
                    <a:pt x="22556470" y="2855976"/>
                    <a:pt x="22475062" y="2855976"/>
                  </a:cubicBezTo>
                  <a:lnTo>
                    <a:pt x="147447" y="2855976"/>
                  </a:lnTo>
                  <a:cubicBezTo>
                    <a:pt x="66040" y="2855976"/>
                    <a:pt x="0" y="2789936"/>
                    <a:pt x="0" y="2708529"/>
                  </a:cubicBezTo>
                  <a:close/>
                </a:path>
              </a:pathLst>
            </a:custGeom>
            <a:solidFill>
              <a:srgbClr val="F2F5F8"/>
            </a:solidFill>
            <a:ln w="14299" cap="sq">
              <a:solidFill>
                <a:srgbClr val="D9D9D9"/>
              </a:solidFill>
              <a:prstDash val="solid"/>
              <a:miter/>
            </a:ln>
          </p:spPr>
        </p:sp>
      </p:grpSp>
      <p:sp>
        <p:nvSpPr>
          <p:cNvPr name="TextBox 22" id="22"/>
          <p:cNvSpPr txBox="true"/>
          <p:nvPr/>
        </p:nvSpPr>
        <p:spPr>
          <a:xfrm rot="0">
            <a:off x="1120940" y="7252249"/>
            <a:ext cx="16083286" cy="869432"/>
          </a:xfrm>
          <a:prstGeom prst="rect">
            <a:avLst/>
          </a:prstGeom>
        </p:spPr>
        <p:txBody>
          <a:bodyPr anchor="t" rtlCol="false" tIns="0" lIns="0" bIns="0" rIns="0">
            <a:spAutoFit/>
          </a:bodyPr>
          <a:lstStyle/>
          <a:p>
            <a:pPr algn="l">
              <a:lnSpc>
                <a:spcPts val="2251"/>
              </a:lnSpc>
            </a:pPr>
            <a:r>
              <a:rPr lang="en-US" sz="1876" b="true">
                <a:solidFill>
                  <a:srgbClr val="000000"/>
                </a:solidFill>
                <a:latin typeface="Cabin Bold"/>
                <a:ea typeface="Cabin Bold"/>
                <a:cs typeface="Cabin Bold"/>
                <a:sym typeface="Cabin Bold"/>
              </a:rPr>
              <a:t>3. Trong thực hành, loại dữ liệu nào được ưu tiên sử dụng thay vì RDD?</a:t>
            </a:r>
          </a:p>
        </p:txBody>
      </p:sp>
      <p:sp>
        <p:nvSpPr>
          <p:cNvPr name="TextBox 23" id="23"/>
          <p:cNvSpPr txBox="true"/>
          <p:nvPr/>
        </p:nvSpPr>
        <p:spPr>
          <a:xfrm rot="0">
            <a:off x="1120940" y="8281759"/>
            <a:ext cx="16083286" cy="594893"/>
          </a:xfrm>
          <a:prstGeom prst="rect">
            <a:avLst/>
          </a:prstGeom>
        </p:spPr>
        <p:txBody>
          <a:bodyPr anchor="t" rtlCol="false" tIns="0" lIns="0" bIns="0" rIns="0">
            <a:spAutoFit/>
          </a:bodyPr>
          <a:lstStyle/>
          <a:p>
            <a:pPr algn="l">
              <a:lnSpc>
                <a:spcPts val="2161"/>
              </a:lnSpc>
            </a:pPr>
            <a:r>
              <a:rPr lang="en-US" sz="1801" b="true">
                <a:solidFill>
                  <a:srgbClr val="1F4E79"/>
                </a:solidFill>
                <a:latin typeface="Cabin Bold"/>
                <a:ea typeface="Cabin Bold"/>
                <a:cs typeface="Cabin Bold"/>
                <a:sym typeface="Cabin Bold"/>
              </a:rPr>
              <a:t>Đáp án: </a:t>
            </a:r>
            <a:r>
              <a:rPr lang="en-US" sz="1801">
                <a:solidFill>
                  <a:srgbClr val="1F4E79"/>
                </a:solidFill>
                <a:latin typeface="Cabin"/>
                <a:ea typeface="Cabin"/>
                <a:cs typeface="Cabin"/>
                <a:sym typeface="Cabin"/>
              </a:rPr>
              <a:t>DataFrame</a:t>
            </a:r>
          </a:p>
        </p:txBody>
      </p:sp>
      <p:grpSp>
        <p:nvGrpSpPr>
          <p:cNvPr name="Group 24" id="24"/>
          <p:cNvGrpSpPr/>
          <p:nvPr/>
        </p:nvGrpSpPr>
        <p:grpSpPr>
          <a:xfrm rot="0">
            <a:off x="0" y="9677343"/>
            <a:ext cx="18301840" cy="617706"/>
            <a:chOff x="0" y="0"/>
            <a:chExt cx="24402453" cy="823608"/>
          </a:xfrm>
        </p:grpSpPr>
        <p:sp>
          <p:nvSpPr>
            <p:cNvPr name="Freeform 25" id="25"/>
            <p:cNvSpPr/>
            <p:nvPr/>
          </p:nvSpPr>
          <p:spPr>
            <a:xfrm flipH="false" flipV="false" rot="0">
              <a:off x="0" y="0"/>
              <a:ext cx="24402414" cy="823595"/>
            </a:xfrm>
            <a:custGeom>
              <a:avLst/>
              <a:gdLst/>
              <a:ahLst/>
              <a:cxnLst/>
              <a:rect r="r" b="b" t="t" l="l"/>
              <a:pathLst>
                <a:path h="823595" w="24402414">
                  <a:moveTo>
                    <a:pt x="0" y="0"/>
                  </a:moveTo>
                  <a:lnTo>
                    <a:pt x="24402414" y="0"/>
                  </a:lnTo>
                  <a:lnTo>
                    <a:pt x="24402414" y="823595"/>
                  </a:lnTo>
                  <a:lnTo>
                    <a:pt x="0" y="823595"/>
                  </a:lnTo>
                  <a:close/>
                </a:path>
              </a:pathLst>
            </a:custGeom>
            <a:solidFill>
              <a:srgbClr val="1F4E79"/>
            </a:solidFill>
          </p:spPr>
        </p:sp>
      </p:grpSp>
      <p:grpSp>
        <p:nvGrpSpPr>
          <p:cNvPr name="Group 26" id="26"/>
          <p:cNvGrpSpPr/>
          <p:nvPr/>
        </p:nvGrpSpPr>
        <p:grpSpPr>
          <a:xfrm rot="0">
            <a:off x="480431" y="9677343"/>
            <a:ext cx="10981382" cy="617706"/>
            <a:chOff x="0" y="0"/>
            <a:chExt cx="14641843" cy="823608"/>
          </a:xfrm>
        </p:grpSpPr>
        <p:sp>
          <p:nvSpPr>
            <p:cNvPr name="Freeform 27" id="27"/>
            <p:cNvSpPr/>
            <p:nvPr/>
          </p:nvSpPr>
          <p:spPr>
            <a:xfrm flipH="false" flipV="false" rot="0">
              <a:off x="0" y="0"/>
              <a:ext cx="14641840" cy="823603"/>
            </a:xfrm>
            <a:custGeom>
              <a:avLst/>
              <a:gdLst/>
              <a:ahLst/>
              <a:cxnLst/>
              <a:rect r="r" b="b" t="t" l="l"/>
              <a:pathLst>
                <a:path h="823603" w="14641840">
                  <a:moveTo>
                    <a:pt x="0" y="0"/>
                  </a:moveTo>
                  <a:lnTo>
                    <a:pt x="14641840" y="0"/>
                  </a:lnTo>
                  <a:lnTo>
                    <a:pt x="14641840" y="823603"/>
                  </a:lnTo>
                  <a:lnTo>
                    <a:pt x="0" y="823603"/>
                  </a:lnTo>
                  <a:close/>
                </a:path>
              </a:pathLst>
            </a:custGeom>
            <a:blipFill>
              <a:blip r:embed="rId4">
                <a:alphaModFix amt="0"/>
              </a:blip>
              <a:stretch>
                <a:fillRect l="0" t="-296400" r="0" b="-296401"/>
              </a:stretch>
            </a:blipFill>
          </p:spPr>
        </p:sp>
        <p:sp>
          <p:nvSpPr>
            <p:cNvPr name="TextBox 28" id="28"/>
            <p:cNvSpPr txBox="true"/>
            <p:nvPr/>
          </p:nvSpPr>
          <p:spPr>
            <a:xfrm>
              <a:off x="0" y="0"/>
              <a:ext cx="14641843" cy="823608"/>
            </a:xfrm>
            <a:prstGeom prst="rect">
              <a:avLst/>
            </a:prstGeom>
          </p:spPr>
          <p:txBody>
            <a:bodyPr anchor="ctr" rtlCol="false" tIns="0" lIns="0" bIns="0" rIns="0"/>
            <a:lstStyle/>
            <a:p>
              <a:pPr algn="l">
                <a:lnSpc>
                  <a:spcPts val="1621"/>
                </a:lnSpc>
              </a:pPr>
              <a:r>
                <a:rPr lang="en-US" sz="1351">
                  <a:solidFill>
                    <a:srgbClr val="FFFFFF"/>
                  </a:solidFill>
                  <a:latin typeface="Cabin"/>
                  <a:ea typeface="Cabin"/>
                  <a:cs typeface="Cabin"/>
                  <a:sym typeface="Cabin"/>
                </a:rPr>
                <a:t>VNU UET – Institute for Artificial Intelligence</a:t>
              </a:r>
            </a:p>
          </p:txBody>
        </p:sp>
      </p:grpSp>
      <p:grpSp>
        <p:nvGrpSpPr>
          <p:cNvPr name="Group 29" id="29"/>
          <p:cNvGrpSpPr/>
          <p:nvPr/>
        </p:nvGrpSpPr>
        <p:grpSpPr>
          <a:xfrm rot="0">
            <a:off x="17066438" y="9677343"/>
            <a:ext cx="823608" cy="617706"/>
            <a:chOff x="0" y="0"/>
            <a:chExt cx="1098144" cy="823608"/>
          </a:xfrm>
        </p:grpSpPr>
        <p:sp>
          <p:nvSpPr>
            <p:cNvPr name="Freeform 30" id="30"/>
            <p:cNvSpPr/>
            <p:nvPr/>
          </p:nvSpPr>
          <p:spPr>
            <a:xfrm flipH="false" flipV="false" rot="0">
              <a:off x="0" y="0"/>
              <a:ext cx="1098138" cy="823603"/>
            </a:xfrm>
            <a:custGeom>
              <a:avLst/>
              <a:gdLst/>
              <a:ahLst/>
              <a:cxnLst/>
              <a:rect r="r" b="b" t="t" l="l"/>
              <a:pathLst>
                <a:path h="823603" w="1098138">
                  <a:moveTo>
                    <a:pt x="0" y="0"/>
                  </a:moveTo>
                  <a:lnTo>
                    <a:pt x="1098138" y="0"/>
                  </a:lnTo>
                  <a:lnTo>
                    <a:pt x="1098138" y="823603"/>
                  </a:lnTo>
                  <a:lnTo>
                    <a:pt x="0" y="823603"/>
                  </a:lnTo>
                  <a:close/>
                </a:path>
              </a:pathLst>
            </a:custGeom>
            <a:blipFill>
              <a:blip r:embed="rId4">
                <a:alphaModFix amt="0"/>
              </a:blip>
              <a:stretch>
                <a:fillRect l="-46227" t="0" r="-46228" b="0"/>
              </a:stretch>
            </a:blipFill>
          </p:spPr>
        </p:sp>
        <p:sp>
          <p:nvSpPr>
            <p:cNvPr name="TextBox 31" id="31"/>
            <p:cNvSpPr txBox="true"/>
            <p:nvPr/>
          </p:nvSpPr>
          <p:spPr>
            <a:xfrm>
              <a:off x="0" y="0"/>
              <a:ext cx="1098144" cy="823608"/>
            </a:xfrm>
            <a:prstGeom prst="rect">
              <a:avLst/>
            </a:prstGeom>
          </p:spPr>
          <p:txBody>
            <a:bodyPr anchor="ctr" rtlCol="false" tIns="0" lIns="0" bIns="0" rIns="0"/>
            <a:lstStyle/>
            <a:p>
              <a:pPr algn="r">
                <a:lnSpc>
                  <a:spcPts val="1621"/>
                </a:lnSpc>
              </a:pPr>
              <a:r>
                <a:rPr lang="en-US" sz="1351">
                  <a:solidFill>
                    <a:srgbClr val="FFFFFF"/>
                  </a:solidFill>
                  <a:latin typeface="Cabin"/>
                  <a:ea typeface="Cabin"/>
                  <a:cs typeface="Cabin"/>
                  <a:sym typeface="Cabin"/>
                </a:rPr>
                <a:t>33</a:t>
              </a:r>
            </a:p>
          </p:txBody>
        </p:sp>
      </p:grpSp>
      <p:grpSp>
        <p:nvGrpSpPr>
          <p:cNvPr name="Group 32" id="32"/>
          <p:cNvGrpSpPr/>
          <p:nvPr/>
        </p:nvGrpSpPr>
        <p:grpSpPr>
          <a:xfrm rot="0">
            <a:off x="0" y="0"/>
            <a:ext cx="18288000" cy="315468"/>
            <a:chOff x="0" y="0"/>
            <a:chExt cx="24384000" cy="420624"/>
          </a:xfrm>
        </p:grpSpPr>
        <p:sp>
          <p:nvSpPr>
            <p:cNvPr name="Freeform 33" id="33"/>
            <p:cNvSpPr/>
            <p:nvPr/>
          </p:nvSpPr>
          <p:spPr>
            <a:xfrm flipH="false" flipV="false" rot="0">
              <a:off x="0" y="0"/>
              <a:ext cx="24384000" cy="420624"/>
            </a:xfrm>
            <a:custGeom>
              <a:avLst/>
              <a:gdLst/>
              <a:ahLst/>
              <a:cxnLst/>
              <a:rect r="r" b="b" t="t" l="l"/>
              <a:pathLst>
                <a:path h="420624" w="24384000">
                  <a:moveTo>
                    <a:pt x="0" y="0"/>
                  </a:moveTo>
                  <a:lnTo>
                    <a:pt x="24384000" y="0"/>
                  </a:lnTo>
                  <a:lnTo>
                    <a:pt x="24384000" y="420624"/>
                  </a:lnTo>
                  <a:lnTo>
                    <a:pt x="0" y="420624"/>
                  </a:lnTo>
                  <a:close/>
                </a:path>
              </a:pathLst>
            </a:custGeom>
            <a:solidFill>
              <a:srgbClr val="0F3F6F"/>
            </a:solidFill>
          </p:spPr>
        </p:sp>
      </p:grpSp>
      <p:grpSp>
        <p:nvGrpSpPr>
          <p:cNvPr name="Group 34" id="34"/>
          <p:cNvGrpSpPr/>
          <p:nvPr/>
        </p:nvGrpSpPr>
        <p:grpSpPr>
          <a:xfrm rot="0">
            <a:off x="13098780" y="0"/>
            <a:ext cx="1453896" cy="1508760"/>
            <a:chOff x="0" y="0"/>
            <a:chExt cx="1938528" cy="2011680"/>
          </a:xfrm>
        </p:grpSpPr>
        <p:sp>
          <p:nvSpPr>
            <p:cNvPr name="Freeform 35" id="35"/>
            <p:cNvSpPr/>
            <p:nvPr/>
          </p:nvSpPr>
          <p:spPr>
            <a:xfrm flipH="false" flipV="false" rot="0">
              <a:off x="0" y="0"/>
              <a:ext cx="1938528" cy="2011680"/>
            </a:xfrm>
            <a:custGeom>
              <a:avLst/>
              <a:gdLst/>
              <a:ahLst/>
              <a:cxnLst/>
              <a:rect r="r" b="b" t="t" l="l"/>
              <a:pathLst>
                <a:path h="2011680" w="1938528">
                  <a:moveTo>
                    <a:pt x="0" y="2011680"/>
                  </a:moveTo>
                  <a:lnTo>
                    <a:pt x="484632" y="0"/>
                  </a:lnTo>
                  <a:lnTo>
                    <a:pt x="1938528" y="0"/>
                  </a:lnTo>
                  <a:lnTo>
                    <a:pt x="1453896" y="2011680"/>
                  </a:lnTo>
                  <a:close/>
                </a:path>
              </a:pathLst>
            </a:custGeom>
            <a:solidFill>
              <a:srgbClr val="85B518"/>
            </a:solidFill>
          </p:spPr>
        </p:sp>
      </p:grpSp>
      <p:grpSp>
        <p:nvGrpSpPr>
          <p:cNvPr name="Group 36" id="36"/>
          <p:cNvGrpSpPr/>
          <p:nvPr/>
        </p:nvGrpSpPr>
        <p:grpSpPr>
          <a:xfrm rot="0">
            <a:off x="14621256" y="0"/>
            <a:ext cx="1508760" cy="1508760"/>
            <a:chOff x="0" y="0"/>
            <a:chExt cx="2011680" cy="2011680"/>
          </a:xfrm>
        </p:grpSpPr>
        <p:sp>
          <p:nvSpPr>
            <p:cNvPr name="Freeform 37" id="37"/>
            <p:cNvSpPr/>
            <p:nvPr/>
          </p:nvSpPr>
          <p:spPr>
            <a:xfrm flipH="false" flipV="false" rot="0">
              <a:off x="0" y="0"/>
              <a:ext cx="2011680" cy="2011680"/>
            </a:xfrm>
            <a:custGeom>
              <a:avLst/>
              <a:gdLst/>
              <a:ahLst/>
              <a:cxnLst/>
              <a:rect r="r" b="b" t="t" l="l"/>
              <a:pathLst>
                <a:path h="2011680" w="2011680">
                  <a:moveTo>
                    <a:pt x="0" y="2011680"/>
                  </a:moveTo>
                  <a:lnTo>
                    <a:pt x="502920" y="0"/>
                  </a:lnTo>
                  <a:lnTo>
                    <a:pt x="2011680" y="0"/>
                  </a:lnTo>
                  <a:lnTo>
                    <a:pt x="1508760" y="2011680"/>
                  </a:lnTo>
                  <a:close/>
                </a:path>
              </a:pathLst>
            </a:custGeom>
            <a:solidFill>
              <a:srgbClr val="0F3F6F"/>
            </a:solidFill>
          </p:spPr>
        </p:sp>
      </p:gr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97801" y="384353"/>
            <a:ext cx="851059" cy="851059"/>
            <a:chOff x="0" y="0"/>
            <a:chExt cx="1134745" cy="1134745"/>
          </a:xfrm>
        </p:grpSpPr>
        <p:sp>
          <p:nvSpPr>
            <p:cNvPr name="Freeform 3" id="3" descr="/home/claude/work/assets/logo.png"/>
            <p:cNvSpPr/>
            <p:nvPr/>
          </p:nvSpPr>
          <p:spPr>
            <a:xfrm flipH="false" flipV="false" rot="0">
              <a:off x="0" y="0"/>
              <a:ext cx="1134745" cy="1134745"/>
            </a:xfrm>
            <a:custGeom>
              <a:avLst/>
              <a:gdLst/>
              <a:ahLst/>
              <a:cxnLst/>
              <a:rect r="r" b="b" t="t" l="l"/>
              <a:pathLst>
                <a:path h="1134745" w="1134745">
                  <a:moveTo>
                    <a:pt x="0" y="0"/>
                  </a:moveTo>
                  <a:lnTo>
                    <a:pt x="1134745" y="0"/>
                  </a:lnTo>
                  <a:lnTo>
                    <a:pt x="1134745" y="1134745"/>
                  </a:lnTo>
                  <a:lnTo>
                    <a:pt x="0" y="1134745"/>
                  </a:lnTo>
                  <a:lnTo>
                    <a:pt x="0" y="0"/>
                  </a:lnTo>
                  <a:close/>
                </a:path>
              </a:pathLst>
            </a:custGeom>
            <a:blipFill>
              <a:blip r:embed="rId3"/>
              <a:stretch>
                <a:fillRect l="0" t="0" r="0" b="0"/>
              </a:stretch>
            </a:blipFill>
          </p:spPr>
        </p:sp>
      </p:grpSp>
      <p:grpSp>
        <p:nvGrpSpPr>
          <p:cNvPr name="Group 4" id="4"/>
          <p:cNvGrpSpPr/>
          <p:nvPr/>
        </p:nvGrpSpPr>
        <p:grpSpPr>
          <a:xfrm rot="0">
            <a:off x="4727540" y="1718809"/>
            <a:ext cx="8832919" cy="5277671"/>
            <a:chOff x="0" y="0"/>
            <a:chExt cx="7320915" cy="4374248"/>
          </a:xfrm>
        </p:grpSpPr>
        <p:sp>
          <p:nvSpPr>
            <p:cNvPr name="Freeform 5" id="5" descr="/home/claude/work/assets/thankyou.png"/>
            <p:cNvSpPr/>
            <p:nvPr/>
          </p:nvSpPr>
          <p:spPr>
            <a:xfrm flipH="false" flipV="false" rot="0">
              <a:off x="0" y="0"/>
              <a:ext cx="7320915" cy="4374261"/>
            </a:xfrm>
            <a:custGeom>
              <a:avLst/>
              <a:gdLst/>
              <a:ahLst/>
              <a:cxnLst/>
              <a:rect r="r" b="b" t="t" l="l"/>
              <a:pathLst>
                <a:path h="4374261" w="7320915">
                  <a:moveTo>
                    <a:pt x="0" y="0"/>
                  </a:moveTo>
                  <a:lnTo>
                    <a:pt x="7320915" y="0"/>
                  </a:lnTo>
                  <a:lnTo>
                    <a:pt x="7320915" y="4374261"/>
                  </a:lnTo>
                  <a:lnTo>
                    <a:pt x="0" y="4374261"/>
                  </a:lnTo>
                  <a:lnTo>
                    <a:pt x="0" y="0"/>
                  </a:lnTo>
                  <a:close/>
                </a:path>
              </a:pathLst>
            </a:custGeom>
            <a:blipFill>
              <a:blip r:embed="rId4"/>
              <a:stretch>
                <a:fillRect l="0" t="-49" r="0" b="-48"/>
              </a:stretch>
            </a:blipFill>
          </p:spPr>
        </p:sp>
      </p:grpSp>
      <p:grpSp>
        <p:nvGrpSpPr>
          <p:cNvPr name="Group 6" id="6"/>
          <p:cNvGrpSpPr/>
          <p:nvPr/>
        </p:nvGrpSpPr>
        <p:grpSpPr>
          <a:xfrm rot="0">
            <a:off x="1388402" y="7206529"/>
            <a:ext cx="15511196" cy="549069"/>
            <a:chOff x="0" y="0"/>
            <a:chExt cx="20681594" cy="732092"/>
          </a:xfrm>
        </p:grpSpPr>
        <p:sp>
          <p:nvSpPr>
            <p:cNvPr name="Freeform 7" id="7"/>
            <p:cNvSpPr/>
            <p:nvPr/>
          </p:nvSpPr>
          <p:spPr>
            <a:xfrm flipH="false" flipV="false" rot="0">
              <a:off x="0" y="0"/>
              <a:ext cx="20681598" cy="732092"/>
            </a:xfrm>
            <a:custGeom>
              <a:avLst/>
              <a:gdLst/>
              <a:ahLst/>
              <a:cxnLst/>
              <a:rect r="r" b="b" t="t" l="l"/>
              <a:pathLst>
                <a:path h="732092" w="20681598">
                  <a:moveTo>
                    <a:pt x="0" y="0"/>
                  </a:moveTo>
                  <a:lnTo>
                    <a:pt x="20681598" y="0"/>
                  </a:lnTo>
                  <a:lnTo>
                    <a:pt x="20681598" y="732092"/>
                  </a:lnTo>
                  <a:lnTo>
                    <a:pt x="0" y="732092"/>
                  </a:lnTo>
                  <a:close/>
                </a:path>
              </a:pathLst>
            </a:custGeom>
            <a:blipFill>
              <a:blip r:embed="rId5">
                <a:alphaModFix amt="0"/>
              </a:blip>
              <a:stretch>
                <a:fillRect l="0" t="-500451" r="0" b="-500451"/>
              </a:stretch>
            </a:blipFill>
          </p:spPr>
        </p:sp>
        <p:sp>
          <p:nvSpPr>
            <p:cNvPr name="TextBox 8" id="8"/>
            <p:cNvSpPr txBox="true"/>
            <p:nvPr/>
          </p:nvSpPr>
          <p:spPr>
            <a:xfrm>
              <a:off x="0" y="0"/>
              <a:ext cx="20681594" cy="732092"/>
            </a:xfrm>
            <a:prstGeom prst="rect">
              <a:avLst/>
            </a:prstGeom>
          </p:spPr>
          <p:txBody>
            <a:bodyPr anchor="ctr" rtlCol="false" tIns="0" lIns="0" bIns="0" rIns="0"/>
            <a:lstStyle/>
            <a:p>
              <a:pPr algn="ctr">
                <a:lnSpc>
                  <a:spcPts val="2521"/>
                </a:lnSpc>
              </a:pPr>
              <a:r>
                <a:rPr lang="en-US" sz="2101" b="true">
                  <a:solidFill>
                    <a:srgbClr val="85B518"/>
                  </a:solidFill>
                  <a:latin typeface="Cabin Bold"/>
                  <a:ea typeface="Cabin Bold"/>
                  <a:cs typeface="Cabin Bold"/>
                  <a:sym typeface="Cabin Bold"/>
                </a:rPr>
                <a:t>Bài tiếp theo: Spark MLlib &amp; Machine Learning cơ bản</a:t>
              </a:r>
            </a:p>
          </p:txBody>
        </p:sp>
      </p:grpSp>
      <p:grpSp>
        <p:nvGrpSpPr>
          <p:cNvPr name="Group 9" id="9"/>
          <p:cNvGrpSpPr/>
          <p:nvPr/>
        </p:nvGrpSpPr>
        <p:grpSpPr>
          <a:xfrm rot="0">
            <a:off x="3317062" y="7755598"/>
            <a:ext cx="11667715" cy="1921745"/>
            <a:chOff x="0" y="0"/>
            <a:chExt cx="15556954" cy="2562327"/>
          </a:xfrm>
        </p:grpSpPr>
        <p:sp>
          <p:nvSpPr>
            <p:cNvPr name="Freeform 10" id="10"/>
            <p:cNvSpPr/>
            <p:nvPr/>
          </p:nvSpPr>
          <p:spPr>
            <a:xfrm flipH="false" flipV="false" rot="0">
              <a:off x="0" y="0"/>
              <a:ext cx="15556954" cy="2562322"/>
            </a:xfrm>
            <a:custGeom>
              <a:avLst/>
              <a:gdLst/>
              <a:ahLst/>
              <a:cxnLst/>
              <a:rect r="r" b="b" t="t" l="l"/>
              <a:pathLst>
                <a:path h="2562322" w="15556954">
                  <a:moveTo>
                    <a:pt x="0" y="0"/>
                  </a:moveTo>
                  <a:lnTo>
                    <a:pt x="15556954" y="0"/>
                  </a:lnTo>
                  <a:lnTo>
                    <a:pt x="15556954" y="2562322"/>
                  </a:lnTo>
                  <a:lnTo>
                    <a:pt x="0" y="2562322"/>
                  </a:lnTo>
                  <a:close/>
                </a:path>
              </a:pathLst>
            </a:custGeom>
            <a:blipFill>
              <a:blip r:embed="rId5">
                <a:alphaModFix amt="0"/>
              </a:blip>
              <a:stretch>
                <a:fillRect l="0" t="-68301" r="0" b="-68302"/>
              </a:stretch>
            </a:blipFill>
          </p:spPr>
        </p:sp>
        <p:sp>
          <p:nvSpPr>
            <p:cNvPr name="TextBox 11" id="11"/>
            <p:cNvSpPr txBox="true"/>
            <p:nvPr/>
          </p:nvSpPr>
          <p:spPr>
            <a:xfrm>
              <a:off x="0" y="-57150"/>
              <a:ext cx="15556954" cy="2619477"/>
            </a:xfrm>
            <a:prstGeom prst="rect">
              <a:avLst/>
            </a:prstGeom>
          </p:spPr>
          <p:txBody>
            <a:bodyPr anchor="ctr" rtlCol="false" tIns="0" lIns="0" bIns="0" rIns="0"/>
            <a:lstStyle/>
            <a:p>
              <a:pPr algn="l" marL="312670" indent="-156335" lvl="1">
                <a:lnSpc>
                  <a:spcPts val="2693"/>
                </a:lnSpc>
                <a:buFont typeface="Arial"/>
                <a:buChar char="•"/>
              </a:pPr>
              <a:r>
                <a:rPr lang="en-US" sz="1726">
                  <a:solidFill>
                    <a:srgbClr val="4A4A4A"/>
                  </a:solidFill>
                  <a:latin typeface="Cabin"/>
                  <a:ea typeface="Cabin"/>
                  <a:cs typeface="Cabin"/>
                  <a:sym typeface="Cabin"/>
                </a:rPr>
                <a:t>Tài liệu tham khảo: hướng dẫn cài đặt Spark/PySpark sẽ được chia sẻ trên LMS</a:t>
              </a:r>
            </a:p>
            <a:p>
              <a:pPr algn="l" marL="312670" indent="-156335" lvl="1">
                <a:lnSpc>
                  <a:spcPts val="2693"/>
                </a:lnSpc>
                <a:buFont typeface="Arial"/>
                <a:buChar char="•"/>
              </a:pPr>
              <a:r>
                <a:rPr lang="en-US" sz="1726">
                  <a:solidFill>
                    <a:srgbClr val="4A4A4A"/>
                  </a:solidFill>
                  <a:latin typeface="Cabin"/>
                  <a:ea typeface="Cabin"/>
                  <a:cs typeface="Cabin"/>
                  <a:sym typeface="Cabin"/>
                </a:rPr>
                <a:t>Liên hệ giảng viên/trợ giảng nếu gặp lỗi khi cài đặt hoặc chạy PySpark</a:t>
              </a:r>
            </a:p>
            <a:p>
              <a:pPr algn="l" marL="312670" indent="-156335" lvl="1">
                <a:lnSpc>
                  <a:spcPts val="2693"/>
                </a:lnSpc>
                <a:buFont typeface="Arial"/>
                <a:buChar char="•"/>
              </a:pPr>
              <a:r>
                <a:rPr lang="en-US" sz="1726">
                  <a:solidFill>
                    <a:srgbClr val="4A4A4A"/>
                  </a:solidFill>
                  <a:latin typeface="Cabin"/>
                  <a:ea typeface="Cabin"/>
                  <a:cs typeface="Cabin"/>
                  <a:sym typeface="Cabin"/>
                </a:rPr>
                <a:t>Hoàn thiện bảng so sánh MapReduce vs Spark trước buổi học tiếp theo</a:t>
              </a:r>
            </a:p>
          </p:txBody>
        </p:sp>
      </p:grpSp>
      <p:grpSp>
        <p:nvGrpSpPr>
          <p:cNvPr name="Group 12" id="12"/>
          <p:cNvGrpSpPr/>
          <p:nvPr/>
        </p:nvGrpSpPr>
        <p:grpSpPr>
          <a:xfrm rot="0">
            <a:off x="0" y="9677343"/>
            <a:ext cx="18301840" cy="617706"/>
            <a:chOff x="0" y="0"/>
            <a:chExt cx="24402453" cy="823608"/>
          </a:xfrm>
        </p:grpSpPr>
        <p:sp>
          <p:nvSpPr>
            <p:cNvPr name="Freeform 13" id="13"/>
            <p:cNvSpPr/>
            <p:nvPr/>
          </p:nvSpPr>
          <p:spPr>
            <a:xfrm flipH="false" flipV="false" rot="0">
              <a:off x="0" y="0"/>
              <a:ext cx="24402414" cy="823595"/>
            </a:xfrm>
            <a:custGeom>
              <a:avLst/>
              <a:gdLst/>
              <a:ahLst/>
              <a:cxnLst/>
              <a:rect r="r" b="b" t="t" l="l"/>
              <a:pathLst>
                <a:path h="823595" w="24402414">
                  <a:moveTo>
                    <a:pt x="0" y="0"/>
                  </a:moveTo>
                  <a:lnTo>
                    <a:pt x="24402414" y="0"/>
                  </a:lnTo>
                  <a:lnTo>
                    <a:pt x="24402414" y="823595"/>
                  </a:lnTo>
                  <a:lnTo>
                    <a:pt x="0" y="823595"/>
                  </a:lnTo>
                  <a:close/>
                </a:path>
              </a:pathLst>
            </a:custGeom>
            <a:solidFill>
              <a:srgbClr val="1F4E79"/>
            </a:solidFill>
          </p:spPr>
        </p:sp>
      </p:grpSp>
      <p:grpSp>
        <p:nvGrpSpPr>
          <p:cNvPr name="Group 14" id="14"/>
          <p:cNvGrpSpPr/>
          <p:nvPr/>
        </p:nvGrpSpPr>
        <p:grpSpPr>
          <a:xfrm rot="0">
            <a:off x="480431" y="9677343"/>
            <a:ext cx="10981382" cy="617706"/>
            <a:chOff x="0" y="0"/>
            <a:chExt cx="14641843" cy="823608"/>
          </a:xfrm>
        </p:grpSpPr>
        <p:sp>
          <p:nvSpPr>
            <p:cNvPr name="Freeform 15" id="15"/>
            <p:cNvSpPr/>
            <p:nvPr/>
          </p:nvSpPr>
          <p:spPr>
            <a:xfrm flipH="false" flipV="false" rot="0">
              <a:off x="0" y="0"/>
              <a:ext cx="14641840" cy="823603"/>
            </a:xfrm>
            <a:custGeom>
              <a:avLst/>
              <a:gdLst/>
              <a:ahLst/>
              <a:cxnLst/>
              <a:rect r="r" b="b" t="t" l="l"/>
              <a:pathLst>
                <a:path h="823603" w="14641840">
                  <a:moveTo>
                    <a:pt x="0" y="0"/>
                  </a:moveTo>
                  <a:lnTo>
                    <a:pt x="14641840" y="0"/>
                  </a:lnTo>
                  <a:lnTo>
                    <a:pt x="14641840" y="823603"/>
                  </a:lnTo>
                  <a:lnTo>
                    <a:pt x="0" y="823603"/>
                  </a:lnTo>
                  <a:close/>
                </a:path>
              </a:pathLst>
            </a:custGeom>
            <a:blipFill>
              <a:blip r:embed="rId5">
                <a:alphaModFix amt="0"/>
              </a:blip>
              <a:stretch>
                <a:fillRect l="0" t="-296400" r="0" b="-296401"/>
              </a:stretch>
            </a:blipFill>
          </p:spPr>
        </p:sp>
        <p:sp>
          <p:nvSpPr>
            <p:cNvPr name="TextBox 16" id="16"/>
            <p:cNvSpPr txBox="true"/>
            <p:nvPr/>
          </p:nvSpPr>
          <p:spPr>
            <a:xfrm>
              <a:off x="0" y="0"/>
              <a:ext cx="14641843" cy="823608"/>
            </a:xfrm>
            <a:prstGeom prst="rect">
              <a:avLst/>
            </a:prstGeom>
          </p:spPr>
          <p:txBody>
            <a:bodyPr anchor="ctr" rtlCol="false" tIns="0" lIns="0" bIns="0" rIns="0"/>
            <a:lstStyle/>
            <a:p>
              <a:pPr algn="l">
                <a:lnSpc>
                  <a:spcPts val="1621"/>
                </a:lnSpc>
              </a:pPr>
              <a:r>
                <a:rPr lang="en-US" sz="1351">
                  <a:solidFill>
                    <a:srgbClr val="FFFFFF"/>
                  </a:solidFill>
                  <a:latin typeface="Cabin"/>
                  <a:ea typeface="Cabin"/>
                  <a:cs typeface="Cabin"/>
                  <a:sym typeface="Cabin"/>
                </a:rPr>
                <a:t>VNU UET – Institute for Artificial Intelligence</a:t>
              </a:r>
            </a:p>
          </p:txBody>
        </p:sp>
      </p:grpSp>
      <p:grpSp>
        <p:nvGrpSpPr>
          <p:cNvPr name="Group 17" id="17"/>
          <p:cNvGrpSpPr/>
          <p:nvPr/>
        </p:nvGrpSpPr>
        <p:grpSpPr>
          <a:xfrm rot="0">
            <a:off x="17066438" y="9677343"/>
            <a:ext cx="823608" cy="617706"/>
            <a:chOff x="0" y="0"/>
            <a:chExt cx="1098144" cy="823608"/>
          </a:xfrm>
        </p:grpSpPr>
        <p:sp>
          <p:nvSpPr>
            <p:cNvPr name="Freeform 18" id="18"/>
            <p:cNvSpPr/>
            <p:nvPr/>
          </p:nvSpPr>
          <p:spPr>
            <a:xfrm flipH="false" flipV="false" rot="0">
              <a:off x="0" y="0"/>
              <a:ext cx="1098138" cy="823603"/>
            </a:xfrm>
            <a:custGeom>
              <a:avLst/>
              <a:gdLst/>
              <a:ahLst/>
              <a:cxnLst/>
              <a:rect r="r" b="b" t="t" l="l"/>
              <a:pathLst>
                <a:path h="823603" w="1098138">
                  <a:moveTo>
                    <a:pt x="0" y="0"/>
                  </a:moveTo>
                  <a:lnTo>
                    <a:pt x="1098138" y="0"/>
                  </a:lnTo>
                  <a:lnTo>
                    <a:pt x="1098138" y="823603"/>
                  </a:lnTo>
                  <a:lnTo>
                    <a:pt x="0" y="823603"/>
                  </a:lnTo>
                  <a:close/>
                </a:path>
              </a:pathLst>
            </a:custGeom>
            <a:blipFill>
              <a:blip r:embed="rId5">
                <a:alphaModFix amt="0"/>
              </a:blip>
              <a:stretch>
                <a:fillRect l="-46227" t="0" r="-46228" b="0"/>
              </a:stretch>
            </a:blipFill>
          </p:spPr>
        </p:sp>
        <p:sp>
          <p:nvSpPr>
            <p:cNvPr name="TextBox 19" id="19"/>
            <p:cNvSpPr txBox="true"/>
            <p:nvPr/>
          </p:nvSpPr>
          <p:spPr>
            <a:xfrm>
              <a:off x="0" y="0"/>
              <a:ext cx="1098144" cy="823608"/>
            </a:xfrm>
            <a:prstGeom prst="rect">
              <a:avLst/>
            </a:prstGeom>
          </p:spPr>
          <p:txBody>
            <a:bodyPr anchor="ctr" rtlCol="false" tIns="0" lIns="0" bIns="0" rIns="0"/>
            <a:lstStyle/>
            <a:p>
              <a:pPr algn="r">
                <a:lnSpc>
                  <a:spcPts val="1621"/>
                </a:lnSpc>
              </a:pPr>
              <a:r>
                <a:rPr lang="en-US" sz="1351">
                  <a:solidFill>
                    <a:srgbClr val="FFFFFF"/>
                  </a:solidFill>
                  <a:latin typeface="Cabin"/>
                  <a:ea typeface="Cabin"/>
                  <a:cs typeface="Cabin"/>
                  <a:sym typeface="Cabin"/>
                </a:rPr>
                <a:t>34</a:t>
              </a:r>
            </a:p>
          </p:txBody>
        </p:sp>
      </p:grpSp>
      <p:grpSp>
        <p:nvGrpSpPr>
          <p:cNvPr name="Group 20" id="20"/>
          <p:cNvGrpSpPr/>
          <p:nvPr/>
        </p:nvGrpSpPr>
        <p:grpSpPr>
          <a:xfrm rot="0">
            <a:off x="0" y="0"/>
            <a:ext cx="18288000" cy="315468"/>
            <a:chOff x="0" y="0"/>
            <a:chExt cx="24384000" cy="420624"/>
          </a:xfrm>
        </p:grpSpPr>
        <p:sp>
          <p:nvSpPr>
            <p:cNvPr name="Freeform 21" id="21"/>
            <p:cNvSpPr/>
            <p:nvPr/>
          </p:nvSpPr>
          <p:spPr>
            <a:xfrm flipH="false" flipV="false" rot="0">
              <a:off x="0" y="0"/>
              <a:ext cx="24384000" cy="420624"/>
            </a:xfrm>
            <a:custGeom>
              <a:avLst/>
              <a:gdLst/>
              <a:ahLst/>
              <a:cxnLst/>
              <a:rect r="r" b="b" t="t" l="l"/>
              <a:pathLst>
                <a:path h="420624" w="24384000">
                  <a:moveTo>
                    <a:pt x="0" y="0"/>
                  </a:moveTo>
                  <a:lnTo>
                    <a:pt x="24384000" y="0"/>
                  </a:lnTo>
                  <a:lnTo>
                    <a:pt x="24384000" y="420624"/>
                  </a:lnTo>
                  <a:lnTo>
                    <a:pt x="0" y="420624"/>
                  </a:lnTo>
                  <a:close/>
                </a:path>
              </a:pathLst>
            </a:custGeom>
            <a:solidFill>
              <a:srgbClr val="0F3F6F"/>
            </a:solidFill>
          </p:spPr>
        </p:sp>
      </p:grpSp>
      <p:grpSp>
        <p:nvGrpSpPr>
          <p:cNvPr name="Group 22" id="22"/>
          <p:cNvGrpSpPr/>
          <p:nvPr/>
        </p:nvGrpSpPr>
        <p:grpSpPr>
          <a:xfrm rot="0">
            <a:off x="13098780" y="0"/>
            <a:ext cx="1453896" cy="1508760"/>
            <a:chOff x="0" y="0"/>
            <a:chExt cx="1938528" cy="2011680"/>
          </a:xfrm>
        </p:grpSpPr>
        <p:sp>
          <p:nvSpPr>
            <p:cNvPr name="Freeform 23" id="23"/>
            <p:cNvSpPr/>
            <p:nvPr/>
          </p:nvSpPr>
          <p:spPr>
            <a:xfrm flipH="false" flipV="false" rot="0">
              <a:off x="0" y="0"/>
              <a:ext cx="1938528" cy="2011680"/>
            </a:xfrm>
            <a:custGeom>
              <a:avLst/>
              <a:gdLst/>
              <a:ahLst/>
              <a:cxnLst/>
              <a:rect r="r" b="b" t="t" l="l"/>
              <a:pathLst>
                <a:path h="2011680" w="1938528">
                  <a:moveTo>
                    <a:pt x="0" y="2011680"/>
                  </a:moveTo>
                  <a:lnTo>
                    <a:pt x="484632" y="0"/>
                  </a:lnTo>
                  <a:lnTo>
                    <a:pt x="1938528" y="0"/>
                  </a:lnTo>
                  <a:lnTo>
                    <a:pt x="1453896" y="2011680"/>
                  </a:lnTo>
                  <a:close/>
                </a:path>
              </a:pathLst>
            </a:custGeom>
            <a:solidFill>
              <a:srgbClr val="85B518"/>
            </a:solidFill>
          </p:spPr>
        </p:sp>
      </p:grpSp>
      <p:grpSp>
        <p:nvGrpSpPr>
          <p:cNvPr name="Group 24" id="24"/>
          <p:cNvGrpSpPr/>
          <p:nvPr/>
        </p:nvGrpSpPr>
        <p:grpSpPr>
          <a:xfrm rot="0">
            <a:off x="14621256" y="0"/>
            <a:ext cx="1508760" cy="1508760"/>
            <a:chOff x="0" y="0"/>
            <a:chExt cx="2011680" cy="2011680"/>
          </a:xfrm>
        </p:grpSpPr>
        <p:sp>
          <p:nvSpPr>
            <p:cNvPr name="Freeform 25" id="25"/>
            <p:cNvSpPr/>
            <p:nvPr/>
          </p:nvSpPr>
          <p:spPr>
            <a:xfrm flipH="false" flipV="false" rot="0">
              <a:off x="0" y="0"/>
              <a:ext cx="2011680" cy="2011680"/>
            </a:xfrm>
            <a:custGeom>
              <a:avLst/>
              <a:gdLst/>
              <a:ahLst/>
              <a:cxnLst/>
              <a:rect r="r" b="b" t="t" l="l"/>
              <a:pathLst>
                <a:path h="2011680" w="2011680">
                  <a:moveTo>
                    <a:pt x="0" y="2011680"/>
                  </a:moveTo>
                  <a:lnTo>
                    <a:pt x="502920" y="0"/>
                  </a:lnTo>
                  <a:lnTo>
                    <a:pt x="2011680" y="0"/>
                  </a:lnTo>
                  <a:lnTo>
                    <a:pt x="1508760" y="2011680"/>
                  </a:lnTo>
                  <a:close/>
                </a:path>
              </a:pathLst>
            </a:custGeom>
            <a:solidFill>
              <a:srgbClr val="0F3F6F"/>
            </a:solid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DAHTHLhqDuQ</dc:identifier>
  <dcterms:modified xsi:type="dcterms:W3CDTF">2011-08-01T06:04:30Z</dcterms:modified>
  <cp:revision>1</cp:revision>
  <dc:title>SS2026_Lesson5_Apache Spark và xử lý dữ liệu phân tán với PySpark.pptx</dc:title>
</cp:coreProperties>
</file>
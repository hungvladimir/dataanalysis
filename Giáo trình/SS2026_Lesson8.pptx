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320040" y="-137160"/>
            <a:ext cx="3886200" cy="1024128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247888" y="5989320"/>
            <a:ext cx="4160520" cy="1024128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85e423d-ca97-4670-a2c8-fc9a156df9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509" y="54864"/>
            <a:ext cx="1670033" cy="841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" y="1664208"/>
            <a:ext cx="11292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0F3F6F"/>
                </a:solidFill>
                <a:latin typeface="Aptos Narrow"/>
              </a:rPr>
              <a:t>Phân tích thống kê, lựa chọn đặc trưng
và giảm chiều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200400"/>
            <a:ext cx="11109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20">
                <a:solidFill>
                  <a:srgbClr val="435266"/>
                </a:solidFill>
                <a:latin typeface="Aptos"/>
              </a:rPr>
              <a:t>8.1 Tổng quan thống kê  •  8.2 Mean/Median/Mode/Variance/Std  •  8.3 Distribution
8.4 Correlation  •  8.5 Feature Selection  •  8.6 Feature Extraction  •  8.7 Giảm chiều dữ liệu
8.8 PCA  •  8.9 SVD  •  Thực hành Bài 8
Bổ sung theo đề cương: đọc thống kê đúng ngữ cảnh, chuẩn hóa trước PCA, explained variance, lựa chọn feature và PCA vs SVD.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2179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 Narrow"/>
              </a:rPr>
              <a:t>Bài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Chương trình buổi học (4 giờ)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</a:t>
            </a:r>
          </a:p>
        </p:txBody>
      </p:sp>
      <p:pic>
        <p:nvPicPr>
          <p:cNvPr id="8" name="Picture 7" descr="body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Mục tiêu học tập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</a:t>
            </a:r>
          </a:p>
        </p:txBody>
      </p:sp>
      <p:pic>
        <p:nvPicPr>
          <p:cNvPr id="8" name="Picture 7" descr="body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Lộ trình khóa học Big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</a:t>
            </a:r>
          </a:p>
        </p:txBody>
      </p:sp>
      <p:pic>
        <p:nvPicPr>
          <p:cNvPr id="8" name="Picture 7" descr="body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8.1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Tổng quan về phân tích thống kê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Vai trò của thống kê, thống kê mô tả, biến số và mẫu dữ liệu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Vai trò của thống kê trong phân tích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6</a:t>
            </a:r>
          </a:p>
        </p:txBody>
      </p:sp>
      <p:pic>
        <p:nvPicPr>
          <p:cNvPr id="8" name="Picture 7" descr="body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Từ dữ liệu thô đến quyết định thống kê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Thống kê trong Bài 8 đóng vai trò nền tảng trước khi đi sâu sang mô hình hóa và machine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246120" cy="4407408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Mô tả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Mean / Median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Variance / Std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Distribution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481328"/>
            <a:ext cx="3246120" cy="4407408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So sánh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Theo nhóm / thời gian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Phát hiện khác biệt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Tìm mối liên hệ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5" y="1481328"/>
            <a:ext cx="3246120" cy="4407408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Chuẩn bị cho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Chọn feature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Giảm nhiễu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Giảm chiều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8.2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Các đại lượng thống kê cơ bản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Mean, Median, Mode, Variance và Standard Deviation qua ví dụ doanh nghiệp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Ví dụ: doanh thu 5 chi nhánh (triệu đồng)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9</a:t>
            </a:r>
          </a:p>
        </p:txBody>
      </p:sp>
      <p:pic>
        <p:nvPicPr>
          <p:cNvPr id="8" name="Picture 7" descr="body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Mean và Median — khi nào khác nhau nhiều?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029200" cy="457200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Sử dụng toàn bộ giá trị nên nhạy với outlier.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Phù hợp khi dữ liệu tương đối cân bằng.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Thường dùng cho các KPI tổng hợp.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5029200" cy="4572000"/>
          </a:xfrm>
          <a:prstGeom prst="roundRect">
            <a:avLst/>
          </a:prstGeom>
          <a:solidFill>
            <a:srgbClr val="E9F3D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Median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Ít bị ảnh hưởng bởi giá trị cực đoan.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Phù hợp khi dữ liệu lệch hoặc có outlier.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Hữu ích với thu nhập, giá trị đơn hàng, thời gian xử lý.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50" i="1">
                <a:solidFill>
                  <a:srgbClr val="0F3F6F"/>
                </a:solidFill>
                <a:latin typeface="Aptos"/>
              </a:rPr>
              <a:t>Khi Mean và Median chênh lệch lớn, đó có thể là tín hiệu dữ liệu bị skew hoặc chứa outlier.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Variance và Standard Deviation — đọc thế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Đề cương yêu cầu Variance và Standard Deviation ở mức cơ bản; trọng tâm là cách diễn giải trong dữ liệu doanh nghiệp.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36192"/>
            <a:ext cx="2926080" cy="74980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Khái niệm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536192"/>
            <a:ext cx="3474720" cy="74980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Ý nghĩa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536192"/>
            <a:ext cx="4297680" cy="74980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Điểm cần nhớ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286000"/>
            <a:ext cx="292608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Variance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286000"/>
            <a:ext cx="347472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Mức phân tán bình phương quanh Mean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286000"/>
            <a:ext cx="429768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Đơn vị bị bình phương, ít trực quan hơn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35808"/>
            <a:ext cx="292608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Standard Deviation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035808"/>
            <a:ext cx="347472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Căn bậc hai của Variance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035808"/>
            <a:ext cx="429768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Cùng đơn vị với dữ liệu gốc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85615"/>
            <a:ext cx="292608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Std nhỏ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785615"/>
            <a:ext cx="347472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Các giá trị tập trung gần Mean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785615"/>
            <a:ext cx="429768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Quá trình có thể ổn định hơn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535424"/>
            <a:ext cx="292608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Std lớn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535424"/>
            <a:ext cx="347472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Dữ liệu biến động mạnh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4535424"/>
            <a:ext cx="429768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Cần kiểm tra nhóm, outlier hoặc yếu tố bất thường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8.3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Phân tích phân phối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Histogram, Normal Distribution, Skewness, Outlier và Boxplot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Distribution và Histogram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13</a:t>
            </a:r>
          </a:p>
        </p:txBody>
      </p:sp>
      <p:pic>
        <p:nvPicPr>
          <p:cNvPr id="8" name="Picture 7" descr="body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Skewness, Outlier và Boxplot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14</a:t>
            </a:r>
          </a:p>
        </p:txBody>
      </p:sp>
      <p:pic>
        <p:nvPicPr>
          <p:cNvPr id="8" name="Picture 7" descr="body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Checklist đọc một phân phối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Không chỉ nhìn histogram đẹp hay xấu; cần đọc đồng thời center, spread, shape và outlier.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Mean / Median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Giá trị điển hình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10128" y="1828800"/>
            <a:ext cx="2240280" cy="274320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Spread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Range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Variance / Std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IQR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50408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17336" y="1828800"/>
            <a:ext cx="224028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Shape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Symmetric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Left/Right skew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Nhiều peak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57616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24544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Outlier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Điểm cực đoan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Kiểm tra nguyên nhân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Không xóa tùy tiện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8.4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Phân tích tương quan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Correlation không đồng nghĩa Causation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Correlation Matrix và Heatmap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17</a:t>
            </a:r>
          </a:p>
        </p:txBody>
      </p:sp>
      <p:pic>
        <p:nvPicPr>
          <p:cNvPr id="8" name="Picture 7" descr="body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Correlation — ba điều dễ hiểu 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9264"/>
            <a:ext cx="10698480" cy="530352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i="1">
                <a:solidFill>
                  <a:srgbClr val="0F3F6F"/>
                </a:solidFill>
                <a:latin typeface="Aptos"/>
              </a:rPr>
              <a:t>Slide này mở rộng trực tiếp từ cảnh báo Correlation không đồng nghĩa Causation trong nội dung gốc.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1. Correlation ≠ Causation: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Hai biến cùng thay đổi không có nghĩa biến này gây ra biến kia.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2. Correlation thấp không có nghĩa không có quan hệ: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Có thể tồn tại quan hệ phi tuyến mà Pearson correlation không thể hiện tốt.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3. Correlation cao giữa feature có thể gây dư thừa: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Nhiều biến rất giống nhau làm mô hình khó diễn giải và tăng số chiều.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Ứng dụng: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Heatmap tương quan thường là một bước hỗ trợ Feature Selection.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8.5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Feature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Lựa chọn các thuộc tính cần thiết phục vụ phân tích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Feature Selection: lựa chọn thuộc tính cần thiết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20</a:t>
            </a:r>
          </a:p>
        </p:txBody>
      </p:sp>
      <p:pic>
        <p:nvPicPr>
          <p:cNvPr id="8" name="Picture 7" descr="body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Ba cách tư duy về Feature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Ở Bài 8 chỉ cần nắm ý tưởng; các kỹ thuật tối ưu sâu sẽ được học cùng machine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246120" cy="4407408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Dựa trên thống kê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Correlation / variance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Nhanh, độc lập mô hình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481328"/>
            <a:ext cx="3246120" cy="4407408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Wrapper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Thử nhiều tập feature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Đánh giá bằng model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Tốn chi phí hơn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5" y="1481328"/>
            <a:ext cx="3246120" cy="4407408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Embedded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Selection xảy ra khi train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L1 / tree importance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Gắn với mô hình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Khi nào nên loại bớt Feature?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9264"/>
            <a:ext cx="10698480" cy="530352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i="1">
                <a:solidFill>
                  <a:srgbClr val="0F3F6F"/>
                </a:solidFill>
                <a:latin typeface="Aptos"/>
              </a:rPr>
              <a:t>Bám trực tiếp nội dung đề cương “chọn thuộc tính cần thiết”.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Feature gần như không thay đổi: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Variance rất thấp, ít mang thông tin phân biệt.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Feature trùng lặp hoặc tương quan rất cao: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Mang thông tin gần giống nhau.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Feature không liên quan mục tiêu phân tích: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Tăng độ phức tạp nhưng không tạo thêm giá trị.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Feature chất lượng kém: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Quá nhiều missing, lỗi đo hoặc khó giải thích.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Nguyên tắc: selection phải dựa vào mục tiêu bài toán, không chỉ dựa vào một ngưỡng thống kê.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8.6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Feature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Tạo biểu diễn mới từ các feature cũ — khác Feature Selection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Feature Extraction khác Feature Selection như thế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24</a:t>
            </a:r>
          </a:p>
        </p:txBody>
      </p:sp>
      <p:pic>
        <p:nvPicPr>
          <p:cNvPr id="8" name="Picture 7" descr="body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Feature Selection hay Feature Extraction?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029200" cy="457200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Giữ lại một phần feature ban đầu.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Dễ giải thích vì tên feature vẫn giữ nguyên.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Phù hợp khi cần khả năng diễn giải.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5029200" cy="4572000"/>
          </a:xfrm>
          <a:prstGeom prst="roundRect">
            <a:avLst/>
          </a:prstGeom>
          <a:solidFill>
            <a:srgbClr val="E9F3D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Tạo feature mới từ nhiều feature cũ.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Có thể nén thông tin tốt hơn.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Khó diễn giải trực tiếp hơn.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50" i="1">
                <a:solidFill>
                  <a:srgbClr val="0F3F6F"/>
                </a:solidFill>
                <a:latin typeface="Aptos"/>
              </a:rPr>
              <a:t>PCA và SVD thuộc nhóm Feature Extraction / dimensionality reduction, không phải chỉ đơn giản là xóa cột.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8.7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Giảm chiều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Curse of Dimensionality — vấn đề khi dữ liệu có quá nhiều chiều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Vì sao cần giảm chiều dữ liệu?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27</a:t>
            </a:r>
          </a:p>
        </p:txBody>
      </p:sp>
      <p:pic>
        <p:nvPicPr>
          <p:cNvPr id="8" name="Picture 7" descr="body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Curse of Dimensionality nhìn từ ba góc độ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Giảm chiều không phải mục tiêu tự thân; mục tiêu là giữ thông tin quan trọng trong biểu diễn đơn giản hơn.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246120" cy="4407408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Tính toán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Nhiều feature hơn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Tốn memory / runtime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Pipeline phức tạp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481328"/>
            <a:ext cx="3246120" cy="4407408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Khoảng cách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Điểm dữ liệu trở nên thưa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Khoảng cách kém phân biệt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Khó tìm lân cận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5" y="1481328"/>
            <a:ext cx="3246120" cy="4407408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Mô hình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Tăng nguy cơ overfitting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Nhiều feature nhiễu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Khó trực quan hóa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8.8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PCA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Principal Component Analysis — giảm chiều nhưng giữ lại phần lớn thông tin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PCA — Principal Component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30</a:t>
            </a:r>
          </a:p>
        </p:txBody>
      </p:sp>
      <p:pic>
        <p:nvPicPr>
          <p:cNvPr id="8" name="Picture 7" descr="body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Vì sao thường cần Standardize trước PCA?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9264"/>
            <a:ext cx="10698480" cy="530352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i="1">
                <a:solidFill>
                  <a:srgbClr val="0F3F6F"/>
                </a:solidFill>
                <a:latin typeface="Aptos"/>
              </a:rPr>
              <a:t>Bổ sung để phần PCA có thể thực hành đúng trên dataset doanh nghiệp.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PCA phụ thuộc vào variance: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Feature có thang đo lớn có thể chi phối principal components.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Ví dụ: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Revenue tính bằng triệu đồng và tỷ lệ lỗi tính theo phần trăm có thang đo rất khác nhau.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Cách xử lý phổ biến: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StandardScaler đưa các feature về mean ≈ 0 và std ≈ 1 trước PCA.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Lưu ý: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Không phải mọi bài toán đều bắt buộc standardize; nhưng với feature khác đơn vị thì đây là bước rất quan trọng.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Workflow PCA cơ bản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Không cần đi sâu chứng minh eigenvector; học viên cần hiểu pipeline và cách chọn số component.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1. Chuẩn bị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Chọn feature số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Xử lý missing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Standardize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10128" y="1828800"/>
            <a:ext cx="2240280" cy="274320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2. Fit PCA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Tìm principal components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Các trục mới trực giao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50408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17336" y="1828800"/>
            <a:ext cx="224028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3. Chọn 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Explained variance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Giữ đủ thông tin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57616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24544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4. Transform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Giảm số chiều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Dùng cho visualization/ML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Explained Variance — chọn bao nhiêu Principal Components?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9264"/>
            <a:ext cx="10698480" cy="530352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i="1">
                <a:solidFill>
                  <a:srgbClr val="0F3F6F"/>
                </a:solidFill>
                <a:latin typeface="Aptos"/>
              </a:rPr>
              <a:t>Đây là bước quan trọng để PCA không trở thành thao tác “chọn n_components tùy ý”.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Explained variance ratio: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Cho biết mỗi principal component giữ bao nhiêu phần biến thiên của dữ liệu.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Cumulative explained variance: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Cộng dồn thông tin giữ lại khi chọn PC1, PC2, ...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Cách chọn: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Thường chọn số component đủ giữ một tỷ lệ thông tin mong muốn và cân bằng với độ đơn giản.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Thông điệp: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Không nên mặc định PCA luôn giảm về 2 chiều; 2D chủ yếu thuận tiện để trực quan hóa.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8.9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SVD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Singular Value Decomposition và ứng dụng trong văn bản, recommendation, compression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SVD — Singular Value Decomposition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35</a:t>
            </a:r>
          </a:p>
        </p:txBody>
      </p:sp>
      <p:pic>
        <p:nvPicPr>
          <p:cNvPr id="8" name="Picture 7" descr="body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SVD được dùng ở đâu?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Bám trực tiếp nội dung gốc về văn bản, recommendation và compression.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246120" cy="4407408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TF-IDF matrix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Latent semantic structure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Giảm chiều văn bản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481328"/>
            <a:ext cx="3246120" cy="4407408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User–item matrix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Tìm latent factors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Nén ma trận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5" y="1481328"/>
            <a:ext cx="3246120" cy="4407408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Compression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Giữ singular values lớn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Xấp xỉ ma trận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Giảm dung lượng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PCA và SVD — giống và khác ở mức nhập môn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029200" cy="457200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PCA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Tập trung vào hướng variance lớn của dữ liệu.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Thường đi cùng centering/standardization.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Rất phổ biến cho feature reduction và visualization.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5029200" cy="4572000"/>
          </a:xfrm>
          <a:prstGeom prst="roundRect">
            <a:avLst/>
          </a:prstGeom>
          <a:solidFill>
            <a:srgbClr val="E9F3D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SVD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Phân rã trực tiếp một ma trận thành các thành phần.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Rất hữu ích với sparse matrix như text/recommendation.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Có thể là công cụ tính toán liên quan chặt với PCA.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50" i="1">
                <a:solidFill>
                  <a:srgbClr val="0F3F6F"/>
                </a:solidFill>
                <a:latin typeface="Aptos"/>
              </a:rPr>
              <a:t>Trong khóa học, mục tiêu là nhận biết khi nào dùng và ý nghĩa đầu ra, không đi sâu đại số tuyến tính.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Thực hành Bài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Phân tích thống kê dataset doanh nghiệp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Dataset thực hành: dữ liệu doanh nghiệp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39</a:t>
            </a:r>
          </a:p>
        </p:txBody>
      </p:sp>
      <p:pic>
        <p:nvPicPr>
          <p:cNvPr id="8" name="Picture 7" descr="body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Các bước thực hành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40</a:t>
            </a:r>
          </a:p>
        </p:txBody>
      </p:sp>
      <p:pic>
        <p:nvPicPr>
          <p:cNvPr id="8" name="Picture 7" descr="body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Các bước thực hành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41</a:t>
            </a:r>
          </a:p>
        </p:txBody>
      </p:sp>
      <p:pic>
        <p:nvPicPr>
          <p:cNvPr id="8" name="Picture 7" descr="body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Pipeline thực hành mở rộng theo đề cương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Phần thực hành giữ trọng tâm đúng đề cương: phân tích thống kê dataset doanh nghiệp và chuẩn bị dữ liệu cho các bài tiếp theo.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1.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Mean/Median/Std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Distribution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Outlier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10128" y="1828800"/>
            <a:ext cx="2240280" cy="274320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2. Relationship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Correlation matrix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Heatmap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Kiểm tra feature dư thừa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50408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17336" y="1828800"/>
            <a:ext cx="224028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3.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Selection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Standardize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PCA / SVD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57616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24544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4.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So sánh trước/sau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Explained variance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Insight doanh nghiệp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Checklist trước khi kết luận từ thống kê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9264"/>
            <a:ext cx="10698480" cy="530352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i="1">
                <a:solidFill>
                  <a:srgbClr val="0F3F6F"/>
                </a:solidFill>
                <a:latin typeface="Aptos"/>
              </a:rPr>
              <a:t>Slide tổng hợp giúp tránh các lỗi diễn giải phổ biến trước khi bước sang Machine Learning.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Dữ liệu đã sạch chưa?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Missing, duplicate và outlier có thể làm sai Mean/Correlation.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Đơn vị đo có thống nhất không?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Khác thang đo ảnh hưởng trực tiếp đến PCA.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Sample có đại diện không?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Một nhóm nhỏ dữ liệu có thể không phản ánh toàn doanh nghiệp.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Kết luận có vượt quá dữ liệu không?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Correlation và PCA mô tả cấu trúc dữ liệu, không tự chứng minh nguyên nhân.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Tóm tắt bài học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44</a:t>
            </a:r>
          </a:p>
        </p:txBody>
      </p:sp>
      <p:pic>
        <p:nvPicPr>
          <p:cNvPr id="8" name="Picture 7" descr="body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Câu hỏi kiểm tra nhanh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45</a:t>
            </a:r>
          </a:p>
        </p:txBody>
      </p:sp>
      <p:pic>
        <p:nvPicPr>
          <p:cNvPr id="8" name="Picture 7" descr="body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0F3F6F"/>
                </a:solidFill>
                <a:latin typeface="Aptos Narrow"/>
              </a:rPr>
              <a:t>Cảm ơn đã theo dõi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10652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F3F6F"/>
                </a:solidFill>
                <a:latin typeface="Aptos"/>
              </a:rPr>
              <a:t>Bài tiếp theo:
Phân tích mô tả, Dashboard KPI và phát hiện bất thường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106527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435266"/>
                </a:solidFill>
                <a:latin typeface="Aptos"/>
              </a:rPr>
              <a:t>Tài liệu tham khảo: dataset doanh nghiệp mẫu sẽ được chia sẻ trên LMS
Liên hệ giảng viên/trợ giảng nếu gặp khó khăn khi thực hiện PCA/SVD
Ôn lại Feature Selection/Extraction trước khi bước sang phân tích mô tả và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
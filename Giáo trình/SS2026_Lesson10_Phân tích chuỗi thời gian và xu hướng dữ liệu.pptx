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>
            <a:off x="-320040" y="-137160"/>
            <a:ext cx="3886200" cy="1024128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247888" y="5989320"/>
            <a:ext cx="4160520" cy="1024128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985e423d-ca97-4670-a2c8-fc9a156df9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2509" y="54864"/>
            <a:ext cx="1670033" cy="8412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737360"/>
            <a:ext cx="1124712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0F3F6F"/>
                </a:solidFill>
                <a:latin typeface="Aptos Narrow"/>
              </a:rPr>
              <a:t>Phân tích chuỗi thời gian
và xu hướng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218688"/>
            <a:ext cx="1115568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20">
                <a:solidFill>
                  <a:srgbClr val="435266"/>
                </a:solidFill>
                <a:latin typeface="Aptos"/>
              </a:rPr>
              <a:t>10.1 Time Series  •  10.2 Cấu trúc dữ liệu  •  10.3 Trend / Seasonality / Noise  •  10.4 Decomposition
10.5 Trend Analysis  •  10.6 Moving Average  •  10.7 Exponential Smoothing  •  10.8 ARIMA nhập môn
10.9 Stationarity  •  10.10 Đánh giá dự báo  •  Thực hành Bài 10
Bổ sung theo đề cương: frequency &amp; missing timestamp, rolling statistics, baseline forecast, autocorrelation trực giác, differencing và time-based validation.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6217920"/>
            <a:ext cx="2011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ptos Narrow"/>
              </a:rPr>
              <a:t>Bài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3F6F"/>
                </a:solidFill>
                <a:latin typeface="Aptos Narrow"/>
              </a:rPr>
              <a:t>Chương trình buổi học (4 giờ)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2</a:t>
            </a:r>
          </a:p>
        </p:txBody>
      </p:sp>
      <p:pic>
        <p:nvPicPr>
          <p:cNvPr id="8" name="Picture 7" descr="body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330" y="914400"/>
            <a:ext cx="9070562" cy="568756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3F6F"/>
                </a:solidFill>
                <a:latin typeface="Aptos Narrow"/>
              </a:rPr>
              <a:t>Mục tiêu học tập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3</a:t>
            </a:r>
          </a:p>
        </p:txBody>
      </p:sp>
      <p:pic>
        <p:nvPicPr>
          <p:cNvPr id="8" name="Picture 7" descr="body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330" y="914400"/>
            <a:ext cx="9070562" cy="568756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3F6F"/>
                </a:solidFill>
                <a:latin typeface="Aptos Narrow"/>
              </a:rPr>
              <a:t>Lộ trình khóa học Big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4</a:t>
            </a:r>
          </a:p>
        </p:txBody>
      </p:sp>
      <p:pic>
        <p:nvPicPr>
          <p:cNvPr id="8" name="Picture 7" descr="body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330" y="914400"/>
            <a:ext cx="9070562" cy="568756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298448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85B518"/>
                </a:solidFill>
                <a:latin typeface="Aptos Narrow"/>
              </a:rPr>
              <a:t>PHẦN 10.1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92024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0F3F6F"/>
                </a:solidFill>
                <a:latin typeface="Aptos Narrow"/>
              </a:rPr>
              <a:t>Khái niệm dữ liệu chuỗi thời gian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337560"/>
            <a:ext cx="100584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>
                <a:solidFill>
                  <a:srgbClr val="435266"/>
                </a:solidFill>
                <a:latin typeface="Aptos"/>
              </a:rPr>
              <a:t>Thứ tự thời gian có ý nghĩa — không thể tùy ý đảo thứ tự quan sát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4983480"/>
            <a:ext cx="5212080" cy="54864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16752" y="4983480"/>
            <a:ext cx="1143000" cy="54864"/>
          </a:xfrm>
          <a:prstGeom prst="rect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3F6F"/>
                </a:solidFill>
                <a:latin typeface="Aptos Narrow"/>
              </a:rPr>
              <a:t>Time Series là gì?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6</a:t>
            </a:r>
          </a:p>
        </p:txBody>
      </p:sp>
      <p:pic>
        <p:nvPicPr>
          <p:cNvPr id="8" name="Picture 7" descr="body-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330" y="914400"/>
            <a:ext cx="9070562" cy="568756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3F6F"/>
                </a:solidFill>
                <a:latin typeface="Aptos Narrow"/>
              </a:rPr>
              <a:t>Time Series khác dữ liệu bảng thông thường ở đâu?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69264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i="1">
                <a:solidFill>
                  <a:srgbClr val="0F3F6F"/>
                </a:solidFill>
                <a:latin typeface="Aptos"/>
              </a:rPr>
              <a:t>Đề cương nhấn mạnh phân tích chuỗi thời gian; khác biệt lớn nhất là cấu trúc phụ thuộc theo thời gian.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81328"/>
            <a:ext cx="3246120" cy="4407408"/>
          </a:xfrm>
          <a:prstGeom prst="roundRect">
            <a:avLst/>
          </a:prstGeom>
          <a:solidFill>
            <a:srgbClr val="E7EEF5"/>
          </a:solidFill>
          <a:ln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" y="1682496"/>
            <a:ext cx="292608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F3F6F"/>
                </a:solidFill>
                <a:latin typeface="Aptos Narrow"/>
              </a:rPr>
              <a:t>Order matters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194560"/>
            <a:ext cx="2880360" cy="3456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435266"/>
                </a:solidFill>
                <a:latin typeface="Aptos"/>
              </a:rPr>
              <a:t>• Thứ tự thời gian mang thông tin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35266"/>
                </a:solidFill>
                <a:latin typeface="Aptos"/>
              </a:rPr>
              <a:t>• Không shuffle tùy ý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35266"/>
                </a:solidFill>
                <a:latin typeface="Aptos"/>
              </a:rPr>
              <a:t>• Past → Future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41648" y="1481328"/>
            <a:ext cx="3246120" cy="4407408"/>
          </a:xfrm>
          <a:prstGeom prst="roundRect">
            <a:avLst/>
          </a:prstGeom>
          <a:solidFill>
            <a:srgbClr val="E9F3D6"/>
          </a:solidFill>
          <a:ln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7952" y="1682496"/>
            <a:ext cx="292608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F3F6F"/>
                </a:solidFill>
                <a:latin typeface="Aptos Narrow"/>
              </a:rPr>
              <a:t>Dependence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2194560"/>
            <a:ext cx="2880360" cy="3456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435266"/>
                </a:solidFill>
                <a:latin typeface="Aptos"/>
              </a:rPr>
              <a:t>• Giá trị hiện tại có thể phụ thuộc quá khứ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35266"/>
                </a:solidFill>
                <a:latin typeface="Aptos"/>
              </a:rPr>
              <a:t>• Có autocorrelation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35266"/>
                </a:solidFill>
                <a:latin typeface="Aptos"/>
              </a:rPr>
              <a:t>• Không hoàn toàn độc lập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0375" y="1481328"/>
            <a:ext cx="3246120" cy="4407408"/>
          </a:xfrm>
          <a:prstGeom prst="roundRect">
            <a:avLst/>
          </a:prstGeom>
          <a:solidFill>
            <a:srgbClr val="F0F4F7"/>
          </a:solidFill>
          <a:ln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26679" y="1682496"/>
            <a:ext cx="292608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F3F6F"/>
                </a:solidFill>
                <a:latin typeface="Aptos Narrow"/>
              </a:rPr>
              <a:t>Frequency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44967" y="2194560"/>
            <a:ext cx="2880360" cy="3456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435266"/>
                </a:solidFill>
                <a:latin typeface="Aptos"/>
              </a:rPr>
              <a:t>• Theo giờ/ngày/tháng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35266"/>
                </a:solidFill>
                <a:latin typeface="Aptos"/>
              </a:rPr>
              <a:t>• Tần suất phải nhất quán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35266"/>
                </a:solidFill>
                <a:latin typeface="Aptos"/>
              </a:rPr>
              <a:t>• Thiếu timestamp cần xử lý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298448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85B518"/>
                </a:solidFill>
                <a:latin typeface="Aptos Narrow"/>
              </a:rPr>
              <a:t>PHẦN 10.2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92024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0F3F6F"/>
                </a:solidFill>
                <a:latin typeface="Aptos Narrow"/>
              </a:rPr>
              <a:t>Cấu trúc dữ liệu chuỗi thời gian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337560"/>
            <a:ext cx="100584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>
                <a:solidFill>
                  <a:srgbClr val="435266"/>
                </a:solidFill>
                <a:latin typeface="Aptos"/>
              </a:rPr>
              <a:t>Những vấn đề cần kiểm tra trước khi phân tích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4983480"/>
            <a:ext cx="5212080" cy="54864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16752" y="4983480"/>
            <a:ext cx="1143000" cy="54864"/>
          </a:xfrm>
          <a:prstGeom prst="rect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3F6F"/>
                </a:solidFill>
                <a:latin typeface="Aptos Narrow"/>
              </a:rPr>
              <a:t>Cấu trúc dữ liệu chuỗi thời gian điển hình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9</a:t>
            </a:r>
          </a:p>
        </p:txBody>
      </p:sp>
      <p:pic>
        <p:nvPicPr>
          <p:cNvPr id="8" name="Picture 7" descr="body-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330" y="914400"/>
            <a:ext cx="9070562" cy="568756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F3F6F"/>
                </a:solidFill>
                <a:latin typeface="Aptos Narrow"/>
              </a:rPr>
              <a:t>Frequency và Missing Timestamp — kiểm tra trước mọi mô hình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969264"/>
            <a:ext cx="10698480" cy="530352"/>
          </a:xfrm>
          <a:prstGeom prst="roundRect">
            <a:avLst/>
          </a:prstGeom>
          <a:solidFill>
            <a:srgbClr val="E7EEF5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i="1">
                <a:solidFill>
                  <a:srgbClr val="0F3F6F"/>
                </a:solidFill>
                <a:latin typeface="Aptos"/>
              </a:rPr>
              <a:t>Nội dung bổ sung trực tiếp từ slide cấu trúc dữ liệu và phần thực hành monthly_revenue.csv.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664208"/>
            <a:ext cx="1033272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435266"/>
                </a:solidFill>
                <a:latin typeface="Aptos"/>
              </a:rPr>
              <a:t>Frequency: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35266"/>
                </a:solidFill>
                <a:latin typeface="Aptos"/>
              </a:rPr>
              <a:t>Xác định dữ liệu theo giờ, ngày, tuần hay tháng và giữ tần suất nhất quán.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435266"/>
                </a:solidFill>
                <a:latin typeface="Aptos"/>
              </a:rPr>
              <a:t>Missing timestamp: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35266"/>
                </a:solidFill>
                <a:latin typeface="Aptos"/>
              </a:rPr>
              <a:t>Một mốc thời gian bị thiếu khác với một dòng có giá trị NaN.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435266"/>
                </a:solidFill>
                <a:latin typeface="Aptos"/>
              </a:rPr>
              <a:t>Duplicate timestamp: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35266"/>
                </a:solidFill>
                <a:latin typeface="Aptos"/>
              </a:rPr>
              <a:t>Cần xác định có phải nhiều giao dịch trong cùng thời điểm hay lỗi dữ liệu.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435266"/>
                </a:solidFill>
                <a:latin typeface="Aptos"/>
              </a:rPr>
              <a:t>Resampling: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35266"/>
                </a:solidFill>
                <a:latin typeface="Aptos"/>
              </a:rPr>
              <a:t>Có thể tổng hợp từ ngày → tuần/tháng hoặc tạo lưới thời gian đều trước phân tích.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298448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85B518"/>
                </a:solidFill>
                <a:latin typeface="Aptos Narrow"/>
              </a:rPr>
              <a:t>PHẦN 10.3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92024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0F3F6F"/>
                </a:solidFill>
                <a:latin typeface="Aptos Narrow"/>
              </a:rPr>
              <a:t>Thành phần của chuỗi thời gian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337560"/>
            <a:ext cx="100584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>
                <a:solidFill>
                  <a:srgbClr val="435266"/>
                </a:solidFill>
                <a:latin typeface="Aptos"/>
              </a:rPr>
              <a:t>Trend, Seasonality và Noise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4983480"/>
            <a:ext cx="5212080" cy="54864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16752" y="4983480"/>
            <a:ext cx="1143000" cy="54864"/>
          </a:xfrm>
          <a:prstGeom prst="rect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3F6F"/>
                </a:solidFill>
                <a:latin typeface="Aptos Narrow"/>
              </a:rPr>
              <a:t>Trend — Xu hướng dài hạn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12</a:t>
            </a:r>
          </a:p>
        </p:txBody>
      </p:sp>
      <p:pic>
        <p:nvPicPr>
          <p:cNvPr id="8" name="Picture 7" descr="body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330" y="914400"/>
            <a:ext cx="9070562" cy="568756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3F6F"/>
                </a:solidFill>
                <a:latin typeface="Aptos Narrow"/>
              </a:rPr>
              <a:t>Seasonality và Noise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13</a:t>
            </a:r>
          </a:p>
        </p:txBody>
      </p:sp>
      <p:pic>
        <p:nvPicPr>
          <p:cNvPr id="8" name="Picture 7" descr="body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330" y="914400"/>
            <a:ext cx="9070562" cy="568756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3F6F"/>
                </a:solidFill>
                <a:latin typeface="Aptos Narrow"/>
              </a:rPr>
              <a:t>Trend, Seasonality và Cycle — đừng nhầm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69264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i="1">
                <a:solidFill>
                  <a:srgbClr val="0F3F6F"/>
                </a:solidFill>
                <a:latin typeface="Aptos"/>
              </a:rPr>
              <a:t>Bài 10 giữ Cycle ở mức khái niệm; trọng tâm vẫn là Trend, Seasonality và Noise theo đề cương.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81328"/>
            <a:ext cx="3246120" cy="4407408"/>
          </a:xfrm>
          <a:prstGeom prst="roundRect">
            <a:avLst/>
          </a:prstGeom>
          <a:solidFill>
            <a:srgbClr val="E7EEF5"/>
          </a:solidFill>
          <a:ln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" y="1682496"/>
            <a:ext cx="292608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F3F6F"/>
                </a:solidFill>
                <a:latin typeface="Aptos Narrow"/>
              </a:rPr>
              <a:t>Trend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194560"/>
            <a:ext cx="2880360" cy="3456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435266"/>
                </a:solidFill>
                <a:latin typeface="Aptos"/>
              </a:rPr>
              <a:t>• Xu hướng dài hạn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35266"/>
                </a:solidFill>
                <a:latin typeface="Aptos"/>
              </a:rPr>
              <a:t>• Tăng / giảm / ổn định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35266"/>
                </a:solidFill>
                <a:latin typeface="Aptos"/>
              </a:rPr>
              <a:t>• Không nhất thiết lặp lại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41648" y="1481328"/>
            <a:ext cx="3246120" cy="4407408"/>
          </a:xfrm>
          <a:prstGeom prst="roundRect">
            <a:avLst/>
          </a:prstGeom>
          <a:solidFill>
            <a:srgbClr val="E9F3D6"/>
          </a:solidFill>
          <a:ln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7952" y="1682496"/>
            <a:ext cx="292608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F3F6F"/>
                </a:solidFill>
                <a:latin typeface="Aptos Narrow"/>
              </a:rPr>
              <a:t>Seasonality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2194560"/>
            <a:ext cx="2880360" cy="3456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435266"/>
                </a:solidFill>
                <a:latin typeface="Aptos"/>
              </a:rPr>
              <a:t>• Lặp theo chu kỳ cố định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35266"/>
                </a:solidFill>
                <a:latin typeface="Aptos"/>
              </a:rPr>
              <a:t>• Ngày/tuần/tháng/quý/năm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35266"/>
                </a:solidFill>
                <a:latin typeface="Aptos"/>
              </a:rPr>
              <a:t>• Gắn với calendar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0375" y="1481328"/>
            <a:ext cx="3246120" cy="4407408"/>
          </a:xfrm>
          <a:prstGeom prst="roundRect">
            <a:avLst/>
          </a:prstGeom>
          <a:solidFill>
            <a:srgbClr val="F0F4F7"/>
          </a:solidFill>
          <a:ln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26679" y="1682496"/>
            <a:ext cx="292608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F3F6F"/>
                </a:solidFill>
                <a:latin typeface="Aptos Narrow"/>
              </a:rPr>
              <a:t>Cycle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44967" y="2194560"/>
            <a:ext cx="2880360" cy="3456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435266"/>
                </a:solidFill>
                <a:latin typeface="Aptos"/>
              </a:rPr>
              <a:t>• Chu kỳ dài không cố định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35266"/>
                </a:solidFill>
                <a:latin typeface="Aptos"/>
              </a:rPr>
              <a:t>• Ví dụ chu kỳ kinh tế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35266"/>
                </a:solidFill>
                <a:latin typeface="Aptos"/>
              </a:rPr>
              <a:t>• Khó dự đoán hơn seasonality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298448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85B518"/>
                </a:solidFill>
                <a:latin typeface="Aptos Narrow"/>
              </a:rPr>
              <a:t>PHẦN 10.4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92024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0F3F6F"/>
                </a:solidFill>
                <a:latin typeface="Aptos Narrow"/>
              </a:rPr>
              <a:t>Phân rã chuỗi thời gian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337560"/>
            <a:ext cx="100584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>
                <a:solidFill>
                  <a:srgbClr val="435266"/>
                </a:solidFill>
                <a:latin typeface="Aptos"/>
              </a:rPr>
              <a:t>Một chuỗi phức tạp có thể phân tích thành các thành phần đơn giản hơn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4983480"/>
            <a:ext cx="5212080" cy="54864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16752" y="4983480"/>
            <a:ext cx="1143000" cy="54864"/>
          </a:xfrm>
          <a:prstGeom prst="rect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3F6F"/>
                </a:solidFill>
                <a:latin typeface="Aptos Narrow"/>
              </a:rPr>
              <a:t>Time Series Decomposition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16</a:t>
            </a:r>
          </a:p>
        </p:txBody>
      </p:sp>
      <p:pic>
        <p:nvPicPr>
          <p:cNvPr id="8" name="Picture 7" descr="body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330" y="914400"/>
            <a:ext cx="9070562" cy="568756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3F6F"/>
                </a:solidFill>
                <a:latin typeface="Aptos Narrow"/>
              </a:rPr>
              <a:t>Additive và Multiplicative Decomposition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188720"/>
            <a:ext cx="5029200" cy="4572000"/>
          </a:xfrm>
          <a:prstGeom prst="roundRect">
            <a:avLst/>
          </a:prstGeom>
          <a:solidFill>
            <a:srgbClr val="E7EEF5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389888"/>
            <a:ext cx="46177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F3F6F"/>
                </a:solidFill>
                <a:latin typeface="Aptos Narrow"/>
              </a:rPr>
              <a:t>Additive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1856231"/>
            <a:ext cx="4617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50">
                <a:solidFill>
                  <a:srgbClr val="435266"/>
                </a:solidFill>
                <a:latin typeface="Aptos"/>
              </a:rPr>
              <a:t>• Observed = Trend + Seasonality + Residual.</a:t>
            </a:r>
          </a:p>
          <a:p>
            <a:pPr>
              <a:spcAft>
                <a:spcPts val="700"/>
              </a:spcAft>
            </a:pPr>
            <a:r>
              <a:rPr sz="1850">
                <a:solidFill>
                  <a:srgbClr val="435266"/>
                </a:solidFill>
                <a:latin typeface="Aptos"/>
              </a:rPr>
              <a:t>• Phù hợp khi biên độ seasonality tương đối ổn định theo thời gian.</a:t>
            </a:r>
          </a:p>
          <a:p>
            <a:pPr>
              <a:spcAft>
                <a:spcPts val="700"/>
              </a:spcAft>
            </a:pPr>
            <a:r>
              <a:rPr sz="1850">
                <a:solidFill>
                  <a:srgbClr val="435266"/>
                </a:solidFill>
                <a:latin typeface="Aptos"/>
              </a:rPr>
              <a:t>• Dễ diễn giải ở mức nhập môn.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188720"/>
            <a:ext cx="5029200" cy="4572000"/>
          </a:xfrm>
          <a:prstGeom prst="roundRect">
            <a:avLst/>
          </a:prstGeom>
          <a:solidFill>
            <a:srgbClr val="E9F3D6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27648" y="1389888"/>
            <a:ext cx="46177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F3F6F"/>
                </a:solidFill>
                <a:latin typeface="Aptos Narrow"/>
              </a:rPr>
              <a:t>Multiplicative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7648" y="1856231"/>
            <a:ext cx="4617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50">
                <a:solidFill>
                  <a:srgbClr val="435266"/>
                </a:solidFill>
                <a:latin typeface="Aptos"/>
              </a:rPr>
              <a:t>• Observed ≈ Trend × Seasonality × Residual.</a:t>
            </a:r>
          </a:p>
          <a:p>
            <a:pPr>
              <a:spcAft>
                <a:spcPts val="700"/>
              </a:spcAft>
            </a:pPr>
            <a:r>
              <a:rPr sz="1850">
                <a:solidFill>
                  <a:srgbClr val="435266"/>
                </a:solidFill>
                <a:latin typeface="Aptos"/>
              </a:rPr>
              <a:t>• Phù hợp khi biên độ mùa vụ tăng theo level của chuỗi.</a:t>
            </a:r>
          </a:p>
          <a:p>
            <a:pPr>
              <a:spcAft>
                <a:spcPts val="700"/>
              </a:spcAft>
            </a:pPr>
            <a:r>
              <a:rPr sz="1850">
                <a:solidFill>
                  <a:srgbClr val="435266"/>
                </a:solidFill>
                <a:latin typeface="Aptos"/>
              </a:rPr>
              <a:t>• Có thể biến đổi log để xử lý thuận tiện hơn.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870448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50" i="1">
                <a:solidFill>
                  <a:srgbClr val="0F3F6F"/>
                </a:solidFill>
                <a:latin typeface="Aptos"/>
              </a:rPr>
              <a:t>Trong Bài 10 chỉ cần nhận biết hai kiểu; không cần đi sâu tối ưu seasonal decomposition.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298448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85B518"/>
                </a:solidFill>
                <a:latin typeface="Aptos Narrow"/>
              </a:rPr>
              <a:t>PHẦN 10.5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92024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0F3F6F"/>
                </a:solidFill>
                <a:latin typeface="Aptos Narrow"/>
              </a:rPr>
              <a:t>Phân tích xu hướng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337560"/>
            <a:ext cx="100584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>
                <a:solidFill>
                  <a:srgbClr val="435266"/>
                </a:solidFill>
                <a:latin typeface="Aptos"/>
              </a:rPr>
              <a:t>Nối tiếp từ KPI của Bài 9 nhưng đặt trong khung Time Series đầy đủ hơn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4983480"/>
            <a:ext cx="5212080" cy="54864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16752" y="4983480"/>
            <a:ext cx="1143000" cy="54864"/>
          </a:xfrm>
          <a:prstGeom prst="rect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3F6F"/>
                </a:solidFill>
                <a:latin typeface="Aptos Narrow"/>
              </a:rPr>
              <a:t>Phân tích xu hướng — nối tiếp từ KPI ở Bài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19</a:t>
            </a:r>
          </a:p>
        </p:txBody>
      </p:sp>
      <p:pic>
        <p:nvPicPr>
          <p:cNvPr id="8" name="Picture 7" descr="body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330" y="914400"/>
            <a:ext cx="9070562" cy="568756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3F6F"/>
                </a:solidFill>
                <a:latin typeface="Aptos Narrow"/>
              </a:rPr>
              <a:t>Rolling Statistics giúp nhìn Trend như thế nào?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960120"/>
            <a:ext cx="10698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i="1">
                <a:solidFill>
                  <a:srgbClr val="0F3F6F"/>
                </a:solidFill>
                <a:latin typeface="Aptos"/>
              </a:rPr>
              <a:t>Bài 9 dùng MoM/YoY cho KPI; Bài 10 mở rộng bằng rolling statistics và cấu trúc time series.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28800"/>
            <a:ext cx="2240280" cy="2743200"/>
          </a:xfrm>
          <a:prstGeom prst="roundRect">
            <a:avLst/>
          </a:prstGeom>
          <a:solidFill>
            <a:srgbClr val="E7EEF5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1993392"/>
            <a:ext cx="2020824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0F3F6F"/>
                </a:solidFill>
                <a:latin typeface="Aptos Narrow"/>
              </a:rPr>
              <a:t>Rolling Mean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2468880"/>
            <a:ext cx="2020824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435266"/>
                </a:solidFill>
                <a:latin typeface="Aptos"/>
              </a:rPr>
              <a:t>• Làm mượt dữ liệu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435266"/>
                </a:solidFill>
                <a:latin typeface="Aptos"/>
              </a:rPr>
              <a:t>• Nhìn level/trend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43200" y="3200400"/>
            <a:ext cx="493776" cy="0"/>
          </a:xfrm>
          <a:prstGeom prst="line">
            <a:avLst/>
          </a:prstGeom>
          <a:ln w="25400">
            <a:solidFill>
              <a:srgbClr val="0F3F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310128" y="1828800"/>
            <a:ext cx="2240280" cy="2743200"/>
          </a:xfrm>
          <a:prstGeom prst="roundRect">
            <a:avLst/>
          </a:prstGeom>
          <a:solidFill>
            <a:srgbClr val="E9F3D6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19856" y="1993392"/>
            <a:ext cx="2020824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0F3F6F"/>
                </a:solidFill>
                <a:latin typeface="Aptos Narrow"/>
              </a:rPr>
              <a:t>Rolling Std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19856" y="2468880"/>
            <a:ext cx="2020824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435266"/>
                </a:solidFill>
                <a:latin typeface="Aptos"/>
              </a:rPr>
              <a:t>• Theo dõi mức biến động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435266"/>
                </a:solidFill>
                <a:latin typeface="Aptos"/>
              </a:rPr>
              <a:t>• Nhận biết variance thay đổi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550408" y="3200400"/>
            <a:ext cx="493776" cy="0"/>
          </a:xfrm>
          <a:prstGeom prst="line">
            <a:avLst/>
          </a:prstGeom>
          <a:ln w="25400">
            <a:solidFill>
              <a:srgbClr val="0F3F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117336" y="1828800"/>
            <a:ext cx="2240280" cy="2743200"/>
          </a:xfrm>
          <a:prstGeom prst="roundRect">
            <a:avLst/>
          </a:prstGeom>
          <a:solidFill>
            <a:srgbClr val="F0F4F7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27064" y="1993392"/>
            <a:ext cx="2020824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0F3F6F"/>
                </a:solidFill>
                <a:latin typeface="Aptos Narrow"/>
              </a:rPr>
              <a:t>Growth Rate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27064" y="2468880"/>
            <a:ext cx="2020824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435266"/>
                </a:solidFill>
                <a:latin typeface="Aptos"/>
              </a:rPr>
              <a:t>• MoM / YoY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435266"/>
                </a:solidFill>
                <a:latin typeface="Aptos"/>
              </a:rPr>
              <a:t>• Đo tốc độ tăng giảm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357616" y="3200400"/>
            <a:ext cx="493776" cy="0"/>
          </a:xfrm>
          <a:prstGeom prst="line">
            <a:avLst/>
          </a:prstGeom>
          <a:ln w="25400">
            <a:solidFill>
              <a:srgbClr val="0F3F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924544" y="1828800"/>
            <a:ext cx="2240280" cy="2743200"/>
          </a:xfrm>
          <a:prstGeom prst="roundRect">
            <a:avLst/>
          </a:prstGeom>
          <a:solidFill>
            <a:srgbClr val="E7EEF5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34272" y="1993392"/>
            <a:ext cx="2020824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0F3F6F"/>
                </a:solidFill>
                <a:latin typeface="Aptos Narrow"/>
              </a:rPr>
              <a:t>Compare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34272" y="2468880"/>
            <a:ext cx="2020824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435266"/>
                </a:solidFill>
                <a:latin typeface="Aptos"/>
              </a:rPr>
              <a:t>• Actual vs rolling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435266"/>
                </a:solidFill>
                <a:latin typeface="Aptos"/>
              </a:rPr>
              <a:t>• Tìm điểm lệch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435266"/>
                </a:solidFill>
                <a:latin typeface="Aptos"/>
              </a:rPr>
              <a:t>• Hỗ trợ cảnh báo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298448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85B518"/>
                </a:solidFill>
                <a:latin typeface="Aptos Narrow"/>
              </a:rPr>
              <a:t>PHẦN 10.6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92024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0F3F6F"/>
                </a:solidFill>
                <a:latin typeface="Aptos Narrow"/>
              </a:rPr>
              <a:t>Moving Average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337560"/>
            <a:ext cx="100584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>
                <a:solidFill>
                  <a:srgbClr val="435266"/>
                </a:solidFill>
                <a:latin typeface="Aptos"/>
              </a:rPr>
              <a:t>Làm mượt biến động ngắn hạn để nhìn rõ Trend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4983480"/>
            <a:ext cx="5212080" cy="54864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16752" y="4983480"/>
            <a:ext cx="1143000" cy="54864"/>
          </a:xfrm>
          <a:prstGeom prst="rect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3F6F"/>
                </a:solidFill>
                <a:latin typeface="Aptos Narrow"/>
              </a:rPr>
              <a:t>Moving Average là gì?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22</a:t>
            </a:r>
          </a:p>
        </p:txBody>
      </p:sp>
      <p:pic>
        <p:nvPicPr>
          <p:cNvPr id="8" name="Picture 7" descr="body-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330" y="914400"/>
            <a:ext cx="9070562" cy="568756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3F6F"/>
                </a:solidFill>
                <a:latin typeface="Aptos Narrow"/>
              </a:rPr>
              <a:t>Trước và sau khi làm mượt bằng Moving Average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23</a:t>
            </a:r>
          </a:p>
        </p:txBody>
      </p:sp>
      <p:pic>
        <p:nvPicPr>
          <p:cNvPr id="8" name="Picture 7" descr="body-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330" y="914400"/>
            <a:ext cx="9070562" cy="5687568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3F6F"/>
                </a:solidFill>
                <a:latin typeface="Aptos Narrow"/>
              </a:rPr>
              <a:t>Chọn Window Size — nhỏ hay lớn?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188720"/>
            <a:ext cx="5029200" cy="4572000"/>
          </a:xfrm>
          <a:prstGeom prst="roundRect">
            <a:avLst/>
          </a:prstGeom>
          <a:solidFill>
            <a:srgbClr val="E7EEF5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389888"/>
            <a:ext cx="46177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F3F6F"/>
                </a:solidFill>
                <a:latin typeface="Aptos Narrow"/>
              </a:rPr>
              <a:t>Window nhỏ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1856231"/>
            <a:ext cx="4617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50">
                <a:solidFill>
                  <a:srgbClr val="435266"/>
                </a:solidFill>
                <a:latin typeface="Aptos"/>
              </a:rPr>
              <a:t>• Phản ứng nhanh với thay đổi mới.</a:t>
            </a:r>
          </a:p>
          <a:p>
            <a:pPr>
              <a:spcAft>
                <a:spcPts val="700"/>
              </a:spcAft>
            </a:pPr>
            <a:r>
              <a:rPr sz="1850">
                <a:solidFill>
                  <a:srgbClr val="435266"/>
                </a:solidFill>
                <a:latin typeface="Aptos"/>
              </a:rPr>
              <a:t>• Giữ lại nhiều nhiễu hơn.</a:t>
            </a:r>
          </a:p>
          <a:p>
            <a:pPr>
              <a:spcAft>
                <a:spcPts val="700"/>
              </a:spcAft>
            </a:pPr>
            <a:r>
              <a:rPr sz="1850">
                <a:solidFill>
                  <a:srgbClr val="435266"/>
                </a:solidFill>
                <a:latin typeface="Aptos"/>
              </a:rPr>
              <a:t>• Phù hợp khi cần phát hiện thay đổi ngắn hạn.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188720"/>
            <a:ext cx="5029200" cy="4572000"/>
          </a:xfrm>
          <a:prstGeom prst="roundRect">
            <a:avLst/>
          </a:prstGeom>
          <a:solidFill>
            <a:srgbClr val="E9F3D6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27648" y="1389888"/>
            <a:ext cx="46177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F3F6F"/>
                </a:solidFill>
                <a:latin typeface="Aptos Narrow"/>
              </a:rPr>
              <a:t>Window lớn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7648" y="1856231"/>
            <a:ext cx="4617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50">
                <a:solidFill>
                  <a:srgbClr val="435266"/>
                </a:solidFill>
                <a:latin typeface="Aptos"/>
              </a:rPr>
              <a:t>• Đường mượt hơn, trend rõ hơn.</a:t>
            </a:r>
          </a:p>
          <a:p>
            <a:pPr>
              <a:spcAft>
                <a:spcPts val="700"/>
              </a:spcAft>
            </a:pPr>
            <a:r>
              <a:rPr sz="1850">
                <a:solidFill>
                  <a:srgbClr val="435266"/>
                </a:solidFill>
                <a:latin typeface="Aptos"/>
              </a:rPr>
              <a:t>• Độ trễ lớn hơn.</a:t>
            </a:r>
          </a:p>
          <a:p>
            <a:pPr>
              <a:spcAft>
                <a:spcPts val="700"/>
              </a:spcAft>
            </a:pPr>
            <a:r>
              <a:rPr sz="1850">
                <a:solidFill>
                  <a:srgbClr val="435266"/>
                </a:solidFill>
                <a:latin typeface="Aptos"/>
              </a:rPr>
              <a:t>• Có thể che mất turning point.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870448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50" i="1">
                <a:solidFill>
                  <a:srgbClr val="0F3F6F"/>
                </a:solidFill>
                <a:latin typeface="Aptos"/>
              </a:rPr>
              <a:t>Window phải gắn với tần suất dữ liệu: ví dụ 7 ngày, 4 tuần hoặc 3 tháng.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298448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85B518"/>
                </a:solidFill>
                <a:latin typeface="Aptos Narrow"/>
              </a:rPr>
              <a:t>PHẦN 10.7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92024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0F3F6F"/>
                </a:solidFill>
                <a:latin typeface="Aptos Narrow"/>
              </a:rPr>
              <a:t>Exponential Smoothing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337560"/>
            <a:ext cx="100584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>
                <a:solidFill>
                  <a:srgbClr val="435266"/>
                </a:solidFill>
                <a:latin typeface="Aptos"/>
              </a:rPr>
              <a:t>Dữ liệu gần hiện tại được đặt trọng số lớn hơn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4983480"/>
            <a:ext cx="5212080" cy="54864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16752" y="4983480"/>
            <a:ext cx="1143000" cy="54864"/>
          </a:xfrm>
          <a:prstGeom prst="rect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3F6F"/>
                </a:solidFill>
                <a:latin typeface="Aptos Narrow"/>
              </a:rPr>
              <a:t>Exponential Smoothing — trọng số theo thời gian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26</a:t>
            </a:r>
          </a:p>
        </p:txBody>
      </p:sp>
      <p:pic>
        <p:nvPicPr>
          <p:cNvPr id="8" name="Picture 7" descr="body-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330" y="914400"/>
            <a:ext cx="9070562" cy="5687568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3F6F"/>
                </a:solidFill>
                <a:latin typeface="Aptos Narrow"/>
              </a:rPr>
              <a:t>Simple, Holt và Holt-Winters — khác nhau ở đâu?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69264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i="1">
                <a:solidFill>
                  <a:srgbClr val="0F3F6F"/>
                </a:solidFill>
                <a:latin typeface="Aptos"/>
              </a:rPr>
              <a:t>Đề cương yêu cầu Exponential Smoothing ở mức cơ bản; slide này giúp chọn đúng biến thể theo cấu trúc chuỗi.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81328"/>
            <a:ext cx="3246120" cy="4407408"/>
          </a:xfrm>
          <a:prstGeom prst="roundRect">
            <a:avLst/>
          </a:prstGeom>
          <a:solidFill>
            <a:srgbClr val="E7EEF5"/>
          </a:solidFill>
          <a:ln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" y="1682496"/>
            <a:ext cx="292608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F3F6F"/>
                </a:solidFill>
                <a:latin typeface="Aptos Narrow"/>
              </a:rPr>
              <a:t>Simple 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194560"/>
            <a:ext cx="2880360" cy="3456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435266"/>
                </a:solidFill>
                <a:latin typeface="Aptos"/>
              </a:rPr>
              <a:t>• Level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35266"/>
                </a:solidFill>
                <a:latin typeface="Aptos"/>
              </a:rPr>
              <a:t>• Không trend rõ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35266"/>
                </a:solidFill>
                <a:latin typeface="Aptos"/>
              </a:rPr>
              <a:t>• Không seasonality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41648" y="1481328"/>
            <a:ext cx="3246120" cy="4407408"/>
          </a:xfrm>
          <a:prstGeom prst="roundRect">
            <a:avLst/>
          </a:prstGeom>
          <a:solidFill>
            <a:srgbClr val="E9F3D6"/>
          </a:solidFill>
          <a:ln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7952" y="1682496"/>
            <a:ext cx="292608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F3F6F"/>
                </a:solidFill>
                <a:latin typeface="Aptos Narrow"/>
              </a:rPr>
              <a:t>Holt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2194560"/>
            <a:ext cx="2880360" cy="3456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435266"/>
                </a:solidFill>
                <a:latin typeface="Aptos"/>
              </a:rPr>
              <a:t>• Level + Trend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35266"/>
                </a:solidFill>
                <a:latin typeface="Aptos"/>
              </a:rPr>
              <a:t>• Dự báo xu hướng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35266"/>
                </a:solidFill>
                <a:latin typeface="Aptos"/>
              </a:rPr>
              <a:t>• Không seasonality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0375" y="1481328"/>
            <a:ext cx="3246120" cy="4407408"/>
          </a:xfrm>
          <a:prstGeom prst="roundRect">
            <a:avLst/>
          </a:prstGeom>
          <a:solidFill>
            <a:srgbClr val="F0F4F7"/>
          </a:solidFill>
          <a:ln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26679" y="1682496"/>
            <a:ext cx="292608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F3F6F"/>
                </a:solidFill>
                <a:latin typeface="Aptos Narrow"/>
              </a:rPr>
              <a:t>Holt-Winters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44967" y="2194560"/>
            <a:ext cx="2880360" cy="3456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435266"/>
                </a:solidFill>
                <a:latin typeface="Aptos"/>
              </a:rPr>
              <a:t>• Level + Trend + Seasonality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35266"/>
                </a:solidFill>
                <a:latin typeface="Aptos"/>
              </a:rPr>
              <a:t>• Phù hợp dữ liệu mùa vụ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35266"/>
                </a:solidFill>
                <a:latin typeface="Aptos"/>
              </a:rPr>
              <a:t>• Additive/Multiplicative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298448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85B518"/>
                </a:solidFill>
                <a:latin typeface="Aptos Narrow"/>
              </a:rPr>
              <a:t>PHẦN 10.8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92024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0F3F6F"/>
                </a:solidFill>
                <a:latin typeface="Aptos Narrow"/>
              </a:rPr>
              <a:t>ARIMA ở mức nhập môn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337560"/>
            <a:ext cx="100584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>
                <a:solidFill>
                  <a:srgbClr val="435266"/>
                </a:solidFill>
                <a:latin typeface="Aptos"/>
              </a:rPr>
              <a:t>Ý nghĩa AR, I, MA — không đi sâu chứng minh toán học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4983480"/>
            <a:ext cx="5212080" cy="54864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16752" y="4983480"/>
            <a:ext cx="1143000" cy="54864"/>
          </a:xfrm>
          <a:prstGeom prst="rect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3F6F"/>
                </a:solidFill>
                <a:latin typeface="Aptos Narrow"/>
              </a:rPr>
              <a:t>Ba thành phần của ARIMA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29</a:t>
            </a:r>
          </a:p>
        </p:txBody>
      </p:sp>
      <p:pic>
        <p:nvPicPr>
          <p:cNvPr id="8" name="Picture 7" descr="body-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330" y="914400"/>
            <a:ext cx="9070562" cy="5687568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3F6F"/>
                </a:solidFill>
                <a:latin typeface="Aptos Narrow"/>
              </a:rPr>
              <a:t>Trực giác về AR – I – 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69264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i="1">
                <a:solidFill>
                  <a:srgbClr val="0F3F6F"/>
                </a:solidFill>
                <a:latin typeface="Aptos"/>
              </a:rPr>
              <a:t>Mục tiêu là hiểu vai trò p, d, q trước khi chạy một mô hình ARIMA cơ bản.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81328"/>
            <a:ext cx="3246120" cy="4407408"/>
          </a:xfrm>
          <a:prstGeom prst="roundRect">
            <a:avLst/>
          </a:prstGeom>
          <a:solidFill>
            <a:srgbClr val="E7EEF5"/>
          </a:solidFill>
          <a:ln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" y="1682496"/>
            <a:ext cx="292608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F3F6F"/>
                </a:solidFill>
                <a:latin typeface="Aptos Narrow"/>
              </a:rPr>
              <a:t>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194560"/>
            <a:ext cx="2880360" cy="3456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435266"/>
                </a:solidFill>
                <a:latin typeface="Aptos"/>
              </a:rPr>
              <a:t>• Nhìn vào giá trị quá khứ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35266"/>
                </a:solidFill>
                <a:latin typeface="Aptos"/>
              </a:rPr>
              <a:t>• Lag 1, Lag 2...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35266"/>
                </a:solidFill>
                <a:latin typeface="Aptos"/>
              </a:rPr>
              <a:t>• Chuỗi có tính nhớ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41648" y="1481328"/>
            <a:ext cx="3246120" cy="4407408"/>
          </a:xfrm>
          <a:prstGeom prst="roundRect">
            <a:avLst/>
          </a:prstGeom>
          <a:solidFill>
            <a:srgbClr val="E9F3D6"/>
          </a:solidFill>
          <a:ln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7952" y="1682496"/>
            <a:ext cx="292608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F3F6F"/>
                </a:solidFill>
                <a:latin typeface="Aptos Narrow"/>
              </a:rPr>
              <a:t>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2194560"/>
            <a:ext cx="2880360" cy="3456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435266"/>
                </a:solidFill>
                <a:latin typeface="Aptos"/>
              </a:rPr>
              <a:t>• Differencing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35266"/>
                </a:solidFill>
                <a:latin typeface="Aptos"/>
              </a:rPr>
              <a:t>• Loại trend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35266"/>
                </a:solidFill>
                <a:latin typeface="Aptos"/>
              </a:rPr>
              <a:t>• Hỗ trợ stationarity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0375" y="1481328"/>
            <a:ext cx="3246120" cy="4407408"/>
          </a:xfrm>
          <a:prstGeom prst="roundRect">
            <a:avLst/>
          </a:prstGeom>
          <a:solidFill>
            <a:srgbClr val="F0F4F7"/>
          </a:solidFill>
          <a:ln>
            <a:solidFill>
              <a:srgbClr val="D7D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26679" y="1682496"/>
            <a:ext cx="292608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F3F6F"/>
                </a:solidFill>
                <a:latin typeface="Aptos Narrow"/>
              </a:rPr>
              <a:t>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44967" y="2194560"/>
            <a:ext cx="2880360" cy="3456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435266"/>
                </a:solidFill>
                <a:latin typeface="Aptos"/>
              </a:rPr>
              <a:t>• Dùng sai số quá khứ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35266"/>
                </a:solidFill>
                <a:latin typeface="Aptos"/>
              </a:rPr>
              <a:t>• Không phải rolling average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35266"/>
                </a:solidFill>
                <a:latin typeface="Aptos"/>
              </a:rPr>
              <a:t>• Mô hình hóa shock/error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3F6F"/>
                </a:solidFill>
                <a:latin typeface="Aptos Narrow"/>
              </a:rPr>
              <a:t>Autocorrelation — trực giác trước khi học ARIMA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31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969264"/>
            <a:ext cx="10698480" cy="530352"/>
          </a:xfrm>
          <a:prstGeom prst="roundRect">
            <a:avLst/>
          </a:prstGeom>
          <a:solidFill>
            <a:srgbClr val="E7EEF5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i="1">
                <a:solidFill>
                  <a:srgbClr val="0F3F6F"/>
                </a:solidFill>
                <a:latin typeface="Aptos"/>
              </a:rPr>
              <a:t>Bổ sung trực tiếp để giải thích tại sao ARIMA dùng giá trị quá khứ.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664208"/>
            <a:ext cx="1033272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435266"/>
                </a:solidFill>
                <a:latin typeface="Aptos"/>
              </a:rPr>
              <a:t>Autocorrelation là gì: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35266"/>
                </a:solidFill>
                <a:latin typeface="Aptos"/>
              </a:rPr>
              <a:t>Đo mức liên hệ giữa chuỗi hiện tại và chính nó ở các độ trễ (lag) khác nhau.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435266"/>
                </a:solidFill>
                <a:latin typeface="Aptos"/>
              </a:rPr>
              <a:t>Ví dụ: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35266"/>
                </a:solidFill>
                <a:latin typeface="Aptos"/>
              </a:rPr>
              <a:t>Doanh thu tháng này có thể liên quan mạnh tới tháng trước hoặc cùng tháng năm trước.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435266"/>
                </a:solidFill>
                <a:latin typeface="Aptos"/>
              </a:rPr>
              <a:t>Ý nghĩa: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35266"/>
                </a:solidFill>
                <a:latin typeface="Aptos"/>
              </a:rPr>
              <a:t>Nếu có cấu trúc phụ thuộc theo lag, mô hình AR có thể tận dụng thông tin này.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435266"/>
                </a:solidFill>
                <a:latin typeface="Aptos"/>
              </a:rPr>
              <a:t>Giới hạn Bài 10: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35266"/>
                </a:solidFill>
                <a:latin typeface="Aptos"/>
              </a:rPr>
              <a:t>Chỉ hiểu trực giác; ACF/PACF chi tiết có thể để phần nâng cao.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298448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85B518"/>
                </a:solidFill>
                <a:latin typeface="Aptos Narrow"/>
              </a:rPr>
              <a:t>PHẦN 10.9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92024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0F3F6F"/>
                </a:solidFill>
                <a:latin typeface="Aptos Narrow"/>
              </a:rPr>
              <a:t>Stationarity ở mức cơ bản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337560"/>
            <a:ext cx="100584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>
                <a:solidFill>
                  <a:srgbClr val="435266"/>
                </a:solidFill>
                <a:latin typeface="Aptos"/>
              </a:rPr>
              <a:t>Vì sao stationarity quan trọng khi dạy ARIMA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4983480"/>
            <a:ext cx="5212080" cy="54864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16752" y="4983480"/>
            <a:ext cx="1143000" cy="54864"/>
          </a:xfrm>
          <a:prstGeom prst="rect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3F6F"/>
                </a:solidFill>
                <a:latin typeface="Aptos Narrow"/>
              </a:rPr>
              <a:t>Stationarity là gì?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33</a:t>
            </a:r>
          </a:p>
        </p:txBody>
      </p:sp>
      <p:pic>
        <p:nvPicPr>
          <p:cNvPr id="8" name="Picture 7" descr="body-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330" y="914400"/>
            <a:ext cx="9070562" cy="5687568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3F6F"/>
                </a:solidFill>
                <a:latin typeface="Aptos Narrow"/>
              </a:rPr>
              <a:t>Differencing làm gì với chuỗi?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960120"/>
            <a:ext cx="10698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i="1">
                <a:solidFill>
                  <a:srgbClr val="0F3F6F"/>
                </a:solidFill>
                <a:latin typeface="Aptos"/>
              </a:rPr>
              <a:t>Không cần đi sâu ADF test; học viên cần hiểu differencing là thao tác cốt lõi của thành phần 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28800"/>
            <a:ext cx="2240280" cy="2743200"/>
          </a:xfrm>
          <a:prstGeom prst="roundRect">
            <a:avLst/>
          </a:prstGeom>
          <a:solidFill>
            <a:srgbClr val="E7EEF5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1993392"/>
            <a:ext cx="2020824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0F3F6F"/>
                </a:solidFill>
                <a:latin typeface="Aptos Narrow"/>
              </a:rPr>
              <a:t>Original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2468880"/>
            <a:ext cx="2020824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435266"/>
                </a:solidFill>
                <a:latin typeface="Aptos"/>
              </a:rPr>
              <a:t>• Có trend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435266"/>
                </a:solidFill>
                <a:latin typeface="Aptos"/>
              </a:rPr>
              <a:t>• Mean thay đổi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435266"/>
                </a:solidFill>
                <a:latin typeface="Aptos"/>
              </a:rPr>
              <a:t>• Non-stationary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43200" y="3200400"/>
            <a:ext cx="493776" cy="0"/>
          </a:xfrm>
          <a:prstGeom prst="line">
            <a:avLst/>
          </a:prstGeom>
          <a:ln w="25400">
            <a:solidFill>
              <a:srgbClr val="0F3F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310128" y="1828800"/>
            <a:ext cx="2240280" cy="2743200"/>
          </a:xfrm>
          <a:prstGeom prst="roundRect">
            <a:avLst/>
          </a:prstGeom>
          <a:solidFill>
            <a:srgbClr val="E9F3D6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19856" y="1993392"/>
            <a:ext cx="2020824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0F3F6F"/>
                </a:solidFill>
                <a:latin typeface="Aptos Narrow"/>
              </a:rPr>
              <a:t>Difference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19856" y="2468880"/>
            <a:ext cx="2020824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435266"/>
                </a:solidFill>
                <a:latin typeface="Aptos"/>
              </a:rPr>
              <a:t>• y(t) - y(t-1)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435266"/>
                </a:solidFill>
                <a:latin typeface="Aptos"/>
              </a:rPr>
              <a:t>• Tập trung vào thay đổi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435266"/>
                </a:solidFill>
                <a:latin typeface="Aptos"/>
              </a:rPr>
              <a:t>• Giảm trend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550408" y="3200400"/>
            <a:ext cx="493776" cy="0"/>
          </a:xfrm>
          <a:prstGeom prst="line">
            <a:avLst/>
          </a:prstGeom>
          <a:ln w="25400">
            <a:solidFill>
              <a:srgbClr val="0F3F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117336" y="1828800"/>
            <a:ext cx="2240280" cy="2743200"/>
          </a:xfrm>
          <a:prstGeom prst="roundRect">
            <a:avLst/>
          </a:prstGeom>
          <a:solidFill>
            <a:srgbClr val="F0F4F7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27064" y="1993392"/>
            <a:ext cx="2020824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0F3F6F"/>
                </a:solidFill>
                <a:latin typeface="Aptos Narrow"/>
              </a:rPr>
              <a:t>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27064" y="2468880"/>
            <a:ext cx="2020824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435266"/>
                </a:solidFill>
                <a:latin typeface="Aptos"/>
              </a:rPr>
              <a:t>• Mean/variance ổn định hơn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435266"/>
                </a:solidFill>
                <a:latin typeface="Aptos"/>
              </a:rPr>
              <a:t>• Quan sát plot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435266"/>
                </a:solidFill>
                <a:latin typeface="Aptos"/>
              </a:rPr>
              <a:t>• Có thể kiểm định nếu cần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357616" y="3200400"/>
            <a:ext cx="493776" cy="0"/>
          </a:xfrm>
          <a:prstGeom prst="line">
            <a:avLst/>
          </a:prstGeom>
          <a:ln w="25400">
            <a:solidFill>
              <a:srgbClr val="0F3F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924544" y="1828800"/>
            <a:ext cx="2240280" cy="2743200"/>
          </a:xfrm>
          <a:prstGeom prst="roundRect">
            <a:avLst/>
          </a:prstGeom>
          <a:solidFill>
            <a:srgbClr val="E7EEF5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34272" y="1993392"/>
            <a:ext cx="2020824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0F3F6F"/>
                </a:solidFill>
                <a:latin typeface="Aptos Narrow"/>
              </a:rPr>
              <a:t>Model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34272" y="2468880"/>
            <a:ext cx="2020824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435266"/>
                </a:solidFill>
                <a:latin typeface="Aptos"/>
              </a:rPr>
              <a:t>• ARIMA dùng d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435266"/>
                </a:solidFill>
                <a:latin typeface="Aptos"/>
              </a:rPr>
              <a:t>• Không difference quá mức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435266"/>
                </a:solidFill>
                <a:latin typeface="Aptos"/>
              </a:rPr>
              <a:t>• Giữ khả năng diễn giải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298448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85B518"/>
                </a:solidFill>
                <a:latin typeface="Aptos Narrow"/>
              </a:rPr>
              <a:t>PHẦN 10.10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92024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0F3F6F"/>
                </a:solidFill>
                <a:latin typeface="Aptos Narrow"/>
              </a:rPr>
              <a:t>Đánh giá dự báo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337560"/>
            <a:ext cx="100584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>
                <a:solidFill>
                  <a:srgbClr val="435266"/>
                </a:solidFill>
                <a:latin typeface="Aptos"/>
              </a:rPr>
              <a:t>MAE, MSE, RMSE, MAPE — và cách chia dữ liệu đúng cho Time Series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4983480"/>
            <a:ext cx="5212080" cy="54864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16752" y="4983480"/>
            <a:ext cx="1143000" cy="54864"/>
          </a:xfrm>
          <a:prstGeom prst="rect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3F6F"/>
                </a:solidFill>
                <a:latin typeface="Aptos Narrow"/>
              </a:rPr>
              <a:t>Các metric đánh giá dự báo cơ bản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36</a:t>
            </a:r>
          </a:p>
        </p:txBody>
      </p:sp>
      <p:pic>
        <p:nvPicPr>
          <p:cNvPr id="8" name="Picture 7" descr="body-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330" y="914400"/>
            <a:ext cx="9070562" cy="5687568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3F6F"/>
                </a:solidFill>
                <a:latin typeface="Aptos Narrow"/>
              </a:rPr>
              <a:t>Cách chia dữ liệu Train/Test cho Time Series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37</a:t>
            </a:r>
          </a:p>
        </p:txBody>
      </p:sp>
      <p:pic>
        <p:nvPicPr>
          <p:cNvPr id="8" name="Picture 7" descr="body-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330" y="914400"/>
            <a:ext cx="9070562" cy="5687568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3F6F"/>
                </a:solidFill>
                <a:latin typeface="Aptos Narrow"/>
              </a:rPr>
              <a:t>MAE, RMSE và MAPE — chọn metric nào?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960120"/>
            <a:ext cx="10698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i="1">
                <a:solidFill>
                  <a:srgbClr val="0F3F6F"/>
                </a:solidFill>
                <a:latin typeface="Aptos"/>
              </a:rPr>
              <a:t>Đề cương yêu cầu mô hình dự báo đơn giản; metric giúp đánh giá chứ không thay thế việc kiểm tra biểu đồ Actual vs Forecast.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536192"/>
            <a:ext cx="2926080" cy="749808"/>
          </a:xfrm>
          <a:prstGeom prst="rect">
            <a:avLst/>
          </a:prstGeom>
          <a:solidFill>
            <a:srgbClr val="0F3F6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Phương pháp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0" y="1536192"/>
            <a:ext cx="3474720" cy="749808"/>
          </a:xfrm>
          <a:prstGeom prst="rect">
            <a:avLst/>
          </a:prstGeom>
          <a:solidFill>
            <a:srgbClr val="0F3F6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Phù hợp khi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0" y="1536192"/>
            <a:ext cx="4297680" cy="749808"/>
          </a:xfrm>
          <a:prstGeom prst="rect">
            <a:avLst/>
          </a:prstGeom>
          <a:solidFill>
            <a:srgbClr val="0F3F6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Điểm cần nhớ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286000"/>
            <a:ext cx="2926080" cy="749808"/>
          </a:xfrm>
          <a:prstGeom prst="rect">
            <a:avLst/>
          </a:prstGeom>
          <a:solidFill>
            <a:srgbClr val="E7EE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50">
                <a:solidFill>
                  <a:srgbClr val="435266"/>
                </a:solidFill>
                <a:latin typeface="Aptos"/>
              </a:rPr>
              <a:t>MAE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0" y="2286000"/>
            <a:ext cx="3474720" cy="749808"/>
          </a:xfrm>
          <a:prstGeom prst="rect">
            <a:avLst/>
          </a:prstGeom>
          <a:solidFill>
            <a:srgbClr val="E7EE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50">
                <a:solidFill>
                  <a:srgbClr val="435266"/>
                </a:solidFill>
                <a:latin typeface="Aptos"/>
              </a:rPr>
              <a:t>Cần sai số dễ hiểu cùng đơn vị dữ liệu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0" y="2286000"/>
            <a:ext cx="4297680" cy="749808"/>
          </a:xfrm>
          <a:prstGeom prst="rect">
            <a:avLst/>
          </a:prstGeom>
          <a:solidFill>
            <a:srgbClr val="E7EE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50">
                <a:solidFill>
                  <a:srgbClr val="435266"/>
                </a:solidFill>
                <a:latin typeface="Aptos"/>
              </a:rPr>
              <a:t>Ít phạt outlier hơn RMSE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035808"/>
            <a:ext cx="2926080" cy="749808"/>
          </a:xfrm>
          <a:prstGeom prst="rect">
            <a:avLst/>
          </a:prstGeom>
          <a:solidFill>
            <a:srgbClr val="F0F4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50">
                <a:solidFill>
                  <a:srgbClr val="435266"/>
                </a:solidFill>
                <a:latin typeface="Aptos"/>
              </a:rPr>
              <a:t>RMSE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0" y="3035808"/>
            <a:ext cx="3474720" cy="749808"/>
          </a:xfrm>
          <a:prstGeom prst="rect">
            <a:avLst/>
          </a:prstGeom>
          <a:solidFill>
            <a:srgbClr val="F0F4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50">
                <a:solidFill>
                  <a:srgbClr val="435266"/>
                </a:solidFill>
                <a:latin typeface="Aptos"/>
              </a:rPr>
              <a:t>Muốn phạt mạnh sai số lớn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0" y="3035808"/>
            <a:ext cx="4297680" cy="749808"/>
          </a:xfrm>
          <a:prstGeom prst="rect">
            <a:avLst/>
          </a:prstGeom>
          <a:solidFill>
            <a:srgbClr val="F0F4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50">
                <a:solidFill>
                  <a:srgbClr val="435266"/>
                </a:solidFill>
                <a:latin typeface="Aptos"/>
              </a:rPr>
              <a:t>Nhạy với forecast error cực đoan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785615"/>
            <a:ext cx="2926080" cy="749808"/>
          </a:xfrm>
          <a:prstGeom prst="rect">
            <a:avLst/>
          </a:prstGeom>
          <a:solidFill>
            <a:srgbClr val="E7EE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50">
                <a:solidFill>
                  <a:srgbClr val="435266"/>
                </a:solidFill>
                <a:latin typeface="Aptos"/>
              </a:rPr>
              <a:t>MAPE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0" y="3785615"/>
            <a:ext cx="3474720" cy="749808"/>
          </a:xfrm>
          <a:prstGeom prst="rect">
            <a:avLst/>
          </a:prstGeom>
          <a:solidFill>
            <a:srgbClr val="E7EE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50">
                <a:solidFill>
                  <a:srgbClr val="435266"/>
                </a:solidFill>
                <a:latin typeface="Aptos"/>
              </a:rPr>
              <a:t>Muốn diễn giải theo 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0" y="3785615"/>
            <a:ext cx="4297680" cy="749808"/>
          </a:xfrm>
          <a:prstGeom prst="rect">
            <a:avLst/>
          </a:prstGeom>
          <a:solidFill>
            <a:srgbClr val="E7EE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50">
                <a:solidFill>
                  <a:srgbClr val="435266"/>
                </a:solidFill>
                <a:latin typeface="Aptos"/>
              </a:rPr>
              <a:t>Không ổn định khi actual gần 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4535424"/>
            <a:ext cx="2926080" cy="749808"/>
          </a:xfrm>
          <a:prstGeom prst="rect">
            <a:avLst/>
          </a:prstGeom>
          <a:solidFill>
            <a:srgbClr val="F0F4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50">
                <a:solidFill>
                  <a:srgbClr val="435266"/>
                </a:solidFill>
                <a:latin typeface="Aptos"/>
              </a:rPr>
              <a:t>Nhiều metric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0" y="4535424"/>
            <a:ext cx="3474720" cy="749808"/>
          </a:xfrm>
          <a:prstGeom prst="rect">
            <a:avLst/>
          </a:prstGeom>
          <a:solidFill>
            <a:srgbClr val="F0F4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50">
                <a:solidFill>
                  <a:srgbClr val="435266"/>
                </a:solidFill>
                <a:latin typeface="Aptos"/>
              </a:rPr>
              <a:t>Cần góc nhìn đầy đủ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0" y="4535424"/>
            <a:ext cx="4297680" cy="749808"/>
          </a:xfrm>
          <a:prstGeom prst="rect">
            <a:avLst/>
          </a:prstGeom>
          <a:solidFill>
            <a:srgbClr val="F0F4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50">
                <a:solidFill>
                  <a:srgbClr val="435266"/>
                </a:solidFill>
                <a:latin typeface="Aptos"/>
              </a:rPr>
              <a:t>Nên báo cáo 2–3 metric thay vì một số duy nhất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F3F6F"/>
                </a:solidFill>
                <a:latin typeface="Aptos Narrow"/>
              </a:rPr>
              <a:t>Baseline Forecast — mô hình đơn giản nhưng bắt buộc nên có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39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969264"/>
            <a:ext cx="10698480" cy="530352"/>
          </a:xfrm>
          <a:prstGeom prst="roundRect">
            <a:avLst/>
          </a:prstGeom>
          <a:solidFill>
            <a:srgbClr val="E7EEF5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i="1">
                <a:solidFill>
                  <a:srgbClr val="0F3F6F"/>
                </a:solidFill>
                <a:latin typeface="Aptos"/>
              </a:rPr>
              <a:t>Bổ sung để phần “xây dựng mô hình dự báo đơn giản” trong đề cương có tiêu chuẩn đánh giá rõ ràng.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664208"/>
            <a:ext cx="1033272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435266"/>
                </a:solidFill>
                <a:latin typeface="Aptos"/>
              </a:rPr>
              <a:t>Naive forecast: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35266"/>
                </a:solidFill>
                <a:latin typeface="Aptos"/>
              </a:rPr>
              <a:t>Dự báo kỳ sau bằng giá trị kỳ gần nhất.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435266"/>
                </a:solidFill>
                <a:latin typeface="Aptos"/>
              </a:rPr>
              <a:t>Seasonal naive: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35266"/>
                </a:solidFill>
                <a:latin typeface="Aptos"/>
              </a:rPr>
              <a:t>Dự báo bằng giá trị cùng mùa trước đó nếu có seasonality.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435266"/>
                </a:solidFill>
                <a:latin typeface="Aptos"/>
              </a:rPr>
              <a:t>Vì sao cần baseline: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35266"/>
                </a:solidFill>
                <a:latin typeface="Aptos"/>
              </a:rPr>
              <a:t>Mô hình ARIMA/Exponential Smoothing chỉ có ý nghĩa nếu tốt hơn một cách dự báo rất đơn giản.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435266"/>
                </a:solidFill>
                <a:latin typeface="Aptos"/>
              </a:rPr>
              <a:t>Nguyên tắc: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35266"/>
                </a:solidFill>
                <a:latin typeface="Aptos"/>
              </a:rPr>
              <a:t>Luôn so sánh model với baseline trên cùng test period.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3F6F"/>
                </a:solidFill>
                <a:latin typeface="Aptos Narrow"/>
              </a:rPr>
              <a:t>Holdout và Walk-forward Validation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40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188720"/>
            <a:ext cx="5029200" cy="4572000"/>
          </a:xfrm>
          <a:prstGeom prst="roundRect">
            <a:avLst/>
          </a:prstGeom>
          <a:solidFill>
            <a:srgbClr val="E7EEF5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389888"/>
            <a:ext cx="46177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F3F6F"/>
                </a:solidFill>
                <a:latin typeface="Aptos Narrow"/>
              </a:rPr>
              <a:t>Time-based Holdout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1856231"/>
            <a:ext cx="4617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50">
                <a:solidFill>
                  <a:srgbClr val="435266"/>
                </a:solidFill>
                <a:latin typeface="Aptos"/>
              </a:rPr>
              <a:t>• Train ở quá khứ, Test ở đoạn cuối.</a:t>
            </a:r>
          </a:p>
          <a:p>
            <a:pPr>
              <a:spcAft>
                <a:spcPts val="700"/>
              </a:spcAft>
            </a:pPr>
            <a:r>
              <a:rPr sz="1850">
                <a:solidFill>
                  <a:srgbClr val="435266"/>
                </a:solidFill>
                <a:latin typeface="Aptos"/>
              </a:rPr>
              <a:t>• Dễ triển khai và phù hợp bài nhập môn.</a:t>
            </a:r>
          </a:p>
          <a:p>
            <a:pPr>
              <a:spcAft>
                <a:spcPts val="700"/>
              </a:spcAft>
            </a:pPr>
            <a:r>
              <a:rPr sz="1850">
                <a:solidFill>
                  <a:srgbClr val="435266"/>
                </a:solidFill>
                <a:latin typeface="Aptos"/>
              </a:rPr>
              <a:t>• Kết quả phụ thuộc một khoảng test.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188720"/>
            <a:ext cx="5029200" cy="4572000"/>
          </a:xfrm>
          <a:prstGeom prst="roundRect">
            <a:avLst/>
          </a:prstGeom>
          <a:solidFill>
            <a:srgbClr val="E9F3D6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27648" y="1389888"/>
            <a:ext cx="46177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F3F6F"/>
                </a:solidFill>
                <a:latin typeface="Aptos Narrow"/>
              </a:rPr>
              <a:t>Walk-forward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7648" y="1856231"/>
            <a:ext cx="4617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50">
                <a:solidFill>
                  <a:srgbClr val="435266"/>
                </a:solidFill>
                <a:latin typeface="Aptos"/>
              </a:rPr>
              <a:t>• Lặp nhiều lần Past → Future.</a:t>
            </a:r>
          </a:p>
          <a:p>
            <a:pPr>
              <a:spcAft>
                <a:spcPts val="700"/>
              </a:spcAft>
            </a:pPr>
            <a:r>
              <a:rPr sz="1850">
                <a:solidFill>
                  <a:srgbClr val="435266"/>
                </a:solidFill>
                <a:latin typeface="Aptos"/>
              </a:rPr>
              <a:t>• Giống cách mô hình được dùng thực tế hơn.</a:t>
            </a:r>
          </a:p>
          <a:p>
            <a:pPr>
              <a:spcAft>
                <a:spcPts val="700"/>
              </a:spcAft>
            </a:pPr>
            <a:r>
              <a:rPr sz="1850">
                <a:solidFill>
                  <a:srgbClr val="435266"/>
                </a:solidFill>
                <a:latin typeface="Aptos"/>
              </a:rPr>
              <a:t>• Tốn thời gian tính toán hơn.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870448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50" i="1">
                <a:solidFill>
                  <a:srgbClr val="0F3F6F"/>
                </a:solidFill>
                <a:latin typeface="Aptos"/>
              </a:rPr>
              <a:t>Bài 10 dùng holdout là chính; walk-forward được giới thiệu để hiểu cách đánh giá time series nghiêm túc hơn.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298448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85B518"/>
                </a:solidFill>
                <a:latin typeface="Aptos Narrow"/>
              </a:rPr>
              <a:t>PHẦN 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92024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0F3F6F"/>
                </a:solidFill>
                <a:latin typeface="Aptos Narrow"/>
              </a:rPr>
              <a:t>Thực hành Bài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337560"/>
            <a:ext cx="100584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>
                <a:solidFill>
                  <a:srgbClr val="435266"/>
                </a:solidFill>
                <a:latin typeface="Aptos"/>
              </a:rPr>
              <a:t>Phân tích doanh thu theo thời gian trên monthly_revenue.csv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4983480"/>
            <a:ext cx="5212080" cy="54864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16752" y="4983480"/>
            <a:ext cx="1143000" cy="54864"/>
          </a:xfrm>
          <a:prstGeom prst="rect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3F6F"/>
                </a:solidFill>
                <a:latin typeface="Aptos Narrow"/>
              </a:rPr>
              <a:t>Dataset thực hành: monthly_revenue.csv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42</a:t>
            </a:r>
          </a:p>
        </p:txBody>
      </p:sp>
      <p:pic>
        <p:nvPicPr>
          <p:cNvPr id="8" name="Picture 7" descr="body-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330" y="914400"/>
            <a:ext cx="9070562" cy="5687568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3F6F"/>
                </a:solidFill>
                <a:latin typeface="Aptos Narrow"/>
              </a:rPr>
              <a:t>Các bước thực hành (1/2)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43</a:t>
            </a:r>
          </a:p>
        </p:txBody>
      </p:sp>
      <p:pic>
        <p:nvPicPr>
          <p:cNvPr id="8" name="Picture 7" descr="body-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330" y="914400"/>
            <a:ext cx="9070562" cy="5687568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3F6F"/>
                </a:solidFill>
                <a:latin typeface="Aptos Narrow"/>
              </a:rPr>
              <a:t>Các bước thực hành (2/2)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44</a:t>
            </a:r>
          </a:p>
        </p:txBody>
      </p:sp>
      <p:pic>
        <p:nvPicPr>
          <p:cNvPr id="8" name="Picture 7" descr="body-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330" y="914400"/>
            <a:ext cx="9070562" cy="5687568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3F6F"/>
                </a:solidFill>
                <a:latin typeface="Aptos Narrow"/>
              </a:rPr>
              <a:t>Pipeline thực hành mở rộng theo đề cương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960120"/>
            <a:ext cx="10698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i="1">
                <a:solidFill>
                  <a:srgbClr val="0F3F6F"/>
                </a:solidFill>
                <a:latin typeface="Aptos"/>
              </a:rPr>
              <a:t>Bám trực tiếp đề cương: phân tích doanh thu theo thời gian và xây dựng một dự báo đơn giản.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28800"/>
            <a:ext cx="2240280" cy="2743200"/>
          </a:xfrm>
          <a:prstGeom prst="roundRect">
            <a:avLst/>
          </a:prstGeom>
          <a:solidFill>
            <a:srgbClr val="E7EEF5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1993392"/>
            <a:ext cx="2020824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0F3F6F"/>
                </a:solidFill>
                <a:latin typeface="Aptos Narrow"/>
              </a:rPr>
              <a:t>1. Prepare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2468880"/>
            <a:ext cx="2020824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435266"/>
                </a:solidFill>
                <a:latin typeface="Aptos"/>
              </a:rPr>
              <a:t>• Datetime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435266"/>
                </a:solidFill>
                <a:latin typeface="Aptos"/>
              </a:rPr>
              <a:t>• Sort by time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435266"/>
                </a:solidFill>
                <a:latin typeface="Aptos"/>
              </a:rPr>
              <a:t>• Frequency / missing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43200" y="3200400"/>
            <a:ext cx="493776" cy="0"/>
          </a:xfrm>
          <a:prstGeom prst="line">
            <a:avLst/>
          </a:prstGeom>
          <a:ln w="25400">
            <a:solidFill>
              <a:srgbClr val="0F3F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310128" y="1828800"/>
            <a:ext cx="2240280" cy="2743200"/>
          </a:xfrm>
          <a:prstGeom prst="roundRect">
            <a:avLst/>
          </a:prstGeom>
          <a:solidFill>
            <a:srgbClr val="E9F3D6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19856" y="1993392"/>
            <a:ext cx="2020824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0F3F6F"/>
                </a:solidFill>
                <a:latin typeface="Aptos Narrow"/>
              </a:rPr>
              <a:t>2. Explore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19856" y="2468880"/>
            <a:ext cx="2020824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435266"/>
                </a:solidFill>
                <a:latin typeface="Aptos"/>
              </a:rPr>
              <a:t>• Trend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435266"/>
                </a:solidFill>
                <a:latin typeface="Aptos"/>
              </a:rPr>
              <a:t>• Seasonality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435266"/>
                </a:solidFill>
                <a:latin typeface="Aptos"/>
              </a:rPr>
              <a:t>• Rolling mean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550408" y="3200400"/>
            <a:ext cx="493776" cy="0"/>
          </a:xfrm>
          <a:prstGeom prst="line">
            <a:avLst/>
          </a:prstGeom>
          <a:ln w="25400">
            <a:solidFill>
              <a:srgbClr val="0F3F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117336" y="1828800"/>
            <a:ext cx="2240280" cy="2743200"/>
          </a:xfrm>
          <a:prstGeom prst="roundRect">
            <a:avLst/>
          </a:prstGeom>
          <a:solidFill>
            <a:srgbClr val="F0F4F7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27064" y="1993392"/>
            <a:ext cx="2020824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0F3F6F"/>
                </a:solidFill>
                <a:latin typeface="Aptos Narrow"/>
              </a:rPr>
              <a:t>3. Forecast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27064" y="2468880"/>
            <a:ext cx="2020824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435266"/>
                </a:solidFill>
                <a:latin typeface="Aptos"/>
              </a:rPr>
              <a:t>• Baseline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435266"/>
                </a:solidFill>
                <a:latin typeface="Aptos"/>
              </a:rPr>
              <a:t>• Exp. Smoothing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435266"/>
                </a:solidFill>
                <a:latin typeface="Aptos"/>
              </a:rPr>
              <a:t>• ARIMA cơ bản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357616" y="3200400"/>
            <a:ext cx="493776" cy="0"/>
          </a:xfrm>
          <a:prstGeom prst="line">
            <a:avLst/>
          </a:prstGeom>
          <a:ln w="25400">
            <a:solidFill>
              <a:srgbClr val="0F3F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924544" y="1828800"/>
            <a:ext cx="2240280" cy="2743200"/>
          </a:xfrm>
          <a:prstGeom prst="roundRect">
            <a:avLst/>
          </a:prstGeom>
          <a:solidFill>
            <a:srgbClr val="E7EEF5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34272" y="1993392"/>
            <a:ext cx="2020824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0F3F6F"/>
                </a:solidFill>
                <a:latin typeface="Aptos Narrow"/>
              </a:rPr>
              <a:t>4. Evaluate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34272" y="2468880"/>
            <a:ext cx="2020824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435266"/>
                </a:solidFill>
                <a:latin typeface="Aptos"/>
              </a:rPr>
              <a:t>• Actual vs Forecast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435266"/>
                </a:solidFill>
                <a:latin typeface="Aptos"/>
              </a:rPr>
              <a:t>• MAE / RMSE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435266"/>
                </a:solidFill>
                <a:latin typeface="Aptos"/>
              </a:rPr>
              <a:t>• Nhận xét nghiệp vụ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3F6F"/>
                </a:solidFill>
                <a:latin typeface="Aptos Narrow"/>
              </a:rPr>
              <a:t>Checklist tránh Data Leakage trong Time Series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46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969264"/>
            <a:ext cx="10698480" cy="530352"/>
          </a:xfrm>
          <a:prstGeom prst="roundRect">
            <a:avLst/>
          </a:prstGeom>
          <a:solidFill>
            <a:srgbClr val="E7EEF5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i="1">
                <a:solidFill>
                  <a:srgbClr val="0F3F6F"/>
                </a:solidFill>
                <a:latin typeface="Aptos"/>
              </a:rPr>
              <a:t>Time leakage là lỗi phổ biến nhất khi biến một bài phân tích time series thành bài dự báo.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664208"/>
            <a:ext cx="1033272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435266"/>
                </a:solidFill>
                <a:latin typeface="Aptos"/>
              </a:rPr>
              <a:t>Không random split: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35266"/>
                </a:solidFill>
                <a:latin typeface="Aptos"/>
              </a:rPr>
              <a:t>Dữ liệu tương lai không được xuất hiện trong tập huấn luyện.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435266"/>
                </a:solidFill>
                <a:latin typeface="Aptos"/>
              </a:rPr>
              <a:t>Rolling feature phải nhìn về quá khứ: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35266"/>
                </a:solidFill>
                <a:latin typeface="Aptos"/>
              </a:rPr>
              <a:t>Không dùng rolling window có chứa giá trị tương lai của điểm đang dự báo.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435266"/>
                </a:solidFill>
                <a:latin typeface="Aptos"/>
              </a:rPr>
              <a:t>Scaler / preprocessing: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35266"/>
                </a:solidFill>
                <a:latin typeface="Aptos"/>
              </a:rPr>
              <a:t>Fit trên training period rồi áp dụng sang test.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435266"/>
                </a:solidFill>
                <a:latin typeface="Aptos"/>
              </a:rPr>
              <a:t>Model selection: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35266"/>
                </a:solidFill>
                <a:latin typeface="Aptos"/>
              </a:rPr>
              <a:t>Không dùng test set lặp đi lặp lại để chọn tham số.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3F6F"/>
                </a:solidFill>
                <a:latin typeface="Aptos Narrow"/>
              </a:rPr>
              <a:t>Tóm tắt bài học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47</a:t>
            </a:r>
          </a:p>
        </p:txBody>
      </p:sp>
      <p:pic>
        <p:nvPicPr>
          <p:cNvPr id="8" name="Picture 7" descr="body-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330" y="914400"/>
            <a:ext cx="9070562" cy="5687568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836676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3F6F"/>
                </a:solidFill>
                <a:latin typeface="Aptos Narrow"/>
              </a:rPr>
              <a:t>Câu hỏi kiểm tra nhanh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48</a:t>
            </a:r>
          </a:p>
        </p:txBody>
      </p:sp>
      <p:pic>
        <p:nvPicPr>
          <p:cNvPr id="8" name="Picture 7" descr="body-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330" y="914400"/>
            <a:ext cx="9070562" cy="5687568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339327" y="0"/>
            <a:ext cx="640080" cy="210312"/>
          </a:xfrm>
          <a:prstGeom prst="parallelogram">
            <a:avLst/>
          </a:prstGeom>
          <a:solidFill>
            <a:srgbClr val="849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8732520" y="0"/>
            <a:ext cx="969264" cy="1005840"/>
          </a:xfrm>
          <a:prstGeom prst="parallelogram">
            <a:avLst/>
          </a:prstGeom>
          <a:solidFill>
            <a:srgbClr val="85B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747504" y="0"/>
            <a:ext cx="1005840" cy="1005840"/>
          </a:xfrm>
          <a:prstGeom prst="parallelogram">
            <a:avLst/>
          </a:prstGeom>
          <a:solidFill>
            <a:srgbClr val="0F3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10241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600" b="1">
                <a:solidFill>
                  <a:srgbClr val="0F3F6F"/>
                </a:solidFill>
                <a:latin typeface="Aptos Narrow"/>
              </a:rPr>
              <a:t>Cảm ơn đã theo dõi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697480"/>
            <a:ext cx="106527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0F3F6F"/>
                </a:solidFill>
                <a:latin typeface="Aptos"/>
              </a:rPr>
              <a:t>Bài tiếp theo:
Diagnostic &amp; Predictive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977639"/>
            <a:ext cx="1065276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>
                <a:solidFill>
                  <a:srgbClr val="435266"/>
                </a:solidFill>
                <a:latin typeface="Aptos"/>
              </a:rPr>
              <a:t>Tài liệu tham khảo: dataset monthly_revenue.csv mẫu sẽ được chia sẻ trên LMS
Liên hệ giảng viên/trợ giảng nếu gặp khó khăn khi cài đặt statsmodels/ARIMA
Hoàn thiện notebook phân tích doanh thu theo thời gian trước khi bước sang phân tích chẩn đoán và dự đoán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5F5F5F"/>
                </a:solidFill>
                <a:latin typeface="Aptos"/>
              </a:rPr>
              <a:t>49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
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47888" y="5989320"/>
            <a:ext cx="4160520" cy="1024128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5e423d-ca97-4670-a2c8-fc9a156df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509" y="54864"/>
            <a:ext cx="1670033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" y="1783080"/>
            <a:ext cx="111099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700" b="1">
                <a:solidFill>
                  <a:srgbClr val="0F3F6F"/>
                </a:solidFill>
                <a:latin typeface="Aptos Narrow"/>
              </a:rPr>
              <a:t>Cơ chế thực thi Hadoop
và mô hình MapReduce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46704"/>
            <a:ext cx="109728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35266"/>
                </a:solidFill>
                <a:latin typeface="Aptos"/>
              </a:rPr>
              <a:t>4.1 Xử lý phân tán  •  4.2 Tổng quan Hadoop  •  4.3 Hadoop Cluster &amp; Node  •  4.4 MapReduce
4.5 Luồng thực thi MapReduce Job  •  4.6 YARN  •  4.7 Ưu điểm &amp; hạn chế  •  Thực hành Bài 4
Bổ sung theo đề cương: Data Locality, InputSplit, Key–Value, vòng đời Job với YARN,
Shuffle/Sort, chịu lỗi, checklist pseudo-distributed cluster và cầu nối sang Spark.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 Narrow"/>
              </a:rPr>
              <a:t>Bài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Chương trình buổi học (4 giờ)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bod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Mục tiêu học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body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Lộ trình khóa học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body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Từ kiến trúc Big Data đến xử lý phân tán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Vì sao một máy tính không đủ để xử lý dữ liệu lớn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Nhắc lại Distributed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body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Chia dữ liệu, chia tác vụ trên nhiều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pic>
        <p:nvPicPr>
          <p:cNvPr id="8" name="Picture 7" descr="body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Distributed Processing và Parallel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4983480" cy="448056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Parallel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Nhiều tác vụ chạy đồng thời trên nhiều core/CPU trong một máy.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Chia sẻ chung bộ nhớ và tài nguyên của cùng hệ thống.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Tăng tốc tốt nhưng vẫn bị giới hạn bởi một máy.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34440"/>
            <a:ext cx="4983480" cy="448056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Distributed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Dữ liệu và tác vụ được chia trên nhiều máy trong cluster.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Mỗi node có CPU, RAM, disk riêng và phối hợp qua mạng.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Cho phép mở rộng bằng cách thêm node mới.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i="1">
                <a:solidFill>
                  <a:srgbClr val="0F3F6F"/>
                </a:solidFill>
                <a:latin typeface="Aptos"/>
              </a:rPr>
              <a:t>Hadoop chủ yếu giải quyết bài toán distributed storage + distributed processing trên nhiều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Data Locality — đưa xử lý đến gần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87552"/>
            <a:ext cx="10698480" cy="50292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F3F6F"/>
                </a:solidFill>
                <a:latin typeface="Aptos"/>
              </a:rPr>
              <a:t>Data locality là cầu nối trực tiếp giữa HDFS và MapReduce.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1955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Vấn đề: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Di chuyển hàng TB dữ liệu qua mạng rất tốn thời gian và băng thông.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Ý tưởng Hadoop: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Ưu tiên chạy Mapper trên node đang giữ block dữ liệu cần xử lý.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Lợi ích: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Giảm network I/O, tận dụng dữ liệu cục bộ và tăng hiệu quả xử lý.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Thông điệp: trong Big Data, thường rẻ hơn nếu đưa code đến dữ liệu thay vì chuyển dữ liệu tới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Tổng quan Apache Hadoop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Hadoop là gì, giải quyết bài toán gì và mối quan hệ giữa các thành phần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Hadoop là gì? Giải quyết bài toán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11</a:t>
            </a:r>
          </a:p>
        </p:txBody>
      </p:sp>
      <p:pic>
        <p:nvPicPr>
          <p:cNvPr id="8" name="Picture 7" descr="body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Sơ đồ tổng quát: Lưu trữ và Xử lý trong Hadoop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12</a:t>
            </a:r>
          </a:p>
        </p:txBody>
      </p:sp>
      <p:pic>
        <p:nvPicPr>
          <p:cNvPr id="8" name="Picture 7" descr="body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HDFS – YARN – MapReduce phối hợp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Ba thành phần giải quyết ba vai trò khác nhau nhưng phối hợp trong cùng một Hadoop Job.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HDFS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Lưu dữ liệu phân tán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Block + replication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Cung cấp input cho 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YARN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Quản lý tài nguyên cluster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Cấp container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Theo dõi 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MapReduce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Chia công việc thành Map/Reduce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Xử lý song song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Ghi output về HDFS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Hadoop Cluster và các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Cluster gồm nhiều máy như thế nào — các loại Node trong Hadoop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Cluster là gì? Một Cluster gồm nhiều máy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15</a:t>
            </a:r>
          </a:p>
        </p:txBody>
      </p:sp>
      <p:pic>
        <p:nvPicPr>
          <p:cNvPr id="8" name="Picture 7" descr="body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Các loại Node trong Hadoop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16</a:t>
            </a:r>
          </a:p>
        </p:txBody>
      </p:sp>
      <p:pic>
        <p:nvPicPr>
          <p:cNvPr id="8" name="Picture 7" descr="body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Master / Worker trong Hadoop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Bài 4 tập trung cơ chế thực thi nên cần nhìn các node như những vai trò phối hợp, không chỉ là tên thành phần.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88036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Thành phần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554480"/>
            <a:ext cx="338328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Vai trò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54480"/>
            <a:ext cx="4160520" cy="65836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Điểm cần nhớ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12848"/>
            <a:ext cx="288036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NameNode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212848"/>
            <a:ext cx="338328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Quản lý metadata HDFS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12848"/>
            <a:ext cx="416052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Biết file/block nằm ở đâu, không chứa dữ liệu file thực tế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71215"/>
            <a:ext cx="288036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DataNode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871215"/>
            <a:ext cx="338328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Lưu block dữ liệu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871215"/>
            <a:ext cx="416052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Đọc/ghi block và báo trạng thái cho NameNode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29584"/>
            <a:ext cx="288036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ResourceManager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529584"/>
            <a:ext cx="338328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Quản lý tài nguyên YARN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529584"/>
            <a:ext cx="4160520" cy="65836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Điều phối CPU/RAM toàn cluster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87952"/>
            <a:ext cx="288036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NodeManager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4187952"/>
            <a:ext cx="338328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Quản lý tài nguyên từng worker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187952"/>
            <a:ext cx="4160520" cy="65836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20">
                <a:solidFill>
                  <a:srgbClr val="435266"/>
                </a:solidFill>
                <a:latin typeface="Aptos"/>
              </a:rPr>
              <a:t>Khởi chạy và giám sát container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Mô hình MapReduce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Ba giai đoạn Map – Shuffle &amp; Sort – Reduce qua ví dụ đếm từ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Ba giai đoạn: Map – Shuffle &amp; Sort – 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19</a:t>
            </a:r>
          </a:p>
        </p:txBody>
      </p:sp>
      <p:pic>
        <p:nvPicPr>
          <p:cNvPr id="8" name="Picture 7" descr="body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Ví dụ dễ hiểu: đếm số lần xuất hiện của từ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pic>
        <p:nvPicPr>
          <p:cNvPr id="8" name="Picture 7" descr="body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MapReduce làm việc với cặp Key–Value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Tư duy key–value giúp hiểu MapReduce ở mức tổng quát, không chỉ riêng bài toán Word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Dữ liệu đầu vào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Mỗi record được đọc thành key/value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Biến đổi record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Phát sinh key/value trung gian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Shuffle/Sort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Nhóm các key giống nhau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Đưa đúng nhóm tới Reducer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Reduce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Tổng hợp theo key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Sinh kết quả cuối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Shuffle &amp; Sort — bước tốn chi phí nhất thường gặp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87552"/>
            <a:ext cx="10698480" cy="50292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F3F6F"/>
                </a:solidFill>
                <a:latin typeface="Aptos"/>
              </a:rPr>
              <a:t>Slide này mở rộng trực tiếp từ phần Shuffle &amp; Sort đang có trong luồng MapReduce.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1955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Shuffle: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Dữ liệu trung gian từ các Mapper được truyền qua mạng tới Reducer tương ứng.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Sort: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Các cặp có cùng key được gom nhóm và sắp xếp trước khi Reduce.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Vì sao tốn chi phí: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Có network I/O, serialization, đọc/ghi đĩa trung gian và đồng bộ giữa nhiều task.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Hệ quả: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Thiết kế key và số Reducer ảnh hưởng lớn đến hiệu năng MapReduce.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Luồng thực thi một MapReduce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Trọng tâm của Bài 4 — hành trình dữ liệu từ HDFS qua Mapper, Shuffle, Sort đến Reducer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Sơ đồ luồng thực thi một MapReduce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24</a:t>
            </a:r>
          </a:p>
        </p:txBody>
      </p:sp>
      <p:pic>
        <p:nvPicPr>
          <p:cNvPr id="8" name="Picture 7" descr="body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Giải thích từng bước trong luồng thực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25</a:t>
            </a:r>
          </a:p>
        </p:txBody>
      </p:sp>
      <p:pic>
        <p:nvPicPr>
          <p:cNvPr id="8" name="Picture 7" descr="body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HDFS Block, InputSplit và Mapper — đừng nhầm ba khái niệm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Block thuộc storage; InputSplit thuộc processing. Chúng thường liên quan kích thước nhưng không phải cùng một khái niệm.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HDFS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Đơn vị lưu trữ vật lý/logical trong HDFS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Dữ liệu được chia block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InputSplit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Đơn vị logic cấp cho Mapper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Mô tả vùng dữ liệu cần xử lý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Mapper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Một map task thường xử lý một InputSplit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Đọc record qua InputFormat/RecordReader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Data Locality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Ưu tiên Mapper gần block dữ liệu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Giảm truyền dữ liệu qua mạng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Vòng đời một MapReduce Job với 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Đây là cách nối phần luồng MapReduce với phần YARN trong cùng một bức tranh thực thi.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1.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Client gửi job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ResourceManager nhận application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2. Start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YARN khởi ApplicationMaster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AM lập kế hoạch tài nguyên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3. Run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NodeManager tạo container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Map/Reduce task chạy trên worker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4. Finish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AM theo dõi hoàn tất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Kết quả ghi HDFS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Giải phóng resource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Quản lý tài nguyên với YARN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ResourceManager, NodeManager, Application và 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YARN quản lý tài nguyên cụm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29</a:t>
            </a:r>
          </a:p>
        </p:txBody>
      </p:sp>
      <p:pic>
        <p:nvPicPr>
          <p:cNvPr id="8" name="Picture 7" descr="body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ApplicationMaster, Container và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YARN tách quản lý tài nguyên khỏi engine xử lý, mở đường để Hadoop cluster chạy nhiều kiểu workload hơn.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54680" cy="4343400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ApplicationMaster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Theo dõi một application/job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Yêu cầu resource từ ResourceManager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Phối hợp các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1" y="1508760"/>
            <a:ext cx="3154680" cy="4343400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3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Gói tài nguyên CPU + RAM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Được cấp trên một NodeManager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Nơi tiến trình/task được chạy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508760"/>
            <a:ext cx="3154680" cy="4343400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691640"/>
            <a:ext cx="2880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50" b="1">
                <a:solidFill>
                  <a:srgbClr val="0F3F6F"/>
                </a:solidFill>
                <a:latin typeface="Aptos Narrow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148840"/>
            <a:ext cx="27889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Map task hoặc Reduce task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Đơn vị công việc thực thi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35266"/>
                </a:solidFill>
                <a:latin typeface="Aptos"/>
              </a:rPr>
              <a:t>• Có thể retry khi thất bại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Ưu điểm và hạn chế của MapReduce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Cầu nối trực tiếp sang lý do Apache Spark trở nên phổ biến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Ưu điểm và hạn chế của MapReduce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32</a:t>
            </a:r>
          </a:p>
        </p:txBody>
      </p:sp>
      <p:pic>
        <p:nvPicPr>
          <p:cNvPr id="8" name="Picture 7" descr="body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MapReduce mạnh ở đâu và chậm ở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4983480" cy="448056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Điểm mạnh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Mô hình đơn giản, chịu lỗi tốt, chạy trên cluster máy phổ thông.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Phù hợp batch processing khối lượng lớn.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Data locality giúp giảm truyền dữ liệu không cần thiết.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34440"/>
            <a:ext cx="4983480" cy="448056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17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Điểm hạn chế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74519"/>
            <a:ext cx="45720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Nhiều bước phải đọc/ghi dữ liệu trung gian xuống disk.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Lập trình chuỗi nhiều job khá cồng kềnh.</a:t>
            </a:r>
          </a:p>
          <a:p>
            <a:pPr>
              <a:spcAft>
                <a:spcPts val="500"/>
              </a:spcAft>
            </a:pPr>
            <a:r>
              <a:rPr sz="1650">
                <a:solidFill>
                  <a:srgbClr val="435266"/>
                </a:solidFill>
                <a:latin typeface="Aptos"/>
              </a:rPr>
              <a:t>• Không lý tưởng cho iterative analytics và workload cần độ trễ thấp.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i="1">
                <a:solidFill>
                  <a:srgbClr val="0F3F6F"/>
                </a:solidFill>
                <a:latin typeface="Aptos"/>
              </a:rPr>
              <a:t>Những hạn chế này chính là bối cảnh trực tiếp để hiểu sự ra đời và phổ biến của Apache Spark ở Bài 5.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Chịu lỗi trong Hadoop/MapReduce — ở mức nhập môn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87552"/>
            <a:ext cx="10698480" cy="50292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F3F6F"/>
                </a:solidFill>
                <a:latin typeface="Aptos"/>
              </a:rPr>
              <a:t>Nội dung này mở rộng trực tiếp từ mục cluster/node và cơ chế thực thi, không đi sâu cấu hình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1955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Data fault tolerance: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HDFS lưu nhiều replica của block; mất một DataNode không đồng nghĩa mất file.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Task fault tolerance: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Nếu Map/Reduce task thất bại, framework có thể chạy lại task trên node khác.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Node failure: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YARN và HDFS theo dõi heartbeat để nhận biết node không còn hoạt động.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Thông điệp: Hadoop chấp nhận phần cứng có thể hỏng và dùng phần mềm để phục hồi.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5B518"/>
                </a:solidFill>
                <a:latin typeface="Aptos Narrow"/>
              </a:rPr>
              <a:t>PHẦN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3327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700" b="1">
                <a:solidFill>
                  <a:srgbClr val="0F3F6F"/>
                </a:solidFill>
                <a:latin typeface="Aptos Narrow"/>
              </a:rPr>
              <a:t>Thực hành Bài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64992"/>
            <a:ext cx="10012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35266"/>
                </a:solidFill>
                <a:latin typeface="Aptos"/>
              </a:rPr>
              <a:t>Cài đặt Hadoop giả lập, thao tác HDFS và chạy MapReduce Job thực tế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74336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74336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Cài đặt Hadoop ở chế độ giả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36</a:t>
            </a:r>
          </a:p>
        </p:txBody>
      </p:sp>
      <p:pic>
        <p:nvPicPr>
          <p:cNvPr id="8" name="Picture 7" descr="body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Checklist pseudo-distributed Hadoop trước khi chạy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87552"/>
            <a:ext cx="10698480" cy="50292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F3F6F"/>
                </a:solidFill>
                <a:latin typeface="Aptos"/>
              </a:rPr>
              <a:t>Bám trực tiếp yêu cầu đề cương: tạo một cụm Hadoop giả lập trên máy tính để chạy bài toán cụ thể.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1955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1. Java / Hadoop: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Kiểm tra biến môi trường và Hadoop command chạy được.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2. HDFS: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Format NameNode lần đầu, khởi động NameNode/DataNode và kiểm tra trạng thái.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3. YARN: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Khởi động ResourceManager/NodeManager nếu bài lab dùng YARN.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4. Workspace: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Chuẩn bị input file nhỏ, thư mục HDFS input/output và quyền truy cập.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435266"/>
                </a:solidFill>
                <a:latin typeface="Aptos"/>
              </a:rPr>
              <a:t>5. Quan sát: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435266"/>
                </a:solidFill>
                <a:latin typeface="Aptos"/>
              </a:rPr>
              <a:t>Theo dõi log/terminal để nhận biết job submit, map task, reduce task và output.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Làm quen HDFS bằng command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38</a:t>
            </a:r>
          </a:p>
        </p:txBody>
      </p:sp>
      <p:pic>
        <p:nvPicPr>
          <p:cNvPr id="8" name="Picture 7" descr="body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Chạy MapReduce mẫu — Word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39</a:t>
            </a:r>
          </a:p>
        </p:txBody>
      </p:sp>
      <p:pic>
        <p:nvPicPr>
          <p:cNvPr id="8" name="Picture 7" descr="body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Bài toán phân tích: Tổng giá trị giao dịch theo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40</a:t>
            </a:r>
          </a:p>
        </p:txBody>
      </p:sp>
      <p:pic>
        <p:nvPicPr>
          <p:cNvPr id="8" name="Picture 7" descr="body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Khi chạy Word Count, hãy quan sát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875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F3F6F"/>
                </a:solidFill>
                <a:latin typeface="Aptos"/>
              </a:rPr>
              <a:t>Lab không chỉ cần “chạy ra kết quả”; học viên cần liên hệ output thực tế với luồng thực thi đã học.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File đã nằm trên HDFS chưa?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Kích thước / số block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874519"/>
            <a:ext cx="2148840" cy="265176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Có bao nhiêu map task?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Có reduce task không?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1874519"/>
            <a:ext cx="2148840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Output directory mới được tạo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part-r-* chứa kết quả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00400"/>
            <a:ext cx="502920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23960" y="1874519"/>
            <a:ext cx="2148840" cy="265176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2039112"/>
            <a:ext cx="192938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F6F"/>
                </a:solidFill>
                <a:latin typeface="Aptos Narrow"/>
              </a:rPr>
              <a:t>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468879"/>
            <a:ext cx="1929384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20">
                <a:solidFill>
                  <a:srgbClr val="435266"/>
                </a:solidFill>
                <a:latin typeface="Aptos"/>
              </a:rPr>
              <a:t>• Job ID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Progress map/reduce</a:t>
            </a:r>
          </a:p>
          <a:p>
            <a:r>
              <a:rPr sz="1420">
                <a:solidFill>
                  <a:srgbClr val="435266"/>
                </a:solidFill>
                <a:latin typeface="Aptos"/>
              </a:rPr>
              <a:t>• Thời gian chạy / lỗi nếu có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Kết quả Bài 4 — Điều học viên cần ghi nhớ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42</a:t>
            </a:r>
          </a:p>
        </p:txBody>
      </p:sp>
      <p:pic>
        <p:nvPicPr>
          <p:cNvPr id="8" name="Picture 7" descr="body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Tóm tắt bài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43</a:t>
            </a:r>
          </a:p>
        </p:txBody>
      </p:sp>
      <p:pic>
        <p:nvPicPr>
          <p:cNvPr id="8" name="Picture 7" descr="body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F3F6F"/>
                </a:solidFill>
                <a:latin typeface="Aptos Narrow"/>
              </a:rPr>
              <a:t>Câu hỏi 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44</a:t>
            </a:r>
          </a:p>
        </p:txBody>
      </p:sp>
      <p:pic>
        <p:nvPicPr>
          <p:cNvPr id="8" name="Picture 7" descr="body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186" y="969264"/>
            <a:ext cx="9083683" cy="56052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300" b="1">
                <a:solidFill>
                  <a:srgbClr val="0F3F6F"/>
                </a:solidFill>
                <a:latin typeface="Aptos Narrow"/>
              </a:rPr>
              <a:t>Cảm ơn đã theo dõi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613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0F3F6F"/>
                </a:solidFill>
                <a:latin typeface="Aptos"/>
              </a:rPr>
              <a:t>Bài tiếp theo:
Apache Spark và xử lý dữ liệu phân tán với PySpark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35266"/>
                </a:solidFill>
                <a:latin typeface="Aptos"/>
              </a:rPr>
              <a:t>Tài liệu tham khảo: hướng dẫn cài đặt Hadoop giả lập sẽ được chia sẻ trên LMS
Liên hệ giảng viên/trợ giảng nếu gặp lỗi khi cài đặt hoặc chạy MapReduce Job
Ôn lại luồng thực thi MapReduce để thấy rõ vì sao Spark giảm chi phí đọc/ghi trung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9224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5F5F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